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Polar en el Campo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Plataforma digital del Programa de Agricultura por Contrato</a:t>
            </a:r>
            <a:br/>
            <a:br/>
            <a:r>
              <a:rPr/>
              <a:t>Equipo de Agricultura Polar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 de abril de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Polar en el Campo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Plataforma digital del Programa de Agricultura por Contrato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Maíz blanco · Anexo de presentación a la junta</a:t>
            </a:r>
          </a:p>
          <a:p>
            <a:pPr lvl="0" indent="0" marL="0">
              <a:buNone/>
            </a:pPr>
            <a:r>
              <a:rPr b="1"/>
              <a:t>18 de abril de 2026</a:t>
            </a:r>
          </a:p>
          <a:p>
            <a:pPr lvl="0" indent="0" marL="0">
              <a:buNone/>
            </a:pPr>
            <a:r>
              <a:rPr/>
              <a:t>Entorno productivo: agri-platform-omega.vercel.app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Plataforma única que centraliza el Programa de Agricultura por Contrato</a:t>
            </a:r>
          </a:p>
          <a:p>
            <a:pPr lvl="0"/>
            <a:r>
              <a:rPr/>
              <a:t>Convierte data dispersa (Davis, lotes, ENSO, GFS) en decisiones agronómicas</a:t>
            </a:r>
          </a:p>
          <a:p>
            <a:pPr lvl="0"/>
            <a:r>
              <a:rPr/>
              <a:t>Sirve simultáneamente a la gerencia técnica (rol master) y al productor (rol farmer)</a:t>
            </a:r>
          </a:p>
          <a:p>
            <a:pPr lvl="0"/>
            <a:r>
              <a:rPr/>
              <a:t>Cinco de seis fases en producción</a:t>
            </a:r>
          </a:p>
          <a:p>
            <a:pPr lvl="0"/>
            <a:r>
              <a:rPr/>
              <a:t>Estado: prototipo funcional desplegado, no aún MVP formal</a:t>
            </a:r>
          </a:p>
          <a:p>
            <a:pPr lvl="0"/>
            <a:r>
              <a:rPr/>
              <a:t>Brechas concretas identificadas para alcanzar MVP en ~1 semana de trabajo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problema que resuelve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Hoy con la plataforma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Información dispersa en hojas de cálculo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Vista única en tiempo real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Calendarios fijos sin ajustar al clima local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Predictor IA con ventana óptima de siembra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Gestión reactiva del riesgo climático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Alertas predictivas a 7 días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Asistencia técnica solo presencial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Asistente IA agronómico 24/7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Reportería manual ad-hoc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Exportación PDF/Excel automática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Jobs To Be Done — marco conceptual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Los usuarios no compran productos: </a:t>
            </a:r>
            <a:r>
              <a:rPr b="1"/>
              <a:t>contratan soluciones para hacer un trabajo</a:t>
            </a:r>
          </a:p>
          <a:p>
            <a:pPr lvl="0"/>
            <a:r>
              <a:rPr/>
              <a:t>Identificamos jobs en tres dimensiones por usuario:</a:t>
            </a:r>
          </a:p>
          <a:p>
            <a:pPr lvl="1"/>
            <a:r>
              <a:rPr b="1"/>
              <a:t>Funcional</a:t>
            </a:r>
            <a:r>
              <a:rPr/>
              <a:t>: qué necesitan lograr</a:t>
            </a:r>
          </a:p>
          <a:p>
            <a:pPr lvl="1"/>
            <a:r>
              <a:rPr b="1"/>
              <a:t>Emocional</a:t>
            </a:r>
            <a:r>
              <a:rPr/>
              <a:t>: cómo necesitan sentirse</a:t>
            </a:r>
          </a:p>
          <a:p>
            <a:pPr lvl="1"/>
            <a:r>
              <a:rPr b="1"/>
              <a:t>Social</a:t>
            </a:r>
            <a:r>
              <a:rPr/>
              <a:t>: cómo necesitan ser percibidos</a:t>
            </a:r>
          </a:p>
          <a:p>
            <a:pPr lvl="0"/>
            <a:r>
              <a:rPr/>
              <a:t>Algunos jobs ya están validados por uso; otros son hipótesis pendientes de confirmar en piloto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Jobs del agricultor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Job principal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“Decide cuándo sembrar para maximizar mi rendimiento”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“Avísame cuando viene mal tiempo para proteger mi cultivo”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“Dame respuesta agronómica rápida sin esperar visita técnica”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“Dame evidencia de mi producción para mostrar contrato en regla”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Emocional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“Hazme sentir que no estoy solo enfrentando el riesgo climático”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Emocional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“Reduce mi ansiedad sobre si tomo decisiones correctas”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“Ayúdame a verme profesional ante el equipo agronómico de Polar”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Jobs de Polar (gerencia técnica)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Job principal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“Dame visibilidad en tiempo real de toda mi operación”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“Anticipa volúmenes de cosecha para planificar Harina P.A.N.”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“Reduce el costo unitario de asistencia técnica al productor”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“Estandariza recomendaciones agronómicas a través de los 20 agricultores”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“Provee trazabilidad auditable para reportes de cumplimiento”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Emocional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“Demuestra a la dirección que el programa es innovador”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“Posiciona a Polar como líder en digitalización agrícola en Venezuela”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operación hoy en cifras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Agropecuarias integradas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Lotes monitoreados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Estaciones meteorológicas Davis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Frecuencia de actualización climática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15 minutos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Cobertura del pronóstico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 días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Disponibilidad del asistente 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24/7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Valor agregado — para Polar (rol master)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Visibilidad consolidada</a:t>
            </a:r>
            <a:r>
              <a:rPr/>
              <a:t> de los 20 agricultores y 161 lotes en una sola vista</a:t>
            </a:r>
          </a:p>
          <a:p>
            <a:pPr lvl="0"/>
            <a:r>
              <a:rPr b="1"/>
              <a:t>Decisión agronómica asistida por IA</a:t>
            </a:r>
            <a:r>
              <a:rPr/>
              <a:t> con ventana óptima de siembra</a:t>
            </a:r>
          </a:p>
          <a:p>
            <a:pPr lvl="0"/>
            <a:r>
              <a:rPr b="1"/>
              <a:t>Anticipación de riesgo climático</a:t>
            </a:r>
            <a:r>
              <a:rPr/>
              <a:t> mediante alertas a 7 días</a:t>
            </a:r>
          </a:p>
          <a:p>
            <a:pPr lvl="0"/>
            <a:r>
              <a:rPr b="1"/>
              <a:t>Asistencia técnica escalable</a:t>
            </a:r>
            <a:r>
              <a:rPr/>
              <a:t> sin incremento lineal de costo</a:t>
            </a:r>
          </a:p>
          <a:p>
            <a:pPr lvl="0"/>
            <a:r>
              <a:rPr b="1"/>
              <a:t>Reportería instantánea</a:t>
            </a:r>
            <a:r>
              <a:rPr/>
              <a:t> en PDF y Excel</a:t>
            </a:r>
          </a:p>
          <a:p>
            <a:pPr lvl="0"/>
            <a:r>
              <a:rPr b="1"/>
              <a:t>Trazabilidad de cosecha</a:t>
            </a:r>
            <a:r>
              <a:rPr/>
              <a:t> por lote, hectárea y rendimiento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Valor agregado — para el agricultor (rol farmer)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Diagnóstico instantáneo</a:t>
            </a:r>
            <a:r>
              <a:rPr/>
              <a:t> de su finca (clima en vivo + pronóstico)</a:t>
            </a:r>
          </a:p>
          <a:p>
            <a:pPr lvl="0"/>
            <a:r>
              <a:rPr b="1"/>
              <a:t>Recomendación personalizada</a:t>
            </a:r>
            <a:r>
              <a:rPr/>
              <a:t> de fecha de siembra con score 0–100</a:t>
            </a:r>
          </a:p>
          <a:p>
            <a:pPr lvl="0"/>
            <a:r>
              <a:rPr b="1"/>
              <a:t>Alertas tempranas</a:t>
            </a:r>
            <a:r>
              <a:rPr/>
              <a:t> de eventos climáticos extremos</a:t>
            </a:r>
          </a:p>
          <a:p>
            <a:pPr lvl="0"/>
            <a:r>
              <a:rPr b="1"/>
              <a:t>Línea de tiempo visual</a:t>
            </a:r>
            <a:r>
              <a:rPr/>
              <a:t> del ciclo del maíz (6 fases)</a:t>
            </a:r>
          </a:p>
          <a:p>
            <a:pPr lvl="0"/>
            <a:r>
              <a:rPr b="1"/>
              <a:t>Asistente IA disponible 24/7</a:t>
            </a:r>
            <a:r>
              <a:rPr/>
              <a:t> con contexto específico de su finca</a:t>
            </a:r>
          </a:p>
          <a:p>
            <a:pPr lvl="0"/>
            <a:r>
              <a:rPr b="1"/>
              <a:t>Reportes descargables</a:t>
            </a:r>
            <a:r>
              <a:rPr/>
              <a:t> de su producción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Impacto estratégico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Reducción del riesgo de cosecha</a:t>
            </a:r>
            <a:r>
              <a:rPr/>
              <a:t> por anticipación de eventos climáticos</a:t>
            </a:r>
          </a:p>
          <a:p>
            <a:pPr lvl="0"/>
            <a:r>
              <a:rPr b="1"/>
              <a:t>Optimización del rendimiento por hectárea</a:t>
            </a:r>
            <a:r>
              <a:rPr/>
              <a:t> vía mejor timing de siembra</a:t>
            </a:r>
          </a:p>
          <a:p>
            <a:pPr lvl="0"/>
            <a:r>
              <a:rPr b="1"/>
              <a:t>Escalabilidad</a:t>
            </a:r>
            <a:r>
              <a:rPr/>
              <a:t> del programa sin crecimiento proporcional de equipo agronómico</a:t>
            </a:r>
          </a:p>
          <a:p>
            <a:pPr lvl="0"/>
            <a:r>
              <a:rPr b="1"/>
              <a:t>Mejor planificación de compra</a:t>
            </a:r>
            <a:r>
              <a:rPr/>
              <a:t> por visibilidad anticipada de volúmenes</a:t>
            </a:r>
          </a:p>
          <a:p>
            <a:pPr lvl="0"/>
            <a:r>
              <a:rPr b="1"/>
              <a:t>Profesionalización digital</a:t>
            </a:r>
            <a:r>
              <a:rPr/>
              <a:t> equiparable a estándares internacionales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Módulos en producción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Módulo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Farmer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Login y autenticación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Dashboard ejecutivo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Cultivo (timeline + predictor IA)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Clima (lecturas + pronóstico + alertas)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Finanzas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Suelo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Selector multi-tenant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 IA agronómico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Listo, pendiente activación clave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Reportes PDF/Excel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Envío de reportes por correo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Pendiente Fase 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Módulo Cultivo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Línea de tiempo visual de las 6 fases del maíz por lote</a:t>
            </a:r>
          </a:p>
          <a:p>
            <a:pPr lvl="0"/>
            <a:r>
              <a:rPr/>
              <a:t>Stat cards: días desde siembra, riego, sparkline climático, descripción de fase</a:t>
            </a:r>
          </a:p>
          <a:p>
            <a:pPr lvl="0"/>
            <a:r>
              <a:rPr b="1"/>
              <a:t>Predictor IA de siembra</a:t>
            </a:r>
            <a:r>
              <a:rPr/>
              <a:t> (Anthropic Claude):</a:t>
            </a:r>
          </a:p>
          <a:p>
            <a:pPr lvl="1"/>
            <a:r>
              <a:rPr/>
              <a:t>Fecha óptima (“D-day”) con score 0–100</a:t>
            </a:r>
          </a:p>
          <a:p>
            <a:pPr lvl="1"/>
            <a:r>
              <a:rPr/>
              <a:t>3 fechas alternativas comparativas</a:t>
            </a:r>
          </a:p>
          <a:p>
            <a:pPr lvl="1"/>
            <a:r>
              <a:rPr/>
              <a:t>Reasoning agronómico detallado</a:t>
            </a:r>
          </a:p>
          <a:p>
            <a:pPr lvl="1"/>
            <a:r>
              <a:rPr/>
              <a:t>Contexto climático (temperatura, lluvia, humedad)</a:t>
            </a:r>
          </a:p>
          <a:p>
            <a:pPr lvl="0"/>
            <a:r>
              <a:rPr/>
              <a:t>Botones de reporte PDF y Excel por lote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Módulo Clima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Lecturas Davis en tiempo real (temperatura, humedad, lluvia, radiación)</a:t>
            </a:r>
          </a:p>
          <a:p>
            <a:pPr lvl="0"/>
            <a:r>
              <a:rPr b="1"/>
              <a:t>Pronóstico de 7 días</a:t>
            </a:r>
            <a:r>
              <a:rPr/>
              <a:t> en strip horizontal con iconografía dinámica</a:t>
            </a:r>
          </a:p>
          <a:p>
            <a:pPr lvl="0"/>
            <a:r>
              <a:rPr b="1"/>
              <a:t>Sistema de alertas agronómicas</a:t>
            </a:r>
            <a:r>
              <a:rPr/>
              <a:t> codificado por severidad:</a:t>
            </a:r>
          </a:p>
          <a:p>
            <a:pPr lvl="1"/>
            <a:r>
              <a:rPr/>
              <a:t>Lluvia fuerte (≥30 mm/día)</a:t>
            </a:r>
          </a:p>
          <a:p>
            <a:pPr lvl="1"/>
            <a:r>
              <a:rPr/>
              <a:t>Calor extremo (≥38°C)</a:t>
            </a:r>
          </a:p>
          <a:p>
            <a:pPr lvl="1"/>
            <a:r>
              <a:rPr/>
              <a:t>Frío inusual / helada (≤12°C / ≤8°C)</a:t>
            </a:r>
          </a:p>
          <a:p>
            <a:pPr lvl="1"/>
            <a:r>
              <a:rPr/>
              <a:t>Viento fuerte (≥40 km/h)</a:t>
            </a:r>
          </a:p>
          <a:p>
            <a:pPr lvl="1"/>
            <a:r>
              <a:rPr/>
              <a:t>Lluvia probable (≥70%)</a:t>
            </a:r>
          </a:p>
          <a:p>
            <a:pPr lvl="0"/>
            <a:r>
              <a:rPr/>
              <a:t>Detección y marca visual de datos antiguos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Asistente conversacional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Botón flotante en cada página autenticada</a:t>
            </a:r>
          </a:p>
          <a:p>
            <a:pPr lvl="0"/>
            <a:r>
              <a:rPr/>
              <a:t>Construye contexto en vivo: lotes + última lectura + pronóstico 7d</a:t>
            </a:r>
          </a:p>
          <a:p>
            <a:pPr lvl="0"/>
            <a:r>
              <a:rPr/>
              <a:t>Powered by </a:t>
            </a:r>
            <a:r>
              <a:rPr b="1"/>
              <a:t>Google Gemini 1.5 Flash</a:t>
            </a:r>
          </a:p>
          <a:p>
            <a:pPr lvl="0"/>
            <a:r>
              <a:rPr/>
              <a:t>Especializado en maíz blanco venezolano</a:t>
            </a:r>
          </a:p>
          <a:p>
            <a:pPr lvl="0"/>
            <a:r>
              <a:rPr/>
              <a:t>4 preguntas sugeridas iniciales para arrancar</a:t>
            </a:r>
          </a:p>
          <a:p>
            <a:pPr lvl="0"/>
            <a:r>
              <a:rPr/>
              <a:t>Respuestas en español, máximo 3 párrafos</a:t>
            </a:r>
          </a:p>
          <a:p>
            <a:pPr lvl="0"/>
            <a:r>
              <a:rPr/>
              <a:t>Manejo robusto de errores (clave inválida, cuota agotada)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Selector multi-tenant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Disponible solo para rol master</a:t>
            </a:r>
          </a:p>
          <a:p>
            <a:pPr lvl="0"/>
            <a:r>
              <a:rPr/>
              <a:t>Persiste selección en query string (</a:t>
            </a:r>
            <a:r>
              <a:rPr>
                <a:latin typeface="Courier"/>
              </a:rPr>
              <a:t>?agricultor=KEY</a:t>
            </a:r>
            <a:r>
              <a:rPr/>
              <a:t>)</a:t>
            </a:r>
          </a:p>
          <a:p>
            <a:pPr lvl="0"/>
            <a:r>
              <a:rPr/>
              <a:t>URLs compartibles entre miembros del equipo agronómico</a:t>
            </a:r>
          </a:p>
          <a:p>
            <a:pPr lvl="0"/>
            <a:r>
              <a:rPr/>
              <a:t>Contexto se mantiene al navegar entre módulos</a:t>
            </a:r>
          </a:p>
          <a:p>
            <a:pPr lvl="0"/>
            <a:r>
              <a:rPr/>
              <a:t>Farmer queda automáticamente fijado a su agropecuaria</a:t>
            </a:r>
          </a:p>
          <a:p>
            <a:pPr lvl="0"/>
            <a:r>
              <a:rPr/>
              <a:t>Aislamiento de datos garantizado por Row Level Security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Arquitectura tecnológica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Tecnología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Next.js 16 + React + TypeScript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Estilos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Tailwind CSS v4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Supabase (Postgres + Auth + Edge Functions)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Vercel (CD desde GitHub)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 conversacional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Gemini 1.5 Flash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 de razonamiento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Anthropic Claude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Datos meteorológicos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WeatherLink (Davis)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Pronóstico extendido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Modelo GFS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Seguridad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Level Security + JWT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Metodología — fases incrementales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Alcance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Selector master en Cultivo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Desplegado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Selector replicado a 4 módulos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Desplegado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Pronóstico 7d + alertas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Desplegado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Predictor IA de siembra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Desplegado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Reportes por correo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Pendiente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Asistente IA conversacional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Desplegado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Cada fase: diseño → desarrollo → build → commit → deploy automático → verificación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Buenas prácticas aplicadas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Multi-tenant seguro por defecto</a:t>
            </a:r>
            <a:r>
              <a:rPr/>
              <a:t> (Row Level Security en cada tabla)</a:t>
            </a:r>
          </a:p>
          <a:p>
            <a:pPr lvl="0"/>
            <a:r>
              <a:rPr b="1"/>
              <a:t>Server Components first</a:t>
            </a:r>
            <a:r>
              <a:rPr/>
              <a:t> para SEO y performance</a:t>
            </a:r>
          </a:p>
          <a:p>
            <a:pPr lvl="0"/>
            <a:r>
              <a:rPr b="1"/>
              <a:t>Composición de componentes</a:t>
            </a:r>
            <a:r>
              <a:rPr/>
              <a:t> reutilizables entre módulos</a:t>
            </a:r>
          </a:p>
          <a:p>
            <a:pPr lvl="0"/>
            <a:r>
              <a:rPr b="1"/>
              <a:t>Fall-backs explícitos</a:t>
            </a:r>
            <a:r>
              <a:rPr/>
              <a:t> ante datos faltantes (sin fallos silenciosos)</a:t>
            </a:r>
          </a:p>
          <a:p>
            <a:pPr lvl="0"/>
            <a:r>
              <a:rPr b="1"/>
              <a:t>Reuso de infraestructura</a:t>
            </a:r>
            <a:r>
              <a:rPr/>
              <a:t> (sin introducir nuevos proveedores innecesarios)</a:t>
            </a:r>
          </a:p>
          <a:p>
            <a:pPr lvl="0"/>
            <a:r>
              <a:rPr b="1"/>
              <a:t>Despliegue continuo</a:t>
            </a:r>
            <a:r>
              <a:rPr/>
              <a:t> desde GitHub a Vercel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Camino al MVP — definición operativa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Definimos MVP como:</a:t>
            </a:r>
          </a:p>
          <a:p>
            <a:pPr lvl="0" indent="0" marL="1270000">
              <a:buNone/>
            </a:pPr>
            <a:r>
              <a:rPr sz="2000"/>
              <a:t>La versión mínima del producto que un agricultor real puede usar productivamente durante un ciclo completo de cultivo (siembra → cosecha) sin asistencia del equipo de desarrollo, y que el equipo agronómico de Polar puede operar para todos los 20 agricultores sin generar fricción operativa.</a:t>
            </a:r>
          </a:p>
          <a:p>
            <a:pPr lvl="0" indent="0" marL="0">
              <a:buNone/>
            </a:pPr>
            <a:r>
              <a:rPr b="1"/>
              <a:t>Hoy estamos en estado de prototipo funcional desplegado, no en MVP.</a:t>
            </a:r>
          </a:p>
          <a:p>
            <a:pPr lvl="0" indent="0" marL="0">
              <a:buNone/>
            </a:pPr>
            <a:r>
              <a:rPr/>
              <a:t>Cinco fases en producción y operación armada, pero quedan brechas concretas para piloto real con los 20 agricultores.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Brechas para MVP — Datos y operación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Estado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Necesario para MVP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Cron WeatherLink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~50% de llamadas devuelven HTTP 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≥95% de éxito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Frescura lecturas Davis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Última: agosto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Latencia ≤30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Frescura pronóstico GFS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Último: 4-abril-2026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Cron diario activo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Mapeo estaciones↔agricultores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 de 20 mapeados; 1 piloto con workaround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Mapeo real 1:1 verificado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Cobertura predictor de siembra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Solo agricultores con estación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Definir UX sin estación local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Brechas para MVP — Onboarding y UX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Estado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Necesario para MVP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Usuarios registrados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perfiles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master + 20 farmer activos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Alta de agricultor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desde panel Supabase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Procedimiento ejecutable por no-técnico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Recuperación de contraseña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probada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Flujo funcional vía email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MFA para master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implementado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Obligatorio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Versión móvil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Responsive sin pruebas exhaustivas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Validada en pantallas 360px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Documentación usuario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Inexistente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Guía 2-3 páginas por rol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Soporte L1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Indefinido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Quién, plazo, canal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Esfuerzo estimado para MVP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Esfuerzo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Resolver crons y frescura de datos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4–8 horas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Onboarding sistemático de 20 agricultores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8–12 horas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Validación móvil + correcciones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8–16 horas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Activar Gemini + Fase E (correos)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2–3 horas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Documentación de usuario y soporte L1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4–8 horas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26–47 horas (~1 semana de trabajo enfocado)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Cruxes — qué 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 </a:t>
            </a:r>
            <a:r>
              <a:rPr b="1"/>
              <a:t>crux</a:t>
            </a:r>
            <a:r>
              <a:rPr/>
              <a:t> es la pregunta o problema central cuya respuesta determina si el proyecto tiene éxito o fracasa.</a:t>
            </a:r>
          </a:p>
          <a:p>
            <a:pPr lvl="0" indent="0" marL="0">
              <a:buNone/>
            </a:pPr>
            <a:r>
              <a:rPr/>
              <a:t>A diferencia de un riesgo (que </a:t>
            </a:r>
            <a:r>
              <a:rPr b="1"/>
              <a:t>puede</a:t>
            </a:r>
            <a:r>
              <a:rPr/>
              <a:t> o </a:t>
            </a:r>
            <a:r>
              <a:rPr b="1"/>
              <a:t>no</a:t>
            </a:r>
            <a:r>
              <a:rPr/>
              <a:t> materializarse), un crux es un </a:t>
            </a:r>
            <a:r>
              <a:rPr b="1"/>
              <a:t>nudo que necesariamente debemos atravesar</a:t>
            </a:r>
            <a:r>
              <a:rPr/>
              <a:t> para consolidar el producto.</a:t>
            </a:r>
          </a:p>
          <a:p>
            <a:pPr lvl="0" indent="0" marL="0">
              <a:buNone/>
            </a:pPr>
            <a:r>
              <a:rPr/>
              <a:t>Identificamos </a:t>
            </a:r>
            <a:r>
              <a:rPr b="1"/>
              <a:t>8 cruxes</a:t>
            </a:r>
            <a:r>
              <a:rPr/>
              <a:t> que el proyecto está atravesando:</a:t>
            </a:r>
          </a:p>
          <a:p>
            <a:pPr lvl="0"/>
            <a:r>
              <a:rPr/>
              <a:t>4 técnicos / de infraestructura</a:t>
            </a:r>
          </a:p>
          <a:p>
            <a:pPr lvl="0"/>
            <a:r>
              <a:rPr/>
              <a:t>2 organizacionales / de comportamiento</a:t>
            </a:r>
          </a:p>
          <a:p>
            <a:pPr lvl="0"/>
            <a:r>
              <a:rPr/>
              <a:t>2 económicos y de gobernanza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Cruxes técnicos y de infraestructura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 qué es crítico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Calidad y frescura de datos meteorológicos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 datos confiables, todo el producto pierde valor de decisión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Conectividad rural en zonas de agricultores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 falla justo cuando más se necesita, utilidad percibida =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Concentración de privilegios en rol master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Una credencial comprometida = brecha de los 20 agricultores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Gobernanza y mantenimiento post-launch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 dueño operacional, plataforma se degrada en 6-12 meses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Cruxes organizacionales y económicos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 qué es crítico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Adopción real por parte de agricultores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Producto sin uso = no hay producto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Confianza organizacional en recomendaciones 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 IA y agrónomo discrepan, ¿quién prevalece?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Costo unitario al escalar (Gemini, Claude, Davis, Vercel)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Crecer a 50-100 agricultores puede romper el ROI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Coexistencia con sistemas existentes de Polar (SAP)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“Sistema sombra” sin sync con ERP genera discrepancias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Hipótesis de mitigación de cruxes (resumen)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Datos</a:t>
            </a:r>
            <a:r>
              <a:rPr/>
              <a:t>: auditar cron, monitoreo proactivo, SLA interno de frescura</a:t>
            </a:r>
          </a:p>
          <a:p>
            <a:pPr lvl="0"/>
            <a:r>
              <a:rPr b="1"/>
              <a:t>Adopción</a:t>
            </a:r>
            <a:r>
              <a:rPr/>
              <a:t>: piloto controlado de 3-5 agricultores antes del rollout</a:t>
            </a:r>
          </a:p>
          <a:p>
            <a:pPr lvl="0"/>
            <a:r>
              <a:rPr b="1"/>
              <a:t>Confianza IA</a:t>
            </a:r>
            <a:r>
              <a:rPr/>
              <a:t>: protocolo IA-como-asistente, validación humana de recomendaciones críticas</a:t>
            </a:r>
          </a:p>
          <a:p>
            <a:pPr lvl="0"/>
            <a:r>
              <a:rPr b="1"/>
              <a:t>Conectividad</a:t>
            </a:r>
            <a:r>
              <a:rPr/>
              <a:t>: PWA con caché offline, alertas por SMS/WhatsApp</a:t>
            </a:r>
          </a:p>
          <a:p>
            <a:pPr lvl="0"/>
            <a:r>
              <a:rPr b="1"/>
              <a:t>Privilegios</a:t>
            </a:r>
            <a:r>
              <a:rPr/>
              <a:t>: MFA obligatorio, segregación master agronómico vs administrativo</a:t>
            </a:r>
          </a:p>
          <a:p>
            <a:pPr lvl="0"/>
            <a:r>
              <a:rPr b="1"/>
              <a:t>Costos</a:t>
            </a:r>
            <a:r>
              <a:rPr/>
              <a:t>: modelado por agricultor activo/mes, caching, modelos económicos</a:t>
            </a:r>
          </a:p>
          <a:p>
            <a:pPr lvl="0"/>
            <a:r>
              <a:rPr b="1"/>
              <a:t>ERP</a:t>
            </a:r>
            <a:r>
              <a:rPr/>
              <a:t>: mapeo flujos con IT corporativo, definir source of truth</a:t>
            </a:r>
          </a:p>
          <a:p>
            <a:pPr lvl="0"/>
            <a:r>
              <a:rPr b="1"/>
              <a:t>Gobernanza</a:t>
            </a:r>
            <a:r>
              <a:rPr/>
              <a:t>: SLA de soporte, presupuesto operativo, transferencia de conocimiento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 que falta — acciones inmediatas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Acción inmediata (5 minutos)</a:t>
            </a:r>
          </a:p>
          <a:p>
            <a:pPr lvl="0"/>
            <a:r>
              <a:rPr/>
              <a:t>Activar </a:t>
            </a:r>
            <a:r>
              <a:rPr>
                <a:latin typeface="Courier"/>
              </a:rPr>
              <a:t>GEMINI_API_KEY</a:t>
            </a:r>
            <a:r>
              <a:rPr/>
              <a:t> en Supabase → Settings → Edge Functions → Secrets</a:t>
            </a:r>
          </a:p>
          <a:p>
            <a:pPr lvl="0"/>
            <a:r>
              <a:rPr/>
              <a:t>Sin esta clave el chat no responde; con ella queda 100% operativo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Fase E — reportes por correo (~2 horas)</a:t>
            </a:r>
          </a:p>
          <a:p>
            <a:pPr lvl="0"/>
            <a:r>
              <a:rPr/>
              <a:t>Envío automático semanal de reporte PDF al email de cada agropecuaria</a:t>
            </a:r>
          </a:p>
          <a:p>
            <a:pPr lvl="0"/>
            <a:r>
              <a:rPr/>
              <a:t>Botón “enviar por correo” desde la app</a:t>
            </a:r>
          </a:p>
          <a:p>
            <a:pPr lvl="0"/>
            <a:r>
              <a:rPr/>
              <a:t>Plantilla HTML corporativa Polar</a:t>
            </a:r>
          </a:p>
          <a:p>
            <a:pPr lvl="0"/>
            <a:r>
              <a:rPr/>
              <a:t>Logging de envíos</a:t>
            </a:r>
          </a:p>
          <a:p>
            <a:pPr lvl="0"/>
            <a:r>
              <a:rPr/>
              <a:t>Requiere alta de cuenta en Resend (capa gratuita: 3 000 emails/mes)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 de mejoras post-MVP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Mejora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Esfuerzo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Notificaciones push/SMS para alertas críticas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Comunicación proactiva sin login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Mapa interactivo con vista satelital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Vista geoespacial de la operación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Medio-alto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Comparativos año contra año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Análisis de tendencias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Bajo-medio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Dashboard analítico por estado/región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Decisiones a nivel de programa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Onboarding autoservicio de agricultores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Escalar el programa sin fricción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móvil nativa iOS/Android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Acceso de campo offline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Riesgos operativos vs cruxes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Riesgo operativo (mitigado en código)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Mitigación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Datos meteorológicos atrasados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Fall-back automático con marca visual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Falla de Gemini 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Mensajes contextuales, no bloquea operativa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Acceso indebido entre agricultores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Level Security por </a:t>
                      </a:r>
                      <a:r>
                        <a:rPr>
                          <a:latin typeface="Courier"/>
                        </a:rPr>
                        <a:t>agricultor_key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Caída del cron WeatherLink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Logs en Supabase, sincronización cada 15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Rotación de API keys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Centralizadas en Supabase Secrets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Pérdida de sesión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JWT con renovación automática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Los </a:t>
            </a:r>
            <a:r>
              <a:rPr b="1"/>
              <a:t>cruxes</a:t>
            </a:r>
            <a:r>
              <a:rPr/>
              <a:t> (slides anteriores) son problemas estructurales no mitigables por código solo: requieren decisión organizacional.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La plataforma cumple los objetivos planteados al inicio del proyecto</a:t>
            </a:r>
          </a:p>
          <a:p>
            <a:pPr lvl="0" indent="-342900" marL="342900">
              <a:buAutoNum type="arabicPeriod"/>
            </a:pPr>
            <a:r>
              <a:rPr b="1"/>
              <a:t>Cinco de seis fases en producción</a:t>
            </a:r>
            <a:r>
              <a:rPr/>
              <a:t>, validadas con datos reales</a:t>
            </a:r>
          </a:p>
          <a:p>
            <a:pPr lvl="0" indent="-342900" marL="342900">
              <a:buAutoNum type="arabicPeriod"/>
            </a:pPr>
            <a:r>
              <a:rPr/>
              <a:t>Estado actual: </a:t>
            </a:r>
            <a:r>
              <a:rPr b="1"/>
              <a:t>prototipo funcional desplegado</a:t>
            </a:r>
            <a:r>
              <a:rPr/>
              <a:t> (no aún MVP formal)</a:t>
            </a:r>
          </a:p>
          <a:p>
            <a:pPr lvl="0" indent="-342900" marL="342900">
              <a:buAutoNum type="arabicPeriod"/>
            </a:pPr>
            <a:r>
              <a:rPr/>
              <a:t>Camino al MVP estimado en </a:t>
            </a:r>
            <a:r>
              <a:rPr b="1"/>
              <a:t>~1 semana</a:t>
            </a:r>
            <a:r>
              <a:rPr/>
              <a:t> de trabajo enfocado (26-47 horas)</a:t>
            </a:r>
          </a:p>
          <a:p>
            <a:pPr lvl="0" indent="-342900" marL="342900">
              <a:buAutoNum type="arabicPeriod"/>
            </a:pPr>
            <a:r>
              <a:rPr b="1"/>
              <a:t>8 cruxes identificados</a:t>
            </a:r>
            <a:r>
              <a:rPr/>
              <a:t> — los técnicos se cierran con código; los organizacionales requieren dueño en Polar</a:t>
            </a:r>
          </a:p>
          <a:p>
            <a:pPr lvl="0" indent="-342900" marL="342900">
              <a:buAutoNum type="arabicPeriod"/>
            </a:pPr>
            <a:r>
              <a:rPr/>
              <a:t>El stack tecnológico está preparado para escalar a más agricultores sin retrabajo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Recomendación a la junta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Aprobar el cierre de brechas para MVP</a:t>
            </a:r>
            <a:r>
              <a:rPr/>
              <a:t> (~1 semana)</a:t>
            </a:r>
          </a:p>
          <a:p>
            <a:pPr lvl="0" indent="-342900" marL="342900">
              <a:buAutoNum type="arabicPeriod"/>
            </a:pPr>
            <a:r>
              <a:rPr b="1"/>
              <a:t>Autorizar la activación</a:t>
            </a:r>
            <a:r>
              <a:rPr/>
              <a:t> de la API key de Gemini para habilitar el asistente</a:t>
            </a:r>
          </a:p>
          <a:p>
            <a:pPr lvl="0" indent="-342900" marL="342900">
              <a:buAutoNum type="arabicPeriod"/>
            </a:pPr>
            <a:r>
              <a:rPr b="1"/>
              <a:t>Designar dueños organizacionales</a:t>
            </a:r>
            <a:r>
              <a:rPr/>
              <a:t> para los cruxes 3, 7 y 8 (confianza en IA, integración SAP, gobernanza post-launch)</a:t>
            </a:r>
          </a:p>
          <a:p>
            <a:pPr lvl="0" indent="-342900" marL="342900">
              <a:buAutoNum type="arabicPeriod"/>
            </a:pPr>
            <a:r>
              <a:rPr b="1"/>
              <a:t>Aprobar piloto controlado</a:t>
            </a:r>
            <a:r>
              <a:rPr/>
              <a:t> con 3-5 agricultores para validar adopción antes del rollout completo de 20</a:t>
            </a:r>
          </a:p>
          <a:p>
            <a:pPr lvl="0" indent="-342900" marL="342900">
              <a:buAutoNum type="arabicPeriod"/>
            </a:pPr>
            <a:r>
              <a:rPr b="1"/>
              <a:t>Iniciar planificación</a:t>
            </a:r>
            <a:r>
              <a:rPr/>
              <a:t> del roadmap post-MVP:</a:t>
            </a:r>
          </a:p>
          <a:p>
            <a:pPr lvl="1"/>
            <a:r>
              <a:rPr/>
              <a:t>Notificaciones SMS</a:t>
            </a:r>
          </a:p>
          <a:p>
            <a:pPr lvl="1"/>
            <a:r>
              <a:rPr/>
              <a:t>Mapa satelital</a:t>
            </a:r>
          </a:p>
          <a:p>
            <a:pPr lvl="1"/>
            <a:r>
              <a:rPr/>
              <a:t>Comparativos año contra año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Contacto y 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Repositorio del producto:</a:t>
            </a:r>
            <a:r>
              <a:rPr/>
              <a:t> github.com/perez-luis-netizen/agri-platform</a:t>
            </a:r>
          </a:p>
          <a:p>
            <a:pPr lvl="0"/>
            <a:r>
              <a:rPr b="1"/>
              <a:t>Entorno productivo:</a:t>
            </a:r>
            <a:r>
              <a:rPr/>
              <a:t> agri-platform-omega.vercel.app</a:t>
            </a:r>
          </a:p>
          <a:p>
            <a:pPr lvl="0"/>
            <a:r>
              <a:rPr b="1"/>
              <a:t>Documento ejecutivo completo:</a:t>
            </a:r>
            <a:r>
              <a:rPr/>
              <a:t> INFORME_EJECUTIVO.md</a:t>
            </a:r>
          </a:p>
          <a:p>
            <a:pPr lvl="0"/>
            <a:r>
              <a:rPr b="1"/>
              <a:t>Soporte técnico:</a:t>
            </a:r>
            <a:r>
              <a:rPr/>
              <a:t> equipo de plataforma digital Polar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Polar en el Campo</a:t>
            </a:r>
          </a:p>
          <a:p>
            <a:pPr lvl="0" indent="0" marL="0">
              <a:buNone/>
            </a:pPr>
            <a:r>
              <a:rPr b="1"/>
              <a:t>Inteligencia agronómica para el Programa de Agricultura por Contrato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 en el Campo</dc:title>
  <dc:creator>Equipo de Agricultura Polar</dc:creator>
  <cp:keywords/>
  <dcterms:created xsi:type="dcterms:W3CDTF">2026-04-19T01:54:19Z</dcterms:created>
  <dcterms:modified xsi:type="dcterms:W3CDTF">2026-04-19T01:54:19Z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18 de abril de 2026</vt:lpwstr>
  </property>
  <property fmtid="{D5CDD505-2E9C-101B-9397-08002B2CF9AE}" pid="3" name="subtitle">
    <vt:lpwstr>Plataforma digital del Programa de Agricultura por Contrato</vt:lpwstr>
  </property>
</Properties>
</file>