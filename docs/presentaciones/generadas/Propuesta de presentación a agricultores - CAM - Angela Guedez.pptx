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9 lotes: el 24/06 se reportó «Aplicación de control de plagas con cañón por las orillas por incidencia localizada».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ANGELA GUEDEZ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PORTUGUESA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2685262" cy="475488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77840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Las Cupulas  ·  11 lotes  ·  227,32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35040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Portuguesa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11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24,4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aplicada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5,66 – 6,09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5,7 a 6,1). Aplicamos cal dolomítica en 5 lotes (24,4 t) para corregir la acidez y aportar calcio y magnesio antes de nutrir.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3233902" y="685800"/>
            <a:ext cx="2938297" cy="47548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3343630" y="804672"/>
            <a:ext cx="2755417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3343630" y="1097280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1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3343630" y="1467196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2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3343630" y="1837112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1A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3343630" y="2207029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1B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3343630" y="2576945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4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3343630" y="2946861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5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3343630" y="3316778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6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3343630" y="3686694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7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3343630" y="4056610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9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8</a:t>
            </a:r>
          </a:p>
        </p:txBody>
      </p:sp>
      <p:sp>
        <p:nvSpPr>
          <p:cNvPr id="50" name="TextBox 57 (gen)"/>
          <p:cNvSpPr txBox="1"/>
          <p:nvPr/>
        </p:nvSpPr>
        <p:spPr>
          <a:xfrm>
            <a:off x="3343630" y="4426527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9</a:t>
            </a:r>
          </a:p>
        </p:txBody>
      </p:sp>
      <p:sp>
        <p:nvSpPr>
          <p:cNvPr id="51" name="TextBox 57 (gen)"/>
          <p:cNvSpPr txBox="1"/>
          <p:nvPr/>
        </p:nvSpPr>
        <p:spPr>
          <a:xfrm>
            <a:off x="3343630" y="4796443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—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3</a:t>
            </a:r>
          </a:p>
        </p:txBody>
      </p:sp>
      <p:cxnSp>
        <p:nvCxnSpPr>
          <p:cNvPr id="52" name="Connector 53 (gen)"/>
          <p:cNvCxnSpPr/>
          <p:nvPr/>
        </p:nvCxnSpPr>
        <p:spPr>
          <a:xfrm>
            <a:off x="809280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790551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8467380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90551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41386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841386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7972406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9" name="Connector 53 (gen)"/>
          <p:cNvCxnSpPr/>
          <p:nvPr/>
        </p:nvCxnSpPr>
        <p:spPr>
          <a:xfrm>
            <a:off x="815969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60" name="Connector 53 (gen)"/>
          <p:cNvCxnSpPr/>
          <p:nvPr/>
        </p:nvCxnSpPr>
        <p:spPr>
          <a:xfrm>
            <a:off x="848075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 dolomítica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+ KMAG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enmiendas aplicadas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0,2–0,35 t/ha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cal · KMAG 1,5 sacos/ha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CAL DOLOMÍTICA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24,4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t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en 5 lotes</a:t>
            </a:r>
          </a:p>
        </p:txBody>
      </p:sp>
      <p:sp>
        <p:nvSpPr>
          <p:cNvPr id="61" name="TextBox 78">
            <a:extLst>
              <a:ext uri="{FF2B5EF4-FFF2-40B4-BE49-F238E27FC236}">
                <a16:creationId xmlns:a16="http://schemas.microsoft.com/office/drawing/2014/main" id="{A7899A3F-8021-5375-2075-E16CBCA863D4}"/>
              </a:ext>
            </a:extLst>
          </p:cNvPr>
          <p:cNvSpPr txBox="1"/>
          <p:nvPr/>
        </p:nvSpPr>
        <p:spPr>
          <a:xfrm>
            <a:off x="827532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KMAG</a:t>
            </a:r>
          </a:p>
        </p:txBody>
      </p:sp>
      <p:sp>
        <p:nvSpPr>
          <p:cNvPr id="62" name="TextBox 79">
            <a:extLst>
              <a:ext uri="{FF2B5EF4-FFF2-40B4-BE49-F238E27FC236}">
                <a16:creationId xmlns:a16="http://schemas.microsoft.com/office/drawing/2014/main" id="{2BF5C7C6-AA96-AB88-FAD7-E3E5A8862DE1}"/>
              </a:ext>
            </a:extLst>
          </p:cNvPr>
          <p:cNvSpPr txBox="1"/>
          <p:nvPr/>
        </p:nvSpPr>
        <p:spPr>
          <a:xfrm>
            <a:off x="827532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68,4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3" name="TextBox 80">
            <a:extLst>
              <a:ext uri="{FF2B5EF4-FFF2-40B4-BE49-F238E27FC236}">
                <a16:creationId xmlns:a16="http://schemas.microsoft.com/office/drawing/2014/main" id="{95017659-4467-3EDF-C5AD-046F3E9532CC}"/>
              </a:ext>
            </a:extLst>
          </p:cNvPr>
          <p:cNvSpPr txBox="1"/>
          <p:nvPr/>
        </p:nvSpPr>
        <p:spPr>
          <a:xfrm>
            <a:off x="827532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en 3 lotes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Calcio/magnesio: 5 de 7 lotes en rango ideal, 1 alto, 1 bajo. En 5 de 7 lotes el calcio domina sobre el potasio: lo equilibramos con la nutrición.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9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6,09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19,4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1A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5,80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3,2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37,1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4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5,66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3,5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24,6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Villa Marina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5,66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28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29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Villa Marina 2</a:t>
            </a:r>
          </a:p>
        </p:txBody>
      </p:sp>
      <p:sp>
        <p:nvSpPr>
          <p:cNvPr id="130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6,08</a:t>
            </a:r>
          </a:p>
        </p:txBody>
      </p:sp>
      <p:sp>
        <p:nvSpPr>
          <p:cNvPr id="131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33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8</a:t>
            </a:r>
          </a:p>
        </p:txBody>
      </p:sp>
      <p:sp>
        <p:nvSpPr>
          <p:cNvPr id="134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5,85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3,1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7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29,7</a:t>
            </a:r>
          </a:p>
        </p:txBody>
      </p:sp>
      <p:sp>
        <p:nvSpPr>
          <p:cNvPr id="138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39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5</a:t>
            </a:r>
          </a:p>
        </p:txBody>
      </p:sp>
      <p:sp>
        <p:nvSpPr>
          <p:cNvPr id="140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6,04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3,6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44,2</a:t>
            </a:r>
          </a:p>
        </p:txBody>
      </p:sp>
      <p:sp>
        <p:nvSpPr>
          <p:cNvPr id="144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45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6</a:t>
            </a:r>
          </a:p>
        </p:txBody>
      </p:sp>
      <p:sp>
        <p:nvSpPr>
          <p:cNvPr id="146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6,04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3,2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37,1</a:t>
            </a:r>
          </a:p>
        </p:txBody>
      </p:sp>
      <p:sp>
        <p:nvSpPr>
          <p:cNvPr id="150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51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7</a:t>
            </a:r>
          </a:p>
        </p:txBody>
      </p:sp>
      <p:sp>
        <p:nvSpPr>
          <p:cNvPr id="152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5,71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1,0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18,9</a:t>
            </a:r>
          </a:p>
        </p:txBody>
      </p:sp>
      <p:sp>
        <p:nvSpPr>
          <p:cNvPr id="156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Angela Rosa Guedez Morales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11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96%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7141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52627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7316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227,32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503834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8406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404104"/>
            <a:ext cx="5349240" cy="1179576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77256"/>
            <a:ext cx="4846320" cy="9784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11 lotes completaron las 7 labores aplicadas en el 100% de su superficie. Sin registro completo: Villa Marina 1 (rastra, reabono 1, reabono 2); Villa Marina 2 (reabono 1, reabono 2); Villa Marina 3 (rastra, siembra, reabono 1). La enmienda se aplicó en 5 lotes, donde el análisis la pidió.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1A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3" name="Rounded Rectangle 41 (gen)"/>
          <p:cNvSpPr/>
          <p:nvPr/>
        </p:nvSpPr>
        <p:spPr>
          <a:xfrm>
            <a:off x="7982712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1671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1B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3957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4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19" name="Rounded Rectangle 41 (gen)"/>
          <p:cNvSpPr/>
          <p:nvPr/>
        </p:nvSpPr>
        <p:spPr>
          <a:xfrm>
            <a:off x="7982712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26,26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6243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5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28529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6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5" name="Rounded Rectangle 41 (gen)"/>
          <p:cNvSpPr/>
          <p:nvPr/>
        </p:nvSpPr>
        <p:spPr>
          <a:xfrm>
            <a:off x="7982712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0815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7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3" name="Rounded Rectangle 41 (gen)"/>
          <p:cNvSpPr/>
          <p:nvPr/>
        </p:nvSpPr>
        <p:spPr>
          <a:xfrm>
            <a:off x="7982712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3101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8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5387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9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59" name="Rounded Rectangle 41 (gen)"/>
          <p:cNvSpPr/>
          <p:nvPr/>
        </p:nvSpPr>
        <p:spPr>
          <a:xfrm>
            <a:off x="7982712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37673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1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23,00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17,60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17,63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73" name="TextBox 39 (gen)"/>
          <p:cNvSpPr txBox="1"/>
          <p:nvPr/>
        </p:nvSpPr>
        <p:spPr>
          <a:xfrm>
            <a:off x="6263640" y="39959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2</a:t>
            </a:r>
          </a:p>
        </p:txBody>
      </p:sp>
      <p:sp>
        <p:nvSpPr>
          <p:cNvPr id="174" name="Rounded Rectangle 41 (gen)"/>
          <p:cNvSpPr/>
          <p:nvPr/>
        </p:nvSpPr>
        <p:spPr>
          <a:xfrm>
            <a:off x="7360920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75" name="Rounded Rectangle 44 (gen)"/>
          <p:cNvSpPr/>
          <p:nvPr/>
        </p:nvSpPr>
        <p:spPr>
          <a:xfrm>
            <a:off x="7982712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8604504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20,00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226296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9848088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0469880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0" name="Rounded Rectangle 41 (gen)"/>
          <p:cNvSpPr/>
          <p:nvPr/>
        </p:nvSpPr>
        <p:spPr>
          <a:xfrm>
            <a:off x="11091672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81" name="TextBox 39 (gen)"/>
          <p:cNvSpPr txBox="1"/>
          <p:nvPr/>
        </p:nvSpPr>
        <p:spPr>
          <a:xfrm>
            <a:off x="6263640" y="42245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3</a:t>
            </a:r>
          </a:p>
        </p:txBody>
      </p:sp>
      <p:sp>
        <p:nvSpPr>
          <p:cNvPr id="182" name="Rounded Rectangle 41 (gen)"/>
          <p:cNvSpPr/>
          <p:nvPr/>
        </p:nvSpPr>
        <p:spPr>
          <a:xfrm>
            <a:off x="7360920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83" name="Rounded Rectangle 44 (gen)"/>
          <p:cNvSpPr/>
          <p:nvPr/>
        </p:nvSpPr>
        <p:spPr>
          <a:xfrm>
            <a:off x="7982712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84" name="Rounded Rectangle 41 (gen)"/>
          <p:cNvSpPr/>
          <p:nvPr/>
        </p:nvSpPr>
        <p:spPr>
          <a:xfrm>
            <a:off x="8604504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12,93</a:t>
            </a:r>
          </a:p>
        </p:txBody>
      </p:sp>
      <p:sp>
        <p:nvSpPr>
          <p:cNvPr id="185" name="Rounded Rectangle 41 (gen)"/>
          <p:cNvSpPr/>
          <p:nvPr/>
        </p:nvSpPr>
        <p:spPr>
          <a:xfrm>
            <a:off x="9226296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6" name="Rounded Rectangle 41 (gen)"/>
          <p:cNvSpPr/>
          <p:nvPr/>
        </p:nvSpPr>
        <p:spPr>
          <a:xfrm>
            <a:off x="9848088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87" name="Rounded Rectangle 41 (gen)"/>
          <p:cNvSpPr/>
          <p:nvPr/>
        </p:nvSpPr>
        <p:spPr>
          <a:xfrm>
            <a:off x="10469880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8" name="Rounded Rectangle 41 (gen)"/>
          <p:cNvSpPr/>
          <p:nvPr/>
        </p:nvSpPr>
        <p:spPr>
          <a:xfrm>
            <a:off x="11091672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9" name="Rounded Rectangle 41 (gen)"/>
          <p:cNvSpPr/>
          <p:nvPr/>
        </p:nvSpPr>
        <p:spPr>
          <a:xfrm>
            <a:off x="7360920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210,69</a:t>
            </a:r>
          </a:p>
        </p:txBody>
      </p:sp>
      <p:sp>
        <p:nvSpPr>
          <p:cNvPr id="190" name="Rounded Rectangle 41 (gen)"/>
          <p:cNvSpPr/>
          <p:nvPr/>
        </p:nvSpPr>
        <p:spPr>
          <a:xfrm>
            <a:off x="7982712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102,01</a:t>
            </a:r>
          </a:p>
        </p:txBody>
      </p:sp>
      <p:sp>
        <p:nvSpPr>
          <p:cNvPr id="191" name="Rounded Rectangle 41 (gen)"/>
          <p:cNvSpPr/>
          <p:nvPr/>
        </p:nvSpPr>
        <p:spPr>
          <a:xfrm>
            <a:off x="8604504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226,17</a:t>
            </a:r>
          </a:p>
        </p:txBody>
      </p:sp>
      <p:sp>
        <p:nvSpPr>
          <p:cNvPr id="192" name="Rounded Rectangle 41 (gen)"/>
          <p:cNvSpPr/>
          <p:nvPr/>
        </p:nvSpPr>
        <p:spPr>
          <a:xfrm>
            <a:off x="9226296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93" name="Rounded Rectangle 41 (gen)"/>
          <p:cNvSpPr/>
          <p:nvPr/>
        </p:nvSpPr>
        <p:spPr>
          <a:xfrm>
            <a:off x="9848088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199,21</a:t>
            </a:r>
          </a:p>
        </p:txBody>
      </p:sp>
      <p:sp>
        <p:nvSpPr>
          <p:cNvPr id="194" name="Rounded Rectangle 41 (gen)"/>
          <p:cNvSpPr/>
          <p:nvPr/>
        </p:nvSpPr>
        <p:spPr>
          <a:xfrm>
            <a:off x="10469880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213,24</a:t>
            </a:r>
          </a:p>
        </p:txBody>
      </p:sp>
      <p:sp>
        <p:nvSpPr>
          <p:cNvPr id="195" name="Rounded Rectangle 41 (gen)"/>
          <p:cNvSpPr/>
          <p:nvPr/>
        </p:nvSpPr>
        <p:spPr>
          <a:xfrm>
            <a:off x="11091672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227,24</a:t>
            </a:r>
          </a:p>
        </p:txBody>
      </p:sp>
      <p:sp>
        <p:nvSpPr>
          <p:cNvPr id="196" name="Rounded Rectangle 110 (gen)"/>
          <p:cNvSpPr/>
          <p:nvPr/>
        </p:nvSpPr>
        <p:spPr>
          <a:xfrm>
            <a:off x="1019556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7" name="TextBox 113 (gen)"/>
          <p:cNvSpPr txBox="1"/>
          <p:nvPr/>
        </p:nvSpPr>
        <p:spPr>
          <a:xfrm>
            <a:off x="10469880" y="508406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288" y="4320000"/>
            <a:ext cx="555955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10 de 14 reportes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10 de 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91 DDS, en 5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3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malezas entre 9 y 126 DDS, en Lote 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1 de 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a los 119 DDS, en Lote 1A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0609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88664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01/05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88664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9 DDS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1407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Baja eficiencia del control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87354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65408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14/05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65408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68151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6409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4215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4215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4489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4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Focos de plagas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40842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18897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18897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21640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Lesiones en follaje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1758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39564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39564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39838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Baja eficiencia del control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494331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472385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472385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475128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Malezas avanzadas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571075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49129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19/05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49129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V1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51873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2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Emergencia irregular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47819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25874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25874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28617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efectivo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24564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02618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27/05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02618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05361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0130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77936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27/05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77936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78210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efectivo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878052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856107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856107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64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858850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9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Plagas en bordes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95479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93285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24/07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93285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91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93559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2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Plagas en bordes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031541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09595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21/08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09595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119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12338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1A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5" name="Oval 12 (gen)"/>
          <p:cNvSpPr/>
          <p:nvPr/>
        </p:nvSpPr>
        <p:spPr>
          <a:xfrm>
            <a:off x="1108285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14</a:t>
            </a:r>
          </a:p>
        </p:txBody>
      </p:sp>
      <p:sp>
        <p:nvSpPr>
          <p:cNvPr id="116" name="TextBox 13 (gen)"/>
          <p:cNvSpPr txBox="1"/>
          <p:nvPr/>
        </p:nvSpPr>
        <p:spPr>
          <a:xfrm>
            <a:off x="1086339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26/08</a:t>
            </a:r>
          </a:p>
        </p:txBody>
      </p:sp>
      <p:sp>
        <p:nvSpPr>
          <p:cNvPr id="117" name="TextBox 14 (gen)"/>
          <p:cNvSpPr txBox="1"/>
          <p:nvPr/>
        </p:nvSpPr>
        <p:spPr>
          <a:xfrm>
            <a:off x="1086339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126 DDS</a:t>
            </a:r>
          </a:p>
        </p:txBody>
      </p:sp>
      <p:sp>
        <p:nvSpPr>
          <p:cNvPr id="118" name="TextBox 15 (gen)"/>
          <p:cNvSpPr txBox="1"/>
          <p:nvPr/>
        </p:nvSpPr>
        <p:spPr>
          <a:xfrm>
            <a:off x="1089083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Muestreo de malezas (I+D)</a:t>
            </a:r>
          </a:p>
        </p:txBody>
      </p:sp>
      <p:sp>
        <p:nvSpPr>
          <p:cNvPr id="119" name="TextBox 5 (gen)"/>
          <p:cNvSpPr txBox="1"/>
          <p:nvPr/>
        </p:nvSpPr>
        <p:spPr>
          <a:xfrm>
            <a:off x="4111534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20" name="TextBox 5 (gen)"/>
          <p:cNvSpPr txBox="1"/>
          <p:nvPr/>
        </p:nvSpPr>
        <p:spPr>
          <a:xfrm>
            <a:off x="833247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21" name="Rectangle 8 (gen)"/>
          <p:cNvSpPr/>
          <p:nvPr/>
        </p:nvSpPr>
        <p:spPr>
          <a:xfrm>
            <a:off x="8588828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2" name="TextBox 5 (gen)"/>
          <p:cNvSpPr txBox="1"/>
          <p:nvPr/>
        </p:nvSpPr>
        <p:spPr>
          <a:xfrm>
            <a:off x="9099912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JULIO</a:t>
            </a:r>
          </a:p>
        </p:txBody>
      </p:sp>
      <p:sp>
        <p:nvSpPr>
          <p:cNvPr id="123" name="Rectangle 8 (gen)"/>
          <p:cNvSpPr/>
          <p:nvPr/>
        </p:nvSpPr>
        <p:spPr>
          <a:xfrm>
            <a:off x="935627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4" name="TextBox 5 (gen)"/>
          <p:cNvSpPr txBox="1"/>
          <p:nvPr/>
        </p:nvSpPr>
        <p:spPr>
          <a:xfrm>
            <a:off x="10251077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25" name="Rectangle 8 (gen)"/>
          <p:cNvSpPr/>
          <p:nvPr/>
        </p:nvSpPr>
        <p:spPr>
          <a:xfrm>
            <a:off x="10123714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P10-Turen Las Cúpulas-Saturno, la estación Saturno asignada a la finca de Angela.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11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1.587,0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208 – 316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3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Angela Rosa Guedez Morales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Angela Rosa Guedez Morales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Turen, Portuguesa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227,3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11 lotes · 227,3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5,48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110%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1.245,4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1.137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2011680" y="1133856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Angela Rosa Guedez Morales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