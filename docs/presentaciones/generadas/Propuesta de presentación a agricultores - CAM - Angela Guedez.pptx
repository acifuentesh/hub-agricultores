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FFC9_0.xml" ContentType="application/vnd.ms-powerpoint.comments+xml"/>
  <Override PartName="/ppt/comments/modernComment_7FFFFFCC_0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402" r:id="rId2"/>
    <p:sldId id="2147483583" r:id="rId3"/>
    <p:sldId id="2147483593" r:id="rId4"/>
    <p:sldId id="2147483594" r:id="rId5"/>
    <p:sldId id="2147483599" r:id="rId6"/>
    <p:sldId id="2147483588" r:id="rId7"/>
    <p:sldId id="405" r:id="rId8"/>
    <p:sldId id="406" r:id="rId9"/>
    <p:sldId id="2147483596" r:id="rId10"/>
    <p:sldId id="2147483589" r:id="rId11"/>
    <p:sldId id="2147483590" r:id="rId12"/>
    <p:sldId id="256" r:id="rId13"/>
    <p:sldId id="2147483592" r:id="rId14"/>
    <p:sldId id="2147483597" r:id="rId15"/>
    <p:sldId id="2147483598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2A9D0A-E788-E089-94D5-A08C2CBA102F}" name="LINARES BOUQUETT, ANDREA CAROLINA" initials="AL" userId="S::andrea.linares@empresaspolar.com::20607752-e8f6-42d1-b328-866947b25e50" providerId="AD"/>
  <p188:author id="{4AB3D9A2-D831-8862-E1DB-9CCA1613A328}" name="Luis Javier Pérez Laya" initials="LP" userId="3728beebd6141a86" providerId="Windows Live"/>
  <p188:author id="{07B6E7C0-9B38-055D-07FB-4BF647E7AF34}" name="GUZMAN MOROS, ALEJANDRA EUGENIA" initials="AG" userId="S::alejandra.guzman@empresaspolar.com::92aa2971-90c0-489d-ba8d-2756961bf9b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188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8/10/relationships/authors" Target="authors.xml"/></Relationships>
</file>

<file path=ppt/comments/modernComment_7FFFFFC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D19F2B-D432-454D-895E-6821C1B56880}" authorId="{4AB3D9A2-D831-8862-E1DB-9CCA1613A328}" created="2026-10-06T22:18:20.5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147483593"/>
      <ac:spMk id="38" creationId="{288C8A97-53F7-823A-29C6-10F86CCFA717}"/>
    </ac:deMkLst>
    <p188:txBody>
      <a:bodyPr/>
      <a:lstStyle/>
      <a:p>
        <a:r>
          <a:rPr lang="en-US"/>
          <a:t>revisar</a:t>
        </a:r>
      </a:p>
    </p188:txBody>
  </p188:cm>
</p188:cmLst>
</file>

<file path=ppt/comments/modernComment_7FFFFFC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54C098D-D0C5-436A-807A-96E7ED9BA9F4}" authorId="{4AB3D9A2-D831-8862-E1DB-9CCA1613A328}" created="2026-10-06T21:17:01.11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147483596"/>
      <ac:spMk id="68" creationId="{821B1AB2-C09B-E286-77A4-4A0307148D5B}"/>
    </ac:deMkLst>
    <p188:replyLst>
      <p188:reply id="{D4A20D99-7A0C-4E5C-B686-5C08D76C33EC}" authorId="{4AB3D9A2-D831-8862-E1DB-9CCA1613A328}" created="2026-10-06T21:17:13.742">
        <p188:txBody>
          <a:bodyPr/>
          <a:lstStyle/>
          <a:p>
            <a:r>
              <a:rPr lang="en-US"/>
              <a:t>I guess</a:t>
            </a:r>
          </a:p>
        </p188:txBody>
      </p188:reply>
    </p188:replyLst>
    <p188:txBody>
      <a:bodyPr/>
      <a:lstStyle/>
      <a:p>
        <a:r>
          <a:rPr lang="en-US"/>
          <a:t>“Un puntaje de casi 8 sobre 10 en objetivos de aprendizaje de alto nivel”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7T10:20:21.401" authorId="{CF2A9D0A-E788-E089-94D5-A08C2CBA102F}"/>
          </p223:rxn>
        </p223:reactions>
      </p:ext>
    </p188:extLst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E0D7838-C18F-DC19-8BA8-F190B2277E5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F0CE021-177C-47D7-483E-75A67D9001A2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28E7684A-BECC-439E-A1BE-5921E42296AE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4B6F556E-2AEA-D167-601C-4939129F3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F4FFF1C1-6A0B-BD2C-74C5-7C011C36364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5C50B7-5805-4514-AB65-0C6519E9EE9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04B44E-8F17-02F4-F8EF-4332D94476B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1ECA61B4-4262-4919-ACD2-728233A45F4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5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1D487-DDAE-76FF-D08A-5FD4898F0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C11A7-5B30-0D4C-1A32-3B6EBAA425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52159-5FDF-B3BA-9084-693DB7B1BE1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1AAED06E-8BF2-42AD-8A6A-770674966DE2}" type="slidenum"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A1B2EC-71FE-7E01-5AD5-A4D0A8DD8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25A62AD-DAB2-11D3-5199-7CF430A34F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FB1472-6766-53D0-6401-5FE0F10125E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2F9D3F4-B62E-4E93-BFF7-25A95F920F43}" type="slidenum"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EFC739-0A44-7F24-01DE-436007D7D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E2B2F13-7EA5-AEBF-2310-42A22662ED2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D8CAB9-D46D-CABB-14E1-39A109725B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1D07565-C282-41D5-9403-1D258B3A8AD8}" type="slidenum">
              <a:t>9</a:t>
            </a:fld>
            <a:endParaRPr lang="es-V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8D497-FDAB-3D71-8C73-11A384723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C3AE0-355E-5C44-E309-CF298646FEF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s-ES"/>
              <a:t>Moléculas evaluadas en el estudio de resistencia: thiodicarb, profenofos, lambdacialotrina, emamectin benzoato y lufenuron (marcas comerciales como Barre y Match). </a:t>
            </a:r>
          </a:p>
          <a:p>
            <a:r>
              <a:t>Vincular con 9 lotes: el 24/06 se reportó «Aplicación de control de plagas con cañón por las orillas por incidencia localizada».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;p1:notes">
            <a:extLst>
              <a:ext uri="{FF2B5EF4-FFF2-40B4-BE49-F238E27FC236}">
                <a16:creationId xmlns:a16="http://schemas.microsoft.com/office/drawing/2014/main" id="{7990ECBC-3CFE-1F05-1EF6-EEC552CDF5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en-US"/>
          </a:p>
        </p:txBody>
      </p:sp>
      <p:sp>
        <p:nvSpPr>
          <p:cNvPr id="3" name="Google Shape;82;p1:notes">
            <a:extLst>
              <a:ext uri="{FF2B5EF4-FFF2-40B4-BE49-F238E27FC236}">
                <a16:creationId xmlns:a16="http://schemas.microsoft.com/office/drawing/2014/main" id="{6444B0F0-0F01-2238-B989-3BAA3B977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002AE-85C0-7EAC-4325-5B51CBB59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CF958B-F08A-216F-76DD-67A64ED7D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AB8110-05B8-6A1C-0E8D-AF990BB7A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9CB0D8-7A26-AF41-4A1B-5D9C7D04C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B838AD-C211-4D19-A05C-52EF0C028FA0}" type="slidenum">
              <a:rPr kumimoji="0" lang="es-V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V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2531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37317-76B8-642A-A1D1-B0BBB7F2EC8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8BE88C-2228-DAC5-1DAF-6EAE1079C0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51EFDF-E607-7C2E-D2E7-B339739C482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640725-DE17-4D36-9CB5-FF253236F489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580397-FADC-ECF7-DC34-F3F9EC58A18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3E0ACD-FEE9-1686-0D37-88BED24242C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034FD6-34B3-412E-8E8D-378D50C42A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8532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4AF20-E236-28D0-6F47-92A940300F6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FF0CD-7DCB-F083-2A40-575481A91EE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F1EE64-192E-94AA-5EE2-06D875B3A5D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19107-26FF-426E-B583-7CD7D5FD35FB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1F6C58-7593-3630-108B-2FC52838557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639E94-6368-3E84-B78B-915D22ECF60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2B625C-6C71-492E-A8EC-48246A02205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74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4455C-CA71-536E-E7A1-8A0E92B08D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80F3A5-CF04-BF2C-3A2A-14F4B1195C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47CD00-C077-7C3D-3BF5-0B9DDBA7AFB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02CF641-3EB5-4274-AE77-374F76513C8F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07EA96-4F10-A5DC-ECE4-73AE00E1B2E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757644-BD6B-EE08-06FF-2D2DA6AB32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B33107-7CDC-4AB5-9239-436CD8A12D4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196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EF1A5-C479-9187-1A01-D0355424C38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4929BD-E89F-4947-D83D-4EE08EE726E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FB6260-D15B-035C-0D78-191B711131F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5491D7-DC44-52C0-54A6-AED72CC8D51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5231DC0-71F2-4438-813F-EDCB485774C2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DCF480-6F91-3DF6-5642-DE2B8AC0A1C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E5A975-2607-402D-BF54-EDDB22C35C3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A17423-862F-451A-8EAF-E63F37E4AC8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22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97C3C-7593-D55C-1536-29824251B1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F06C84-D899-D4F2-989B-E16D5EE8E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FDE6E1-2B83-BFDB-A4E7-728D8602FEE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5CCCBD-7C84-2111-2C08-DD110B14D9E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3D4EB29-9911-7B28-E12C-2B835933C37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F6A857F-79FA-A22B-C1EA-8A4B27A7F0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778DFF-4CF9-463C-B9BB-6A14EE2C684A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431346-0922-1DC4-907C-0DA7787E09D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A75521-17C4-A125-50FE-A599197A0A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E52E219-D1A6-4AFE-9C95-20362FCB840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19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A5686-E893-E574-301D-7104B4D1335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AF1C9F-8B6D-9373-176C-EBE60E7E7A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0A350E-22D6-4F08-8583-50CA37177B2C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38FE233-43AB-87AB-4FFF-3DCE8DCACDC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8B3DCB-2574-91C1-0101-367966B8B0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AB9E52-13D0-4D64-B59D-F3C94434D6C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69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3159A1-23FB-836D-9FD6-88229238408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058259-E6B5-4BE4-9E40-F8BE542E9627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293FAE-2CA0-B6C7-614F-AC917371B79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61122F-8A00-039E-9729-5D37D4335D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C5F450C-DC9D-4BAF-AE73-00E93C14F82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8777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48B7D-27DF-85D5-17C7-AAEE882E9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15F49E-4681-503A-1DE0-64EF702822C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0A54EA-9E42-EC25-5A77-171FAA9C97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616045-7CBC-5615-0894-58141C5ACE6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A5522DB-0000-4537-A675-2EEB3AD8E934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6E7726-2CC6-26D9-E38C-94D602CC266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84D5A6-8B09-3E87-5C07-D6701C77600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25F39D-0163-44EA-BA4C-D04B3D5C858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139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EC88B-49C5-D702-D912-57E65B549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726AA3-AD2B-AE0F-6E8E-30A5ADBF397E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697464-AD88-26A5-CF08-60902A390BC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C9A1DF-E858-D559-B683-05E3CC25CE1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0B6A19-BED2-48C7-8833-8E44DD3A7193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60909F-D69F-29CC-9F2A-81FD9D3E787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63C573-AF3A-A030-D6B0-BCD334BA9E3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FF8E020-CFB8-477A-977B-A16A565ED93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13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BB3C9-CEDE-F0A7-C91C-9E40699BBE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2EBD80-1AEC-6B5C-76CF-90DDE1C8DFB0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F8EBC5-F505-DFE3-6EC3-5FD5F35DCB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215D83-31B2-42CD-B96C-A0EBD9E2D9D2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D3937A-26CF-B9A3-D7CF-D07951902EE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68ED9-5AFF-C9A8-E674-66B80653F0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C877F9-0ED9-45C3-80D8-BD7B0054ECA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29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4E7299-BBCE-9977-E6AA-7F0565802D2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CF209A-E022-0BDF-DCD6-1F2870EB9FC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7D64F2-6D69-A379-EA54-82ADFADDED8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9393263-46F2-4DF8-828E-4BDBC1F2E675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20D39-FE52-3FA7-4956-5C4E0A6E13E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7502C8-BAAF-4193-4425-7DCA9D6658B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95130A-9978-4B40-914A-6A2258D8B43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5445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74C2AC4-37D5-0C93-992B-D5CB1A4946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06E111-9898-B020-C037-2BCF2EFF85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206DE6-A6D5-405F-FEBF-DC3FE7D33D4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4B402421-C55E-4A70-B7DB-AEE4A157316C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7DBA2-DF0F-6E1A-B860-218A511BB79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4B7A06-8C6E-F0AD-1E9B-F116C39A191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2E867B9A-618C-4DDC-BBB7-3D73F1F1B3EA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s-E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s-E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8/10/relationships/comments" Target="../comments/modernComment_7FFFFFC9_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microsoft.com/office/2018/10/relationships/comments" Target="../comments/modernComment_7FFFFFCC_0.xml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jpeg"/><Relationship Id="rId13" Type="http://schemas.openxmlformats.org/officeDocument/2006/relationships/image" Target="../media/image28.jpeg"/><Relationship Id="rId14" Type="http://schemas.openxmlformats.org/officeDocument/2006/relationships/image" Target="../media/image29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ECE719-6322-557E-417F-20BF31564375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D9336088-195D-F705-6A5B-33E5CF9FA8CE}"/>
              </a:ext>
            </a:extLst>
          </p:cNvPr>
          <p:cNvSpPr/>
          <p:nvPr/>
        </p:nvSpPr>
        <p:spPr>
          <a:xfrm>
            <a:off x="0" y="-11430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E73F207C-B87B-181E-AA96-7AD5B2C5E103}"/>
              </a:ext>
            </a:extLst>
          </p:cNvPr>
          <p:cNvSpPr txBox="1"/>
          <p:nvPr/>
        </p:nvSpPr>
        <p:spPr>
          <a:xfrm>
            <a:off x="0" y="195946"/>
            <a:ext cx="12191996" cy="66620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3869" tIns="33869" rIns="33869" bIns="33869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2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FAE8CB8-D188-1A68-25BF-8D2DF2852CD1}"/>
              </a:ext>
            </a:extLst>
          </p:cNvPr>
          <p:cNvSpPr/>
          <p:nvPr/>
        </p:nvSpPr>
        <p:spPr>
          <a:xfrm>
            <a:off x="128423" y="2205339"/>
            <a:ext cx="3068442" cy="1876643"/>
          </a:xfrm>
          <a:custGeom>
            <a:avLst/>
            <a:gdLst>
              <a:gd name="f0" fmla="val w"/>
              <a:gd name="f1" fmla="val h"/>
              <a:gd name="f2" fmla="val 0"/>
              <a:gd name="f3" fmla="val 4602658"/>
              <a:gd name="f4" fmla="val 3806366"/>
              <a:gd name="f5" fmla="*/ f0 1 4602658"/>
              <a:gd name="f6" fmla="*/ f1 1 380636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602658"/>
              <a:gd name="f13" fmla="*/ f10 1 380636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602658" h="380636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t="-1" b="-35218"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 dirty="0">
              <a:solidFill>
                <a:srgbClr val="000000"/>
              </a:solidFill>
              <a:uFillTx/>
              <a:latin typeface="72 Condensed"/>
            </a:endParaRPr>
          </a:p>
        </p:txBody>
      </p:sp>
      <p:grpSp>
        <p:nvGrpSpPr>
          <p:cNvPr id="6" name="Grupo 2">
            <a:extLst>
              <a:ext uri="{FF2B5EF4-FFF2-40B4-BE49-F238E27FC236}">
                <a16:creationId xmlns:a16="http://schemas.microsoft.com/office/drawing/2014/main" id="{68110A8E-2AC5-20BB-8857-CB162592995F}"/>
              </a:ext>
            </a:extLst>
          </p:cNvPr>
          <p:cNvGrpSpPr/>
          <p:nvPr/>
        </p:nvGrpSpPr>
        <p:grpSpPr>
          <a:xfrm>
            <a:off x="3389836" y="2466557"/>
            <a:ext cx="7074968" cy="1365884"/>
            <a:chOff x="3389836" y="2466557"/>
            <a:chExt cx="7074968" cy="136588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5BD2D8A-3C54-FAD6-2DAB-322A54528F62}"/>
                </a:ext>
              </a:extLst>
            </p:cNvPr>
            <p:cNvSpPr txBox="1"/>
            <p:nvPr/>
          </p:nvSpPr>
          <p:spPr>
            <a:xfrm>
              <a:off x="3389836" y="2466557"/>
              <a:ext cx="7074968" cy="67710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4400" b="1" i="0" u="none" strike="noStrike" kern="1200" cap="none" spc="835" baseline="0">
                  <a:solidFill>
                    <a:srgbClr val="FFFFFF"/>
                  </a:solidFill>
                  <a:uFillTx/>
                  <a:latin typeface="72 Condensed" pitchFamily="34"/>
                  <a:ea typeface="Montserrat"/>
                  <a:cs typeface="72 Condensed" pitchFamily="34"/>
                </a:rPr>
                <a:t>PROGRAMA SATURNO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3E8979B-37B1-9CCC-057E-1C40CFBB9567}"/>
                </a:ext>
              </a:extLst>
            </p:cNvPr>
            <p:cNvSpPr txBox="1"/>
            <p:nvPr/>
          </p:nvSpPr>
          <p:spPr>
            <a:xfrm>
              <a:off x="3389836" y="3216886"/>
              <a:ext cx="6544443" cy="61555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2000" b="1" i="0" u="none" strike="noStrike" kern="1200" cap="none" spc="577" baseline="0">
                  <a:solidFill>
                    <a:srgbClr val="FFFFFF"/>
                  </a:solidFill>
                  <a:uFillTx/>
                  <a:latin typeface="72 Condensed"/>
                  <a:ea typeface="Montserrat"/>
                  <a:cs typeface="72 Condensed" pitchFamily="34"/>
                </a:rPr>
                <a:t>INTEGRADOR DE PROCESOS, CONOCIMIENTO Y TECNOLOGÍA</a:t>
              </a:r>
            </a:p>
          </p:txBody>
        </p:sp>
      </p:grpSp>
      <p:pic>
        <p:nvPicPr>
          <p:cNvPr id="9" name="Imagen 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D8E638A5-6A0B-C0F9-D3E3-90EFAE4B1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4099" y="5785052"/>
            <a:ext cx="1606975" cy="524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angle 22">
            <a:extLst>
              <a:ext uri="{FF2B5EF4-FFF2-40B4-BE49-F238E27FC236}">
                <a16:creationId xmlns:a16="http://schemas.microsoft.com/office/drawing/2014/main" id="{EF3595B2-A37E-DF1F-DF97-62EBEC754E47}"/>
              </a:ext>
            </a:extLst>
          </p:cNvPr>
          <p:cNvSpPr/>
          <p:nvPr/>
        </p:nvSpPr>
        <p:spPr>
          <a:xfrm>
            <a:off x="3390000" y="2419996"/>
            <a:ext cx="999996" cy="58000"/>
          </a:xfrm>
          <a:prstGeom prst="rect">
            <a:avLst/>
          </a:pr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C5697E-D089-3E7D-45B0-23D79D06B217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FD3A318F-D812-6A9D-B59A-C3787918F82E}"/>
              </a:ext>
            </a:extLst>
          </p:cNvPr>
          <p:cNvSpPr/>
          <p:nvPr/>
        </p:nvSpPr>
        <p:spPr>
          <a:xfrm>
            <a:off x="0" y="-11430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grpSp>
        <p:nvGrpSpPr>
          <p:cNvPr id="6" name="Grupo 2">
            <a:extLst>
              <a:ext uri="{FF2B5EF4-FFF2-40B4-BE49-F238E27FC236}">
                <a16:creationId xmlns:a16="http://schemas.microsoft.com/office/drawing/2014/main" id="{D8AC48A4-8E81-DF10-B2CE-282D1B9B69AF}"/>
              </a:ext>
            </a:extLst>
          </p:cNvPr>
          <p:cNvGrpSpPr/>
          <p:nvPr/>
        </p:nvGrpSpPr>
        <p:grpSpPr>
          <a:xfrm>
            <a:off x="3389836" y="2128000"/>
            <a:ext cx="7392466" cy="1396663"/>
            <a:chOff x="3389836" y="2128000"/>
            <a:chExt cx="7392466" cy="1396663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B953389-9AB9-AB37-9638-090DB6B7EA19}"/>
                </a:ext>
              </a:extLst>
            </p:cNvPr>
            <p:cNvSpPr txBox="1"/>
            <p:nvPr/>
          </p:nvSpPr>
          <p:spPr>
            <a:xfrm>
              <a:off x="3389836" y="2128000"/>
              <a:ext cx="7392466" cy="135421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4400" b="1" i="0" u="none" strike="noStrike" kern="1200" cap="none" spc="835" baseline="0">
                  <a:solidFill>
                    <a:srgbClr val="FFFFFF"/>
                  </a:solidFill>
                  <a:uFillTx/>
                  <a:latin typeface="72 Condensed" pitchFamily="34"/>
                  <a:ea typeface="Montserrat"/>
                  <a:cs typeface="72 Condensed" pitchFamily="34"/>
                </a:rPr>
                <a:t>ANGELA GUEDEZ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9B9B14D-BCCA-A6C9-C7AD-9979B94225AA}"/>
                </a:ext>
              </a:extLst>
            </p:cNvPr>
            <p:cNvSpPr txBox="1"/>
            <p:nvPr/>
          </p:nvSpPr>
          <p:spPr>
            <a:xfrm>
              <a:off x="3389836" y="3216886"/>
              <a:ext cx="6838139" cy="3077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2000" b="1" i="0" u="none" strike="noStrike" kern="1200" cap="none" spc="577" baseline="0">
                  <a:solidFill>
                    <a:srgbClr val="FFFFFF"/>
                  </a:solidFill>
                  <a:uFillTx/>
                  <a:latin typeface="72 Condensed"/>
                  <a:ea typeface="Montserrat"/>
                  <a:cs typeface="72 Condensed" pitchFamily="34"/>
                </a:rPr>
                <a:t>PORTUGUESA</a:t>
              </a:r>
            </a:p>
          </p:txBody>
        </p:sp>
      </p:grpSp>
      <p:pic>
        <p:nvPicPr>
          <p:cNvPr id="9" name="Imagen 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8A29E983-2705-74F3-0163-D7CE2A64B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099" y="5785052"/>
            <a:ext cx="1606975" cy="524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angle 22">
            <a:extLst>
              <a:ext uri="{FF2B5EF4-FFF2-40B4-BE49-F238E27FC236}">
                <a16:creationId xmlns:a16="http://schemas.microsoft.com/office/drawing/2014/main" id="{759D67DB-58D3-B012-8025-C705E2472D5B}"/>
              </a:ext>
            </a:extLst>
          </p:cNvPr>
          <p:cNvSpPr/>
          <p:nvPr/>
        </p:nvSpPr>
        <p:spPr>
          <a:xfrm>
            <a:off x="3390000" y="2419996"/>
            <a:ext cx="999996" cy="58000"/>
          </a:xfrm>
          <a:prstGeom prst="rect">
            <a:avLst/>
          </a:pr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3A1D31B7-F361-D543-35DF-D6FCA338D2BB}"/>
              </a:ext>
            </a:extLst>
          </p:cNvPr>
          <p:cNvSpPr/>
          <p:nvPr/>
        </p:nvSpPr>
        <p:spPr>
          <a:xfrm>
            <a:off x="128423" y="2205339"/>
            <a:ext cx="3068442" cy="1876643"/>
          </a:xfrm>
          <a:custGeom>
            <a:avLst/>
            <a:gdLst>
              <a:gd name="f0" fmla="val w"/>
              <a:gd name="f1" fmla="val h"/>
              <a:gd name="f2" fmla="val 0"/>
              <a:gd name="f3" fmla="val 4602658"/>
              <a:gd name="f4" fmla="val 3806366"/>
              <a:gd name="f5" fmla="*/ f0 1 4602658"/>
              <a:gd name="f6" fmla="*/ f1 1 380636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602658"/>
              <a:gd name="f13" fmla="*/ f10 1 380636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602658" h="380636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t="-1" b="-35218"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 dirty="0">
              <a:solidFill>
                <a:srgbClr val="000000"/>
              </a:solidFill>
              <a:uFillTx/>
              <a:latin typeface="72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3371455F-D535-BA63-2FD6-8979F9AD1DA3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ANÁLISIS DE SUELOS</a:t>
            </a:r>
          </a:p>
        </p:txBody>
      </p:sp>
      <p:pic>
        <p:nvPicPr>
          <p:cNvPr id="3" name="Picture 22" descr="map_top.png">
            <a:extLst>
              <a:ext uri="{FF2B5EF4-FFF2-40B4-BE49-F238E27FC236}">
                <a16:creationId xmlns:a16="http://schemas.microsoft.com/office/drawing/2014/main" id="{5EF29110-E7E0-8D4F-6C2B-1D625FACF3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1480" y="685800"/>
            <a:ext cx="2685262" cy="475488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Rounded Rectangle 23">
            <a:extLst>
              <a:ext uri="{FF2B5EF4-FFF2-40B4-BE49-F238E27FC236}">
                <a16:creationId xmlns:a16="http://schemas.microsoft.com/office/drawing/2014/main" id="{FA297047-87BD-5459-6D95-DF5B507E9183}"/>
              </a:ext>
            </a:extLst>
          </p:cNvPr>
          <p:cNvSpPr/>
          <p:nvPr/>
        </p:nvSpPr>
        <p:spPr>
          <a:xfrm>
            <a:off x="411480" y="5577840"/>
            <a:ext cx="5760720" cy="38404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13716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 dirty="0">
                <a:solidFill>
                  <a:srgbClr val="C9962E"/>
                </a:solidFill>
                <a:uFillTx/>
                <a:latin typeface="72 Condensed"/>
              </a:rPr>
              <a:t>FINCA</a:t>
            </a:r>
            <a:r>
              <a:rPr lang="en-US" sz="1200" b="1" i="0" u="none" strike="noStrike" kern="1200" cap="none" spc="0" baseline="0" dirty="0" err="1">
                <a:solidFill>
                  <a:srgbClr val="FFFFFF"/>
                </a:solidFill>
                <a:uFillTx/>
                <a:latin typeface="72 Condensed"/>
              </a:rPr>
              <a:t>  Las Cupulas  ·  11 lotes  ·  227,32 ha</a:t>
            </a: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A2526888-BFB5-84DA-43D5-258CECEBB3AB}"/>
              </a:ext>
            </a:extLst>
          </p:cNvPr>
          <p:cNvSpPr txBox="1"/>
          <p:nvPr/>
        </p:nvSpPr>
        <p:spPr>
          <a:xfrm>
            <a:off x="411480" y="6035040"/>
            <a:ext cx="576072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Portuguesa · Imagen satelital con delimitación de lotes (Anexo B del convenio · Datum WGS 1984, UTM 19N)</a:t>
            </a: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7F355FC8-F8D2-B97E-505E-F91788BE1C03}"/>
              </a:ext>
            </a:extLst>
          </p:cNvPr>
          <p:cNvSpPr txBox="1"/>
          <p:nvPr/>
        </p:nvSpPr>
        <p:spPr>
          <a:xfrm>
            <a:off x="6355080" y="685800"/>
            <a:ext cx="53949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00" baseline="0">
                <a:solidFill>
                  <a:srgbClr val="C9962E"/>
                </a:solidFill>
                <a:uFillTx/>
                <a:latin typeface="72 Condensed"/>
              </a:rPr>
              <a:t>ANÁLISIS DE SUELOS · LAB. EDAFOFINCA</a:t>
            </a:r>
          </a:p>
        </p:txBody>
      </p:sp>
      <p:sp>
        <p:nvSpPr>
          <p:cNvPr id="9" name="TextBox 28">
            <a:extLst>
              <a:ext uri="{FF2B5EF4-FFF2-40B4-BE49-F238E27FC236}">
                <a16:creationId xmlns:a16="http://schemas.microsoft.com/office/drawing/2014/main" id="{AB9C1A71-999B-DAF4-032A-973DF17DF63B}"/>
              </a:ext>
            </a:extLst>
          </p:cNvPr>
          <p:cNvSpPr txBox="1"/>
          <p:nvPr/>
        </p:nvSpPr>
        <p:spPr>
          <a:xfrm>
            <a:off x="6355080" y="960120"/>
            <a:ext cx="539496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La radiografía de tu finca</a:t>
            </a:r>
          </a:p>
        </p:txBody>
      </p:sp>
      <p:sp>
        <p:nvSpPr>
          <p:cNvPr id="10" name="TextBox 29">
            <a:extLst>
              <a:ext uri="{FF2B5EF4-FFF2-40B4-BE49-F238E27FC236}">
                <a16:creationId xmlns:a16="http://schemas.microsoft.com/office/drawing/2014/main" id="{264FA520-259B-892E-FC42-45661CA2926C}"/>
              </a:ext>
            </a:extLst>
          </p:cNvPr>
          <p:cNvSpPr txBox="1"/>
          <p:nvPr/>
        </p:nvSpPr>
        <p:spPr>
          <a:xfrm>
            <a:off x="6355080" y="1508760"/>
            <a:ext cx="539496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Antes de sembrar medimos tu suelo, lote por lote, para diseñar un plan a su medida.</a:t>
            </a:r>
          </a:p>
        </p:txBody>
      </p:sp>
      <p:sp>
        <p:nvSpPr>
          <p:cNvPr id="11" name="Rounded Rectangle 30">
            <a:extLst>
              <a:ext uri="{FF2B5EF4-FFF2-40B4-BE49-F238E27FC236}">
                <a16:creationId xmlns:a16="http://schemas.microsoft.com/office/drawing/2014/main" id="{24073322-AC07-9A2D-6618-32FDF008FACC}"/>
              </a:ext>
            </a:extLst>
          </p:cNvPr>
          <p:cNvSpPr/>
          <p:nvPr/>
        </p:nvSpPr>
        <p:spPr>
          <a:xfrm>
            <a:off x="6355080" y="2148839"/>
            <a:ext cx="1691640" cy="10972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1B4F9DF7-262E-1511-C2BD-BA5FC1202E59}"/>
              </a:ext>
            </a:extLst>
          </p:cNvPr>
          <p:cNvSpPr txBox="1"/>
          <p:nvPr/>
        </p:nvSpPr>
        <p:spPr>
          <a:xfrm>
            <a:off x="6355080" y="2212848"/>
            <a:ext cx="169164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11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BCF7B890-6D58-52A9-815F-970D87E2B21E}"/>
              </a:ext>
            </a:extLst>
          </p:cNvPr>
          <p:cNvSpPr txBox="1"/>
          <p:nvPr/>
        </p:nvSpPr>
        <p:spPr>
          <a:xfrm>
            <a:off x="6355080" y="2816352"/>
            <a:ext cx="16916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lotes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664E2B96-1365-2C09-4D5E-135F9C7FE334}"/>
              </a:ext>
            </a:extLst>
          </p:cNvPr>
          <p:cNvSpPr/>
          <p:nvPr/>
        </p:nvSpPr>
        <p:spPr>
          <a:xfrm>
            <a:off x="8183880" y="2148839"/>
            <a:ext cx="1691640" cy="10972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F74BA957-904D-2AE6-3838-490D015AF926}"/>
              </a:ext>
            </a:extLst>
          </p:cNvPr>
          <p:cNvSpPr txBox="1"/>
          <p:nvPr/>
        </p:nvSpPr>
        <p:spPr>
          <a:xfrm>
            <a:off x="8183880" y="2212848"/>
            <a:ext cx="169164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227,32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AC8E55FA-F08E-19AA-9357-EFEDD0D99FCF}"/>
              </a:ext>
            </a:extLst>
          </p:cNvPr>
          <p:cNvSpPr txBox="1"/>
          <p:nvPr/>
        </p:nvSpPr>
        <p:spPr>
          <a:xfrm>
            <a:off x="8183880" y="2816352"/>
            <a:ext cx="16916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hectáreas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AEC0B262-0F60-80B7-0242-C966B6A323D7}"/>
              </a:ext>
            </a:extLst>
          </p:cNvPr>
          <p:cNvSpPr/>
          <p:nvPr/>
        </p:nvSpPr>
        <p:spPr>
          <a:xfrm>
            <a:off x="10012680" y="2148839"/>
            <a:ext cx="1691640" cy="10972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8" name="TextBox 37">
            <a:extLst>
              <a:ext uri="{FF2B5EF4-FFF2-40B4-BE49-F238E27FC236}">
                <a16:creationId xmlns:a16="http://schemas.microsoft.com/office/drawing/2014/main" id="{FEA8F420-0F0A-CA23-FC71-7D1B54D0CCB9}"/>
              </a:ext>
            </a:extLst>
          </p:cNvPr>
          <p:cNvSpPr txBox="1"/>
          <p:nvPr/>
        </p:nvSpPr>
        <p:spPr>
          <a:xfrm>
            <a:off x="10012680" y="2212848"/>
            <a:ext cx="169164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24,4 t</a:t>
            </a:r>
          </a:p>
        </p:txBody>
      </p:sp>
      <p:sp>
        <p:nvSpPr>
          <p:cNvPr id="19" name="TextBox 38">
            <a:extLst>
              <a:ext uri="{FF2B5EF4-FFF2-40B4-BE49-F238E27FC236}">
                <a16:creationId xmlns:a16="http://schemas.microsoft.com/office/drawing/2014/main" id="{B67BB3CB-573A-768E-4483-76476B551E6A}"/>
              </a:ext>
            </a:extLst>
          </p:cNvPr>
          <p:cNvSpPr txBox="1"/>
          <p:nvPr/>
        </p:nvSpPr>
        <p:spPr>
          <a:xfrm>
            <a:off x="10012680" y="2816352"/>
            <a:ext cx="16916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1200" b="1" i="0">
                <a:solidFill>
                  <a:srgbClr val="1F2E18"/>
                </a:solidFill>
                <a:latin typeface="72 Condensed"/>
              </a:rPr>
              <a:t>de cal aplicada</a:t>
            </a:r>
          </a:p>
        </p:txBody>
      </p:sp>
      <p:sp>
        <p:nvSpPr>
          <p:cNvPr id="20" name="TextBox 39">
            <a:extLst>
              <a:ext uri="{FF2B5EF4-FFF2-40B4-BE49-F238E27FC236}">
                <a16:creationId xmlns:a16="http://schemas.microsoft.com/office/drawing/2014/main" id="{A29D243A-BF16-CF06-7AEA-5B438B289092}"/>
              </a:ext>
            </a:extLst>
          </p:cNvPr>
          <p:cNvSpPr txBox="1"/>
          <p:nvPr/>
        </p:nvSpPr>
        <p:spPr>
          <a:xfrm>
            <a:off x="6355080" y="3520439"/>
            <a:ext cx="53949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150" baseline="0">
                <a:solidFill>
                  <a:srgbClr val="34506B"/>
                </a:solidFill>
                <a:uFillTx/>
                <a:latin typeface="72 Condensed"/>
              </a:rPr>
              <a:t>pH DE TU SUELO</a:t>
            </a:r>
          </a:p>
        </p:txBody>
      </p:sp>
      <p:sp>
        <p:nvSpPr>
          <p:cNvPr id="21" name="Rectangle 40">
            <a:extLst>
              <a:ext uri="{FF2B5EF4-FFF2-40B4-BE49-F238E27FC236}">
                <a16:creationId xmlns:a16="http://schemas.microsoft.com/office/drawing/2014/main" id="{A53B165B-5448-20C2-047A-A8BAC8DF6C5C}"/>
              </a:ext>
            </a:extLst>
          </p:cNvPr>
          <p:cNvSpPr/>
          <p:nvPr/>
        </p:nvSpPr>
        <p:spPr>
          <a:xfrm>
            <a:off x="6355080" y="4160520"/>
            <a:ext cx="1337310" cy="292608"/>
          </a:xfrm>
          <a:prstGeom prst="rect">
            <a:avLst/>
          </a:prstGeom>
          <a:solidFill>
            <a:srgbClr val="D7B98A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2" name="TextBox 41">
            <a:extLst>
              <a:ext uri="{FF2B5EF4-FFF2-40B4-BE49-F238E27FC236}">
                <a16:creationId xmlns:a16="http://schemas.microsoft.com/office/drawing/2014/main" id="{497DE6AA-4925-BD22-BF4F-A4D22DC0337F}"/>
              </a:ext>
            </a:extLst>
          </p:cNvPr>
          <p:cNvSpPr txBox="1"/>
          <p:nvPr/>
        </p:nvSpPr>
        <p:spPr>
          <a:xfrm>
            <a:off x="6355080" y="4507992"/>
            <a:ext cx="133731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Ácido</a:t>
            </a:r>
          </a:p>
        </p:txBody>
      </p:sp>
      <p:sp>
        <p:nvSpPr>
          <p:cNvPr id="23" name="Rectangle 42">
            <a:extLst>
              <a:ext uri="{FF2B5EF4-FFF2-40B4-BE49-F238E27FC236}">
                <a16:creationId xmlns:a16="http://schemas.microsoft.com/office/drawing/2014/main" id="{63ED4C84-A363-6B4F-4D0C-7A4639C47CE5}"/>
              </a:ext>
            </a:extLst>
          </p:cNvPr>
          <p:cNvSpPr/>
          <p:nvPr/>
        </p:nvSpPr>
        <p:spPr>
          <a:xfrm>
            <a:off x="7692390" y="4160520"/>
            <a:ext cx="1337310" cy="292608"/>
          </a:xfrm>
          <a:prstGeom prst="rect">
            <a:avLst/>
          </a:prstGeom>
          <a:solidFill>
            <a:srgbClr val="E6D3A8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1303BC8C-AD6F-1728-36BE-160B8C10EEA5}"/>
              </a:ext>
            </a:extLst>
          </p:cNvPr>
          <p:cNvSpPr txBox="1"/>
          <p:nvPr/>
        </p:nvSpPr>
        <p:spPr>
          <a:xfrm>
            <a:off x="7692390" y="4507992"/>
            <a:ext cx="133731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Ligeramente ácido</a:t>
            </a:r>
          </a:p>
        </p:txBody>
      </p:sp>
      <p:sp>
        <p:nvSpPr>
          <p:cNvPr id="25" name="Rectangle 44">
            <a:extLst>
              <a:ext uri="{FF2B5EF4-FFF2-40B4-BE49-F238E27FC236}">
                <a16:creationId xmlns:a16="http://schemas.microsoft.com/office/drawing/2014/main" id="{BCA4325F-059B-66A5-F99D-F9E08E4DEF4F}"/>
              </a:ext>
            </a:extLst>
          </p:cNvPr>
          <p:cNvSpPr/>
          <p:nvPr/>
        </p:nvSpPr>
        <p:spPr>
          <a:xfrm>
            <a:off x="9029700" y="4160520"/>
            <a:ext cx="1069848" cy="292608"/>
          </a:xfrm>
          <a:prstGeom prst="rect">
            <a:avLst/>
          </a:prstGeom>
          <a:solidFill>
            <a:srgbClr val="B9CC96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E835B00C-B27B-DDB1-6475-7F0840B52A50}"/>
              </a:ext>
            </a:extLst>
          </p:cNvPr>
          <p:cNvSpPr txBox="1"/>
          <p:nvPr/>
        </p:nvSpPr>
        <p:spPr>
          <a:xfrm>
            <a:off x="9029700" y="4507992"/>
            <a:ext cx="1069848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Neutro</a:t>
            </a:r>
          </a:p>
        </p:txBody>
      </p:sp>
      <p:sp>
        <p:nvSpPr>
          <p:cNvPr id="27" name="Rectangle 46">
            <a:extLst>
              <a:ext uri="{FF2B5EF4-FFF2-40B4-BE49-F238E27FC236}">
                <a16:creationId xmlns:a16="http://schemas.microsoft.com/office/drawing/2014/main" id="{37893C01-29F3-238F-4111-FB3266682FAE}"/>
              </a:ext>
            </a:extLst>
          </p:cNvPr>
          <p:cNvSpPr/>
          <p:nvPr/>
        </p:nvSpPr>
        <p:spPr>
          <a:xfrm>
            <a:off x="10099548" y="4160520"/>
            <a:ext cx="1604772" cy="292608"/>
          </a:xfrm>
          <a:prstGeom prst="rect">
            <a:avLst/>
          </a:pr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8" name="TextBox 47">
            <a:extLst>
              <a:ext uri="{FF2B5EF4-FFF2-40B4-BE49-F238E27FC236}">
                <a16:creationId xmlns:a16="http://schemas.microsoft.com/office/drawing/2014/main" id="{FE63E0D9-5159-4EB9-B52C-8BE88D8C9348}"/>
              </a:ext>
            </a:extLst>
          </p:cNvPr>
          <p:cNvSpPr txBox="1"/>
          <p:nvPr/>
        </p:nvSpPr>
        <p:spPr>
          <a:xfrm>
            <a:off x="10099548" y="4507992"/>
            <a:ext cx="160477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Ligeramente alcalino</a:t>
            </a:r>
          </a:p>
        </p:txBody>
      </p:sp>
      <p:sp>
        <p:nvSpPr>
          <p:cNvPr id="29" name="TextBox 48">
            <a:extLst>
              <a:ext uri="{FF2B5EF4-FFF2-40B4-BE49-F238E27FC236}">
                <a16:creationId xmlns:a16="http://schemas.microsoft.com/office/drawing/2014/main" id="{D0858473-6B08-D899-B7AC-706138D7722A}"/>
              </a:ext>
            </a:extLst>
          </p:cNvPr>
          <p:cNvSpPr txBox="1"/>
          <p:nvPr/>
        </p:nvSpPr>
        <p:spPr>
          <a:xfrm>
            <a:off x="684085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5</a:t>
            </a:r>
          </a:p>
        </p:txBody>
      </p:sp>
      <p:sp>
        <p:nvSpPr>
          <p:cNvPr id="30" name="TextBox 49">
            <a:extLst>
              <a:ext uri="{FF2B5EF4-FFF2-40B4-BE49-F238E27FC236}">
                <a16:creationId xmlns:a16="http://schemas.microsoft.com/office/drawing/2014/main" id="{1FB4D19A-3072-6460-1C25-61CA76EFFBFC}"/>
              </a:ext>
            </a:extLst>
          </p:cNvPr>
          <p:cNvSpPr txBox="1"/>
          <p:nvPr/>
        </p:nvSpPr>
        <p:spPr>
          <a:xfrm>
            <a:off x="817816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6</a:t>
            </a:r>
          </a:p>
        </p:txBody>
      </p:sp>
      <p:sp>
        <p:nvSpPr>
          <p:cNvPr id="31" name="TextBox 50">
            <a:extLst>
              <a:ext uri="{FF2B5EF4-FFF2-40B4-BE49-F238E27FC236}">
                <a16:creationId xmlns:a16="http://schemas.microsoft.com/office/drawing/2014/main" id="{E8CBEBB9-3AFC-6647-B9E7-26553EADDB8A}"/>
              </a:ext>
            </a:extLst>
          </p:cNvPr>
          <p:cNvSpPr txBox="1"/>
          <p:nvPr/>
        </p:nvSpPr>
        <p:spPr>
          <a:xfrm>
            <a:off x="951547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7</a:t>
            </a:r>
          </a:p>
        </p:txBody>
      </p:sp>
      <p:sp>
        <p:nvSpPr>
          <p:cNvPr id="32" name="TextBox 51">
            <a:extLst>
              <a:ext uri="{FF2B5EF4-FFF2-40B4-BE49-F238E27FC236}">
                <a16:creationId xmlns:a16="http://schemas.microsoft.com/office/drawing/2014/main" id="{A0321556-31F0-A5DF-3827-0B2676240B3A}"/>
              </a:ext>
            </a:extLst>
          </p:cNvPr>
          <p:cNvSpPr txBox="1"/>
          <p:nvPr/>
        </p:nvSpPr>
        <p:spPr>
          <a:xfrm>
            <a:off x="1085278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8</a:t>
            </a:r>
          </a:p>
        </p:txBody>
      </p:sp>
      <p:sp>
        <p:nvSpPr>
          <p:cNvPr id="33" name="Rounded Rectangle 52">
            <a:extLst>
              <a:ext uri="{FF2B5EF4-FFF2-40B4-BE49-F238E27FC236}">
                <a16:creationId xmlns:a16="http://schemas.microsoft.com/office/drawing/2014/main" id="{98E28E37-E8AA-1F95-0377-6C3DF53364A5}"/>
              </a:ext>
            </a:extLst>
          </p:cNvPr>
          <p:cNvSpPr/>
          <p:nvPr/>
        </p:nvSpPr>
        <p:spPr>
          <a:xfrm>
            <a:off x="8915400" y="3703320"/>
            <a:ext cx="2011680" cy="329184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9 lotes · pH 5,66 – 6,09</a:t>
            </a:r>
          </a:p>
        </p:txBody>
      </p:sp>
      <p:sp>
        <p:nvSpPr>
          <p:cNvPr id="37" name="Rounded Rectangle 56">
            <a:extLst>
              <a:ext uri="{FF2B5EF4-FFF2-40B4-BE49-F238E27FC236}">
                <a16:creationId xmlns:a16="http://schemas.microsoft.com/office/drawing/2014/main" id="{257D0212-577C-4FD1-4F7E-A4ECBD92AE1E}"/>
              </a:ext>
            </a:extLst>
          </p:cNvPr>
          <p:cNvSpPr/>
          <p:nvPr/>
        </p:nvSpPr>
        <p:spPr>
          <a:xfrm>
            <a:off x="6355080" y="5120640"/>
            <a:ext cx="5349240" cy="123444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288C8A97-53F7-823A-29C6-10F86CCFA717}"/>
              </a:ext>
            </a:extLst>
          </p:cNvPr>
          <p:cNvSpPr txBox="1"/>
          <p:nvPr/>
        </p:nvSpPr>
        <p:spPr>
          <a:xfrm>
            <a:off x="6583680" y="5303520"/>
            <a:ext cx="493776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0" i="0" dirty="0">
                <a:solidFill>
                  <a:srgbClr val="1F2E18"/>
                </a:solidFill>
                <a:latin typeface="72 Condensed"/>
              </a:rPr>
              <a:t>Tus lotes están en rango ligeramente ácido (pH de 5,7 a 6,1). Aplicamos cal dolomítica en 5 lotes (24,4 t) para corregir la acidez y aportar calcio y magnesio antes de nutrir.</a:t>
            </a:r>
          </a:p>
        </p:txBody>
      </p:sp>
      <p:sp>
        <p:nvSpPr>
          <p:cNvPr id="39" name="Rounded Rectangle 56 (gen)"/>
          <p:cNvSpPr/>
          <p:nvPr/>
        </p:nvSpPr>
        <p:spPr>
          <a:xfrm>
            <a:off x="3233902" y="685800"/>
            <a:ext cx="2938297" cy="47548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0" name="TextBox 39 (gen)"/>
          <p:cNvSpPr txBox="1"/>
          <p:nvPr/>
        </p:nvSpPr>
        <p:spPr>
          <a:xfrm>
            <a:off x="3343630" y="804672"/>
            <a:ext cx="2755417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1" i="0" u="none" strike="noStrike" kern="1200" cap="none" spc="150" baseline="0">
                <a:solidFill>
                  <a:srgbClr val="34506B"/>
                </a:solidFill>
                <a:uFillTx/>
                <a:latin typeface="72 Condensed"/>
              </a:rPr>
              <a:t>Nº EN EL MAPA</a:t>
            </a:r>
          </a:p>
        </p:txBody>
      </p:sp>
      <p:sp>
        <p:nvSpPr>
          <p:cNvPr id="41" name="TextBox 57 (gen)"/>
          <p:cNvSpPr txBox="1"/>
          <p:nvPr/>
        </p:nvSpPr>
        <p:spPr>
          <a:xfrm>
            <a:off x="3343630" y="1097280"/>
            <a:ext cx="2755417" cy="369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Villa Marina 1</a:t>
            </a:r>
          </a:p>
        </p:txBody>
      </p:sp>
      <p:sp>
        <p:nvSpPr>
          <p:cNvPr id="42" name="TextBox 57 (gen)"/>
          <p:cNvSpPr txBox="1"/>
          <p:nvPr/>
        </p:nvSpPr>
        <p:spPr>
          <a:xfrm>
            <a:off x="3343630" y="1467196"/>
            <a:ext cx="2755417" cy="369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Villa Marina 2</a:t>
            </a:r>
          </a:p>
        </p:txBody>
      </p:sp>
      <p:sp>
        <p:nvSpPr>
          <p:cNvPr id="43" name="TextBox 57 (gen)"/>
          <p:cNvSpPr txBox="1"/>
          <p:nvPr/>
        </p:nvSpPr>
        <p:spPr>
          <a:xfrm>
            <a:off x="3343630" y="1837112"/>
            <a:ext cx="2755417" cy="369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3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Lote 1A</a:t>
            </a:r>
          </a:p>
        </p:txBody>
      </p:sp>
      <p:sp>
        <p:nvSpPr>
          <p:cNvPr id="44" name="TextBox 57 (gen)"/>
          <p:cNvSpPr txBox="1"/>
          <p:nvPr/>
        </p:nvSpPr>
        <p:spPr>
          <a:xfrm>
            <a:off x="3343630" y="2207029"/>
            <a:ext cx="2755417" cy="369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4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Lote 1B</a:t>
            </a:r>
          </a:p>
        </p:txBody>
      </p:sp>
      <p:sp>
        <p:nvSpPr>
          <p:cNvPr id="45" name="TextBox 57 (gen)"/>
          <p:cNvSpPr txBox="1"/>
          <p:nvPr/>
        </p:nvSpPr>
        <p:spPr>
          <a:xfrm>
            <a:off x="3343630" y="2576945"/>
            <a:ext cx="2755417" cy="369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5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Lote 4</a:t>
            </a:r>
          </a:p>
        </p:txBody>
      </p:sp>
      <p:sp>
        <p:nvSpPr>
          <p:cNvPr id="46" name="TextBox 57 (gen)"/>
          <p:cNvSpPr txBox="1"/>
          <p:nvPr/>
        </p:nvSpPr>
        <p:spPr>
          <a:xfrm>
            <a:off x="3343630" y="2946861"/>
            <a:ext cx="2755417" cy="369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6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Lote 5</a:t>
            </a:r>
          </a:p>
        </p:txBody>
      </p:sp>
      <p:sp>
        <p:nvSpPr>
          <p:cNvPr id="47" name="TextBox 57 (gen)"/>
          <p:cNvSpPr txBox="1"/>
          <p:nvPr/>
        </p:nvSpPr>
        <p:spPr>
          <a:xfrm>
            <a:off x="3343630" y="3316778"/>
            <a:ext cx="2755417" cy="369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7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Lote 6</a:t>
            </a:r>
          </a:p>
        </p:txBody>
      </p:sp>
      <p:sp>
        <p:nvSpPr>
          <p:cNvPr id="48" name="TextBox 57 (gen)"/>
          <p:cNvSpPr txBox="1"/>
          <p:nvPr/>
        </p:nvSpPr>
        <p:spPr>
          <a:xfrm>
            <a:off x="3343630" y="3686694"/>
            <a:ext cx="2755417" cy="369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8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Lote 7</a:t>
            </a:r>
          </a:p>
        </p:txBody>
      </p:sp>
      <p:sp>
        <p:nvSpPr>
          <p:cNvPr id="49" name="TextBox 57 (gen)"/>
          <p:cNvSpPr txBox="1"/>
          <p:nvPr/>
        </p:nvSpPr>
        <p:spPr>
          <a:xfrm>
            <a:off x="3343630" y="4056610"/>
            <a:ext cx="2755417" cy="369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9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Lote 8</a:t>
            </a:r>
          </a:p>
        </p:txBody>
      </p:sp>
      <p:sp>
        <p:nvSpPr>
          <p:cNvPr id="50" name="TextBox 57 (gen)"/>
          <p:cNvSpPr txBox="1"/>
          <p:nvPr/>
        </p:nvSpPr>
        <p:spPr>
          <a:xfrm>
            <a:off x="3343630" y="4426527"/>
            <a:ext cx="2755417" cy="369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10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Lote 9</a:t>
            </a:r>
          </a:p>
        </p:txBody>
      </p:sp>
      <p:sp>
        <p:nvSpPr>
          <p:cNvPr id="51" name="TextBox 57 (gen)"/>
          <p:cNvSpPr txBox="1"/>
          <p:nvPr/>
        </p:nvSpPr>
        <p:spPr>
          <a:xfrm>
            <a:off x="3343630" y="4796443"/>
            <a:ext cx="2755417" cy="369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—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Villa Marina 3</a:t>
            </a:r>
          </a:p>
        </p:txBody>
      </p:sp>
      <p:cxnSp>
        <p:nvCxnSpPr>
          <p:cNvPr id="52" name="Connector 53 (gen)"/>
          <p:cNvCxnSpPr/>
          <p:nvPr/>
        </p:nvCxnSpPr>
        <p:spPr>
          <a:xfrm>
            <a:off x="8092805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3" name="Connector 53 (gen)"/>
          <p:cNvCxnSpPr/>
          <p:nvPr/>
        </p:nvCxnSpPr>
        <p:spPr>
          <a:xfrm>
            <a:off x="7905518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4" name="Connector 53 (gen)"/>
          <p:cNvCxnSpPr/>
          <p:nvPr/>
        </p:nvCxnSpPr>
        <p:spPr>
          <a:xfrm>
            <a:off x="8467380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5" name="Connector 53 (gen)"/>
          <p:cNvCxnSpPr/>
          <p:nvPr/>
        </p:nvCxnSpPr>
        <p:spPr>
          <a:xfrm>
            <a:off x="7905518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6" name="Connector 53 (gen)"/>
          <p:cNvCxnSpPr/>
          <p:nvPr/>
        </p:nvCxnSpPr>
        <p:spPr>
          <a:xfrm>
            <a:off x="8413869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7" name="Connector 53 (gen)"/>
          <p:cNvCxnSpPr/>
          <p:nvPr/>
        </p:nvCxnSpPr>
        <p:spPr>
          <a:xfrm>
            <a:off x="8413869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8" name="Connector 53 (gen)"/>
          <p:cNvCxnSpPr/>
          <p:nvPr/>
        </p:nvCxnSpPr>
        <p:spPr>
          <a:xfrm>
            <a:off x="7972406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9" name="Connector 53 (gen)"/>
          <p:cNvCxnSpPr/>
          <p:nvPr/>
        </p:nvCxnSpPr>
        <p:spPr>
          <a:xfrm>
            <a:off x="8159694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60" name="Connector 53 (gen)"/>
          <p:cNvCxnSpPr/>
          <p:nvPr/>
        </p:nvCxnSpPr>
        <p:spPr>
          <a:xfrm>
            <a:off x="8480758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2">
            <a:extLst>
              <a:ext uri="{FF2B5EF4-FFF2-40B4-BE49-F238E27FC236}">
                <a16:creationId xmlns:a16="http://schemas.microsoft.com/office/drawing/2014/main" id="{4263364B-FE9A-5D3D-1B92-E256E56AFA81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102" name="Rectángulo 5">
            <a:extLst>
              <a:ext uri="{FF2B5EF4-FFF2-40B4-BE49-F238E27FC236}">
                <a16:creationId xmlns:a16="http://schemas.microsoft.com/office/drawing/2014/main" id="{35A3365A-854C-5B8A-586F-A380B15FCA91}"/>
              </a:ext>
            </a:extLst>
          </p:cNvPr>
          <p:cNvSpPr/>
          <p:nvPr/>
        </p:nvSpPr>
        <p:spPr>
          <a:xfrm>
            <a:off x="4" y="-285749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7AC70978-D872-BB88-CEBC-19A2289762F8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ANÁLISIS DE SUELOS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81C85450-36C4-91C7-36F1-9ACA05D7EBD5}"/>
              </a:ext>
            </a:extLst>
          </p:cNvPr>
          <p:cNvSpPr txBox="1"/>
          <p:nvPr/>
        </p:nvSpPr>
        <p:spPr>
          <a:xfrm>
            <a:off x="502920" y="502920"/>
            <a:ext cx="86868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ANÁLISIS DE SUELOS · RESULTADOS</a:t>
            </a: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FFF3F6D-E3CF-59A6-199F-1CA343263D6F}"/>
              </a:ext>
            </a:extLst>
          </p:cNvPr>
          <p:cNvSpPr txBox="1"/>
          <p:nvPr/>
        </p:nvSpPr>
        <p:spPr>
          <a:xfrm>
            <a:off x="502920" y="777240"/>
            <a:ext cx="8686800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600" b="1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Lo que dice tu suelo, lote por lote</a:t>
            </a: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5DB199E8-683B-C449-8F05-E2437D3A1E50}"/>
              </a:ext>
            </a:extLst>
          </p:cNvPr>
          <p:cNvSpPr txBox="1"/>
          <p:nvPr/>
        </p:nvSpPr>
        <p:spPr>
          <a:xfrm>
            <a:off x="502920" y="1280160"/>
            <a:ext cx="8686800" cy="2000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Bases intercambiables (me/100 g) medidas en laboratorio · ¿estás dentro del rango ideal?</a:t>
            </a:r>
          </a:p>
        </p:txBody>
      </p:sp>
      <p:sp>
        <p:nvSpPr>
          <p:cNvPr id="52" name="Rounded Rectangle 69">
            <a:extLst>
              <a:ext uri="{FF2B5EF4-FFF2-40B4-BE49-F238E27FC236}">
                <a16:creationId xmlns:a16="http://schemas.microsoft.com/office/drawing/2014/main" id="{238D2D3A-88F4-1C98-F43A-F4217F49E735}"/>
              </a:ext>
            </a:extLst>
          </p:cNvPr>
          <p:cNvSpPr/>
          <p:nvPr/>
        </p:nvSpPr>
        <p:spPr>
          <a:xfrm>
            <a:off x="411480" y="4419096"/>
            <a:ext cx="11201400" cy="1300000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3" name="TextBox 70">
            <a:extLst>
              <a:ext uri="{FF2B5EF4-FFF2-40B4-BE49-F238E27FC236}">
                <a16:creationId xmlns:a16="http://schemas.microsoft.com/office/drawing/2014/main" id="{035AC32C-B792-1482-3CD3-ABAA52894693}"/>
              </a:ext>
            </a:extLst>
          </p:cNvPr>
          <p:cNvSpPr txBox="1"/>
          <p:nvPr/>
        </p:nvSpPr>
        <p:spPr>
          <a:xfrm>
            <a:off x="777240" y="4496731"/>
            <a:ext cx="3200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200" baseline="0">
                <a:solidFill>
                  <a:srgbClr val="C9962E"/>
                </a:solidFill>
                <a:uFillTx/>
                <a:latin typeface="72 Condensed"/>
              </a:rPr>
              <a:t>TU PRESCRIPCIÓN</a:t>
            </a:r>
          </a:p>
        </p:txBody>
      </p:sp>
      <p:sp>
        <p:nvSpPr>
          <p:cNvPr id="54" name="TextBox 71">
            <a:extLst>
              <a:ext uri="{FF2B5EF4-FFF2-40B4-BE49-F238E27FC236}">
                <a16:creationId xmlns:a16="http://schemas.microsoft.com/office/drawing/2014/main" id="{E6842B94-A52D-976D-779E-FEF7E0A118C1}"/>
              </a:ext>
            </a:extLst>
          </p:cNvPr>
          <p:cNvSpPr txBox="1"/>
          <p:nvPr/>
        </p:nvSpPr>
        <p:spPr>
          <a:xfrm>
            <a:off x="777240" y="4756238"/>
            <a:ext cx="3108960" cy="8863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Cal dolomítica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+ KMAG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enmiendas aplicadas según el análisis</a:t>
            </a:r>
          </a:p>
        </p:txBody>
      </p:sp>
      <p:sp>
        <p:nvSpPr>
          <p:cNvPr id="55" name="TextBox 72">
            <a:extLst>
              <a:ext uri="{FF2B5EF4-FFF2-40B4-BE49-F238E27FC236}">
                <a16:creationId xmlns:a16="http://schemas.microsoft.com/office/drawing/2014/main" id="{FDD8DFE4-32B8-B533-EDF8-016BC94327B6}"/>
              </a:ext>
            </a:extLst>
          </p:cNvPr>
          <p:cNvSpPr txBox="1"/>
          <p:nvPr/>
        </p:nvSpPr>
        <p:spPr>
          <a:xfrm>
            <a:off x="3931920" y="4536050"/>
            <a:ext cx="27432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DOSIS</a:t>
            </a:r>
          </a:p>
        </p:txBody>
      </p:sp>
      <p:sp>
        <p:nvSpPr>
          <p:cNvPr id="56" name="TextBox 73">
            <a:extLst>
              <a:ext uri="{FF2B5EF4-FFF2-40B4-BE49-F238E27FC236}">
                <a16:creationId xmlns:a16="http://schemas.microsoft.com/office/drawing/2014/main" id="{9B328A9D-7BF3-EEC4-1EBB-6A1AAE8BE573}"/>
              </a:ext>
            </a:extLst>
          </p:cNvPr>
          <p:cNvSpPr txBox="1"/>
          <p:nvPr/>
        </p:nvSpPr>
        <p:spPr>
          <a:xfrm>
            <a:off x="3931920" y="4771966"/>
            <a:ext cx="274320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0,2–0,35 t/ha</a:t>
            </a:r>
          </a:p>
        </p:txBody>
      </p:sp>
      <p:sp>
        <p:nvSpPr>
          <p:cNvPr id="57" name="TextBox 74">
            <a:extLst>
              <a:ext uri="{FF2B5EF4-FFF2-40B4-BE49-F238E27FC236}">
                <a16:creationId xmlns:a16="http://schemas.microsoft.com/office/drawing/2014/main" id="{D9B16A1C-BD5A-CBF7-1D8A-9368B180604E}"/>
              </a:ext>
            </a:extLst>
          </p:cNvPr>
          <p:cNvSpPr txBox="1"/>
          <p:nvPr/>
        </p:nvSpPr>
        <p:spPr>
          <a:xfrm>
            <a:off x="3931920" y="5243796"/>
            <a:ext cx="2743200" cy="25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cal · KMAG 1,5 sacos/ha</a:t>
            </a:r>
          </a:p>
        </p:txBody>
      </p:sp>
      <p:sp>
        <p:nvSpPr>
          <p:cNvPr id="58" name="TextBox 75">
            <a:extLst>
              <a:ext uri="{FF2B5EF4-FFF2-40B4-BE49-F238E27FC236}">
                <a16:creationId xmlns:a16="http://schemas.microsoft.com/office/drawing/2014/main" id="{2D6772F4-9DF4-A501-A861-9CA4B44A088D}"/>
              </a:ext>
            </a:extLst>
          </p:cNvPr>
          <p:cNvSpPr txBox="1"/>
          <p:nvPr/>
        </p:nvSpPr>
        <p:spPr>
          <a:xfrm>
            <a:off x="6492240" y="4536050"/>
            <a:ext cx="173736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spc="100" dirty="0">
                <a:solidFill>
                  <a:srgbClr val="C9962E"/>
                </a:solidFill>
                <a:latin typeface="72 Condensed"/>
              </a:rPr>
              <a:t>CAL DOLOMÍTICA</a:t>
            </a:r>
          </a:p>
        </p:txBody>
      </p:sp>
      <p:sp>
        <p:nvSpPr>
          <p:cNvPr id="59" name="TextBox 76">
            <a:extLst>
              <a:ext uri="{FF2B5EF4-FFF2-40B4-BE49-F238E27FC236}">
                <a16:creationId xmlns:a16="http://schemas.microsoft.com/office/drawing/2014/main" id="{B1F3FDC7-99D9-FBE4-CD33-AE1A3B8D811E}"/>
              </a:ext>
            </a:extLst>
          </p:cNvPr>
          <p:cNvSpPr txBox="1"/>
          <p:nvPr/>
        </p:nvSpPr>
        <p:spPr>
          <a:xfrm>
            <a:off x="6492240" y="4771966"/>
            <a:ext cx="173736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2800" b="1" i="0">
                <a:solidFill>
                  <a:srgbClr val="FFFFFF"/>
                </a:solidFill>
                <a:latin typeface="72 Condensed"/>
              </a:rPr>
              <a:t>24,4</a:t>
            </a:r>
            <a:r>
              <a:rPr sz="1400" b="0" i="0">
                <a:solidFill>
                  <a:srgbClr val="EDF0E2"/>
                </a:solidFill>
                <a:latin typeface="72 Condensed"/>
              </a:rPr>
              <a:t> t</a:t>
            </a:r>
          </a:p>
        </p:txBody>
      </p:sp>
      <p:sp>
        <p:nvSpPr>
          <p:cNvPr id="60" name="TextBox 77">
            <a:extLst>
              <a:ext uri="{FF2B5EF4-FFF2-40B4-BE49-F238E27FC236}">
                <a16:creationId xmlns:a16="http://schemas.microsoft.com/office/drawing/2014/main" id="{351CDFB6-3562-CB03-CD8C-54BD9EFFAAD8}"/>
              </a:ext>
            </a:extLst>
          </p:cNvPr>
          <p:cNvSpPr txBox="1"/>
          <p:nvPr/>
        </p:nvSpPr>
        <p:spPr>
          <a:xfrm>
            <a:off x="6492240" y="5243796"/>
            <a:ext cx="1737360" cy="25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en 5 lotes</a:t>
            </a:r>
          </a:p>
        </p:txBody>
      </p:sp>
      <p:sp>
        <p:nvSpPr>
          <p:cNvPr id="61" name="TextBox 78">
            <a:extLst>
              <a:ext uri="{FF2B5EF4-FFF2-40B4-BE49-F238E27FC236}">
                <a16:creationId xmlns:a16="http://schemas.microsoft.com/office/drawing/2014/main" id="{A7899A3F-8021-5375-2075-E16CBCA863D4}"/>
              </a:ext>
            </a:extLst>
          </p:cNvPr>
          <p:cNvSpPr txBox="1"/>
          <p:nvPr/>
        </p:nvSpPr>
        <p:spPr>
          <a:xfrm>
            <a:off x="8275320" y="4536050"/>
            <a:ext cx="173736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spc="100" dirty="0">
                <a:solidFill>
                  <a:srgbClr val="C9962E"/>
                </a:solidFill>
                <a:latin typeface="72 Condensed"/>
              </a:rPr>
              <a:t>KMAG</a:t>
            </a:r>
          </a:p>
        </p:txBody>
      </p:sp>
      <p:sp>
        <p:nvSpPr>
          <p:cNvPr id="62" name="TextBox 79">
            <a:extLst>
              <a:ext uri="{FF2B5EF4-FFF2-40B4-BE49-F238E27FC236}">
                <a16:creationId xmlns:a16="http://schemas.microsoft.com/office/drawing/2014/main" id="{2BF5C7C6-AA96-AB88-FAD7-E3E5A8862DE1}"/>
              </a:ext>
            </a:extLst>
          </p:cNvPr>
          <p:cNvSpPr txBox="1"/>
          <p:nvPr/>
        </p:nvSpPr>
        <p:spPr>
          <a:xfrm>
            <a:off x="8275320" y="4771966"/>
            <a:ext cx="173736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2800" b="1" i="0">
                <a:solidFill>
                  <a:srgbClr val="FFFFFF"/>
                </a:solidFill>
                <a:latin typeface="72 Condensed"/>
              </a:rPr>
              <a:t>68,4</a:t>
            </a:r>
            <a:r>
              <a:rPr sz="1400" b="0" i="0">
                <a:solidFill>
                  <a:srgbClr val="EDF0E2"/>
                </a:solidFill>
                <a:latin typeface="72 Condensed"/>
              </a:rPr>
              <a:t> sacos</a:t>
            </a:r>
          </a:p>
        </p:txBody>
      </p:sp>
      <p:sp>
        <p:nvSpPr>
          <p:cNvPr id="63" name="TextBox 80">
            <a:extLst>
              <a:ext uri="{FF2B5EF4-FFF2-40B4-BE49-F238E27FC236}">
                <a16:creationId xmlns:a16="http://schemas.microsoft.com/office/drawing/2014/main" id="{95017659-4467-3EDF-C5AD-046F3E9532CC}"/>
              </a:ext>
            </a:extLst>
          </p:cNvPr>
          <p:cNvSpPr txBox="1"/>
          <p:nvPr/>
        </p:nvSpPr>
        <p:spPr>
          <a:xfrm>
            <a:off x="8275320" y="5243796"/>
            <a:ext cx="1737360" cy="25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en 3 lotes</a:t>
            </a:r>
          </a:p>
        </p:txBody>
      </p:sp>
      <p:sp>
        <p:nvSpPr>
          <p:cNvPr id="64" name="TextBox 81">
            <a:extLst>
              <a:ext uri="{FF2B5EF4-FFF2-40B4-BE49-F238E27FC236}">
                <a16:creationId xmlns:a16="http://schemas.microsoft.com/office/drawing/2014/main" id="{08498007-48A6-5CD1-0C74-CC7A61719B94}"/>
              </a:ext>
            </a:extLst>
          </p:cNvPr>
          <p:cNvSpPr txBox="1"/>
          <p:nvPr/>
        </p:nvSpPr>
        <p:spPr>
          <a:xfrm>
            <a:off x="10058400" y="4536050"/>
            <a:ext cx="1554480" cy="1280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MagniPlus: 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no requerido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11480" y="1627632"/>
            <a:ext cx="7406640" cy="2560320"/>
          </a:xfrm>
          <a:prstGeom prst="roundRect">
            <a:avLst>
              <a:gd name="adj" fmla="val 8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8001000" y="1627632"/>
            <a:ext cx="3703320" cy="2560320"/>
          </a:xfrm>
          <a:prstGeom prst="roundRect">
            <a:avLst>
              <a:gd name="adj" fmla="val 8000"/>
            </a:avLst>
          </a:prstGeom>
          <a:solidFill>
            <a:srgbClr val="32442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02168" y="1755648"/>
            <a:ext cx="3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¿QUÉ SIGNIFICA PARA TI?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02168" y="2057400"/>
            <a:ext cx="3337560" cy="2011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419" sz="1100" i="0" dirty="0">
                <a:solidFill>
                  <a:srgbClr val="FFFFFF"/>
                </a:solidFill>
                <a:latin typeface="72 Condensed"/>
              </a:rPr>
              <a:t>Calcio/magnesio: 5 de 7 lotes en rango ideal, 1 alto, 1 bajo. En 5 de 7 lotes el calcio domina sobre el potasio: lo equilibramos con la nutrición.</a:t>
            </a:r>
          </a:p>
        </p:txBody>
      </p:sp>
      <p:sp>
        <p:nvSpPr>
          <p:cNvPr id="103" name="TextBox 76 (gen)"/>
          <p:cNvSpPr txBox="1"/>
          <p:nvPr/>
        </p:nvSpPr>
        <p:spPr>
          <a:xfrm>
            <a:off x="640080" y="173736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6B7560"/>
                </a:solidFill>
                <a:latin typeface="72 Condensed"/>
              </a:rPr>
              <a:t>LOTE</a:t>
            </a:r>
          </a:p>
        </p:txBody>
      </p:sp>
      <p:sp>
        <p:nvSpPr>
          <p:cNvPr id="104" name="TextBox 76 (gen)"/>
          <p:cNvSpPr txBox="1"/>
          <p:nvPr/>
        </p:nvSpPr>
        <p:spPr>
          <a:xfrm>
            <a:off x="2194560" y="173736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6B7560"/>
                </a:solidFill>
                <a:latin typeface="72 Condensed"/>
              </a:rPr>
              <a:t>pH</a:t>
            </a:r>
          </a:p>
        </p:txBody>
      </p:sp>
      <p:sp>
        <p:nvSpPr>
          <p:cNvPr id="105" name="TextBox 76 (gen)"/>
          <p:cNvSpPr txBox="1"/>
          <p:nvPr/>
        </p:nvSpPr>
        <p:spPr>
          <a:xfrm>
            <a:off x="2880360" y="173736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6B7560"/>
                </a:solidFill>
                <a:latin typeface="72 Condensed"/>
              </a:rPr>
              <a:t>Ca / Mg  ·  ideal 3 – 5</a:t>
            </a:r>
          </a:p>
        </p:txBody>
      </p:sp>
      <p:sp>
        <p:nvSpPr>
          <p:cNvPr id="106" name="TextBox 76 (gen)"/>
          <p:cNvSpPr txBox="1"/>
          <p:nvPr/>
        </p:nvSpPr>
        <p:spPr>
          <a:xfrm>
            <a:off x="5257800" y="17373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6B7560"/>
                </a:solidFill>
                <a:latin typeface="72 Condensed"/>
              </a:rPr>
              <a:t>Ca / K  ·  ideal 10 – 20</a:t>
            </a:r>
          </a:p>
        </p:txBody>
      </p:sp>
      <p:sp>
        <p:nvSpPr>
          <p:cNvPr id="107" name="TextBox 78 (gen)"/>
          <p:cNvSpPr txBox="1"/>
          <p:nvPr/>
        </p:nvSpPr>
        <p:spPr>
          <a:xfrm>
            <a:off x="640080" y="20391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Lote 9</a:t>
            </a:r>
          </a:p>
        </p:txBody>
      </p:sp>
      <p:sp>
        <p:nvSpPr>
          <p:cNvPr id="108" name="TextBox 79 (gen)"/>
          <p:cNvSpPr txBox="1"/>
          <p:nvPr/>
        </p:nvSpPr>
        <p:spPr>
          <a:xfrm>
            <a:off x="2194560" y="20116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6,09</a:t>
            </a:r>
          </a:p>
        </p:txBody>
      </p:sp>
      <p:sp>
        <p:nvSpPr>
          <p:cNvPr id="109" name="TextBox 79 (gen)"/>
          <p:cNvSpPr txBox="1"/>
          <p:nvPr/>
        </p:nvSpPr>
        <p:spPr>
          <a:xfrm>
            <a:off x="2880360" y="2011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5,6</a:t>
            </a:r>
          </a:p>
        </p:txBody>
      </p:sp>
      <p:sp>
        <p:nvSpPr>
          <p:cNvPr id="110" name="Rounded Rectangle 80 (gen)"/>
          <p:cNvSpPr/>
          <p:nvPr/>
        </p:nvSpPr>
        <p:spPr>
          <a:xfrm>
            <a:off x="3611880" y="20299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B453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ALTO</a:t>
            </a:r>
          </a:p>
        </p:txBody>
      </p:sp>
      <p:sp>
        <p:nvSpPr>
          <p:cNvPr id="111" name="TextBox 79 (gen)"/>
          <p:cNvSpPr txBox="1"/>
          <p:nvPr/>
        </p:nvSpPr>
        <p:spPr>
          <a:xfrm>
            <a:off x="5257800" y="2011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19,4</a:t>
            </a:r>
          </a:p>
        </p:txBody>
      </p:sp>
      <p:sp>
        <p:nvSpPr>
          <p:cNvPr id="112" name="Rounded Rectangle 80 (gen)"/>
          <p:cNvSpPr/>
          <p:nvPr/>
        </p:nvSpPr>
        <p:spPr>
          <a:xfrm>
            <a:off x="5989320" y="20299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13" name="TextBox 78 (gen)"/>
          <p:cNvSpPr txBox="1"/>
          <p:nvPr/>
        </p:nvSpPr>
        <p:spPr>
          <a:xfrm>
            <a:off x="640080" y="22677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Lote 1A</a:t>
            </a:r>
          </a:p>
        </p:txBody>
      </p:sp>
      <p:sp>
        <p:nvSpPr>
          <p:cNvPr id="114" name="TextBox 79 (gen)"/>
          <p:cNvSpPr txBox="1"/>
          <p:nvPr/>
        </p:nvSpPr>
        <p:spPr>
          <a:xfrm>
            <a:off x="2194560" y="22402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5,80</a:t>
            </a:r>
          </a:p>
        </p:txBody>
      </p:sp>
      <p:sp>
        <p:nvSpPr>
          <p:cNvPr id="115" name="TextBox 79 (gen)"/>
          <p:cNvSpPr txBox="1"/>
          <p:nvPr/>
        </p:nvSpPr>
        <p:spPr>
          <a:xfrm>
            <a:off x="2880360" y="22402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3,2</a:t>
            </a:r>
          </a:p>
        </p:txBody>
      </p:sp>
      <p:sp>
        <p:nvSpPr>
          <p:cNvPr id="116" name="Rounded Rectangle 80 (gen)"/>
          <p:cNvSpPr/>
          <p:nvPr/>
        </p:nvSpPr>
        <p:spPr>
          <a:xfrm>
            <a:off x="3611880" y="22585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17" name="TextBox 79 (gen)"/>
          <p:cNvSpPr txBox="1"/>
          <p:nvPr/>
        </p:nvSpPr>
        <p:spPr>
          <a:xfrm>
            <a:off x="5257800" y="22402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37,1</a:t>
            </a:r>
          </a:p>
        </p:txBody>
      </p:sp>
      <p:sp>
        <p:nvSpPr>
          <p:cNvPr id="118" name="Rounded Rectangle 80 (gen)"/>
          <p:cNvSpPr/>
          <p:nvPr/>
        </p:nvSpPr>
        <p:spPr>
          <a:xfrm>
            <a:off x="5989320" y="22585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B453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ALTO</a:t>
            </a:r>
          </a:p>
        </p:txBody>
      </p:sp>
      <p:sp>
        <p:nvSpPr>
          <p:cNvPr id="119" name="TextBox 78 (gen)"/>
          <p:cNvSpPr txBox="1"/>
          <p:nvPr/>
        </p:nvSpPr>
        <p:spPr>
          <a:xfrm>
            <a:off x="640080" y="24963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Lote 4</a:t>
            </a:r>
          </a:p>
        </p:txBody>
      </p:sp>
      <p:sp>
        <p:nvSpPr>
          <p:cNvPr id="120" name="TextBox 79 (gen)"/>
          <p:cNvSpPr txBox="1"/>
          <p:nvPr/>
        </p:nvSpPr>
        <p:spPr>
          <a:xfrm>
            <a:off x="2194560" y="2468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5,66</a:t>
            </a:r>
          </a:p>
        </p:txBody>
      </p:sp>
      <p:sp>
        <p:nvSpPr>
          <p:cNvPr id="121" name="TextBox 79 (gen)"/>
          <p:cNvSpPr txBox="1"/>
          <p:nvPr/>
        </p:nvSpPr>
        <p:spPr>
          <a:xfrm>
            <a:off x="2880360" y="2468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3,5</a:t>
            </a:r>
          </a:p>
        </p:txBody>
      </p:sp>
      <p:sp>
        <p:nvSpPr>
          <p:cNvPr id="122" name="Rounded Rectangle 80 (gen)"/>
          <p:cNvSpPr/>
          <p:nvPr/>
        </p:nvSpPr>
        <p:spPr>
          <a:xfrm>
            <a:off x="3611880" y="24871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23" name="TextBox 79 (gen)"/>
          <p:cNvSpPr txBox="1"/>
          <p:nvPr/>
        </p:nvSpPr>
        <p:spPr>
          <a:xfrm>
            <a:off x="5257800" y="2468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24,6</a:t>
            </a:r>
          </a:p>
        </p:txBody>
      </p:sp>
      <p:sp>
        <p:nvSpPr>
          <p:cNvPr id="124" name="Rounded Rectangle 80 (gen)"/>
          <p:cNvSpPr/>
          <p:nvPr/>
        </p:nvSpPr>
        <p:spPr>
          <a:xfrm>
            <a:off x="5989320" y="24871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B453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ALTO</a:t>
            </a:r>
          </a:p>
        </p:txBody>
      </p:sp>
      <p:sp>
        <p:nvSpPr>
          <p:cNvPr id="125" name="TextBox 78 (gen)"/>
          <p:cNvSpPr txBox="1"/>
          <p:nvPr/>
        </p:nvSpPr>
        <p:spPr>
          <a:xfrm>
            <a:off x="640080" y="27249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Villa Marina 1</a:t>
            </a:r>
          </a:p>
        </p:txBody>
      </p:sp>
      <p:sp>
        <p:nvSpPr>
          <p:cNvPr id="126" name="TextBox 79 (gen)"/>
          <p:cNvSpPr txBox="1"/>
          <p:nvPr/>
        </p:nvSpPr>
        <p:spPr>
          <a:xfrm>
            <a:off x="2194560" y="26974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5,66</a:t>
            </a:r>
          </a:p>
        </p:txBody>
      </p:sp>
      <p:sp>
        <p:nvSpPr>
          <p:cNvPr id="127" name="TextBox 79 (gen)"/>
          <p:cNvSpPr txBox="1"/>
          <p:nvPr/>
        </p:nvSpPr>
        <p:spPr>
          <a:xfrm>
            <a:off x="2880360" y="26974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s/d</a:t>
            </a:r>
          </a:p>
        </p:txBody>
      </p:sp>
      <p:sp>
        <p:nvSpPr>
          <p:cNvPr id="128" name="TextBox 79 (gen)"/>
          <p:cNvSpPr txBox="1"/>
          <p:nvPr/>
        </p:nvSpPr>
        <p:spPr>
          <a:xfrm>
            <a:off x="5257800" y="26974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s/d</a:t>
            </a:r>
          </a:p>
        </p:txBody>
      </p:sp>
      <p:sp>
        <p:nvSpPr>
          <p:cNvPr id="129" name="TextBox 78 (gen)"/>
          <p:cNvSpPr txBox="1"/>
          <p:nvPr/>
        </p:nvSpPr>
        <p:spPr>
          <a:xfrm>
            <a:off x="640080" y="29535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Villa Marina 2</a:t>
            </a:r>
          </a:p>
        </p:txBody>
      </p:sp>
      <p:sp>
        <p:nvSpPr>
          <p:cNvPr id="130" name="TextBox 79 (gen)"/>
          <p:cNvSpPr txBox="1"/>
          <p:nvPr/>
        </p:nvSpPr>
        <p:spPr>
          <a:xfrm>
            <a:off x="2194560" y="29260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6,08</a:t>
            </a:r>
          </a:p>
        </p:txBody>
      </p:sp>
      <p:sp>
        <p:nvSpPr>
          <p:cNvPr id="131" name="TextBox 79 (gen)"/>
          <p:cNvSpPr txBox="1"/>
          <p:nvPr/>
        </p:nvSpPr>
        <p:spPr>
          <a:xfrm>
            <a:off x="2880360" y="29260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s/d</a:t>
            </a:r>
          </a:p>
        </p:txBody>
      </p:sp>
      <p:sp>
        <p:nvSpPr>
          <p:cNvPr id="132" name="TextBox 79 (gen)"/>
          <p:cNvSpPr txBox="1"/>
          <p:nvPr/>
        </p:nvSpPr>
        <p:spPr>
          <a:xfrm>
            <a:off x="5257800" y="29260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s/d</a:t>
            </a:r>
          </a:p>
        </p:txBody>
      </p:sp>
      <p:sp>
        <p:nvSpPr>
          <p:cNvPr id="133" name="TextBox 78 (gen)"/>
          <p:cNvSpPr txBox="1"/>
          <p:nvPr/>
        </p:nvSpPr>
        <p:spPr>
          <a:xfrm>
            <a:off x="640080" y="31821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Lote 8</a:t>
            </a:r>
          </a:p>
        </p:txBody>
      </p:sp>
      <p:sp>
        <p:nvSpPr>
          <p:cNvPr id="134" name="TextBox 79 (gen)"/>
          <p:cNvSpPr txBox="1"/>
          <p:nvPr/>
        </p:nvSpPr>
        <p:spPr>
          <a:xfrm>
            <a:off x="2194560" y="31546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5,85</a:t>
            </a:r>
          </a:p>
        </p:txBody>
      </p:sp>
      <p:sp>
        <p:nvSpPr>
          <p:cNvPr id="135" name="TextBox 79 (gen)"/>
          <p:cNvSpPr txBox="1"/>
          <p:nvPr/>
        </p:nvSpPr>
        <p:spPr>
          <a:xfrm>
            <a:off x="2880360" y="3154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3,1</a:t>
            </a:r>
          </a:p>
        </p:txBody>
      </p:sp>
      <p:sp>
        <p:nvSpPr>
          <p:cNvPr id="136" name="Rounded Rectangle 80 (gen)"/>
          <p:cNvSpPr/>
          <p:nvPr/>
        </p:nvSpPr>
        <p:spPr>
          <a:xfrm>
            <a:off x="3611880" y="31729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37" name="TextBox 79 (gen)"/>
          <p:cNvSpPr txBox="1"/>
          <p:nvPr/>
        </p:nvSpPr>
        <p:spPr>
          <a:xfrm>
            <a:off x="5257800" y="3154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29,7</a:t>
            </a:r>
          </a:p>
        </p:txBody>
      </p:sp>
      <p:sp>
        <p:nvSpPr>
          <p:cNvPr id="138" name="Rounded Rectangle 80 (gen)"/>
          <p:cNvSpPr/>
          <p:nvPr/>
        </p:nvSpPr>
        <p:spPr>
          <a:xfrm>
            <a:off x="5989320" y="31729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B453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ALTO</a:t>
            </a:r>
          </a:p>
        </p:txBody>
      </p:sp>
      <p:sp>
        <p:nvSpPr>
          <p:cNvPr id="139" name="TextBox 78 (gen)"/>
          <p:cNvSpPr txBox="1"/>
          <p:nvPr/>
        </p:nvSpPr>
        <p:spPr>
          <a:xfrm>
            <a:off x="640080" y="34107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Lote 5</a:t>
            </a:r>
          </a:p>
        </p:txBody>
      </p:sp>
      <p:sp>
        <p:nvSpPr>
          <p:cNvPr id="140" name="TextBox 79 (gen)"/>
          <p:cNvSpPr txBox="1"/>
          <p:nvPr/>
        </p:nvSpPr>
        <p:spPr>
          <a:xfrm>
            <a:off x="2194560" y="33832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6,04</a:t>
            </a:r>
          </a:p>
        </p:txBody>
      </p:sp>
      <p:sp>
        <p:nvSpPr>
          <p:cNvPr id="141" name="TextBox 79 (gen)"/>
          <p:cNvSpPr txBox="1"/>
          <p:nvPr/>
        </p:nvSpPr>
        <p:spPr>
          <a:xfrm>
            <a:off x="2880360" y="33832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3,6</a:t>
            </a:r>
          </a:p>
        </p:txBody>
      </p:sp>
      <p:sp>
        <p:nvSpPr>
          <p:cNvPr id="142" name="Rounded Rectangle 80 (gen)"/>
          <p:cNvSpPr/>
          <p:nvPr/>
        </p:nvSpPr>
        <p:spPr>
          <a:xfrm>
            <a:off x="3611880" y="34015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43" name="TextBox 79 (gen)"/>
          <p:cNvSpPr txBox="1"/>
          <p:nvPr/>
        </p:nvSpPr>
        <p:spPr>
          <a:xfrm>
            <a:off x="5257800" y="33832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44,2</a:t>
            </a:r>
          </a:p>
        </p:txBody>
      </p:sp>
      <p:sp>
        <p:nvSpPr>
          <p:cNvPr id="144" name="Rounded Rectangle 80 (gen)"/>
          <p:cNvSpPr/>
          <p:nvPr/>
        </p:nvSpPr>
        <p:spPr>
          <a:xfrm>
            <a:off x="5989320" y="34015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B453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ALTO</a:t>
            </a:r>
          </a:p>
        </p:txBody>
      </p:sp>
      <p:sp>
        <p:nvSpPr>
          <p:cNvPr id="145" name="TextBox 78 (gen)"/>
          <p:cNvSpPr txBox="1"/>
          <p:nvPr/>
        </p:nvSpPr>
        <p:spPr>
          <a:xfrm>
            <a:off x="640080" y="36393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Lote 6</a:t>
            </a:r>
          </a:p>
        </p:txBody>
      </p:sp>
      <p:sp>
        <p:nvSpPr>
          <p:cNvPr id="146" name="TextBox 79 (gen)"/>
          <p:cNvSpPr txBox="1"/>
          <p:nvPr/>
        </p:nvSpPr>
        <p:spPr>
          <a:xfrm>
            <a:off x="2194560" y="3611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6,04</a:t>
            </a:r>
          </a:p>
        </p:txBody>
      </p:sp>
      <p:sp>
        <p:nvSpPr>
          <p:cNvPr id="147" name="TextBox 79 (gen)"/>
          <p:cNvSpPr txBox="1"/>
          <p:nvPr/>
        </p:nvSpPr>
        <p:spPr>
          <a:xfrm>
            <a:off x="2880360" y="3611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3,2</a:t>
            </a:r>
          </a:p>
        </p:txBody>
      </p:sp>
      <p:sp>
        <p:nvSpPr>
          <p:cNvPr id="148" name="Rounded Rectangle 80 (gen)"/>
          <p:cNvSpPr/>
          <p:nvPr/>
        </p:nvSpPr>
        <p:spPr>
          <a:xfrm>
            <a:off x="3611880" y="36301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49" name="TextBox 79 (gen)"/>
          <p:cNvSpPr txBox="1"/>
          <p:nvPr/>
        </p:nvSpPr>
        <p:spPr>
          <a:xfrm>
            <a:off x="5257800" y="3611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37,1</a:t>
            </a:r>
          </a:p>
        </p:txBody>
      </p:sp>
      <p:sp>
        <p:nvSpPr>
          <p:cNvPr id="150" name="Rounded Rectangle 80 (gen)"/>
          <p:cNvSpPr/>
          <p:nvPr/>
        </p:nvSpPr>
        <p:spPr>
          <a:xfrm>
            <a:off x="5989320" y="36301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B453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ALTO</a:t>
            </a:r>
          </a:p>
        </p:txBody>
      </p:sp>
      <p:sp>
        <p:nvSpPr>
          <p:cNvPr id="151" name="TextBox 78 (gen)"/>
          <p:cNvSpPr txBox="1"/>
          <p:nvPr/>
        </p:nvSpPr>
        <p:spPr>
          <a:xfrm>
            <a:off x="640080" y="38679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Lote 7</a:t>
            </a:r>
          </a:p>
        </p:txBody>
      </p:sp>
      <p:sp>
        <p:nvSpPr>
          <p:cNvPr id="152" name="TextBox 79 (gen)"/>
          <p:cNvSpPr txBox="1"/>
          <p:nvPr/>
        </p:nvSpPr>
        <p:spPr>
          <a:xfrm>
            <a:off x="2194560" y="38404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5,71</a:t>
            </a:r>
          </a:p>
        </p:txBody>
      </p:sp>
      <p:sp>
        <p:nvSpPr>
          <p:cNvPr id="153" name="TextBox 79 (gen)"/>
          <p:cNvSpPr txBox="1"/>
          <p:nvPr/>
        </p:nvSpPr>
        <p:spPr>
          <a:xfrm>
            <a:off x="2880360" y="38404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1,0</a:t>
            </a:r>
          </a:p>
        </p:txBody>
      </p:sp>
      <p:sp>
        <p:nvSpPr>
          <p:cNvPr id="154" name="Rounded Rectangle 80 (gen)"/>
          <p:cNvSpPr/>
          <p:nvPr/>
        </p:nvSpPr>
        <p:spPr>
          <a:xfrm>
            <a:off x="3611880" y="38587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  <p:sp>
        <p:nvSpPr>
          <p:cNvPr id="155" name="TextBox 79 (gen)"/>
          <p:cNvSpPr txBox="1"/>
          <p:nvPr/>
        </p:nvSpPr>
        <p:spPr>
          <a:xfrm>
            <a:off x="5257800" y="38404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18,9</a:t>
            </a:r>
          </a:p>
        </p:txBody>
      </p:sp>
      <p:sp>
        <p:nvSpPr>
          <p:cNvPr id="156" name="Rounded Rectangle 80 (gen)"/>
          <p:cNvSpPr/>
          <p:nvPr/>
        </p:nvSpPr>
        <p:spPr>
          <a:xfrm>
            <a:off x="5989320" y="38587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F4E4A4B8-8A4E-5940-971E-B69E98CAF0E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PLAN AGRONÓMICO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C92B1A9-8901-FDF9-5DD4-23AE9C1632DB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SATURNO INNOVA · YA APLICADO EN TU PLAN 2026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F54F47-AAF9-CA1F-EE3D-D30B1F25319A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Qué incorporamos este año en tu plan agronómico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DABFF521-D069-B9A2-E1D4-9D20BDF8908A}"/>
              </a:ext>
            </a:extLst>
          </p:cNvPr>
          <p:cNvSpPr txBox="1"/>
          <p:nvPr/>
        </p:nvSpPr>
        <p:spPr>
          <a:xfrm>
            <a:off x="502920" y="1298448"/>
            <a:ext cx="78638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 dirty="0">
                <a:solidFill>
                  <a:srgbClr val="6B7560"/>
                </a:solidFill>
                <a:uFillTx/>
                <a:latin typeface="72 Condensed"/>
              </a:rPr>
              <a:t>Cuatro mejoras en semilla, suelo y hoja que sumamos a tu plan en este ciclo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37C38C46-0107-EB51-8E14-6334A0F53A8C}"/>
              </a:ext>
            </a:extLst>
          </p:cNvPr>
          <p:cNvSpPr/>
          <p:nvPr/>
        </p:nvSpPr>
        <p:spPr>
          <a:xfrm>
            <a:off x="50292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Oval 27">
            <a:extLst>
              <a:ext uri="{FF2B5EF4-FFF2-40B4-BE49-F238E27FC236}">
                <a16:creationId xmlns:a16="http://schemas.microsoft.com/office/drawing/2014/main" id="{9FAAAEF3-7133-C9C8-302E-398086CDA2F1}"/>
              </a:ext>
            </a:extLst>
          </p:cNvPr>
          <p:cNvSpPr/>
          <p:nvPr/>
        </p:nvSpPr>
        <p:spPr>
          <a:xfrm>
            <a:off x="70408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9" name="Picture 28" descr="flask_w.png">
            <a:extLst>
              <a:ext uri="{FF2B5EF4-FFF2-40B4-BE49-F238E27FC236}">
                <a16:creationId xmlns:a16="http://schemas.microsoft.com/office/drawing/2014/main" id="{C64DD5E4-3225-3715-9EB1-6AC8FDC6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1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29">
            <a:extLst>
              <a:ext uri="{FF2B5EF4-FFF2-40B4-BE49-F238E27FC236}">
                <a16:creationId xmlns:a16="http://schemas.microsoft.com/office/drawing/2014/main" id="{E4429D2A-CB01-3ACE-136D-4CD335AD5D14}"/>
              </a:ext>
            </a:extLst>
          </p:cNvPr>
          <p:cNvSpPr txBox="1"/>
          <p:nvPr/>
        </p:nvSpPr>
        <p:spPr>
          <a:xfrm>
            <a:off x="1371600" y="2124640"/>
            <a:ext cx="1680000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 dirty="0">
                <a:solidFill>
                  <a:srgbClr val="4C6A35"/>
                </a:solidFill>
                <a:uFillTx/>
                <a:latin typeface="72 Condensed"/>
              </a:rPr>
              <a:t>NUTRICIÓN BASE PROTEGIDA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F3D8564E-88EE-D1B1-341F-1B9278ED5D03}"/>
              </a:ext>
            </a:extLst>
          </p:cNvPr>
          <p:cNvSpPr txBox="1"/>
          <p:nvPr/>
        </p:nvSpPr>
        <p:spPr>
          <a:xfrm>
            <a:off x="704088" y="2697479"/>
            <a:ext cx="224942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Fósforo que no se bloquea en el suelo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417FEDCA-DE8C-0ABE-37DC-6C6BB32300AB}"/>
              </a:ext>
            </a:extLst>
          </p:cNvPr>
          <p:cNvSpPr txBox="1"/>
          <p:nvPr/>
        </p:nvSpPr>
        <p:spPr>
          <a:xfrm>
            <a:off x="704088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14D6805A-9ED9-2E44-36A1-FE25B5D12ACF}"/>
              </a:ext>
            </a:extLst>
          </p:cNvPr>
          <p:cNvSpPr txBox="1"/>
          <p:nvPr/>
        </p:nvSpPr>
        <p:spPr>
          <a:xfrm>
            <a:off x="704088" y="3886200"/>
            <a:ext cx="224942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Fósforo y microelementos combinados con polímeros y quelatantes que evitan el bloqueo del fósforo en el suelo (por calcio o aluminio).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B4143D38-456B-21B1-A548-ED3C6BB7B72F}"/>
              </a:ext>
            </a:extLst>
          </p:cNvPr>
          <p:cNvSpPr/>
          <p:nvPr/>
        </p:nvSpPr>
        <p:spPr>
          <a:xfrm>
            <a:off x="61264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78C682CD-3237-81B3-0B3C-AA8F330FB7B0}"/>
              </a:ext>
            </a:extLst>
          </p:cNvPr>
          <p:cNvSpPr txBox="1"/>
          <p:nvPr/>
        </p:nvSpPr>
        <p:spPr>
          <a:xfrm>
            <a:off x="777240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82114166-7C33-20B4-6329-EFE5F6A075B3}"/>
              </a:ext>
            </a:extLst>
          </p:cNvPr>
          <p:cNvSpPr txBox="1"/>
          <p:nvPr/>
        </p:nvSpPr>
        <p:spPr>
          <a:xfrm>
            <a:off x="777240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Aprovechas el fósforo aplicado y estimulas raíces más densas.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0841872C-77A6-316B-B70F-A5C463E555E1}"/>
              </a:ext>
            </a:extLst>
          </p:cNvPr>
          <p:cNvSpPr/>
          <p:nvPr/>
        </p:nvSpPr>
        <p:spPr>
          <a:xfrm>
            <a:off x="333756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9" name="Oval 38">
            <a:extLst>
              <a:ext uri="{FF2B5EF4-FFF2-40B4-BE49-F238E27FC236}">
                <a16:creationId xmlns:a16="http://schemas.microsoft.com/office/drawing/2014/main" id="{D2F128E0-096B-1826-A8DC-88711AD9D144}"/>
              </a:ext>
            </a:extLst>
          </p:cNvPr>
          <p:cNvSpPr/>
          <p:nvPr/>
        </p:nvSpPr>
        <p:spPr>
          <a:xfrm>
            <a:off x="3538727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0" name="Picture 39">
            <a:extLst>
              <a:ext uri="{FF2B5EF4-FFF2-40B4-BE49-F238E27FC236}">
                <a16:creationId xmlns:a16="http://schemas.microsoft.com/office/drawing/2014/main" id="{43356B61-E843-094C-0615-67795555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45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TextBox 40">
            <a:extLst>
              <a:ext uri="{FF2B5EF4-FFF2-40B4-BE49-F238E27FC236}">
                <a16:creationId xmlns:a16="http://schemas.microsoft.com/office/drawing/2014/main" id="{9C2D3515-985B-B550-4532-54BBEDDCBA40}"/>
              </a:ext>
            </a:extLst>
          </p:cNvPr>
          <p:cNvSpPr txBox="1"/>
          <p:nvPr/>
        </p:nvSpPr>
        <p:spPr>
          <a:xfrm>
            <a:off x="4206240" y="2057400"/>
            <a:ext cx="168000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MEZCLA DE MACRO Y MICRONUTRIENTES</a:t>
            </a:r>
          </a:p>
        </p:txBody>
      </p:sp>
      <p:sp>
        <p:nvSpPr>
          <p:cNvPr id="22" name="TextBox 41">
            <a:extLst>
              <a:ext uri="{FF2B5EF4-FFF2-40B4-BE49-F238E27FC236}">
                <a16:creationId xmlns:a16="http://schemas.microsoft.com/office/drawing/2014/main" id="{E336AF17-7893-692A-C5F8-C4C1559C5F95}"/>
              </a:ext>
            </a:extLst>
          </p:cNvPr>
          <p:cNvSpPr txBox="1"/>
          <p:nvPr/>
        </p:nvSpPr>
        <p:spPr>
          <a:xfrm>
            <a:off x="3538727" y="2697479"/>
            <a:ext cx="224942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Blend alto en zinc, suplementado con grafito</a:t>
            </a: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81F8B5FB-A7D5-551C-641B-7E42CF970467}"/>
              </a:ext>
            </a:extLst>
          </p:cNvPr>
          <p:cNvSpPr txBox="1"/>
          <p:nvPr/>
        </p:nvSpPr>
        <p:spPr>
          <a:xfrm>
            <a:off x="3538727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0423B348-FA21-46CC-3A8D-C280E789B281}"/>
              </a:ext>
            </a:extLst>
          </p:cNvPr>
          <p:cNvSpPr txBox="1"/>
          <p:nvPr/>
        </p:nvSpPr>
        <p:spPr>
          <a:xfrm>
            <a:off x="3538727" y="3886200"/>
            <a:ext cx="224942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El zinc nutre la semilla para el arranque; el grafito actúa como lubricante seco en la dosificadora de la sembradora.</a:t>
            </a:r>
          </a:p>
        </p:txBody>
      </p:sp>
      <p:sp>
        <p:nvSpPr>
          <p:cNvPr id="25" name="Rounded Rectangle 44">
            <a:extLst>
              <a:ext uri="{FF2B5EF4-FFF2-40B4-BE49-F238E27FC236}">
                <a16:creationId xmlns:a16="http://schemas.microsoft.com/office/drawing/2014/main" id="{5104141A-75A4-055D-1E73-F1A74A8ACB7B}"/>
              </a:ext>
            </a:extLst>
          </p:cNvPr>
          <p:cNvSpPr/>
          <p:nvPr/>
        </p:nvSpPr>
        <p:spPr>
          <a:xfrm>
            <a:off x="344728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38978776-CE13-710F-EA24-13DBF3B5DB51}"/>
              </a:ext>
            </a:extLst>
          </p:cNvPr>
          <p:cNvSpPr txBox="1"/>
          <p:nvPr/>
        </p:nvSpPr>
        <p:spPr>
          <a:xfrm>
            <a:off x="3611879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378A59F4-3ECD-A0A5-A20F-862C618D3D49}"/>
              </a:ext>
            </a:extLst>
          </p:cNvPr>
          <p:cNvSpPr txBox="1"/>
          <p:nvPr/>
        </p:nvSpPr>
        <p:spPr>
          <a:xfrm>
            <a:off x="3611879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Mejor arranque del cultivo y una siembra precisa.</a:t>
            </a:r>
          </a:p>
        </p:txBody>
      </p:sp>
      <p:sp>
        <p:nvSpPr>
          <p:cNvPr id="28" name="Rounded Rectangle 47">
            <a:extLst>
              <a:ext uri="{FF2B5EF4-FFF2-40B4-BE49-F238E27FC236}">
                <a16:creationId xmlns:a16="http://schemas.microsoft.com/office/drawing/2014/main" id="{F4377695-581E-8CF6-A977-A0A74D6CCFF8}"/>
              </a:ext>
            </a:extLst>
          </p:cNvPr>
          <p:cNvSpPr/>
          <p:nvPr/>
        </p:nvSpPr>
        <p:spPr>
          <a:xfrm>
            <a:off x="617220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0" name="Oval 49">
            <a:extLst>
              <a:ext uri="{FF2B5EF4-FFF2-40B4-BE49-F238E27FC236}">
                <a16:creationId xmlns:a16="http://schemas.microsoft.com/office/drawing/2014/main" id="{E86204A3-C035-4DD2-959F-ECDACA430C16}"/>
              </a:ext>
            </a:extLst>
          </p:cNvPr>
          <p:cNvSpPr/>
          <p:nvPr/>
        </p:nvSpPr>
        <p:spPr>
          <a:xfrm>
            <a:off x="637336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1" name="Picture 50">
            <a:extLst>
              <a:ext uri="{FF2B5EF4-FFF2-40B4-BE49-F238E27FC236}">
                <a16:creationId xmlns:a16="http://schemas.microsoft.com/office/drawing/2014/main" id="{26ECF81D-6410-3229-1D15-082BDA97A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09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2" name="TextBox 51">
            <a:extLst>
              <a:ext uri="{FF2B5EF4-FFF2-40B4-BE49-F238E27FC236}">
                <a16:creationId xmlns:a16="http://schemas.microsoft.com/office/drawing/2014/main" id="{E87A6E0E-129C-D8EE-6983-FA0BB6C353FD}"/>
              </a:ext>
            </a:extLst>
          </p:cNvPr>
          <p:cNvSpPr txBox="1"/>
          <p:nvPr/>
        </p:nvSpPr>
        <p:spPr>
          <a:xfrm>
            <a:off x="7040880" y="2057400"/>
            <a:ext cx="168000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INOCULACIÓN BIOLÓGICA · MYCOSSED</a:t>
            </a:r>
          </a:p>
        </p:txBody>
      </p:sp>
      <p:sp>
        <p:nvSpPr>
          <p:cNvPr id="33" name="TextBox 52">
            <a:extLst>
              <a:ext uri="{FF2B5EF4-FFF2-40B4-BE49-F238E27FC236}">
                <a16:creationId xmlns:a16="http://schemas.microsoft.com/office/drawing/2014/main" id="{19E0F16D-3AB1-214F-19E2-40326F8B9D95}"/>
              </a:ext>
            </a:extLst>
          </p:cNvPr>
          <p:cNvSpPr txBox="1"/>
          <p:nvPr/>
        </p:nvSpPr>
        <p:spPr>
          <a:xfrm>
            <a:off x="6373368" y="2697479"/>
            <a:ext cx="224942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Un consorcio biológico aplicado en tu semilla</a:t>
            </a:r>
          </a:p>
        </p:txBody>
      </p:sp>
      <p:sp>
        <p:nvSpPr>
          <p:cNvPr id="34" name="TextBox 53">
            <a:extLst>
              <a:ext uri="{FF2B5EF4-FFF2-40B4-BE49-F238E27FC236}">
                <a16:creationId xmlns:a16="http://schemas.microsoft.com/office/drawing/2014/main" id="{9E1BFAAE-8CD6-7C28-8C01-E2A9334E8981}"/>
              </a:ext>
            </a:extLst>
          </p:cNvPr>
          <p:cNvSpPr txBox="1"/>
          <p:nvPr/>
        </p:nvSpPr>
        <p:spPr>
          <a:xfrm>
            <a:off x="6373368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35" name="TextBox 54">
            <a:extLst>
              <a:ext uri="{FF2B5EF4-FFF2-40B4-BE49-F238E27FC236}">
                <a16:creationId xmlns:a16="http://schemas.microsoft.com/office/drawing/2014/main" id="{88E92FC5-5873-2BE1-1992-A7DB6DADE07B}"/>
              </a:ext>
            </a:extLst>
          </p:cNvPr>
          <p:cNvSpPr txBox="1"/>
          <p:nvPr/>
        </p:nvSpPr>
        <p:spPr>
          <a:xfrm>
            <a:off x="6373368" y="3886200"/>
            <a:ext cx="224942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Aplicación en la semilla de un consorcio de micorrizas, bacterias y Trichoderma.</a:t>
            </a:r>
          </a:p>
        </p:txBody>
      </p:sp>
      <p:sp>
        <p:nvSpPr>
          <p:cNvPr id="36" name="Rounded Rectangle 55">
            <a:extLst>
              <a:ext uri="{FF2B5EF4-FFF2-40B4-BE49-F238E27FC236}">
                <a16:creationId xmlns:a16="http://schemas.microsoft.com/office/drawing/2014/main" id="{F13676E4-9F9B-0D24-96B9-D4CBE7E9DE39}"/>
              </a:ext>
            </a:extLst>
          </p:cNvPr>
          <p:cNvSpPr/>
          <p:nvPr/>
        </p:nvSpPr>
        <p:spPr>
          <a:xfrm>
            <a:off x="628192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7" name="TextBox 56">
            <a:extLst>
              <a:ext uri="{FF2B5EF4-FFF2-40B4-BE49-F238E27FC236}">
                <a16:creationId xmlns:a16="http://schemas.microsoft.com/office/drawing/2014/main" id="{C56A7604-0160-7734-523D-683637362956}"/>
              </a:ext>
            </a:extLst>
          </p:cNvPr>
          <p:cNvSpPr txBox="1"/>
          <p:nvPr/>
        </p:nvSpPr>
        <p:spPr>
          <a:xfrm>
            <a:off x="6446520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C29F22F2-DF3A-8CD9-353E-35E69C42EE3A}"/>
              </a:ext>
            </a:extLst>
          </p:cNvPr>
          <p:cNvSpPr txBox="1"/>
          <p:nvPr/>
        </p:nvSpPr>
        <p:spPr>
          <a:xfrm>
            <a:off x="6446520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Multiplica la capacidad de la raíz para captar agua y crea una barrera contra hongos.</a:t>
            </a:r>
          </a:p>
        </p:txBody>
      </p:sp>
      <p:sp>
        <p:nvSpPr>
          <p:cNvPr id="39" name="Rounded Rectangle 58">
            <a:extLst>
              <a:ext uri="{FF2B5EF4-FFF2-40B4-BE49-F238E27FC236}">
                <a16:creationId xmlns:a16="http://schemas.microsoft.com/office/drawing/2014/main" id="{FEC5A47A-D136-AD17-087A-DFC0E79152F5}"/>
              </a:ext>
            </a:extLst>
          </p:cNvPr>
          <p:cNvSpPr/>
          <p:nvPr/>
        </p:nvSpPr>
        <p:spPr>
          <a:xfrm>
            <a:off x="900684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1" name="Oval 60">
            <a:extLst>
              <a:ext uri="{FF2B5EF4-FFF2-40B4-BE49-F238E27FC236}">
                <a16:creationId xmlns:a16="http://schemas.microsoft.com/office/drawing/2014/main" id="{7621124C-E69B-3DA8-5438-056024A94E03}"/>
              </a:ext>
            </a:extLst>
          </p:cNvPr>
          <p:cNvSpPr/>
          <p:nvPr/>
        </p:nvSpPr>
        <p:spPr>
          <a:xfrm>
            <a:off x="920800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2" name="Picture 61">
            <a:extLst>
              <a:ext uri="{FF2B5EF4-FFF2-40B4-BE49-F238E27FC236}">
                <a16:creationId xmlns:a16="http://schemas.microsoft.com/office/drawing/2014/main" id="{3AA1C79D-A20B-8396-2A5C-D8FB4DB06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273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3" name="TextBox 62">
            <a:extLst>
              <a:ext uri="{FF2B5EF4-FFF2-40B4-BE49-F238E27FC236}">
                <a16:creationId xmlns:a16="http://schemas.microsoft.com/office/drawing/2014/main" id="{2CC4D982-D2E3-51CD-930E-D2F62F1C22E8}"/>
              </a:ext>
            </a:extLst>
          </p:cNvPr>
          <p:cNvSpPr txBox="1"/>
          <p:nvPr/>
        </p:nvSpPr>
        <p:spPr>
          <a:xfrm>
            <a:off x="9875520" y="2057400"/>
            <a:ext cx="168000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PROTECCIÓN FOLIAR BIOLÓGICA</a:t>
            </a:r>
          </a:p>
        </p:txBody>
      </p:sp>
      <p:sp>
        <p:nvSpPr>
          <p:cNvPr id="44" name="TextBox 63">
            <a:extLst>
              <a:ext uri="{FF2B5EF4-FFF2-40B4-BE49-F238E27FC236}">
                <a16:creationId xmlns:a16="http://schemas.microsoft.com/office/drawing/2014/main" id="{089F7076-0F0E-B9D2-4610-7923AC74EAFF}"/>
              </a:ext>
            </a:extLst>
          </p:cNvPr>
          <p:cNvSpPr txBox="1"/>
          <p:nvPr/>
        </p:nvSpPr>
        <p:spPr>
          <a:xfrm>
            <a:off x="9208008" y="2697479"/>
            <a:ext cx="224942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Defensa integral y sustentable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2CF66752-0EAA-01F3-208D-44D3FF91995A}"/>
              </a:ext>
            </a:extLst>
          </p:cNvPr>
          <p:cNvSpPr txBox="1"/>
          <p:nvPr/>
        </p:nvSpPr>
        <p:spPr>
          <a:xfrm>
            <a:off x="9208008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46" name="TextBox 65">
            <a:extLst>
              <a:ext uri="{FF2B5EF4-FFF2-40B4-BE49-F238E27FC236}">
                <a16:creationId xmlns:a16="http://schemas.microsoft.com/office/drawing/2014/main" id="{F962C328-A244-48C8-56D6-35DB9D803410}"/>
              </a:ext>
            </a:extLst>
          </p:cNvPr>
          <p:cNvSpPr txBox="1"/>
          <p:nvPr/>
        </p:nvSpPr>
        <p:spPr>
          <a:xfrm>
            <a:off x="9208008" y="3886200"/>
            <a:ext cx="224942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Bacillus thuringiensis var. kurstaki + Trichoderma: el Bacillus combate larvas como el gusano cogollero y la Trichoderma previene enfermedades.</a:t>
            </a:r>
          </a:p>
        </p:txBody>
      </p:sp>
      <p:sp>
        <p:nvSpPr>
          <p:cNvPr id="47" name="Rounded Rectangle 66">
            <a:extLst>
              <a:ext uri="{FF2B5EF4-FFF2-40B4-BE49-F238E27FC236}">
                <a16:creationId xmlns:a16="http://schemas.microsoft.com/office/drawing/2014/main" id="{400D96CC-39C6-1F17-2BC8-1B96FC3C0010}"/>
              </a:ext>
            </a:extLst>
          </p:cNvPr>
          <p:cNvSpPr/>
          <p:nvPr/>
        </p:nvSpPr>
        <p:spPr>
          <a:xfrm>
            <a:off x="911656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8" name="TextBox 67">
            <a:extLst>
              <a:ext uri="{FF2B5EF4-FFF2-40B4-BE49-F238E27FC236}">
                <a16:creationId xmlns:a16="http://schemas.microsoft.com/office/drawing/2014/main" id="{239AEB03-0176-BA7F-3615-1AF14A07F37D}"/>
              </a:ext>
            </a:extLst>
          </p:cNvPr>
          <p:cNvSpPr txBox="1"/>
          <p:nvPr/>
        </p:nvSpPr>
        <p:spPr>
          <a:xfrm>
            <a:off x="9281160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49" name="TextBox 68">
            <a:extLst>
              <a:ext uri="{FF2B5EF4-FFF2-40B4-BE49-F238E27FC236}">
                <a16:creationId xmlns:a16="http://schemas.microsoft.com/office/drawing/2014/main" id="{D0D7FC8A-6C31-E62F-E892-347FB83FE6DB}"/>
              </a:ext>
            </a:extLst>
          </p:cNvPr>
          <p:cNvSpPr txBox="1"/>
          <p:nvPr/>
        </p:nvSpPr>
        <p:spPr>
          <a:xfrm>
            <a:off x="9281160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Proteges tu cultivo de plagas y enfermedades de manera sustentable.</a:t>
            </a:r>
          </a:p>
        </p:txBody>
      </p:sp>
      <p:sp>
        <p:nvSpPr>
          <p:cNvPr id="50" name="Franja mezclas"/>
          <p:cNvSpPr/>
          <p:nvPr/>
        </p:nvSpPr>
        <p:spPr>
          <a:xfrm>
            <a:off x="502920" y="6199632"/>
            <a:ext cx="11155680" cy="356616"/>
          </a:xfrm>
          <a:prstGeom prst="roundRect">
            <a:avLst>
              <a:gd name="adj" fmla="val 30000"/>
            </a:avLst>
          </a:prstGeom>
          <a:solidFill>
            <a:srgbClr val="324425"/>
          </a:solidFill>
          <a:ln>
            <a:noFill/>
          </a:ln>
        </p:spPr>
        <p:txBody>
          <a:bodyPr wrap="square" lIns="182880" tIns="0" rIns="182880" bIns="0" anchor="ctr">
            <a:noAutofit/>
          </a:bodyPr>
          <a:lstStyle/>
          <a:p>
            <a:pPr algn="l"/>
            <a:r>
              <a:rPr lang="es-ES" sz="1200" b="1" dirty="0">
                <a:solidFill>
                  <a:srgbClr val="C9962E"/>
                </a:solidFill>
                <a:latin typeface="72 Condensed"/>
              </a:rPr>
              <a:t>También en cada mezcla: </a:t>
            </a:r>
            <a:r>
              <a:rPr lang="es-ES" sz="1200" b="0" dirty="0">
                <a:solidFill>
                  <a:srgbClr val="FFFFFF"/>
                </a:solidFill>
                <a:latin typeface="72 Condensed"/>
              </a:rPr>
              <a:t>regulador de pH Effydrop 7 + coadyuvante Xpandrop, para maximizar el efecto de las moléculas utilizadas.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0">
            <a:extLst>
              <a:ext uri="{FF2B5EF4-FFF2-40B4-BE49-F238E27FC236}">
                <a16:creationId xmlns:a16="http://schemas.microsoft.com/office/drawing/2014/main" id="{A3A69297-E0B9-2200-BF8E-CA38A3FA97F0}"/>
              </a:ext>
            </a:extLst>
          </p:cNvPr>
          <p:cNvGrpSpPr/>
          <p:nvPr/>
        </p:nvGrpSpPr>
        <p:grpSpPr>
          <a:xfrm>
            <a:off x="0" y="-49533"/>
            <a:ext cx="5897880" cy="6907533"/>
            <a:chOff x="0" y="-49533"/>
            <a:chExt cx="5897880" cy="6907533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38EC20A4-C0DB-AD1A-ECFB-98508B960E51}"/>
                </a:ext>
              </a:extLst>
            </p:cNvPr>
            <p:cNvSpPr/>
            <p:nvPr/>
          </p:nvSpPr>
          <p:spPr>
            <a:xfrm>
              <a:off x="0" y="-49533"/>
              <a:ext cx="5897880" cy="690753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8288000"/>
                <a:gd name="f4" fmla="val 10287000"/>
                <a:gd name="f5" fmla="*/ f0 1 18288000"/>
                <a:gd name="f6" fmla="*/ f1 1 102870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8288000"/>
                <a:gd name="f13" fmla="*/ f10 1 102870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8288000" h="10287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VE" sz="1800" b="0" i="0" u="none" strike="noStrike" kern="1200" cap="none" spc="0" baseline="0">
                <a:solidFill>
                  <a:srgbClr val="000000"/>
                </a:solidFill>
                <a:uFillTx/>
                <a:latin typeface="72 Condensed"/>
              </a:endParaRPr>
            </a:p>
          </p:txBody>
        </p:sp>
        <p:sp>
          <p:nvSpPr>
            <p:cNvPr id="4" name="Rectángulo 6">
              <a:extLst>
                <a:ext uri="{FF2B5EF4-FFF2-40B4-BE49-F238E27FC236}">
                  <a16:creationId xmlns:a16="http://schemas.microsoft.com/office/drawing/2014/main" id="{9EAC59EA-68EC-0842-4EE9-780C45AB8FC4}"/>
                </a:ext>
              </a:extLst>
            </p:cNvPr>
            <p:cNvSpPr/>
            <p:nvPr/>
          </p:nvSpPr>
          <p:spPr>
            <a:xfrm>
              <a:off x="0" y="-49533"/>
              <a:ext cx="5897880" cy="6907533"/>
            </a:xfrm>
            <a:prstGeom prst="rect">
              <a:avLst/>
            </a:prstGeom>
            <a:solidFill>
              <a:srgbClr val="1F2E18">
                <a:alpha val="62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VE" sz="1800" b="0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endParaRPr>
            </a:p>
          </p:txBody>
        </p:sp>
      </p:grpSp>
      <p:sp>
        <p:nvSpPr>
          <p:cNvPr id="5" name="CuadroTexto 21">
            <a:extLst>
              <a:ext uri="{FF2B5EF4-FFF2-40B4-BE49-F238E27FC236}">
                <a16:creationId xmlns:a16="http://schemas.microsoft.com/office/drawing/2014/main" id="{5EC99D74-22C3-3CCA-E860-B96724340E3A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SEGUIMIENTO PROCESOS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129F48CA-71BF-9676-B014-4317E9FCD029}"/>
              </a:ext>
            </a:extLst>
          </p:cNvPr>
          <p:cNvSpPr txBox="1"/>
          <p:nvPr/>
        </p:nvSpPr>
        <p:spPr>
          <a:xfrm>
            <a:off x="502920" y="685800"/>
            <a:ext cx="512064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400" b="1" i="0" u="none" strike="noStrike" kern="1200" cap="none" spc="300" baseline="0">
                <a:solidFill>
                  <a:srgbClr val="C9962E"/>
                </a:solidFill>
                <a:uFillTx/>
                <a:latin typeface="72 Condensed"/>
              </a:rPr>
              <a:t>TU CICLO 2026 EN NÚMEROS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1A470711-95E5-505C-502C-EBB91E9B51F6}"/>
              </a:ext>
            </a:extLst>
          </p:cNvPr>
          <p:cNvSpPr txBox="1"/>
          <p:nvPr/>
        </p:nvSpPr>
        <p:spPr>
          <a:xfrm>
            <a:off x="502920" y="1051560"/>
            <a:ext cx="5303520" cy="6400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RESUMEN DEL CICLO</a:t>
            </a: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7426C2A2-ED85-988F-7C61-A9484397A735}"/>
              </a:ext>
            </a:extLst>
          </p:cNvPr>
          <p:cNvSpPr txBox="1"/>
          <p:nvPr/>
        </p:nvSpPr>
        <p:spPr>
          <a:xfrm>
            <a:off x="502920" y="1737360"/>
            <a:ext cx="530352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Angela Rosa Guedez Morales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56F79EE8-3422-41FA-426A-FFF742CD6F28}"/>
              </a:ext>
            </a:extLst>
          </p:cNvPr>
          <p:cNvSpPr txBox="1"/>
          <p:nvPr/>
        </p:nvSpPr>
        <p:spPr>
          <a:xfrm>
            <a:off x="411480" y="2514600"/>
            <a:ext cx="5486400" cy="1645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8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227,32</a:t>
            </a:r>
          </a:p>
        </p:txBody>
      </p:sp>
      <p:sp>
        <p:nvSpPr>
          <p:cNvPr id="10" name="TextBox 26">
            <a:extLst>
              <a:ext uri="{FF2B5EF4-FFF2-40B4-BE49-F238E27FC236}">
                <a16:creationId xmlns:a16="http://schemas.microsoft.com/office/drawing/2014/main" id="{203A9C7A-9360-A02A-8325-CFA4968660B3}"/>
              </a:ext>
            </a:extLst>
          </p:cNvPr>
          <p:cNvSpPr txBox="1"/>
          <p:nvPr/>
        </p:nvSpPr>
        <p:spPr>
          <a:xfrm>
            <a:off x="502920" y="4160520"/>
            <a:ext cx="5303520" cy="502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hectáreas</a:t>
            </a:r>
          </a:p>
        </p:txBody>
      </p:sp>
      <p:sp>
        <p:nvSpPr>
          <p:cNvPr id="11" name="TextBox 27">
            <a:extLst>
              <a:ext uri="{FF2B5EF4-FFF2-40B4-BE49-F238E27FC236}">
                <a16:creationId xmlns:a16="http://schemas.microsoft.com/office/drawing/2014/main" id="{19818931-5744-BC2E-3285-632F0BF18B58}"/>
              </a:ext>
            </a:extLst>
          </p:cNvPr>
          <p:cNvSpPr txBox="1"/>
          <p:nvPr/>
        </p:nvSpPr>
        <p:spPr>
          <a:xfrm>
            <a:off x="502920" y="4663440"/>
            <a:ext cx="512064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planificadas a sembrar en 11 lotes</a:t>
            </a:r>
          </a:p>
        </p:txBody>
      </p:sp>
      <p:sp>
        <p:nvSpPr>
          <p:cNvPr id="12" name="Rounded Rectangle 28">
            <a:extLst>
              <a:ext uri="{FF2B5EF4-FFF2-40B4-BE49-F238E27FC236}">
                <a16:creationId xmlns:a16="http://schemas.microsoft.com/office/drawing/2014/main" id="{E9555DF4-829F-504F-4A55-F2CF030DDB1A}"/>
              </a:ext>
            </a:extLst>
          </p:cNvPr>
          <p:cNvSpPr/>
          <p:nvPr/>
        </p:nvSpPr>
        <p:spPr>
          <a:xfrm>
            <a:off x="502920" y="5303520"/>
            <a:ext cx="4297680" cy="50292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5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96% DE AVANCE EN LAS LABORES</a:t>
            </a:r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C7FE1E6D-CA1A-BF2D-2BE6-9F11BEB1AA30}"/>
              </a:ext>
            </a:extLst>
          </p:cNvPr>
          <p:cNvSpPr txBox="1"/>
          <p:nvPr/>
        </p:nvSpPr>
        <p:spPr>
          <a:xfrm>
            <a:off x="6263640" y="658368"/>
            <a:ext cx="539496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100" baseline="0">
                <a:solidFill>
                  <a:srgbClr val="34506B"/>
                </a:solidFill>
                <a:uFillTx/>
                <a:latin typeface="72 Condensed"/>
              </a:rPr>
              <a:t>LABORES EJECUTADAS POR LOTE</a:t>
            </a:r>
          </a:p>
        </p:txBody>
      </p:sp>
      <p:sp>
        <p:nvSpPr>
          <p:cNvPr id="14" name="TextBox 30">
            <a:extLst>
              <a:ext uri="{FF2B5EF4-FFF2-40B4-BE49-F238E27FC236}">
                <a16:creationId xmlns:a16="http://schemas.microsoft.com/office/drawing/2014/main" id="{BCDF5AD9-BB00-24F5-30A4-8C09B1BDB447}"/>
              </a:ext>
            </a:extLst>
          </p:cNvPr>
          <p:cNvSpPr txBox="1"/>
          <p:nvPr/>
        </p:nvSpPr>
        <p:spPr>
          <a:xfrm>
            <a:off x="6263640" y="1005840"/>
            <a:ext cx="53949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Hectáreas trabajadas en cada labor del ciclo</a:t>
            </a:r>
          </a:p>
        </p:txBody>
      </p:sp>
      <p:sp>
        <p:nvSpPr>
          <p:cNvPr id="15" name="TextBox 31">
            <a:extLst>
              <a:ext uri="{FF2B5EF4-FFF2-40B4-BE49-F238E27FC236}">
                <a16:creationId xmlns:a16="http://schemas.microsoft.com/office/drawing/2014/main" id="{5B061A33-F696-1A23-3F95-541E7BD00A84}"/>
              </a:ext>
            </a:extLst>
          </p:cNvPr>
          <p:cNvSpPr txBox="1"/>
          <p:nvPr/>
        </p:nvSpPr>
        <p:spPr>
          <a:xfrm>
            <a:off x="7287768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Rastra</a:t>
            </a: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7E4B9AF1-3509-5AC7-BFD1-01C870FD15C6}"/>
              </a:ext>
            </a:extLst>
          </p:cNvPr>
          <p:cNvSpPr txBox="1"/>
          <p:nvPr/>
        </p:nvSpPr>
        <p:spPr>
          <a:xfrm>
            <a:off x="7909560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Enmienda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B83F243E-5B82-C32F-AF8A-6E0A9A6A83BB}"/>
              </a:ext>
            </a:extLst>
          </p:cNvPr>
          <p:cNvSpPr txBox="1"/>
          <p:nvPr/>
        </p:nvSpPr>
        <p:spPr>
          <a:xfrm>
            <a:off x="8531352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Siembra</a:t>
            </a:r>
          </a:p>
        </p:txBody>
      </p:sp>
      <p:sp>
        <p:nvSpPr>
          <p:cNvPr id="18" name="TextBox 34">
            <a:extLst>
              <a:ext uri="{FF2B5EF4-FFF2-40B4-BE49-F238E27FC236}">
                <a16:creationId xmlns:a16="http://schemas.microsoft.com/office/drawing/2014/main" id="{E436C1F0-AACE-9A41-C4EF-8BF992F256AA}"/>
              </a:ext>
            </a:extLst>
          </p:cNvPr>
          <p:cNvSpPr txBox="1"/>
          <p:nvPr/>
        </p:nvSpPr>
        <p:spPr>
          <a:xfrm>
            <a:off x="9153144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Controles</a:t>
            </a:r>
          </a:p>
        </p:txBody>
      </p:sp>
      <p:sp>
        <p:nvSpPr>
          <p:cNvPr id="19" name="TextBox 35">
            <a:extLst>
              <a:ext uri="{FF2B5EF4-FFF2-40B4-BE49-F238E27FC236}">
                <a16:creationId xmlns:a16="http://schemas.microsoft.com/office/drawing/2014/main" id="{F7B7C720-7565-466B-B7F4-FF95FC184963}"/>
              </a:ext>
            </a:extLst>
          </p:cNvPr>
          <p:cNvSpPr txBox="1"/>
          <p:nvPr/>
        </p:nvSpPr>
        <p:spPr>
          <a:xfrm>
            <a:off x="9774936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 dirty="0" err="1">
                <a:solidFill>
                  <a:srgbClr val="34506B"/>
                </a:solidFill>
                <a:uFillTx/>
                <a:latin typeface="72 Condensed"/>
              </a:rPr>
              <a:t>Reabono</a:t>
            </a:r>
            <a:endParaRPr lang="en-US" sz="900" b="1" i="0" u="none" strike="noStrike" kern="1200" cap="none" spc="0" baseline="0" dirty="0">
              <a:solidFill>
                <a:srgbClr val="34506B"/>
              </a:solidFill>
              <a:uFillTx/>
              <a:latin typeface="72 Condensed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 dirty="0">
                <a:solidFill>
                  <a:srgbClr val="34506B"/>
                </a:solidFill>
                <a:uFillTx/>
                <a:latin typeface="72 Condensed"/>
              </a:rPr>
              <a:t>1</a:t>
            </a:r>
          </a:p>
        </p:txBody>
      </p:sp>
      <p:sp>
        <p:nvSpPr>
          <p:cNvPr id="20" name="TextBox 36">
            <a:extLst>
              <a:ext uri="{FF2B5EF4-FFF2-40B4-BE49-F238E27FC236}">
                <a16:creationId xmlns:a16="http://schemas.microsoft.com/office/drawing/2014/main" id="{55180EEC-77C3-004C-2F16-2E16F79E03CD}"/>
              </a:ext>
            </a:extLst>
          </p:cNvPr>
          <p:cNvSpPr txBox="1"/>
          <p:nvPr/>
        </p:nvSpPr>
        <p:spPr>
          <a:xfrm>
            <a:off x="10396728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Reabono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2</a:t>
            </a:r>
          </a:p>
        </p:txBody>
      </p:sp>
      <p:sp>
        <p:nvSpPr>
          <p:cNvPr id="21" name="TextBox 37">
            <a:extLst>
              <a:ext uri="{FF2B5EF4-FFF2-40B4-BE49-F238E27FC236}">
                <a16:creationId xmlns:a16="http://schemas.microsoft.com/office/drawing/2014/main" id="{BA571321-06CF-B990-7366-C43A90130721}"/>
              </a:ext>
            </a:extLst>
          </p:cNvPr>
          <p:cNvSpPr txBox="1"/>
          <p:nvPr/>
        </p:nvSpPr>
        <p:spPr>
          <a:xfrm>
            <a:off x="11018520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Cosecha</a:t>
            </a:r>
          </a:p>
        </p:txBody>
      </p:sp>
      <p:sp>
        <p:nvSpPr>
          <p:cNvPr id="54" name="TextBox 70">
            <a:extLst>
              <a:ext uri="{FF2B5EF4-FFF2-40B4-BE49-F238E27FC236}">
                <a16:creationId xmlns:a16="http://schemas.microsoft.com/office/drawing/2014/main" id="{7A2F9E3E-F6C3-4F8B-B5F6-E172D2ACBC27}"/>
              </a:ext>
            </a:extLst>
          </p:cNvPr>
          <p:cNvSpPr txBox="1"/>
          <p:nvPr/>
        </p:nvSpPr>
        <p:spPr>
          <a:xfrm>
            <a:off x="7982711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56" name="TextBox 72">
            <a:extLst>
              <a:ext uri="{FF2B5EF4-FFF2-40B4-BE49-F238E27FC236}">
                <a16:creationId xmlns:a16="http://schemas.microsoft.com/office/drawing/2014/main" id="{A1ECCEEC-463C-0219-DC88-DE0766B3DCD2}"/>
              </a:ext>
            </a:extLst>
          </p:cNvPr>
          <p:cNvSpPr txBox="1"/>
          <p:nvPr/>
        </p:nvSpPr>
        <p:spPr>
          <a:xfrm>
            <a:off x="8604504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57" name="TextBox 73">
            <a:extLst>
              <a:ext uri="{FF2B5EF4-FFF2-40B4-BE49-F238E27FC236}">
                <a16:creationId xmlns:a16="http://schemas.microsoft.com/office/drawing/2014/main" id="{4562CD5B-A4AF-26EF-B5B6-60F7ED2BFCF8}"/>
              </a:ext>
            </a:extLst>
          </p:cNvPr>
          <p:cNvSpPr txBox="1"/>
          <p:nvPr/>
        </p:nvSpPr>
        <p:spPr>
          <a:xfrm>
            <a:off x="8604504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59" name="TextBox 75">
            <a:extLst>
              <a:ext uri="{FF2B5EF4-FFF2-40B4-BE49-F238E27FC236}">
                <a16:creationId xmlns:a16="http://schemas.microsoft.com/office/drawing/2014/main" id="{3DAEE04A-50D4-730C-D4E1-7FFC45DF9583}"/>
              </a:ext>
            </a:extLst>
          </p:cNvPr>
          <p:cNvSpPr txBox="1"/>
          <p:nvPr/>
        </p:nvSpPr>
        <p:spPr>
          <a:xfrm>
            <a:off x="9226296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0" name="TextBox 76">
            <a:extLst>
              <a:ext uri="{FF2B5EF4-FFF2-40B4-BE49-F238E27FC236}">
                <a16:creationId xmlns:a16="http://schemas.microsoft.com/office/drawing/2014/main" id="{009BAA4C-4C92-4CF6-9B43-514D592A6C0C}"/>
              </a:ext>
            </a:extLst>
          </p:cNvPr>
          <p:cNvSpPr txBox="1"/>
          <p:nvPr/>
        </p:nvSpPr>
        <p:spPr>
          <a:xfrm>
            <a:off x="9226296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62" name="TextBox 78">
            <a:extLst>
              <a:ext uri="{FF2B5EF4-FFF2-40B4-BE49-F238E27FC236}">
                <a16:creationId xmlns:a16="http://schemas.microsoft.com/office/drawing/2014/main" id="{D395599C-92E3-04D8-BA1F-EB932D1022E1}"/>
              </a:ext>
            </a:extLst>
          </p:cNvPr>
          <p:cNvSpPr txBox="1"/>
          <p:nvPr/>
        </p:nvSpPr>
        <p:spPr>
          <a:xfrm>
            <a:off x="9848088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3" name="TextBox 79">
            <a:extLst>
              <a:ext uri="{FF2B5EF4-FFF2-40B4-BE49-F238E27FC236}">
                <a16:creationId xmlns:a16="http://schemas.microsoft.com/office/drawing/2014/main" id="{392020BB-FF47-BC44-B2CC-A937D2452DE2}"/>
              </a:ext>
            </a:extLst>
          </p:cNvPr>
          <p:cNvSpPr txBox="1"/>
          <p:nvPr/>
        </p:nvSpPr>
        <p:spPr>
          <a:xfrm>
            <a:off x="9848088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65" name="TextBox 81">
            <a:extLst>
              <a:ext uri="{FF2B5EF4-FFF2-40B4-BE49-F238E27FC236}">
                <a16:creationId xmlns:a16="http://schemas.microsoft.com/office/drawing/2014/main" id="{B2F3FC1F-8ED4-1F28-05C7-DF560D796D43}"/>
              </a:ext>
            </a:extLst>
          </p:cNvPr>
          <p:cNvSpPr txBox="1"/>
          <p:nvPr/>
        </p:nvSpPr>
        <p:spPr>
          <a:xfrm>
            <a:off x="10469880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6" name="TextBox 82">
            <a:extLst>
              <a:ext uri="{FF2B5EF4-FFF2-40B4-BE49-F238E27FC236}">
                <a16:creationId xmlns:a16="http://schemas.microsoft.com/office/drawing/2014/main" id="{3F71FCA3-3C7F-A865-0F71-A5A8D82472B7}"/>
              </a:ext>
            </a:extLst>
          </p:cNvPr>
          <p:cNvSpPr txBox="1"/>
          <p:nvPr/>
        </p:nvSpPr>
        <p:spPr>
          <a:xfrm>
            <a:off x="10469880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68" name="TextBox 84">
            <a:extLst>
              <a:ext uri="{FF2B5EF4-FFF2-40B4-BE49-F238E27FC236}">
                <a16:creationId xmlns:a16="http://schemas.microsoft.com/office/drawing/2014/main" id="{94A7C2B8-723C-3A06-68F9-920329B63B14}"/>
              </a:ext>
            </a:extLst>
          </p:cNvPr>
          <p:cNvSpPr txBox="1"/>
          <p:nvPr/>
        </p:nvSpPr>
        <p:spPr>
          <a:xfrm>
            <a:off x="11091672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9" name="TextBox 85">
            <a:extLst>
              <a:ext uri="{FF2B5EF4-FFF2-40B4-BE49-F238E27FC236}">
                <a16:creationId xmlns:a16="http://schemas.microsoft.com/office/drawing/2014/main" id="{E19A7B4D-9794-12BA-136C-361B980D1956}"/>
              </a:ext>
            </a:extLst>
          </p:cNvPr>
          <p:cNvSpPr txBox="1"/>
          <p:nvPr/>
        </p:nvSpPr>
        <p:spPr>
          <a:xfrm>
            <a:off x="11091672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cxnSp>
        <p:nvCxnSpPr>
          <p:cNvPr id="70" name="Connector 86">
            <a:extLst>
              <a:ext uri="{FF2B5EF4-FFF2-40B4-BE49-F238E27FC236}">
                <a16:creationId xmlns:a16="http://schemas.microsoft.com/office/drawing/2014/main" id="{D90A8651-CB0D-7A5C-1EE5-1D9AFBD6D30B}"/>
              </a:ext>
            </a:extLst>
          </p:cNvPr>
          <p:cNvCxnSpPr/>
          <p:nvPr/>
        </p:nvCxnSpPr>
        <p:spPr>
          <a:xfrm>
            <a:off x="6263640" y="4471416"/>
            <a:ext cx="5394960" cy="0"/>
          </a:xfrm>
          <a:prstGeom prst="straightConnector1">
            <a:avLst/>
          </a:prstGeom>
          <a:noFill/>
          <a:ln w="12701" cap="flat">
            <a:solidFill>
              <a:srgbClr val="A9B09C"/>
            </a:solidFill>
            <a:prstDash val="solid"/>
            <a:miter/>
          </a:ln>
        </p:spPr>
      </p:cxnSp>
      <p:sp>
        <p:nvSpPr>
          <p:cNvPr id="71" name="TextBox 87">
            <a:extLst>
              <a:ext uri="{FF2B5EF4-FFF2-40B4-BE49-F238E27FC236}">
                <a16:creationId xmlns:a16="http://schemas.microsoft.com/office/drawing/2014/main" id="{B23D58A3-6FE8-15F6-B8CF-BE6F975CADF5}"/>
              </a:ext>
            </a:extLst>
          </p:cNvPr>
          <p:cNvSpPr txBox="1"/>
          <p:nvPr/>
        </p:nvSpPr>
        <p:spPr>
          <a:xfrm>
            <a:off x="6263640" y="4526279"/>
            <a:ext cx="10515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324425"/>
                </a:solidFill>
                <a:uFillTx/>
                <a:latin typeface="72 Condensed"/>
              </a:rPr>
              <a:t>TOTAL</a:t>
            </a:r>
          </a:p>
        </p:txBody>
      </p:sp>
      <p:sp>
        <p:nvSpPr>
          <p:cNvPr id="72" name="TextBox 88">
            <a:extLst>
              <a:ext uri="{FF2B5EF4-FFF2-40B4-BE49-F238E27FC236}">
                <a16:creationId xmlns:a16="http://schemas.microsoft.com/office/drawing/2014/main" id="{EBB43062-5026-629D-1A57-9F070B8288D9}"/>
              </a:ext>
            </a:extLst>
          </p:cNvPr>
          <p:cNvSpPr txBox="1"/>
          <p:nvPr/>
        </p:nvSpPr>
        <p:spPr>
          <a:xfrm>
            <a:off x="6263640" y="4773168"/>
            <a:ext cx="1051560" cy="1828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227,32 ha plan</a:t>
            </a:r>
          </a:p>
        </p:txBody>
      </p:sp>
      <p:sp>
        <p:nvSpPr>
          <p:cNvPr id="94" name="Rounded Rectangle 110">
            <a:extLst>
              <a:ext uri="{FF2B5EF4-FFF2-40B4-BE49-F238E27FC236}">
                <a16:creationId xmlns:a16="http://schemas.microsoft.com/office/drawing/2014/main" id="{2E327A2C-196B-A53F-AA64-C51EFAAD82CB}"/>
              </a:ext>
            </a:extLst>
          </p:cNvPr>
          <p:cNvSpPr/>
          <p:nvPr/>
        </p:nvSpPr>
        <p:spPr>
          <a:xfrm>
            <a:off x="6263640" y="5065776"/>
            <a:ext cx="201168" cy="201168"/>
          </a:xfrm>
          <a:custGeom>
            <a:avLst>
              <a:gd name="f0" fmla="val 4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5" name="TextBox 111">
            <a:extLst>
              <a:ext uri="{FF2B5EF4-FFF2-40B4-BE49-F238E27FC236}">
                <a16:creationId xmlns:a16="http://schemas.microsoft.com/office/drawing/2014/main" id="{C49C0759-4992-1645-E6E4-7EC8FF4C4F74}"/>
              </a:ext>
            </a:extLst>
          </p:cNvPr>
          <p:cNvSpPr txBox="1"/>
          <p:nvPr/>
        </p:nvSpPr>
        <p:spPr>
          <a:xfrm>
            <a:off x="6537959" y="5038344"/>
            <a:ext cx="2377440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Labor ejecutada (ha)</a:t>
            </a:r>
          </a:p>
        </p:txBody>
      </p:sp>
      <p:sp>
        <p:nvSpPr>
          <p:cNvPr id="96" name="Rounded Rectangle 112">
            <a:extLst>
              <a:ext uri="{FF2B5EF4-FFF2-40B4-BE49-F238E27FC236}">
                <a16:creationId xmlns:a16="http://schemas.microsoft.com/office/drawing/2014/main" id="{3C9F6690-8670-7F71-1530-3C6F8FD2DDBD}"/>
              </a:ext>
            </a:extLst>
          </p:cNvPr>
          <p:cNvSpPr/>
          <p:nvPr/>
        </p:nvSpPr>
        <p:spPr>
          <a:xfrm>
            <a:off x="8458200" y="5065776"/>
            <a:ext cx="201168" cy="201168"/>
          </a:xfrm>
          <a:custGeom>
            <a:avLst>
              <a:gd name="f0" fmla="val 4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A9B09C"/>
            </a:solidFill>
            <a:custDash>
              <a:ds d="300000" sp="300000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7" name="TextBox 113">
            <a:extLst>
              <a:ext uri="{FF2B5EF4-FFF2-40B4-BE49-F238E27FC236}">
                <a16:creationId xmlns:a16="http://schemas.microsoft.com/office/drawing/2014/main" id="{56169122-A338-D05E-4412-E0C3BB141ECA}"/>
              </a:ext>
            </a:extLst>
          </p:cNvPr>
          <p:cNvSpPr txBox="1"/>
          <p:nvPr/>
        </p:nvSpPr>
        <p:spPr>
          <a:xfrm>
            <a:off x="8732520" y="5084064"/>
            <a:ext cx="146304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Labor que no aplica en el ciclo</a:t>
            </a:r>
          </a:p>
        </p:txBody>
      </p:sp>
      <p:sp>
        <p:nvSpPr>
          <p:cNvPr id="98" name="Rounded Rectangle 114">
            <a:extLst>
              <a:ext uri="{FF2B5EF4-FFF2-40B4-BE49-F238E27FC236}">
                <a16:creationId xmlns:a16="http://schemas.microsoft.com/office/drawing/2014/main" id="{2636F299-BACE-0813-35B3-A501739FB32B}"/>
              </a:ext>
            </a:extLst>
          </p:cNvPr>
          <p:cNvSpPr/>
          <p:nvPr/>
        </p:nvSpPr>
        <p:spPr>
          <a:xfrm>
            <a:off x="6263640" y="5404104"/>
            <a:ext cx="5349240" cy="1179576"/>
          </a:xfrm>
          <a:custGeom>
            <a:avLst>
              <a:gd name="f0" fmla="val 388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9" name="TextBox 115">
            <a:extLst>
              <a:ext uri="{FF2B5EF4-FFF2-40B4-BE49-F238E27FC236}">
                <a16:creationId xmlns:a16="http://schemas.microsoft.com/office/drawing/2014/main" id="{C36B7D67-8269-C7A8-FBE7-5375935F4193}"/>
              </a:ext>
            </a:extLst>
          </p:cNvPr>
          <p:cNvSpPr txBox="1"/>
          <p:nvPr/>
        </p:nvSpPr>
        <p:spPr>
          <a:xfrm>
            <a:off x="6537959" y="5477256"/>
            <a:ext cx="4846320" cy="9784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8 de 11 lotes completaron las 7 labores aplicadas en el 100% de su superficie. Sin registro completo: Villa Marina 1 (rastra, reabono 1, reabono 2); Villa Marina 2 (reabono 1, reabono 2); Villa Marina 3 (rastra, siembra, reabono 1). La enmienda se aplicó en 5 lotes, donde el análisis la pidió.</a:t>
            </a:r>
          </a:p>
        </p:txBody>
      </p:sp>
      <p:sp>
        <p:nvSpPr>
          <p:cNvPr id="100" name="TextBox 31">
            <a:extLst>
              <a:ext uri="{FF2B5EF4-FFF2-40B4-BE49-F238E27FC236}">
                <a16:creationId xmlns:a16="http://schemas.microsoft.com/office/drawing/2014/main" id="{CDC04A24-2699-FF0B-A43A-A52BC9C02835}"/>
              </a:ext>
            </a:extLst>
          </p:cNvPr>
          <p:cNvSpPr txBox="1"/>
          <p:nvPr/>
        </p:nvSpPr>
        <p:spPr>
          <a:xfrm>
            <a:off x="6148425" y="1713292"/>
            <a:ext cx="713232" cy="1246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Lotes</a:t>
            </a:r>
          </a:p>
        </p:txBody>
      </p:sp>
      <p:sp>
        <p:nvSpPr>
          <p:cNvPr id="101" name="TextBox 39 (gen)"/>
          <p:cNvSpPr txBox="1"/>
          <p:nvPr/>
        </p:nvSpPr>
        <p:spPr>
          <a:xfrm>
            <a:off x="6263640" y="1938528"/>
            <a:ext cx="1097280" cy="192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Lote 1A</a:t>
            </a:r>
          </a:p>
        </p:txBody>
      </p:sp>
      <p:sp>
        <p:nvSpPr>
          <p:cNvPr id="102" name="Rounded Rectangle 41 (gen)"/>
          <p:cNvSpPr/>
          <p:nvPr/>
        </p:nvSpPr>
        <p:spPr>
          <a:xfrm>
            <a:off x="7360920" y="1920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26,53</a:t>
            </a:r>
          </a:p>
        </p:txBody>
      </p:sp>
      <p:sp>
        <p:nvSpPr>
          <p:cNvPr id="103" name="Rounded Rectangle 41 (gen)"/>
          <p:cNvSpPr/>
          <p:nvPr/>
        </p:nvSpPr>
        <p:spPr>
          <a:xfrm>
            <a:off x="7982712" y="1920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26,53</a:t>
            </a:r>
          </a:p>
        </p:txBody>
      </p:sp>
      <p:sp>
        <p:nvSpPr>
          <p:cNvPr id="104" name="Rounded Rectangle 41 (gen)"/>
          <p:cNvSpPr/>
          <p:nvPr/>
        </p:nvSpPr>
        <p:spPr>
          <a:xfrm>
            <a:off x="8604504" y="1920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26,53</a:t>
            </a:r>
          </a:p>
        </p:txBody>
      </p:sp>
      <p:sp>
        <p:nvSpPr>
          <p:cNvPr id="105" name="Rounded Rectangle 41 (gen)"/>
          <p:cNvSpPr/>
          <p:nvPr/>
        </p:nvSpPr>
        <p:spPr>
          <a:xfrm>
            <a:off x="9226296" y="1920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26,53</a:t>
            </a:r>
          </a:p>
        </p:txBody>
      </p:sp>
      <p:sp>
        <p:nvSpPr>
          <p:cNvPr id="106" name="Rounded Rectangle 41 (gen)"/>
          <p:cNvSpPr/>
          <p:nvPr/>
        </p:nvSpPr>
        <p:spPr>
          <a:xfrm>
            <a:off x="9848088" y="1920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26,53</a:t>
            </a:r>
          </a:p>
        </p:txBody>
      </p:sp>
      <p:sp>
        <p:nvSpPr>
          <p:cNvPr id="107" name="Rounded Rectangle 41 (gen)"/>
          <p:cNvSpPr/>
          <p:nvPr/>
        </p:nvSpPr>
        <p:spPr>
          <a:xfrm>
            <a:off x="10469880" y="1920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26,53</a:t>
            </a:r>
          </a:p>
        </p:txBody>
      </p:sp>
      <p:sp>
        <p:nvSpPr>
          <p:cNvPr id="108" name="Rounded Rectangle 41 (gen)"/>
          <p:cNvSpPr/>
          <p:nvPr/>
        </p:nvSpPr>
        <p:spPr>
          <a:xfrm>
            <a:off x="11091672" y="1920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26,50</a:t>
            </a:r>
          </a:p>
        </p:txBody>
      </p:sp>
      <p:sp>
        <p:nvSpPr>
          <p:cNvPr id="109" name="TextBox 39 (gen)"/>
          <p:cNvSpPr txBox="1"/>
          <p:nvPr/>
        </p:nvSpPr>
        <p:spPr>
          <a:xfrm>
            <a:off x="6263640" y="2167128"/>
            <a:ext cx="1097280" cy="192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Lote 1B</a:t>
            </a:r>
          </a:p>
        </p:txBody>
      </p:sp>
      <p:sp>
        <p:nvSpPr>
          <p:cNvPr id="110" name="Rounded Rectangle 41 (gen)"/>
          <p:cNvSpPr/>
          <p:nvPr/>
        </p:nvSpPr>
        <p:spPr>
          <a:xfrm>
            <a:off x="7360920" y="2148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33,30</a:t>
            </a:r>
          </a:p>
        </p:txBody>
      </p:sp>
      <p:sp>
        <p:nvSpPr>
          <p:cNvPr id="111" name="Rounded Rectangle 44 (gen)"/>
          <p:cNvSpPr/>
          <p:nvPr/>
        </p:nvSpPr>
        <p:spPr>
          <a:xfrm>
            <a:off x="7982712" y="2148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12" name="Rounded Rectangle 41 (gen)"/>
          <p:cNvSpPr/>
          <p:nvPr/>
        </p:nvSpPr>
        <p:spPr>
          <a:xfrm>
            <a:off x="8604504" y="2148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33,30</a:t>
            </a:r>
          </a:p>
        </p:txBody>
      </p:sp>
      <p:sp>
        <p:nvSpPr>
          <p:cNvPr id="113" name="Rounded Rectangle 41 (gen)"/>
          <p:cNvSpPr/>
          <p:nvPr/>
        </p:nvSpPr>
        <p:spPr>
          <a:xfrm>
            <a:off x="9226296" y="2148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33,30</a:t>
            </a:r>
          </a:p>
        </p:txBody>
      </p:sp>
      <p:sp>
        <p:nvSpPr>
          <p:cNvPr id="114" name="Rounded Rectangle 41 (gen)"/>
          <p:cNvSpPr/>
          <p:nvPr/>
        </p:nvSpPr>
        <p:spPr>
          <a:xfrm>
            <a:off x="9848088" y="2148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33,30</a:t>
            </a:r>
          </a:p>
        </p:txBody>
      </p:sp>
      <p:sp>
        <p:nvSpPr>
          <p:cNvPr id="115" name="Rounded Rectangle 41 (gen)"/>
          <p:cNvSpPr/>
          <p:nvPr/>
        </p:nvSpPr>
        <p:spPr>
          <a:xfrm>
            <a:off x="10469880" y="2148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33,30</a:t>
            </a:r>
          </a:p>
        </p:txBody>
      </p:sp>
      <p:sp>
        <p:nvSpPr>
          <p:cNvPr id="116" name="Rounded Rectangle 41 (gen)"/>
          <p:cNvSpPr/>
          <p:nvPr/>
        </p:nvSpPr>
        <p:spPr>
          <a:xfrm>
            <a:off x="11091672" y="2148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33,30</a:t>
            </a:r>
          </a:p>
        </p:txBody>
      </p:sp>
      <p:sp>
        <p:nvSpPr>
          <p:cNvPr id="117" name="TextBox 39 (gen)"/>
          <p:cNvSpPr txBox="1"/>
          <p:nvPr/>
        </p:nvSpPr>
        <p:spPr>
          <a:xfrm>
            <a:off x="6263640" y="2395728"/>
            <a:ext cx="1097280" cy="192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Lote 4</a:t>
            </a:r>
          </a:p>
        </p:txBody>
      </p:sp>
      <p:sp>
        <p:nvSpPr>
          <p:cNvPr id="118" name="Rounded Rectangle 41 (gen)"/>
          <p:cNvSpPr/>
          <p:nvPr/>
        </p:nvSpPr>
        <p:spPr>
          <a:xfrm>
            <a:off x="7360920" y="2377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26,31</a:t>
            </a:r>
          </a:p>
        </p:txBody>
      </p:sp>
      <p:sp>
        <p:nvSpPr>
          <p:cNvPr id="119" name="Rounded Rectangle 41 (gen)"/>
          <p:cNvSpPr/>
          <p:nvPr/>
        </p:nvSpPr>
        <p:spPr>
          <a:xfrm>
            <a:off x="7982712" y="2377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26,31</a:t>
            </a:r>
          </a:p>
        </p:txBody>
      </p:sp>
      <p:sp>
        <p:nvSpPr>
          <p:cNvPr id="120" name="Rounded Rectangle 41 (gen)"/>
          <p:cNvSpPr/>
          <p:nvPr/>
        </p:nvSpPr>
        <p:spPr>
          <a:xfrm>
            <a:off x="8604504" y="2377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26,31</a:t>
            </a:r>
          </a:p>
        </p:txBody>
      </p:sp>
      <p:sp>
        <p:nvSpPr>
          <p:cNvPr id="121" name="Rounded Rectangle 41 (gen)"/>
          <p:cNvSpPr/>
          <p:nvPr/>
        </p:nvSpPr>
        <p:spPr>
          <a:xfrm>
            <a:off x="9226296" y="2377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26,31</a:t>
            </a:r>
          </a:p>
        </p:txBody>
      </p:sp>
      <p:sp>
        <p:nvSpPr>
          <p:cNvPr id="122" name="Rounded Rectangle 41 (gen)"/>
          <p:cNvSpPr/>
          <p:nvPr/>
        </p:nvSpPr>
        <p:spPr>
          <a:xfrm>
            <a:off x="9848088" y="2377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26,31</a:t>
            </a:r>
          </a:p>
        </p:txBody>
      </p:sp>
      <p:sp>
        <p:nvSpPr>
          <p:cNvPr id="123" name="Rounded Rectangle 41 (gen)"/>
          <p:cNvSpPr/>
          <p:nvPr/>
        </p:nvSpPr>
        <p:spPr>
          <a:xfrm>
            <a:off x="10469880" y="2377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26,31</a:t>
            </a:r>
          </a:p>
        </p:txBody>
      </p:sp>
      <p:sp>
        <p:nvSpPr>
          <p:cNvPr id="124" name="Rounded Rectangle 41 (gen)"/>
          <p:cNvSpPr/>
          <p:nvPr/>
        </p:nvSpPr>
        <p:spPr>
          <a:xfrm>
            <a:off x="11091672" y="2377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26,26</a:t>
            </a:r>
          </a:p>
        </p:txBody>
      </p:sp>
      <p:sp>
        <p:nvSpPr>
          <p:cNvPr id="125" name="TextBox 39 (gen)"/>
          <p:cNvSpPr txBox="1"/>
          <p:nvPr/>
        </p:nvSpPr>
        <p:spPr>
          <a:xfrm>
            <a:off x="6263640" y="2624328"/>
            <a:ext cx="1097280" cy="192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Lote 5</a:t>
            </a:r>
          </a:p>
        </p:txBody>
      </p:sp>
      <p:sp>
        <p:nvSpPr>
          <p:cNvPr id="126" name="Rounded Rectangle 41 (gen)"/>
          <p:cNvSpPr/>
          <p:nvPr/>
        </p:nvSpPr>
        <p:spPr>
          <a:xfrm>
            <a:off x="7360920" y="26060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14,56</a:t>
            </a:r>
          </a:p>
        </p:txBody>
      </p:sp>
      <p:sp>
        <p:nvSpPr>
          <p:cNvPr id="127" name="Rounded Rectangle 44 (gen)"/>
          <p:cNvSpPr/>
          <p:nvPr/>
        </p:nvSpPr>
        <p:spPr>
          <a:xfrm>
            <a:off x="7982712" y="26060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28" name="Rounded Rectangle 41 (gen)"/>
          <p:cNvSpPr/>
          <p:nvPr/>
        </p:nvSpPr>
        <p:spPr>
          <a:xfrm>
            <a:off x="8604504" y="26060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14,56</a:t>
            </a:r>
          </a:p>
        </p:txBody>
      </p:sp>
      <p:sp>
        <p:nvSpPr>
          <p:cNvPr id="129" name="Rounded Rectangle 41 (gen)"/>
          <p:cNvSpPr/>
          <p:nvPr/>
        </p:nvSpPr>
        <p:spPr>
          <a:xfrm>
            <a:off x="9226296" y="26060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14,56</a:t>
            </a:r>
          </a:p>
        </p:txBody>
      </p:sp>
      <p:sp>
        <p:nvSpPr>
          <p:cNvPr id="130" name="Rounded Rectangle 41 (gen)"/>
          <p:cNvSpPr/>
          <p:nvPr/>
        </p:nvSpPr>
        <p:spPr>
          <a:xfrm>
            <a:off x="9848088" y="26060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14,56</a:t>
            </a:r>
          </a:p>
        </p:txBody>
      </p:sp>
      <p:sp>
        <p:nvSpPr>
          <p:cNvPr id="131" name="Rounded Rectangle 41 (gen)"/>
          <p:cNvSpPr/>
          <p:nvPr/>
        </p:nvSpPr>
        <p:spPr>
          <a:xfrm>
            <a:off x="10469880" y="26060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14,56</a:t>
            </a:r>
          </a:p>
        </p:txBody>
      </p:sp>
      <p:sp>
        <p:nvSpPr>
          <p:cNvPr id="132" name="Rounded Rectangle 41 (gen)"/>
          <p:cNvSpPr/>
          <p:nvPr/>
        </p:nvSpPr>
        <p:spPr>
          <a:xfrm>
            <a:off x="11091672" y="26060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14,56</a:t>
            </a:r>
          </a:p>
        </p:txBody>
      </p:sp>
      <p:sp>
        <p:nvSpPr>
          <p:cNvPr id="133" name="TextBox 39 (gen)"/>
          <p:cNvSpPr txBox="1"/>
          <p:nvPr/>
        </p:nvSpPr>
        <p:spPr>
          <a:xfrm>
            <a:off x="6263640" y="2852928"/>
            <a:ext cx="1097280" cy="192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Lote 6</a:t>
            </a:r>
          </a:p>
        </p:txBody>
      </p:sp>
      <p:sp>
        <p:nvSpPr>
          <p:cNvPr id="134" name="Rounded Rectangle 41 (gen)"/>
          <p:cNvSpPr/>
          <p:nvPr/>
        </p:nvSpPr>
        <p:spPr>
          <a:xfrm>
            <a:off x="7360920" y="28346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9,19</a:t>
            </a:r>
          </a:p>
        </p:txBody>
      </p:sp>
      <p:sp>
        <p:nvSpPr>
          <p:cNvPr id="135" name="Rounded Rectangle 41 (gen)"/>
          <p:cNvSpPr/>
          <p:nvPr/>
        </p:nvSpPr>
        <p:spPr>
          <a:xfrm>
            <a:off x="7982712" y="28346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9,19</a:t>
            </a:r>
          </a:p>
        </p:txBody>
      </p:sp>
      <p:sp>
        <p:nvSpPr>
          <p:cNvPr id="136" name="Rounded Rectangle 41 (gen)"/>
          <p:cNvSpPr/>
          <p:nvPr/>
        </p:nvSpPr>
        <p:spPr>
          <a:xfrm>
            <a:off x="8604504" y="28346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9,19</a:t>
            </a:r>
          </a:p>
        </p:txBody>
      </p:sp>
      <p:sp>
        <p:nvSpPr>
          <p:cNvPr id="137" name="Rounded Rectangle 41 (gen)"/>
          <p:cNvSpPr/>
          <p:nvPr/>
        </p:nvSpPr>
        <p:spPr>
          <a:xfrm>
            <a:off x="9226296" y="28346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9,19</a:t>
            </a:r>
          </a:p>
        </p:txBody>
      </p:sp>
      <p:sp>
        <p:nvSpPr>
          <p:cNvPr id="138" name="Rounded Rectangle 41 (gen)"/>
          <p:cNvSpPr/>
          <p:nvPr/>
        </p:nvSpPr>
        <p:spPr>
          <a:xfrm>
            <a:off x="9848088" y="28346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9,19</a:t>
            </a:r>
          </a:p>
        </p:txBody>
      </p:sp>
      <p:sp>
        <p:nvSpPr>
          <p:cNvPr id="139" name="Rounded Rectangle 41 (gen)"/>
          <p:cNvSpPr/>
          <p:nvPr/>
        </p:nvSpPr>
        <p:spPr>
          <a:xfrm>
            <a:off x="10469880" y="28346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9,19</a:t>
            </a:r>
          </a:p>
        </p:txBody>
      </p:sp>
      <p:sp>
        <p:nvSpPr>
          <p:cNvPr id="140" name="Rounded Rectangle 41 (gen)"/>
          <p:cNvSpPr/>
          <p:nvPr/>
        </p:nvSpPr>
        <p:spPr>
          <a:xfrm>
            <a:off x="11091672" y="28346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9,19</a:t>
            </a:r>
          </a:p>
        </p:txBody>
      </p:sp>
      <p:sp>
        <p:nvSpPr>
          <p:cNvPr id="141" name="TextBox 39 (gen)"/>
          <p:cNvSpPr txBox="1"/>
          <p:nvPr/>
        </p:nvSpPr>
        <p:spPr>
          <a:xfrm>
            <a:off x="6263640" y="3081528"/>
            <a:ext cx="1097280" cy="192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Lote 7</a:t>
            </a:r>
          </a:p>
        </p:txBody>
      </p:sp>
      <p:sp>
        <p:nvSpPr>
          <p:cNvPr id="142" name="Rounded Rectangle 41 (gen)"/>
          <p:cNvSpPr/>
          <p:nvPr/>
        </p:nvSpPr>
        <p:spPr>
          <a:xfrm>
            <a:off x="7360920" y="3063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7,89</a:t>
            </a:r>
          </a:p>
        </p:txBody>
      </p:sp>
      <p:sp>
        <p:nvSpPr>
          <p:cNvPr id="143" name="Rounded Rectangle 41 (gen)"/>
          <p:cNvSpPr/>
          <p:nvPr/>
        </p:nvSpPr>
        <p:spPr>
          <a:xfrm>
            <a:off x="7982712" y="3063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7,89</a:t>
            </a:r>
          </a:p>
        </p:txBody>
      </p:sp>
      <p:sp>
        <p:nvSpPr>
          <p:cNvPr id="144" name="Rounded Rectangle 41 (gen)"/>
          <p:cNvSpPr/>
          <p:nvPr/>
        </p:nvSpPr>
        <p:spPr>
          <a:xfrm>
            <a:off x="8604504" y="3063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7,89</a:t>
            </a:r>
          </a:p>
        </p:txBody>
      </p:sp>
      <p:sp>
        <p:nvSpPr>
          <p:cNvPr id="145" name="Rounded Rectangle 41 (gen)"/>
          <p:cNvSpPr/>
          <p:nvPr/>
        </p:nvSpPr>
        <p:spPr>
          <a:xfrm>
            <a:off x="9226296" y="3063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7,89</a:t>
            </a:r>
          </a:p>
        </p:txBody>
      </p:sp>
      <p:sp>
        <p:nvSpPr>
          <p:cNvPr id="146" name="Rounded Rectangle 41 (gen)"/>
          <p:cNvSpPr/>
          <p:nvPr/>
        </p:nvSpPr>
        <p:spPr>
          <a:xfrm>
            <a:off x="9848088" y="3063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7,89</a:t>
            </a:r>
          </a:p>
        </p:txBody>
      </p:sp>
      <p:sp>
        <p:nvSpPr>
          <p:cNvPr id="147" name="Rounded Rectangle 41 (gen)"/>
          <p:cNvSpPr/>
          <p:nvPr/>
        </p:nvSpPr>
        <p:spPr>
          <a:xfrm>
            <a:off x="10469880" y="3063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7,89</a:t>
            </a:r>
          </a:p>
        </p:txBody>
      </p:sp>
      <p:sp>
        <p:nvSpPr>
          <p:cNvPr id="148" name="Rounded Rectangle 41 (gen)"/>
          <p:cNvSpPr/>
          <p:nvPr/>
        </p:nvSpPr>
        <p:spPr>
          <a:xfrm>
            <a:off x="11091672" y="3063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7,89</a:t>
            </a:r>
          </a:p>
        </p:txBody>
      </p:sp>
      <p:sp>
        <p:nvSpPr>
          <p:cNvPr id="149" name="TextBox 39 (gen)"/>
          <p:cNvSpPr txBox="1"/>
          <p:nvPr/>
        </p:nvSpPr>
        <p:spPr>
          <a:xfrm>
            <a:off x="6263640" y="3310128"/>
            <a:ext cx="1097280" cy="192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Lote 8</a:t>
            </a:r>
          </a:p>
        </p:txBody>
      </p:sp>
      <p:sp>
        <p:nvSpPr>
          <p:cNvPr id="150" name="Rounded Rectangle 41 (gen)"/>
          <p:cNvSpPr/>
          <p:nvPr/>
        </p:nvSpPr>
        <p:spPr>
          <a:xfrm>
            <a:off x="7360920" y="3291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17,74</a:t>
            </a:r>
          </a:p>
        </p:txBody>
      </p:sp>
      <p:sp>
        <p:nvSpPr>
          <p:cNvPr id="151" name="Rounded Rectangle 44 (gen)"/>
          <p:cNvSpPr/>
          <p:nvPr/>
        </p:nvSpPr>
        <p:spPr>
          <a:xfrm>
            <a:off x="7982712" y="3291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52" name="Rounded Rectangle 41 (gen)"/>
          <p:cNvSpPr/>
          <p:nvPr/>
        </p:nvSpPr>
        <p:spPr>
          <a:xfrm>
            <a:off x="8604504" y="3291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17,74</a:t>
            </a:r>
          </a:p>
        </p:txBody>
      </p:sp>
      <p:sp>
        <p:nvSpPr>
          <p:cNvPr id="153" name="Rounded Rectangle 41 (gen)"/>
          <p:cNvSpPr/>
          <p:nvPr/>
        </p:nvSpPr>
        <p:spPr>
          <a:xfrm>
            <a:off x="9226296" y="3291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17,74</a:t>
            </a:r>
          </a:p>
        </p:txBody>
      </p:sp>
      <p:sp>
        <p:nvSpPr>
          <p:cNvPr id="154" name="Rounded Rectangle 41 (gen)"/>
          <p:cNvSpPr/>
          <p:nvPr/>
        </p:nvSpPr>
        <p:spPr>
          <a:xfrm>
            <a:off x="9848088" y="3291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17,74</a:t>
            </a:r>
          </a:p>
        </p:txBody>
      </p:sp>
      <p:sp>
        <p:nvSpPr>
          <p:cNvPr id="155" name="Rounded Rectangle 41 (gen)"/>
          <p:cNvSpPr/>
          <p:nvPr/>
        </p:nvSpPr>
        <p:spPr>
          <a:xfrm>
            <a:off x="10469880" y="3291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17,74</a:t>
            </a:r>
          </a:p>
        </p:txBody>
      </p:sp>
      <p:sp>
        <p:nvSpPr>
          <p:cNvPr id="156" name="Rounded Rectangle 41 (gen)"/>
          <p:cNvSpPr/>
          <p:nvPr/>
        </p:nvSpPr>
        <p:spPr>
          <a:xfrm>
            <a:off x="11091672" y="32918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17,74</a:t>
            </a:r>
          </a:p>
        </p:txBody>
      </p:sp>
      <p:sp>
        <p:nvSpPr>
          <p:cNvPr id="157" name="TextBox 39 (gen)"/>
          <p:cNvSpPr txBox="1"/>
          <p:nvPr/>
        </p:nvSpPr>
        <p:spPr>
          <a:xfrm>
            <a:off x="6263640" y="3538728"/>
            <a:ext cx="1097280" cy="192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Lote 9</a:t>
            </a:r>
          </a:p>
        </p:txBody>
      </p:sp>
      <p:sp>
        <p:nvSpPr>
          <p:cNvPr id="158" name="Rounded Rectangle 41 (gen)"/>
          <p:cNvSpPr/>
          <p:nvPr/>
        </p:nvSpPr>
        <p:spPr>
          <a:xfrm>
            <a:off x="7360920" y="3520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32,09</a:t>
            </a:r>
          </a:p>
        </p:txBody>
      </p:sp>
      <p:sp>
        <p:nvSpPr>
          <p:cNvPr id="159" name="Rounded Rectangle 41 (gen)"/>
          <p:cNvSpPr/>
          <p:nvPr/>
        </p:nvSpPr>
        <p:spPr>
          <a:xfrm>
            <a:off x="7982712" y="3520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32,09</a:t>
            </a:r>
          </a:p>
        </p:txBody>
      </p:sp>
      <p:sp>
        <p:nvSpPr>
          <p:cNvPr id="160" name="Rounded Rectangle 41 (gen)"/>
          <p:cNvSpPr/>
          <p:nvPr/>
        </p:nvSpPr>
        <p:spPr>
          <a:xfrm>
            <a:off x="8604504" y="3520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32,09</a:t>
            </a:r>
          </a:p>
        </p:txBody>
      </p:sp>
      <p:sp>
        <p:nvSpPr>
          <p:cNvPr id="161" name="Rounded Rectangle 41 (gen)"/>
          <p:cNvSpPr/>
          <p:nvPr/>
        </p:nvSpPr>
        <p:spPr>
          <a:xfrm>
            <a:off x="9226296" y="3520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32,09</a:t>
            </a:r>
          </a:p>
        </p:txBody>
      </p:sp>
      <p:sp>
        <p:nvSpPr>
          <p:cNvPr id="162" name="Rounded Rectangle 41 (gen)"/>
          <p:cNvSpPr/>
          <p:nvPr/>
        </p:nvSpPr>
        <p:spPr>
          <a:xfrm>
            <a:off x="9848088" y="3520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32,09</a:t>
            </a:r>
          </a:p>
        </p:txBody>
      </p:sp>
      <p:sp>
        <p:nvSpPr>
          <p:cNvPr id="163" name="Rounded Rectangle 41 (gen)"/>
          <p:cNvSpPr/>
          <p:nvPr/>
        </p:nvSpPr>
        <p:spPr>
          <a:xfrm>
            <a:off x="10469880" y="3520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32,09</a:t>
            </a:r>
          </a:p>
        </p:txBody>
      </p:sp>
      <p:sp>
        <p:nvSpPr>
          <p:cNvPr id="164" name="Rounded Rectangle 41 (gen)"/>
          <p:cNvSpPr/>
          <p:nvPr/>
        </p:nvSpPr>
        <p:spPr>
          <a:xfrm>
            <a:off x="11091672" y="35204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32,09</a:t>
            </a:r>
          </a:p>
        </p:txBody>
      </p:sp>
      <p:sp>
        <p:nvSpPr>
          <p:cNvPr id="165" name="TextBox 39 (gen)"/>
          <p:cNvSpPr txBox="1"/>
          <p:nvPr/>
        </p:nvSpPr>
        <p:spPr>
          <a:xfrm>
            <a:off x="6263640" y="3767327"/>
            <a:ext cx="1097280" cy="192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Villa Marina 1</a:t>
            </a:r>
          </a:p>
        </p:txBody>
      </p:sp>
      <p:sp>
        <p:nvSpPr>
          <p:cNvPr id="166" name="Rounded Rectangle 41 (gen)"/>
          <p:cNvSpPr/>
          <p:nvPr/>
        </p:nvSpPr>
        <p:spPr>
          <a:xfrm>
            <a:off x="7360920" y="37490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23,00</a:t>
            </a:r>
          </a:p>
        </p:txBody>
      </p:sp>
      <p:sp>
        <p:nvSpPr>
          <p:cNvPr id="167" name="Rounded Rectangle 44 (gen)"/>
          <p:cNvSpPr/>
          <p:nvPr/>
        </p:nvSpPr>
        <p:spPr>
          <a:xfrm>
            <a:off x="7982712" y="37490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68" name="Rounded Rectangle 41 (gen)"/>
          <p:cNvSpPr/>
          <p:nvPr/>
        </p:nvSpPr>
        <p:spPr>
          <a:xfrm>
            <a:off x="8604504" y="37490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25,63</a:t>
            </a:r>
          </a:p>
        </p:txBody>
      </p:sp>
      <p:sp>
        <p:nvSpPr>
          <p:cNvPr id="169" name="Rounded Rectangle 41 (gen)"/>
          <p:cNvSpPr/>
          <p:nvPr/>
        </p:nvSpPr>
        <p:spPr>
          <a:xfrm>
            <a:off x="9226296" y="37490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25,63</a:t>
            </a:r>
          </a:p>
        </p:txBody>
      </p:sp>
      <p:sp>
        <p:nvSpPr>
          <p:cNvPr id="170" name="Rounded Rectangle 41 (gen)"/>
          <p:cNvSpPr/>
          <p:nvPr/>
        </p:nvSpPr>
        <p:spPr>
          <a:xfrm>
            <a:off x="9848088" y="37490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17,60</a:t>
            </a:r>
          </a:p>
        </p:txBody>
      </p:sp>
      <p:sp>
        <p:nvSpPr>
          <p:cNvPr id="171" name="Rounded Rectangle 41 (gen)"/>
          <p:cNvSpPr/>
          <p:nvPr/>
        </p:nvSpPr>
        <p:spPr>
          <a:xfrm>
            <a:off x="10469880" y="37490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17,63</a:t>
            </a:r>
          </a:p>
        </p:txBody>
      </p:sp>
      <p:sp>
        <p:nvSpPr>
          <p:cNvPr id="172" name="Rounded Rectangle 41 (gen)"/>
          <p:cNvSpPr/>
          <p:nvPr/>
        </p:nvSpPr>
        <p:spPr>
          <a:xfrm>
            <a:off x="11091672" y="37490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25,63</a:t>
            </a:r>
          </a:p>
        </p:txBody>
      </p:sp>
      <p:sp>
        <p:nvSpPr>
          <p:cNvPr id="173" name="TextBox 39 (gen)"/>
          <p:cNvSpPr txBox="1"/>
          <p:nvPr/>
        </p:nvSpPr>
        <p:spPr>
          <a:xfrm>
            <a:off x="6263640" y="3995927"/>
            <a:ext cx="1097280" cy="192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Villa Marina 2</a:t>
            </a:r>
          </a:p>
        </p:txBody>
      </p:sp>
      <p:sp>
        <p:nvSpPr>
          <p:cNvPr id="174" name="Rounded Rectangle 41 (gen)"/>
          <p:cNvSpPr/>
          <p:nvPr/>
        </p:nvSpPr>
        <p:spPr>
          <a:xfrm>
            <a:off x="7360920" y="39776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20,08</a:t>
            </a:r>
          </a:p>
        </p:txBody>
      </p:sp>
      <p:sp>
        <p:nvSpPr>
          <p:cNvPr id="175" name="Rounded Rectangle 44 (gen)"/>
          <p:cNvSpPr/>
          <p:nvPr/>
        </p:nvSpPr>
        <p:spPr>
          <a:xfrm>
            <a:off x="7982712" y="39776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76" name="Rounded Rectangle 41 (gen)"/>
          <p:cNvSpPr/>
          <p:nvPr/>
        </p:nvSpPr>
        <p:spPr>
          <a:xfrm>
            <a:off x="8604504" y="39776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20,00</a:t>
            </a:r>
          </a:p>
        </p:txBody>
      </p:sp>
      <p:sp>
        <p:nvSpPr>
          <p:cNvPr id="177" name="Rounded Rectangle 41 (gen)"/>
          <p:cNvSpPr/>
          <p:nvPr/>
        </p:nvSpPr>
        <p:spPr>
          <a:xfrm>
            <a:off x="9226296" y="39776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20,08</a:t>
            </a:r>
          </a:p>
        </p:txBody>
      </p:sp>
      <p:sp>
        <p:nvSpPr>
          <p:cNvPr id="178" name="Rounded Rectangle 41 (gen)"/>
          <p:cNvSpPr/>
          <p:nvPr/>
        </p:nvSpPr>
        <p:spPr>
          <a:xfrm>
            <a:off x="9848088" y="39776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14,00</a:t>
            </a:r>
          </a:p>
        </p:txBody>
      </p:sp>
      <p:sp>
        <p:nvSpPr>
          <p:cNvPr id="179" name="Rounded Rectangle 41 (gen)"/>
          <p:cNvSpPr/>
          <p:nvPr/>
        </p:nvSpPr>
        <p:spPr>
          <a:xfrm>
            <a:off x="10469880" y="39776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14,00</a:t>
            </a:r>
          </a:p>
        </p:txBody>
      </p:sp>
      <p:sp>
        <p:nvSpPr>
          <p:cNvPr id="180" name="Rounded Rectangle 41 (gen)"/>
          <p:cNvSpPr/>
          <p:nvPr/>
        </p:nvSpPr>
        <p:spPr>
          <a:xfrm>
            <a:off x="11091672" y="3977639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20,08</a:t>
            </a:r>
          </a:p>
        </p:txBody>
      </p:sp>
      <p:sp>
        <p:nvSpPr>
          <p:cNvPr id="181" name="TextBox 39 (gen)"/>
          <p:cNvSpPr txBox="1"/>
          <p:nvPr/>
        </p:nvSpPr>
        <p:spPr>
          <a:xfrm>
            <a:off x="6263640" y="4224527"/>
            <a:ext cx="1097280" cy="192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Villa Marina 3</a:t>
            </a:r>
          </a:p>
        </p:txBody>
      </p:sp>
      <p:sp>
        <p:nvSpPr>
          <p:cNvPr id="182" name="Rounded Rectangle 41 (gen)"/>
          <p:cNvSpPr/>
          <p:nvPr/>
        </p:nvSpPr>
        <p:spPr>
          <a:xfrm>
            <a:off x="7360920" y="4206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0,00</a:t>
            </a:r>
          </a:p>
        </p:txBody>
      </p:sp>
      <p:sp>
        <p:nvSpPr>
          <p:cNvPr id="183" name="Rounded Rectangle 44 (gen)"/>
          <p:cNvSpPr/>
          <p:nvPr/>
        </p:nvSpPr>
        <p:spPr>
          <a:xfrm>
            <a:off x="7982712" y="4206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84" name="Rounded Rectangle 41 (gen)"/>
          <p:cNvSpPr/>
          <p:nvPr/>
        </p:nvSpPr>
        <p:spPr>
          <a:xfrm>
            <a:off x="8604504" y="4206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12,93</a:t>
            </a:r>
          </a:p>
        </p:txBody>
      </p:sp>
      <p:sp>
        <p:nvSpPr>
          <p:cNvPr id="185" name="Rounded Rectangle 41 (gen)"/>
          <p:cNvSpPr/>
          <p:nvPr/>
        </p:nvSpPr>
        <p:spPr>
          <a:xfrm>
            <a:off x="9226296" y="4206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14,00</a:t>
            </a:r>
          </a:p>
        </p:txBody>
      </p:sp>
      <p:sp>
        <p:nvSpPr>
          <p:cNvPr id="186" name="Rounded Rectangle 41 (gen)"/>
          <p:cNvSpPr/>
          <p:nvPr/>
        </p:nvSpPr>
        <p:spPr>
          <a:xfrm>
            <a:off x="9848088" y="4206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0,00</a:t>
            </a:r>
          </a:p>
        </p:txBody>
      </p:sp>
      <p:sp>
        <p:nvSpPr>
          <p:cNvPr id="187" name="Rounded Rectangle 41 (gen)"/>
          <p:cNvSpPr/>
          <p:nvPr/>
        </p:nvSpPr>
        <p:spPr>
          <a:xfrm>
            <a:off x="10469880" y="4206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14,00</a:t>
            </a:r>
          </a:p>
        </p:txBody>
      </p:sp>
      <p:sp>
        <p:nvSpPr>
          <p:cNvPr id="188" name="Rounded Rectangle 41 (gen)"/>
          <p:cNvSpPr/>
          <p:nvPr/>
        </p:nvSpPr>
        <p:spPr>
          <a:xfrm>
            <a:off x="11091672" y="4206240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14,00</a:t>
            </a:r>
          </a:p>
        </p:txBody>
      </p:sp>
      <p:sp>
        <p:nvSpPr>
          <p:cNvPr id="189" name="Rounded Rectangle 41 (gen)"/>
          <p:cNvSpPr/>
          <p:nvPr/>
        </p:nvSpPr>
        <p:spPr>
          <a:xfrm>
            <a:off x="7360920" y="4562855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210,69</a:t>
            </a:r>
          </a:p>
        </p:txBody>
      </p:sp>
      <p:sp>
        <p:nvSpPr>
          <p:cNvPr id="190" name="Rounded Rectangle 41 (gen)"/>
          <p:cNvSpPr/>
          <p:nvPr/>
        </p:nvSpPr>
        <p:spPr>
          <a:xfrm>
            <a:off x="7982712" y="4562855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102,01</a:t>
            </a:r>
          </a:p>
        </p:txBody>
      </p:sp>
      <p:sp>
        <p:nvSpPr>
          <p:cNvPr id="191" name="Rounded Rectangle 41 (gen)"/>
          <p:cNvSpPr/>
          <p:nvPr/>
        </p:nvSpPr>
        <p:spPr>
          <a:xfrm>
            <a:off x="8604504" y="4562855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226,17</a:t>
            </a:r>
          </a:p>
        </p:txBody>
      </p:sp>
      <p:sp>
        <p:nvSpPr>
          <p:cNvPr id="192" name="Rounded Rectangle 41 (gen)"/>
          <p:cNvSpPr/>
          <p:nvPr/>
        </p:nvSpPr>
        <p:spPr>
          <a:xfrm>
            <a:off x="9226296" y="4562855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227,32</a:t>
            </a:r>
          </a:p>
        </p:txBody>
      </p:sp>
      <p:sp>
        <p:nvSpPr>
          <p:cNvPr id="193" name="Rounded Rectangle 41 (gen)"/>
          <p:cNvSpPr/>
          <p:nvPr/>
        </p:nvSpPr>
        <p:spPr>
          <a:xfrm>
            <a:off x="9848088" y="4562855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199,21</a:t>
            </a:r>
          </a:p>
        </p:txBody>
      </p:sp>
      <p:sp>
        <p:nvSpPr>
          <p:cNvPr id="194" name="Rounded Rectangle 41 (gen)"/>
          <p:cNvSpPr/>
          <p:nvPr/>
        </p:nvSpPr>
        <p:spPr>
          <a:xfrm>
            <a:off x="10469880" y="4562855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213,24</a:t>
            </a:r>
          </a:p>
        </p:txBody>
      </p:sp>
      <p:sp>
        <p:nvSpPr>
          <p:cNvPr id="195" name="Rounded Rectangle 41 (gen)"/>
          <p:cNvSpPr/>
          <p:nvPr/>
        </p:nvSpPr>
        <p:spPr>
          <a:xfrm>
            <a:off x="11091672" y="4562855"/>
            <a:ext cx="566928" cy="19202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227,24</a:t>
            </a:r>
          </a:p>
        </p:txBody>
      </p:sp>
      <p:sp>
        <p:nvSpPr>
          <p:cNvPr id="196" name="Rounded Rectangle 110 (gen)"/>
          <p:cNvSpPr/>
          <p:nvPr/>
        </p:nvSpPr>
        <p:spPr>
          <a:xfrm>
            <a:off x="10195560" y="5065776"/>
            <a:ext cx="201168" cy="201168"/>
          </a:xfrm>
          <a:custGeom>
            <a:avLst>
              <a:gd name="f0" fmla="val 4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97" name="TextBox 113 (gen)"/>
          <p:cNvSpPr txBox="1"/>
          <p:nvPr/>
        </p:nvSpPr>
        <p:spPr>
          <a:xfrm>
            <a:off x="10469880" y="5084064"/>
            <a:ext cx="128016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Sin registro completo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0">
    <p:bg>
      <p:bgPr>
        <a:solidFill>
          <a:srgbClr val="324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B2B0B7-4EA9-C1E6-4F23-9149AF99ABA2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77D54427-80B3-CFF4-C5E9-AF9DBD4E0AF9}"/>
              </a:ext>
            </a:extLst>
          </p:cNvPr>
          <p:cNvSpPr/>
          <p:nvPr/>
        </p:nvSpPr>
        <p:spPr>
          <a:xfrm>
            <a:off x="6300" y="-360227"/>
            <a:ext cx="12191996" cy="7218950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7AC70978-D872-BB88-CEBC-19A2289762F8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SEGUIMIENTO PROCESOS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9962E"/>
                </a:solidFill>
                <a:latin typeface="72 Condensed"/>
              </a:rPr>
              <a:t>TU TEMPORADA DE INCIDENCIAS · LÍNEA DE TIEMPO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61488"/>
            <a:ext cx="107442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48640" y="4330000"/>
            <a:ext cx="182880" cy="182880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0000" y="4320000"/>
            <a:ext cx="1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DF0E2"/>
                </a:solidFill>
                <a:latin typeface="72 Condensed"/>
              </a:rPr>
              <a:t>Atendida (14)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04288" y="4320000"/>
            <a:ext cx="555955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DF0E2"/>
                </a:solidFill>
                <a:latin typeface="72 Condensed"/>
              </a:rPr>
              <a:t>Mayo concentró 10 de 14 reportes  ·  DDS: días tras la siembra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00000" y="4240000"/>
            <a:ext cx="3758000" cy="38000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1F2E18"/>
                </a:solidFill>
                <a:latin typeface="72 Condensed"/>
              </a:rPr>
              <a:t>Ver el detalle de cada incidencia en el Hub  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750000"/>
            <a:ext cx="3603120" cy="1640000"/>
          </a:xfrm>
          <a:prstGeom prst="roundRect">
            <a:avLst>
              <a:gd name="adj" fmla="val 10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8640" y="4950000"/>
            <a:ext cx="320312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 dirty="0">
                <a:solidFill>
                  <a:srgbClr val="C9962E"/>
                </a:solidFill>
                <a:latin typeface="72 Condensed"/>
              </a:rPr>
              <a:t>RETO 1 · PLAGAS EN PLÁNTULA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8640" y="5270000"/>
            <a:ext cx="32031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72 Condensed"/>
              </a:rPr>
              <a:t>10 de 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8640" y="5940000"/>
            <a:ext cx="320312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72 Condensed"/>
              </a:rPr>
              <a:t>reportes de gusano cogollero y larvas entre 19 y 91 DDS, en 5 lotes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01760" y="4750000"/>
            <a:ext cx="3603120" cy="1640000"/>
          </a:xfrm>
          <a:prstGeom prst="roundRect">
            <a:avLst>
              <a:gd name="adj" fmla="val 10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61760" y="4950000"/>
            <a:ext cx="320312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RETO 2 · MALEZAS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61760" y="5270000"/>
            <a:ext cx="32031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72 Condensed"/>
              </a:rPr>
              <a:t>3 de 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1760" y="5940000"/>
            <a:ext cx="320312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72 Condensed"/>
              </a:rPr>
              <a:t>reportes de malezas entre 9 y 126 DDS, en Lote 9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54880" y="4750000"/>
            <a:ext cx="3603120" cy="164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14880" y="4950000"/>
            <a:ext cx="320312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RETO 3 · MAZORCA AL CIERRE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4880" y="5270000"/>
            <a:ext cx="32031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1F2E18"/>
                </a:solidFill>
                <a:latin typeface="72 Condensed"/>
              </a:rPr>
              <a:t>1 de 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14880" y="5940000"/>
            <a:ext cx="320312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24425"/>
                </a:solidFill>
                <a:latin typeface="72 Condensed"/>
              </a:rPr>
              <a:t>mazorcas con agobio o daño a los 119 DDS, en Lote 1A</a:t>
            </a:r>
          </a:p>
        </p:txBody>
      </p:sp>
      <p:sp>
        <p:nvSpPr>
          <p:cNvPr id="63" name="Oval 12 (gen)"/>
          <p:cNvSpPr/>
          <p:nvPr/>
        </p:nvSpPr>
        <p:spPr>
          <a:xfrm>
            <a:off x="1106097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</a:t>
            </a:r>
          </a:p>
        </p:txBody>
      </p:sp>
      <p:sp>
        <p:nvSpPr>
          <p:cNvPr id="64" name="TextBox 13 (gen)"/>
          <p:cNvSpPr txBox="1"/>
          <p:nvPr/>
        </p:nvSpPr>
        <p:spPr>
          <a:xfrm>
            <a:off x="886641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01/05</a:t>
            </a:r>
          </a:p>
        </p:txBody>
      </p:sp>
      <p:sp>
        <p:nvSpPr>
          <p:cNvPr id="65" name="TextBox 14 (gen)"/>
          <p:cNvSpPr txBox="1"/>
          <p:nvPr/>
        </p:nvSpPr>
        <p:spPr>
          <a:xfrm>
            <a:off x="886641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9 DDS</a:t>
            </a:r>
          </a:p>
        </p:txBody>
      </p:sp>
      <p:sp>
        <p:nvSpPr>
          <p:cNvPr id="66" name="TextBox 15 (gen)"/>
          <p:cNvSpPr txBox="1"/>
          <p:nvPr/>
        </p:nvSpPr>
        <p:spPr>
          <a:xfrm>
            <a:off x="914073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Lote 9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Baja eficiencia del control</a:t>
            </a:r>
          </a:p>
        </p:txBody>
      </p:sp>
      <p:sp>
        <p:nvSpPr>
          <p:cNvPr id="67" name="Oval 12 (gen)"/>
          <p:cNvSpPr/>
          <p:nvPr/>
        </p:nvSpPr>
        <p:spPr>
          <a:xfrm>
            <a:off x="1873540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2</a:t>
            </a:r>
          </a:p>
        </p:txBody>
      </p:sp>
      <p:sp>
        <p:nvSpPr>
          <p:cNvPr id="68" name="TextBox 13 (gen)"/>
          <p:cNvSpPr txBox="1"/>
          <p:nvPr/>
        </p:nvSpPr>
        <p:spPr>
          <a:xfrm>
            <a:off x="1654084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14/05</a:t>
            </a:r>
          </a:p>
        </p:txBody>
      </p:sp>
      <p:sp>
        <p:nvSpPr>
          <p:cNvPr id="69" name="TextBox 14 (gen)"/>
          <p:cNvSpPr txBox="1"/>
          <p:nvPr/>
        </p:nvSpPr>
        <p:spPr>
          <a:xfrm>
            <a:off x="1654084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V3</a:t>
            </a:r>
          </a:p>
        </p:txBody>
      </p:sp>
      <p:sp>
        <p:nvSpPr>
          <p:cNvPr id="70" name="TextBox 15 (gen)"/>
          <p:cNvSpPr txBox="1"/>
          <p:nvPr/>
        </p:nvSpPr>
        <p:spPr>
          <a:xfrm>
            <a:off x="1681516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Lote 7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Gusano cogollero</a:t>
            </a:r>
          </a:p>
        </p:txBody>
      </p:sp>
      <p:sp>
        <p:nvSpPr>
          <p:cNvPr id="71" name="Oval 12 (gen)"/>
          <p:cNvSpPr/>
          <p:nvPr/>
        </p:nvSpPr>
        <p:spPr>
          <a:xfrm>
            <a:off x="2640983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3</a:t>
            </a:r>
          </a:p>
        </p:txBody>
      </p:sp>
      <p:sp>
        <p:nvSpPr>
          <p:cNvPr id="72" name="TextBox 13 (gen)"/>
          <p:cNvSpPr txBox="1"/>
          <p:nvPr/>
        </p:nvSpPr>
        <p:spPr>
          <a:xfrm>
            <a:off x="2421527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17/05</a:t>
            </a:r>
          </a:p>
        </p:txBody>
      </p:sp>
      <p:sp>
        <p:nvSpPr>
          <p:cNvPr id="73" name="TextBox 14 (gen)"/>
          <p:cNvSpPr txBox="1"/>
          <p:nvPr/>
        </p:nvSpPr>
        <p:spPr>
          <a:xfrm>
            <a:off x="2421527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V4</a:t>
            </a:r>
          </a:p>
        </p:txBody>
      </p:sp>
      <p:sp>
        <p:nvSpPr>
          <p:cNvPr id="74" name="TextBox 15 (gen)"/>
          <p:cNvSpPr txBox="1"/>
          <p:nvPr/>
        </p:nvSpPr>
        <p:spPr>
          <a:xfrm>
            <a:off x="2448959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Lote 4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Focos de plagas</a:t>
            </a:r>
          </a:p>
        </p:txBody>
      </p:sp>
      <p:sp>
        <p:nvSpPr>
          <p:cNvPr id="75" name="Oval 12 (gen)"/>
          <p:cNvSpPr/>
          <p:nvPr/>
        </p:nvSpPr>
        <p:spPr>
          <a:xfrm>
            <a:off x="3408426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4</a:t>
            </a:r>
          </a:p>
        </p:txBody>
      </p:sp>
      <p:sp>
        <p:nvSpPr>
          <p:cNvPr id="76" name="TextBox 13 (gen)"/>
          <p:cNvSpPr txBox="1"/>
          <p:nvPr/>
        </p:nvSpPr>
        <p:spPr>
          <a:xfrm>
            <a:off x="3188970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17/05</a:t>
            </a:r>
          </a:p>
        </p:txBody>
      </p:sp>
      <p:sp>
        <p:nvSpPr>
          <p:cNvPr id="77" name="TextBox 14 (gen)"/>
          <p:cNvSpPr txBox="1"/>
          <p:nvPr/>
        </p:nvSpPr>
        <p:spPr>
          <a:xfrm>
            <a:off x="3188970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V3</a:t>
            </a:r>
          </a:p>
        </p:txBody>
      </p:sp>
      <p:sp>
        <p:nvSpPr>
          <p:cNvPr id="78" name="TextBox 15 (gen)"/>
          <p:cNvSpPr txBox="1"/>
          <p:nvPr/>
        </p:nvSpPr>
        <p:spPr>
          <a:xfrm>
            <a:off x="3216402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Lote 7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Lesiones en follaje</a:t>
            </a:r>
          </a:p>
        </p:txBody>
      </p:sp>
      <p:sp>
        <p:nvSpPr>
          <p:cNvPr id="79" name="Oval 12 (gen)"/>
          <p:cNvSpPr/>
          <p:nvPr/>
        </p:nvSpPr>
        <p:spPr>
          <a:xfrm>
            <a:off x="4175868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5</a:t>
            </a:r>
          </a:p>
        </p:txBody>
      </p:sp>
      <p:sp>
        <p:nvSpPr>
          <p:cNvPr id="80" name="TextBox 13 (gen)"/>
          <p:cNvSpPr txBox="1"/>
          <p:nvPr/>
        </p:nvSpPr>
        <p:spPr>
          <a:xfrm>
            <a:off x="3956412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17/05</a:t>
            </a:r>
          </a:p>
        </p:txBody>
      </p:sp>
      <p:sp>
        <p:nvSpPr>
          <p:cNvPr id="81" name="TextBox 14 (gen)"/>
          <p:cNvSpPr txBox="1"/>
          <p:nvPr/>
        </p:nvSpPr>
        <p:spPr>
          <a:xfrm>
            <a:off x="3956412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V4</a:t>
            </a:r>
          </a:p>
        </p:txBody>
      </p:sp>
      <p:sp>
        <p:nvSpPr>
          <p:cNvPr id="82" name="TextBox 15 (gen)"/>
          <p:cNvSpPr txBox="1"/>
          <p:nvPr/>
        </p:nvSpPr>
        <p:spPr>
          <a:xfrm>
            <a:off x="3983844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Lote 8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Baja eficiencia del control</a:t>
            </a:r>
          </a:p>
        </p:txBody>
      </p:sp>
      <p:sp>
        <p:nvSpPr>
          <p:cNvPr id="83" name="Oval 12 (gen)"/>
          <p:cNvSpPr/>
          <p:nvPr/>
        </p:nvSpPr>
        <p:spPr>
          <a:xfrm>
            <a:off x="4943311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6</a:t>
            </a:r>
          </a:p>
        </p:txBody>
      </p:sp>
      <p:sp>
        <p:nvSpPr>
          <p:cNvPr id="84" name="TextBox 13 (gen)"/>
          <p:cNvSpPr txBox="1"/>
          <p:nvPr/>
        </p:nvSpPr>
        <p:spPr>
          <a:xfrm>
            <a:off x="4723855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18/05</a:t>
            </a:r>
          </a:p>
        </p:txBody>
      </p:sp>
      <p:sp>
        <p:nvSpPr>
          <p:cNvPr id="85" name="TextBox 14 (gen)"/>
          <p:cNvSpPr txBox="1"/>
          <p:nvPr/>
        </p:nvSpPr>
        <p:spPr>
          <a:xfrm>
            <a:off x="4723855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V5</a:t>
            </a:r>
          </a:p>
        </p:txBody>
      </p:sp>
      <p:sp>
        <p:nvSpPr>
          <p:cNvPr id="86" name="TextBox 15 (gen)"/>
          <p:cNvSpPr txBox="1"/>
          <p:nvPr/>
        </p:nvSpPr>
        <p:spPr>
          <a:xfrm>
            <a:off x="4751287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Lote 9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Malezas avanzadas</a:t>
            </a:r>
          </a:p>
        </p:txBody>
      </p:sp>
      <p:sp>
        <p:nvSpPr>
          <p:cNvPr id="87" name="Oval 12 (gen)"/>
          <p:cNvSpPr/>
          <p:nvPr/>
        </p:nvSpPr>
        <p:spPr>
          <a:xfrm>
            <a:off x="5710754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7</a:t>
            </a:r>
          </a:p>
        </p:txBody>
      </p:sp>
      <p:sp>
        <p:nvSpPr>
          <p:cNvPr id="88" name="TextBox 13 (gen)"/>
          <p:cNvSpPr txBox="1"/>
          <p:nvPr/>
        </p:nvSpPr>
        <p:spPr>
          <a:xfrm>
            <a:off x="5491298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19/05</a:t>
            </a:r>
          </a:p>
        </p:txBody>
      </p:sp>
      <p:sp>
        <p:nvSpPr>
          <p:cNvPr id="89" name="TextBox 14 (gen)"/>
          <p:cNvSpPr txBox="1"/>
          <p:nvPr/>
        </p:nvSpPr>
        <p:spPr>
          <a:xfrm>
            <a:off x="5491298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V1</a:t>
            </a:r>
          </a:p>
        </p:txBody>
      </p:sp>
      <p:sp>
        <p:nvSpPr>
          <p:cNvPr id="90" name="TextBox 15 (gen)"/>
          <p:cNvSpPr txBox="1"/>
          <p:nvPr/>
        </p:nvSpPr>
        <p:spPr>
          <a:xfrm>
            <a:off x="5518730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2 lotes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Emergencia irregular</a:t>
            </a:r>
          </a:p>
        </p:txBody>
      </p:sp>
      <p:sp>
        <p:nvSpPr>
          <p:cNvPr id="91" name="Oval 12 (gen)"/>
          <p:cNvSpPr/>
          <p:nvPr/>
        </p:nvSpPr>
        <p:spPr>
          <a:xfrm>
            <a:off x="6478197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8</a:t>
            </a:r>
          </a:p>
        </p:txBody>
      </p:sp>
      <p:sp>
        <p:nvSpPr>
          <p:cNvPr id="92" name="TextBox 13 (gen)"/>
          <p:cNvSpPr txBox="1"/>
          <p:nvPr/>
        </p:nvSpPr>
        <p:spPr>
          <a:xfrm>
            <a:off x="6258741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25/05</a:t>
            </a:r>
          </a:p>
        </p:txBody>
      </p:sp>
      <p:sp>
        <p:nvSpPr>
          <p:cNvPr id="93" name="TextBox 14 (gen)"/>
          <p:cNvSpPr txBox="1"/>
          <p:nvPr/>
        </p:nvSpPr>
        <p:spPr>
          <a:xfrm>
            <a:off x="6258741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V5</a:t>
            </a:r>
          </a:p>
        </p:txBody>
      </p:sp>
      <p:sp>
        <p:nvSpPr>
          <p:cNvPr id="94" name="TextBox 15 (gen)"/>
          <p:cNvSpPr txBox="1"/>
          <p:nvPr/>
        </p:nvSpPr>
        <p:spPr>
          <a:xfrm>
            <a:off x="6286173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Lote 8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efectivo</a:t>
            </a:r>
          </a:p>
        </p:txBody>
      </p:sp>
      <p:sp>
        <p:nvSpPr>
          <p:cNvPr id="95" name="Oval 12 (gen)"/>
          <p:cNvSpPr/>
          <p:nvPr/>
        </p:nvSpPr>
        <p:spPr>
          <a:xfrm>
            <a:off x="7245640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9</a:t>
            </a:r>
          </a:p>
        </p:txBody>
      </p:sp>
      <p:sp>
        <p:nvSpPr>
          <p:cNvPr id="96" name="TextBox 13 (gen)"/>
          <p:cNvSpPr txBox="1"/>
          <p:nvPr/>
        </p:nvSpPr>
        <p:spPr>
          <a:xfrm>
            <a:off x="7026184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27/05</a:t>
            </a:r>
          </a:p>
        </p:txBody>
      </p:sp>
      <p:sp>
        <p:nvSpPr>
          <p:cNvPr id="97" name="TextBox 14 (gen)"/>
          <p:cNvSpPr txBox="1"/>
          <p:nvPr/>
        </p:nvSpPr>
        <p:spPr>
          <a:xfrm>
            <a:off x="7026184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V5</a:t>
            </a:r>
          </a:p>
        </p:txBody>
      </p:sp>
      <p:sp>
        <p:nvSpPr>
          <p:cNvPr id="98" name="TextBox 15 (gen)"/>
          <p:cNvSpPr txBox="1"/>
          <p:nvPr/>
        </p:nvSpPr>
        <p:spPr>
          <a:xfrm>
            <a:off x="7053616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Lote 8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Gusano cogollero</a:t>
            </a:r>
          </a:p>
        </p:txBody>
      </p:sp>
      <p:sp>
        <p:nvSpPr>
          <p:cNvPr id="99" name="Oval 12 (gen)"/>
          <p:cNvSpPr/>
          <p:nvPr/>
        </p:nvSpPr>
        <p:spPr>
          <a:xfrm>
            <a:off x="8013083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10</a:t>
            </a:r>
          </a:p>
        </p:txBody>
      </p:sp>
      <p:sp>
        <p:nvSpPr>
          <p:cNvPr id="100" name="TextBox 13 (gen)"/>
          <p:cNvSpPr txBox="1"/>
          <p:nvPr/>
        </p:nvSpPr>
        <p:spPr>
          <a:xfrm>
            <a:off x="7793627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27/05</a:t>
            </a:r>
          </a:p>
        </p:txBody>
      </p:sp>
      <p:sp>
        <p:nvSpPr>
          <p:cNvPr id="101" name="TextBox 14 (gen)"/>
          <p:cNvSpPr txBox="1"/>
          <p:nvPr/>
        </p:nvSpPr>
        <p:spPr>
          <a:xfrm>
            <a:off x="7793627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V5</a:t>
            </a:r>
          </a:p>
        </p:txBody>
      </p:sp>
      <p:sp>
        <p:nvSpPr>
          <p:cNvPr id="102" name="TextBox 15 (gen)"/>
          <p:cNvSpPr txBox="1"/>
          <p:nvPr/>
        </p:nvSpPr>
        <p:spPr>
          <a:xfrm>
            <a:off x="7821059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Lote 7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efectivo</a:t>
            </a:r>
          </a:p>
        </p:txBody>
      </p:sp>
      <p:sp>
        <p:nvSpPr>
          <p:cNvPr id="103" name="Oval 12 (gen)"/>
          <p:cNvSpPr/>
          <p:nvPr/>
        </p:nvSpPr>
        <p:spPr>
          <a:xfrm>
            <a:off x="8780526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11</a:t>
            </a:r>
          </a:p>
        </p:txBody>
      </p:sp>
      <p:sp>
        <p:nvSpPr>
          <p:cNvPr id="104" name="TextBox 13 (gen)"/>
          <p:cNvSpPr txBox="1"/>
          <p:nvPr/>
        </p:nvSpPr>
        <p:spPr>
          <a:xfrm>
            <a:off x="8561070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24/06</a:t>
            </a:r>
          </a:p>
        </p:txBody>
      </p:sp>
      <p:sp>
        <p:nvSpPr>
          <p:cNvPr id="105" name="TextBox 14 (gen)"/>
          <p:cNvSpPr txBox="1"/>
          <p:nvPr/>
        </p:nvSpPr>
        <p:spPr>
          <a:xfrm>
            <a:off x="8561070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64 DDS</a:t>
            </a:r>
          </a:p>
        </p:txBody>
      </p:sp>
      <p:sp>
        <p:nvSpPr>
          <p:cNvPr id="106" name="TextBox 15 (gen)"/>
          <p:cNvSpPr txBox="1"/>
          <p:nvPr/>
        </p:nvSpPr>
        <p:spPr>
          <a:xfrm>
            <a:off x="8588502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9 lotes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Plagas en bordes</a:t>
            </a:r>
          </a:p>
        </p:txBody>
      </p:sp>
      <p:sp>
        <p:nvSpPr>
          <p:cNvPr id="107" name="Oval 12 (gen)"/>
          <p:cNvSpPr/>
          <p:nvPr/>
        </p:nvSpPr>
        <p:spPr>
          <a:xfrm>
            <a:off x="9547968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12</a:t>
            </a:r>
          </a:p>
        </p:txBody>
      </p:sp>
      <p:sp>
        <p:nvSpPr>
          <p:cNvPr id="108" name="TextBox 13 (gen)"/>
          <p:cNvSpPr txBox="1"/>
          <p:nvPr/>
        </p:nvSpPr>
        <p:spPr>
          <a:xfrm>
            <a:off x="9328512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24/07</a:t>
            </a:r>
          </a:p>
        </p:txBody>
      </p:sp>
      <p:sp>
        <p:nvSpPr>
          <p:cNvPr id="109" name="TextBox 14 (gen)"/>
          <p:cNvSpPr txBox="1"/>
          <p:nvPr/>
        </p:nvSpPr>
        <p:spPr>
          <a:xfrm>
            <a:off x="9328512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91 DDS</a:t>
            </a:r>
          </a:p>
        </p:txBody>
      </p:sp>
      <p:sp>
        <p:nvSpPr>
          <p:cNvPr id="110" name="TextBox 15 (gen)"/>
          <p:cNvSpPr txBox="1"/>
          <p:nvPr/>
        </p:nvSpPr>
        <p:spPr>
          <a:xfrm>
            <a:off x="9355944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2 lotes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Plagas en bordes</a:t>
            </a:r>
          </a:p>
        </p:txBody>
      </p:sp>
      <p:sp>
        <p:nvSpPr>
          <p:cNvPr id="111" name="Oval 12 (gen)"/>
          <p:cNvSpPr/>
          <p:nvPr/>
        </p:nvSpPr>
        <p:spPr>
          <a:xfrm>
            <a:off x="10315411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13</a:t>
            </a:r>
          </a:p>
        </p:txBody>
      </p:sp>
      <p:sp>
        <p:nvSpPr>
          <p:cNvPr id="112" name="TextBox 13 (gen)"/>
          <p:cNvSpPr txBox="1"/>
          <p:nvPr/>
        </p:nvSpPr>
        <p:spPr>
          <a:xfrm>
            <a:off x="10095955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21/08</a:t>
            </a:r>
          </a:p>
        </p:txBody>
      </p:sp>
      <p:sp>
        <p:nvSpPr>
          <p:cNvPr id="113" name="TextBox 14 (gen)"/>
          <p:cNvSpPr txBox="1"/>
          <p:nvPr/>
        </p:nvSpPr>
        <p:spPr>
          <a:xfrm>
            <a:off x="10095955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119 DDS</a:t>
            </a:r>
          </a:p>
        </p:txBody>
      </p:sp>
      <p:sp>
        <p:nvSpPr>
          <p:cNvPr id="114" name="TextBox 15 (gen)"/>
          <p:cNvSpPr txBox="1"/>
          <p:nvPr/>
        </p:nvSpPr>
        <p:spPr>
          <a:xfrm>
            <a:off x="10123387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Lote 1A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Agobio en mazorcas</a:t>
            </a:r>
          </a:p>
        </p:txBody>
      </p:sp>
      <p:sp>
        <p:nvSpPr>
          <p:cNvPr id="115" name="Oval 12 (gen)"/>
          <p:cNvSpPr/>
          <p:nvPr/>
        </p:nvSpPr>
        <p:spPr>
          <a:xfrm>
            <a:off x="11082854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14</a:t>
            </a:r>
          </a:p>
        </p:txBody>
      </p:sp>
      <p:sp>
        <p:nvSpPr>
          <p:cNvPr id="116" name="TextBox 13 (gen)"/>
          <p:cNvSpPr txBox="1"/>
          <p:nvPr/>
        </p:nvSpPr>
        <p:spPr>
          <a:xfrm>
            <a:off x="10863398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26/08</a:t>
            </a:r>
          </a:p>
        </p:txBody>
      </p:sp>
      <p:sp>
        <p:nvSpPr>
          <p:cNvPr id="117" name="TextBox 14 (gen)"/>
          <p:cNvSpPr txBox="1"/>
          <p:nvPr/>
        </p:nvSpPr>
        <p:spPr>
          <a:xfrm>
            <a:off x="10863398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126 DDS</a:t>
            </a:r>
          </a:p>
        </p:txBody>
      </p:sp>
      <p:sp>
        <p:nvSpPr>
          <p:cNvPr id="118" name="TextBox 15 (gen)"/>
          <p:cNvSpPr txBox="1"/>
          <p:nvPr/>
        </p:nvSpPr>
        <p:spPr>
          <a:xfrm>
            <a:off x="10890830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Lote 9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Muestreo de malezas (I+D)</a:t>
            </a:r>
          </a:p>
        </p:txBody>
      </p:sp>
      <p:sp>
        <p:nvSpPr>
          <p:cNvPr id="119" name="TextBox 5 (gen)"/>
          <p:cNvSpPr txBox="1"/>
          <p:nvPr/>
        </p:nvSpPr>
        <p:spPr>
          <a:xfrm>
            <a:off x="4111534" y="1554480"/>
            <a:ext cx="128016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 dirty="0">
                <a:solidFill>
                  <a:srgbClr val="8FB06A"/>
                </a:solidFill>
                <a:latin typeface="72 Condensed"/>
              </a:rPr>
              <a:t>MAYO</a:t>
            </a:r>
          </a:p>
        </p:txBody>
      </p:sp>
      <p:sp>
        <p:nvSpPr>
          <p:cNvPr id="120" name="TextBox 5 (gen)"/>
          <p:cNvSpPr txBox="1"/>
          <p:nvPr/>
        </p:nvSpPr>
        <p:spPr>
          <a:xfrm>
            <a:off x="8332470" y="1554480"/>
            <a:ext cx="128016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 dirty="0">
                <a:solidFill>
                  <a:srgbClr val="8FB06A"/>
                </a:solidFill>
                <a:latin typeface="72 Condensed"/>
              </a:rPr>
              <a:t>JUNIO</a:t>
            </a:r>
          </a:p>
        </p:txBody>
      </p:sp>
      <p:sp>
        <p:nvSpPr>
          <p:cNvPr id="121" name="Rectangle 8 (gen)"/>
          <p:cNvSpPr/>
          <p:nvPr/>
        </p:nvSpPr>
        <p:spPr>
          <a:xfrm>
            <a:off x="8588828" y="1554480"/>
            <a:ext cx="12700" cy="2194560"/>
          </a:xfrm>
          <a:prstGeom prst="rect">
            <a:avLst/>
          </a:prstGeom>
          <a:solidFill>
            <a:srgbClr val="5E7A4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2" name="TextBox 5 (gen)"/>
          <p:cNvSpPr txBox="1"/>
          <p:nvPr/>
        </p:nvSpPr>
        <p:spPr>
          <a:xfrm>
            <a:off x="9099912" y="1554480"/>
            <a:ext cx="128016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 dirty="0">
                <a:solidFill>
                  <a:srgbClr val="8FB06A"/>
                </a:solidFill>
                <a:latin typeface="72 Condensed"/>
              </a:rPr>
              <a:t>JULIO</a:t>
            </a:r>
          </a:p>
        </p:txBody>
      </p:sp>
      <p:sp>
        <p:nvSpPr>
          <p:cNvPr id="123" name="Rectangle 8 (gen)"/>
          <p:cNvSpPr/>
          <p:nvPr/>
        </p:nvSpPr>
        <p:spPr>
          <a:xfrm>
            <a:off x="9356271" y="1554480"/>
            <a:ext cx="12700" cy="2194560"/>
          </a:xfrm>
          <a:prstGeom prst="rect">
            <a:avLst/>
          </a:prstGeom>
          <a:solidFill>
            <a:srgbClr val="5E7A4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4" name="TextBox 5 (gen)"/>
          <p:cNvSpPr txBox="1"/>
          <p:nvPr/>
        </p:nvSpPr>
        <p:spPr>
          <a:xfrm>
            <a:off x="10251077" y="1554480"/>
            <a:ext cx="128016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 dirty="0">
                <a:solidFill>
                  <a:srgbClr val="8FB06A"/>
                </a:solidFill>
                <a:latin typeface="72 Condensed"/>
              </a:rPr>
              <a:t>AGOSTO</a:t>
            </a:r>
          </a:p>
        </p:txBody>
      </p:sp>
      <p:sp>
        <p:nvSpPr>
          <p:cNvPr id="125" name="Rectangle 8 (gen)"/>
          <p:cNvSpPr/>
          <p:nvPr/>
        </p:nvSpPr>
        <p:spPr>
          <a:xfrm>
            <a:off x="10123714" y="1554480"/>
            <a:ext cx="12700" cy="2194560"/>
          </a:xfrm>
          <a:prstGeom prst="rect">
            <a:avLst/>
          </a:prstGeom>
          <a:solidFill>
            <a:srgbClr val="5E7A4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777B6228-C893-6AAA-68B5-21D59DDBC55E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CLIMA</a:t>
            </a:r>
          </a:p>
        </p:txBody>
      </p:sp>
      <p:sp>
        <p:nvSpPr>
          <p:cNvPr id="3" name="CuadroTexto 3">
            <a:extLst>
              <a:ext uri="{FF2B5EF4-FFF2-40B4-BE49-F238E27FC236}">
                <a16:creationId xmlns:a16="http://schemas.microsoft.com/office/drawing/2014/main" id="{031511F3-7B30-8276-0290-459FFF60F55A}"/>
              </a:ext>
            </a:extLst>
          </p:cNvPr>
          <p:cNvSpPr txBox="1"/>
          <p:nvPr/>
        </p:nvSpPr>
        <p:spPr>
          <a:xfrm>
            <a:off x="228600" y="811767"/>
            <a:ext cx="3594104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>
                <a:solidFill>
                  <a:srgbClr val="34506B"/>
                </a:solidFill>
                <a:uFillTx/>
                <a:latin typeface="72 Condensed" pitchFamily="34"/>
                <a:cs typeface="72 Condensed" pitchFamily="34"/>
              </a:rPr>
              <a:t>COMPORTAMIENTO DE LA LLUVIA</a:t>
            </a: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165382EC-3858-6B0A-F15E-4BF40D29D1A6}"/>
              </a:ext>
            </a:extLst>
          </p:cNvPr>
          <p:cNvSpPr txBox="1"/>
          <p:nvPr/>
        </p:nvSpPr>
        <p:spPr>
          <a:xfrm>
            <a:off x="228600" y="240404"/>
            <a:ext cx="11640001" cy="246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45720" rIns="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00" b="0" i="0" u="none" strike="noStrike" kern="1200" cap="none" spc="0" baseline="0">
                <a:solidFill>
                  <a:srgbClr val="2A2A2A"/>
                </a:solidFill>
                <a:uFillTx/>
                <a:latin typeface="72 Condensed"/>
              </a:rPr>
              <a:t>Fuente: estación meteorológica P10-Turen Las Cúpulas-Saturno, la estación Saturno asignada a la finca de Angela.</a:t>
            </a: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71DAE0F0-307D-4DC1-7210-B5681D7498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3464" y="1627632"/>
            <a:ext cx="11640312" cy="3063240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8" name="Conector recto 16">
            <a:extLst>
              <a:ext uri="{FF2B5EF4-FFF2-40B4-BE49-F238E27FC236}">
                <a16:creationId xmlns:a16="http://schemas.microsoft.com/office/drawing/2014/main" id="{42E9A576-A977-AE1A-CFE2-000D18FB6203}"/>
              </a:ext>
            </a:extLst>
          </p:cNvPr>
          <p:cNvCxnSpPr/>
          <p:nvPr/>
        </p:nvCxnSpPr>
        <p:spPr>
          <a:xfrm>
            <a:off x="2048000" y="5292090"/>
            <a:ext cx="285750" cy="0"/>
          </a:xfrm>
          <a:prstGeom prst="straightConnector1">
            <a:avLst/>
          </a:prstGeom>
          <a:noFill/>
          <a:ln w="38103" cap="flat">
            <a:solidFill>
              <a:srgbClr val="5F7F3F"/>
            </a:solidFill>
            <a:prstDash val="solid"/>
            <a:miter/>
          </a:ln>
        </p:spPr>
      </p:cxnSp>
      <p:cxnSp>
        <p:nvCxnSpPr>
          <p:cNvPr id="9" name="Conector recto 17">
            <a:extLst>
              <a:ext uri="{FF2B5EF4-FFF2-40B4-BE49-F238E27FC236}">
                <a16:creationId xmlns:a16="http://schemas.microsoft.com/office/drawing/2014/main" id="{7B72BA6D-712A-751F-262E-5B3E24152B59}"/>
              </a:ext>
            </a:extLst>
          </p:cNvPr>
          <p:cNvCxnSpPr/>
          <p:nvPr/>
        </p:nvCxnSpPr>
        <p:spPr>
          <a:xfrm>
            <a:off x="3823464" y="5295903"/>
            <a:ext cx="285750" cy="0"/>
          </a:xfrm>
          <a:prstGeom prst="straightConnector1">
            <a:avLst/>
          </a:prstGeom>
          <a:noFill/>
          <a:ln w="38103" cap="flat">
            <a:solidFill>
              <a:srgbClr val="5F7F3F"/>
            </a:solidFill>
            <a:custDash>
              <a:ds d="299976" sp="299976"/>
            </a:custDash>
            <a:miter/>
          </a:ln>
        </p:spPr>
      </p:cxnSp>
      <p:sp>
        <p:nvSpPr>
          <p:cNvPr id="10" name="CuadroTexto 18">
            <a:extLst>
              <a:ext uri="{FF2B5EF4-FFF2-40B4-BE49-F238E27FC236}">
                <a16:creationId xmlns:a16="http://schemas.microsoft.com/office/drawing/2014/main" id="{3B279626-0FB1-6468-596A-45FF2F0AF0D6}"/>
              </a:ext>
            </a:extLst>
          </p:cNvPr>
          <p:cNvSpPr txBox="1"/>
          <p:nvPr/>
        </p:nvSpPr>
        <p:spPr>
          <a:xfrm>
            <a:off x="2333750" y="5144542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Lluvia real</a:t>
            </a:r>
          </a:p>
        </p:txBody>
      </p:sp>
      <p:sp>
        <p:nvSpPr>
          <p:cNvPr id="11" name="CuadroTexto 20">
            <a:extLst>
              <a:ext uri="{FF2B5EF4-FFF2-40B4-BE49-F238E27FC236}">
                <a16:creationId xmlns:a16="http://schemas.microsoft.com/office/drawing/2014/main" id="{4747AB0C-A8C7-E69E-E60E-39B9EE95BBB5}"/>
              </a:ext>
            </a:extLst>
          </p:cNvPr>
          <p:cNvSpPr txBox="1"/>
          <p:nvPr/>
        </p:nvSpPr>
        <p:spPr>
          <a:xfrm>
            <a:off x="4049750" y="5138196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Lluvia </a:t>
            </a:r>
            <a:r>
              <a:rPr lang="en-GB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estimada</a:t>
            </a:r>
            <a:endParaRPr lang="en-GB" sz="14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cxnSp>
        <p:nvCxnSpPr>
          <p:cNvPr id="15" name="Conector recto 17">
            <a:extLst>
              <a:ext uri="{FF2B5EF4-FFF2-40B4-BE49-F238E27FC236}">
                <a16:creationId xmlns:a16="http://schemas.microsoft.com/office/drawing/2014/main" id="{690A2A59-900B-3174-E25C-C74CA53E8F1B}"/>
              </a:ext>
            </a:extLst>
          </p:cNvPr>
          <p:cNvCxnSpPr>
            <a:cxnSpLocks/>
          </p:cNvCxnSpPr>
          <p:nvPr/>
        </p:nvCxnSpPr>
        <p:spPr>
          <a:xfrm>
            <a:off x="5448109" y="5300590"/>
            <a:ext cx="210283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CuadroTexto 20">
            <a:extLst>
              <a:ext uri="{FF2B5EF4-FFF2-40B4-BE49-F238E27FC236}">
                <a16:creationId xmlns:a16="http://schemas.microsoft.com/office/drawing/2014/main" id="{490C6BAA-6B4D-1960-424D-AF27D0130C1E}"/>
              </a:ext>
            </a:extLst>
          </p:cNvPr>
          <p:cNvSpPr txBox="1"/>
          <p:nvPr/>
        </p:nvSpPr>
        <p:spPr>
          <a:xfrm>
            <a:off x="5598928" y="5142883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Siembra</a:t>
            </a:r>
            <a:endParaRPr lang="en-GB" sz="14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cxnSp>
        <p:nvCxnSpPr>
          <p:cNvPr id="19" name="Conector recto 17">
            <a:extLst>
              <a:ext uri="{FF2B5EF4-FFF2-40B4-BE49-F238E27FC236}">
                <a16:creationId xmlns:a16="http://schemas.microsoft.com/office/drawing/2014/main" id="{E44C4943-812A-9550-F904-E5A1A522900B}"/>
              </a:ext>
            </a:extLst>
          </p:cNvPr>
          <p:cNvCxnSpPr>
            <a:cxnSpLocks/>
          </p:cNvCxnSpPr>
          <p:nvPr/>
        </p:nvCxnSpPr>
        <p:spPr>
          <a:xfrm>
            <a:off x="6402663" y="5291101"/>
            <a:ext cx="210283" cy="0"/>
          </a:xfrm>
          <a:prstGeom prst="straightConnector1">
            <a:avLst/>
          </a:prstGeom>
          <a:ln w="19050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CuadroTexto 20">
            <a:extLst>
              <a:ext uri="{FF2B5EF4-FFF2-40B4-BE49-F238E27FC236}">
                <a16:creationId xmlns:a16="http://schemas.microsoft.com/office/drawing/2014/main" id="{A2A0D901-7FE8-1A76-DA12-7680B6A866D3}"/>
              </a:ext>
            </a:extLst>
          </p:cNvPr>
          <p:cNvSpPr txBox="1"/>
          <p:nvPr/>
        </p:nvSpPr>
        <p:spPr>
          <a:xfrm>
            <a:off x="6553482" y="5133394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Floración</a:t>
            </a:r>
            <a:endParaRPr lang="en-GB" sz="14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97280" y="5577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39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7560"/>
                </a:solidFill>
                <a:latin typeface="72 Condensed"/>
              </a:rPr>
              <a:t>LOTES MOSTRADOS</a:t>
            </a:r>
          </a:p>
          <a:p>
            <a:r>
              <a:rPr sz="1700" b="1">
                <a:solidFill>
                  <a:srgbClr val="1F2E18"/>
                </a:solidFill>
                <a:latin typeface="72 Condensed"/>
              </a:rPr>
              <a:t>11</a:t>
            </a:r>
          </a:p>
          <a:p>
            <a:r>
              <a:rPr sz="800" b="0">
                <a:solidFill>
                  <a:srgbClr val="6B7560"/>
                </a:solidFill>
                <a:latin typeface="72 Condensed"/>
              </a:rPr>
              <a:t>con la misma estación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577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7560"/>
                </a:solidFill>
                <a:latin typeface="72 Condensed"/>
              </a:rPr>
              <a:t>LLUVIA EN EL CICLO</a:t>
            </a:r>
          </a:p>
          <a:p>
            <a:r>
              <a:rPr sz="1700" b="1">
                <a:solidFill>
                  <a:srgbClr val="1F2E18"/>
                </a:solidFill>
                <a:latin typeface="72 Condensed"/>
              </a:rPr>
              <a:t>1.587,0 mm</a:t>
            </a:r>
          </a:p>
          <a:p>
            <a:r>
              <a:rPr sz="800" b="0">
                <a:solidFill>
                  <a:srgbClr val="6B7560"/>
                </a:solidFill>
                <a:latin typeface="72 Condensed"/>
              </a:rPr>
              <a:t>desde la siembra a hoy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577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7560"/>
                </a:solidFill>
                <a:latin typeface="72 Condensed"/>
              </a:rPr>
              <a:t>LLUVIA EN FLORACIÓN</a:t>
            </a:r>
          </a:p>
          <a:p>
            <a:r>
              <a:rPr sz="1700" b="1">
                <a:solidFill>
                  <a:srgbClr val="1F2E18"/>
                </a:solidFill>
                <a:latin typeface="72 Condensed"/>
              </a:rPr>
              <a:t>208 – 316 mm</a:t>
            </a:r>
          </a:p>
          <a:p>
            <a:r>
              <a:rPr sz="800" b="0">
                <a:solidFill>
                  <a:srgbClr val="6B7560"/>
                </a:solidFill>
                <a:latin typeface="72 Condensed"/>
              </a:rPr>
              <a:t>meta 140 mm en 30 días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5577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7560"/>
                </a:solidFill>
                <a:latin typeface="72 Condensed"/>
              </a:rPr>
              <a:t>RACHA SECA MÁXIMA</a:t>
            </a:r>
          </a:p>
          <a:p>
            <a:r>
              <a:rPr sz="1700" b="1">
                <a:solidFill>
                  <a:srgbClr val="1F2E18"/>
                </a:solidFill>
                <a:latin typeface="72 Condensed"/>
              </a:rPr>
              <a:t>3 días</a:t>
            </a:r>
          </a:p>
          <a:p>
            <a:r>
              <a:rPr sz="800" b="0">
                <a:solidFill>
                  <a:srgbClr val="6B7560"/>
                </a:solidFill>
                <a:latin typeface="72 Condensed"/>
              </a:rPr>
              <a:t>en la ventana de floración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1">
            <a:extLst>
              <a:ext uri="{FF2B5EF4-FFF2-40B4-BE49-F238E27FC236}">
                <a16:creationId xmlns:a16="http://schemas.microsoft.com/office/drawing/2014/main" id="{0A539D16-4290-F9B4-C327-056B1AC8B29B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FORMACIONES</a:t>
            </a:r>
          </a:p>
        </p:txBody>
      </p:sp>
      <p:sp>
        <p:nvSpPr>
          <p:cNvPr id="3" name="TextBox 143">
            <a:extLst>
              <a:ext uri="{FF2B5EF4-FFF2-40B4-BE49-F238E27FC236}">
                <a16:creationId xmlns:a16="http://schemas.microsoft.com/office/drawing/2014/main" id="{8B583E48-6A76-A959-E8FF-F9D4C3308C1C}"/>
              </a:ext>
            </a:extLst>
          </p:cNvPr>
          <p:cNvSpPr txBox="1"/>
          <p:nvPr/>
        </p:nvSpPr>
        <p:spPr>
          <a:xfrm>
            <a:off x="297180" y="566928"/>
            <a:ext cx="59436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FORMACIONES EJECUTADAS EN EL CICLO</a:t>
            </a:r>
          </a:p>
        </p:txBody>
      </p:sp>
      <p:sp>
        <p:nvSpPr>
          <p:cNvPr id="4" name="TextBox 144">
            <a:extLst>
              <a:ext uri="{FF2B5EF4-FFF2-40B4-BE49-F238E27FC236}">
                <a16:creationId xmlns:a16="http://schemas.microsoft.com/office/drawing/2014/main" id="{A78D2BCB-669C-00A3-70E0-656E1CB24CFE}"/>
              </a:ext>
            </a:extLst>
          </p:cNvPr>
          <p:cNvSpPr txBox="1"/>
          <p:nvPr/>
        </p:nvSpPr>
        <p:spPr>
          <a:xfrm>
            <a:off x="297180" y="896112"/>
            <a:ext cx="59436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Tamaño del círculo = horas de formación · en orden cronológico</a:t>
            </a:r>
          </a:p>
        </p:txBody>
      </p:sp>
      <p:grpSp>
        <p:nvGrpSpPr>
          <p:cNvPr id="5" name="Grupo 45">
            <a:extLst>
              <a:ext uri="{FF2B5EF4-FFF2-40B4-BE49-F238E27FC236}">
                <a16:creationId xmlns:a16="http://schemas.microsoft.com/office/drawing/2014/main" id="{CC4BAA06-32C1-18DC-950D-880ADF473A1D}"/>
              </a:ext>
            </a:extLst>
          </p:cNvPr>
          <p:cNvGrpSpPr/>
          <p:nvPr/>
        </p:nvGrpSpPr>
        <p:grpSpPr>
          <a:xfrm>
            <a:off x="297180" y="2061633"/>
            <a:ext cx="5535713" cy="1835658"/>
            <a:chOff x="297180" y="2061633"/>
            <a:chExt cx="5535713" cy="1835658"/>
          </a:xfrm>
        </p:grpSpPr>
        <p:grpSp>
          <p:nvGrpSpPr>
            <p:cNvPr id="6" name="Grupo 10">
              <a:extLst>
                <a:ext uri="{FF2B5EF4-FFF2-40B4-BE49-F238E27FC236}">
                  <a16:creationId xmlns:a16="http://schemas.microsoft.com/office/drawing/2014/main" id="{EB6F0B59-5F69-D1ED-2989-30970A766F6F}"/>
                </a:ext>
              </a:extLst>
            </p:cNvPr>
            <p:cNvGrpSpPr/>
            <p:nvPr/>
          </p:nvGrpSpPr>
          <p:grpSpPr>
            <a:xfrm>
              <a:off x="297180" y="2061633"/>
              <a:ext cx="1417320" cy="274320"/>
              <a:chOff x="297180" y="2061633"/>
              <a:chExt cx="1417320" cy="274320"/>
            </a:xfrm>
          </p:grpSpPr>
          <p:sp>
            <p:nvSpPr>
              <p:cNvPr id="7" name="Oval 145">
                <a:extLst>
                  <a:ext uri="{FF2B5EF4-FFF2-40B4-BE49-F238E27FC236}">
                    <a16:creationId xmlns:a16="http://schemas.microsoft.com/office/drawing/2014/main" id="{9BBCEB91-8A87-C34B-AEE1-BC1073833946}"/>
                  </a:ext>
                </a:extLst>
              </p:cNvPr>
              <p:cNvSpPr/>
              <p:nvPr/>
            </p:nvSpPr>
            <p:spPr>
              <a:xfrm>
                <a:off x="297180" y="2116497"/>
                <a:ext cx="164592" cy="16459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8" name="TextBox 146">
                <a:extLst>
                  <a:ext uri="{FF2B5EF4-FFF2-40B4-BE49-F238E27FC236}">
                    <a16:creationId xmlns:a16="http://schemas.microsoft.com/office/drawing/2014/main" id="{74591A79-8DCB-8156-2326-31A979490509}"/>
                  </a:ext>
                </a:extLst>
              </p:cNvPr>
              <p:cNvSpPr txBox="1"/>
              <p:nvPr/>
            </p:nvSpPr>
            <p:spPr>
              <a:xfrm>
                <a:off x="525780" y="2061633"/>
                <a:ext cx="1188720" cy="27432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ctr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100" b="0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Técnicos</a:t>
                </a:r>
              </a:p>
            </p:txBody>
          </p:sp>
        </p:grpSp>
        <p:grpSp>
          <p:nvGrpSpPr>
            <p:cNvPr id="9" name="Grupo 15">
              <a:extLst>
                <a:ext uri="{FF2B5EF4-FFF2-40B4-BE49-F238E27FC236}">
                  <a16:creationId xmlns:a16="http://schemas.microsoft.com/office/drawing/2014/main" id="{80156F68-DE1F-467C-EA78-D67C179D2896}"/>
                </a:ext>
              </a:extLst>
            </p:cNvPr>
            <p:cNvGrpSpPr/>
            <p:nvPr/>
          </p:nvGrpSpPr>
          <p:grpSpPr>
            <a:xfrm>
              <a:off x="644652" y="2159931"/>
              <a:ext cx="5188241" cy="1737360"/>
              <a:chOff x="644652" y="2159931"/>
              <a:chExt cx="5188241" cy="1737360"/>
            </a:xfrm>
          </p:grpSpPr>
          <p:cxnSp>
            <p:nvCxnSpPr>
              <p:cNvPr id="10" name="Connector 149">
                <a:extLst>
                  <a:ext uri="{FF2B5EF4-FFF2-40B4-BE49-F238E27FC236}">
                    <a16:creationId xmlns:a16="http://schemas.microsoft.com/office/drawing/2014/main" id="{88D7ECF0-7AE0-E586-4B49-C07A4798F486}"/>
                  </a:ext>
                </a:extLst>
              </p:cNvPr>
              <p:cNvCxnSpPr>
                <a:endCxn id="21" idx="1"/>
              </p:cNvCxnSpPr>
              <p:nvPr/>
            </p:nvCxnSpPr>
            <p:spPr>
              <a:xfrm>
                <a:off x="1211580" y="3028611"/>
                <a:ext cx="4264478" cy="11431"/>
              </a:xfrm>
              <a:prstGeom prst="straightConnector1">
                <a:avLst/>
              </a:prstGeom>
              <a:noFill/>
              <a:ln w="25402" cap="flat">
                <a:solidFill>
                  <a:srgbClr val="A9B09C"/>
                </a:solidFill>
                <a:prstDash val="solid"/>
                <a:miter/>
              </a:ln>
            </p:spPr>
          </p:cxnSp>
          <p:sp>
            <p:nvSpPr>
              <p:cNvPr id="11" name="Oval 152">
                <a:extLst>
                  <a:ext uri="{FF2B5EF4-FFF2-40B4-BE49-F238E27FC236}">
                    <a16:creationId xmlns:a16="http://schemas.microsoft.com/office/drawing/2014/main" id="{26604307-FFC2-5C5B-E842-D1C001461B7A}"/>
                  </a:ext>
                </a:extLst>
              </p:cNvPr>
              <p:cNvSpPr/>
              <p:nvPr/>
            </p:nvSpPr>
            <p:spPr>
              <a:xfrm>
                <a:off x="827532" y="2644563"/>
                <a:ext cx="768096" cy="768096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35h</a:t>
                </a:r>
              </a:p>
            </p:txBody>
          </p:sp>
          <p:sp>
            <p:nvSpPr>
              <p:cNvPr id="12" name="TextBox 153">
                <a:extLst>
                  <a:ext uri="{FF2B5EF4-FFF2-40B4-BE49-F238E27FC236}">
                    <a16:creationId xmlns:a16="http://schemas.microsoft.com/office/drawing/2014/main" id="{7090DE7F-0D20-D163-E764-D6CB59C747AC}"/>
                  </a:ext>
                </a:extLst>
              </p:cNvPr>
              <p:cNvSpPr txBox="1"/>
              <p:nvPr/>
            </p:nvSpPr>
            <p:spPr>
              <a:xfrm>
                <a:off x="644652" y="215993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Inducción</a:t>
                </a:r>
              </a:p>
            </p:txBody>
          </p:sp>
          <p:sp>
            <p:nvSpPr>
              <p:cNvPr id="13" name="Oval 154">
                <a:extLst>
                  <a:ext uri="{FF2B5EF4-FFF2-40B4-BE49-F238E27FC236}">
                    <a16:creationId xmlns:a16="http://schemas.microsoft.com/office/drawing/2014/main" id="{C218FCD4-0690-DA7A-B972-FB1D2C2ADE5C}"/>
                  </a:ext>
                </a:extLst>
              </p:cNvPr>
              <p:cNvSpPr/>
              <p:nvPr/>
            </p:nvSpPr>
            <p:spPr>
              <a:xfrm>
                <a:off x="1727374" y="2786762"/>
                <a:ext cx="483699" cy="483699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5h</a:t>
                </a:r>
              </a:p>
            </p:txBody>
          </p:sp>
          <p:sp>
            <p:nvSpPr>
              <p:cNvPr id="14" name="TextBox 155">
                <a:extLst>
                  <a:ext uri="{FF2B5EF4-FFF2-40B4-BE49-F238E27FC236}">
                    <a16:creationId xmlns:a16="http://schemas.microsoft.com/office/drawing/2014/main" id="{B05FF8E4-8544-7E78-2AE3-76816B4D7ECA}"/>
                  </a:ext>
                </a:extLst>
              </p:cNvPr>
              <p:cNvSpPr txBox="1"/>
              <p:nvPr/>
            </p:nvSpPr>
            <p:spPr>
              <a:xfrm>
                <a:off x="1402296" y="344009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Procesos</a:t>
                </a:r>
              </a:p>
            </p:txBody>
          </p:sp>
          <p:sp>
            <p:nvSpPr>
              <p:cNvPr id="15" name="Oval 156">
                <a:extLst>
                  <a:ext uri="{FF2B5EF4-FFF2-40B4-BE49-F238E27FC236}">
                    <a16:creationId xmlns:a16="http://schemas.microsoft.com/office/drawing/2014/main" id="{C43942E2-5CA7-3CD7-EEF6-13004BE6D4D9}"/>
                  </a:ext>
                </a:extLst>
              </p:cNvPr>
              <p:cNvSpPr/>
              <p:nvPr/>
            </p:nvSpPr>
            <p:spPr>
              <a:xfrm>
                <a:off x="2462131" y="2763874"/>
                <a:ext cx="529483" cy="529483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8h</a:t>
                </a:r>
              </a:p>
            </p:txBody>
          </p:sp>
          <p:sp>
            <p:nvSpPr>
              <p:cNvPr id="16" name="TextBox 157">
                <a:extLst>
                  <a:ext uri="{FF2B5EF4-FFF2-40B4-BE49-F238E27FC236}">
                    <a16:creationId xmlns:a16="http://schemas.microsoft.com/office/drawing/2014/main" id="{A05DA837-7409-3B0E-99D9-DA8F3A9EA9CD}"/>
                  </a:ext>
                </a:extLst>
              </p:cNvPr>
              <p:cNvSpPr txBox="1"/>
              <p:nvPr/>
            </p:nvSpPr>
            <p:spPr>
              <a:xfrm>
                <a:off x="2159940" y="215993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Procesos</a:t>
                </a:r>
              </a:p>
            </p:txBody>
          </p:sp>
          <p:sp>
            <p:nvSpPr>
              <p:cNvPr id="17" name="Oval 158">
                <a:extLst>
                  <a:ext uri="{FF2B5EF4-FFF2-40B4-BE49-F238E27FC236}">
                    <a16:creationId xmlns:a16="http://schemas.microsoft.com/office/drawing/2014/main" id="{8E8F672D-5D50-0C81-4639-187E365F33A0}"/>
                  </a:ext>
                </a:extLst>
              </p:cNvPr>
              <p:cNvSpPr/>
              <p:nvPr/>
            </p:nvSpPr>
            <p:spPr>
              <a:xfrm>
                <a:off x="3274420" y="2818519"/>
                <a:ext cx="420185" cy="420185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2h</a:t>
                </a:r>
              </a:p>
            </p:txBody>
          </p:sp>
          <p:sp>
            <p:nvSpPr>
              <p:cNvPr id="18" name="TextBox 159">
                <a:extLst>
                  <a:ext uri="{FF2B5EF4-FFF2-40B4-BE49-F238E27FC236}">
                    <a16:creationId xmlns:a16="http://schemas.microsoft.com/office/drawing/2014/main" id="{D15D83FB-8CFE-F06F-BFC8-E3E93652E22D}"/>
                  </a:ext>
                </a:extLst>
              </p:cNvPr>
              <p:cNvSpPr txBox="1"/>
              <p:nvPr/>
            </p:nvSpPr>
            <p:spPr>
              <a:xfrm>
                <a:off x="2917585" y="344009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Liderazgo</a:t>
                </a:r>
              </a:p>
            </p:txBody>
          </p:sp>
          <p:sp>
            <p:nvSpPr>
              <p:cNvPr id="19" name="Oval 160">
                <a:extLst>
                  <a:ext uri="{FF2B5EF4-FFF2-40B4-BE49-F238E27FC236}">
                    <a16:creationId xmlns:a16="http://schemas.microsoft.com/office/drawing/2014/main" id="{279D4FD4-4686-D9B3-DF17-D9FCAF323D16}"/>
                  </a:ext>
                </a:extLst>
              </p:cNvPr>
              <p:cNvSpPr/>
              <p:nvPr/>
            </p:nvSpPr>
            <p:spPr>
              <a:xfrm>
                <a:off x="3977420" y="2763874"/>
                <a:ext cx="529483" cy="529483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8h</a:t>
                </a:r>
              </a:p>
            </p:txBody>
          </p:sp>
          <p:sp>
            <p:nvSpPr>
              <p:cNvPr id="20" name="TextBox 161">
                <a:extLst>
                  <a:ext uri="{FF2B5EF4-FFF2-40B4-BE49-F238E27FC236}">
                    <a16:creationId xmlns:a16="http://schemas.microsoft.com/office/drawing/2014/main" id="{25E77080-0582-A556-9073-4E5C01F9BB3D}"/>
                  </a:ext>
                </a:extLst>
              </p:cNvPr>
              <p:cNvSpPr txBox="1"/>
              <p:nvPr/>
            </p:nvSpPr>
            <p:spPr>
              <a:xfrm>
                <a:off x="3675229" y="215993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Refuerzo agronómico</a:t>
                </a:r>
              </a:p>
            </p:txBody>
          </p:sp>
          <p:sp>
            <p:nvSpPr>
              <p:cNvPr id="21" name="Oval 164">
                <a:extLst>
                  <a:ext uri="{FF2B5EF4-FFF2-40B4-BE49-F238E27FC236}">
                    <a16:creationId xmlns:a16="http://schemas.microsoft.com/office/drawing/2014/main" id="{0B01BA06-35A5-7226-7589-3753BAFC331B}"/>
                  </a:ext>
                </a:extLst>
              </p:cNvPr>
              <p:cNvSpPr/>
              <p:nvPr/>
            </p:nvSpPr>
            <p:spPr>
              <a:xfrm>
                <a:off x="5055873" y="2829949"/>
                <a:ext cx="420185" cy="420185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2h</a:t>
                </a:r>
              </a:p>
            </p:txBody>
          </p:sp>
          <p:sp>
            <p:nvSpPr>
              <p:cNvPr id="22" name="TextBox 165">
                <a:extLst>
                  <a:ext uri="{FF2B5EF4-FFF2-40B4-BE49-F238E27FC236}">
                    <a16:creationId xmlns:a16="http://schemas.microsoft.com/office/drawing/2014/main" id="{2D79C7BB-9CCF-91F1-4C1F-CB67B76DF310}"/>
                  </a:ext>
                </a:extLst>
              </p:cNvPr>
              <p:cNvSpPr txBox="1"/>
              <p:nvPr/>
            </p:nvSpPr>
            <p:spPr>
              <a:xfrm>
                <a:off x="4699037" y="217136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Procesos</a:t>
                </a:r>
              </a:p>
            </p:txBody>
          </p:sp>
        </p:grpSp>
      </p:grpSp>
      <p:grpSp>
        <p:nvGrpSpPr>
          <p:cNvPr id="23" name="Grupo 44">
            <a:extLst>
              <a:ext uri="{FF2B5EF4-FFF2-40B4-BE49-F238E27FC236}">
                <a16:creationId xmlns:a16="http://schemas.microsoft.com/office/drawing/2014/main" id="{1CF2998E-4455-80C7-CDAD-8F53610B794A}"/>
              </a:ext>
            </a:extLst>
          </p:cNvPr>
          <p:cNvGrpSpPr/>
          <p:nvPr/>
        </p:nvGrpSpPr>
        <p:grpSpPr>
          <a:xfrm>
            <a:off x="6244803" y="836611"/>
            <a:ext cx="5825277" cy="3046378"/>
            <a:chOff x="6244803" y="836611"/>
            <a:chExt cx="5825277" cy="3046378"/>
          </a:xfrm>
        </p:grpSpPr>
        <p:pic>
          <p:nvPicPr>
            <p:cNvPr id="24" name="WhatsApp Video 2026-08-14 at 8.49.35 AM">
              <a:extLst>
                <a:ext uri="{FF2B5EF4-FFF2-40B4-BE49-F238E27FC236}">
                  <a16:creationId xmlns:a16="http://schemas.microsoft.com/office/drawing/2014/main" id="{48BFDF32-079C-AEF5-82FC-125C0FFB06E7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6"/>
            <a:stretch>
              <a:fillRect/>
            </a:stretch>
          </p:blipFill>
          <p:spPr>
            <a:xfrm>
              <a:off x="6244803" y="836611"/>
              <a:ext cx="1713585" cy="3046378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5" name="Imagen 40">
              <a:extLst>
                <a:ext uri="{FF2B5EF4-FFF2-40B4-BE49-F238E27FC236}">
                  <a16:creationId xmlns:a16="http://schemas.microsoft.com/office/drawing/2014/main" id="{A77F5545-0E8D-C663-73E3-FD8EE8A13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151" t="34567" r="14047"/>
            <a:stretch>
              <a:fillRect/>
            </a:stretch>
          </p:blipFill>
          <p:spPr>
            <a:xfrm>
              <a:off x="8074773" y="848398"/>
              <a:ext cx="2099910" cy="141550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6" name="Imagen 41">
              <a:extLst>
                <a:ext uri="{FF2B5EF4-FFF2-40B4-BE49-F238E27FC236}">
                  <a16:creationId xmlns:a16="http://schemas.microsoft.com/office/drawing/2014/main" id="{6F92A5BD-7FC6-5C3D-7B06-1C120307B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1129" t="10564" r="14047"/>
            <a:stretch>
              <a:fillRect/>
            </a:stretch>
          </p:blipFill>
          <p:spPr>
            <a:xfrm>
              <a:off x="8062292" y="2412470"/>
              <a:ext cx="2097487" cy="1452652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27" name="Grupo 43">
              <a:extLst>
                <a:ext uri="{FF2B5EF4-FFF2-40B4-BE49-F238E27FC236}">
                  <a16:creationId xmlns:a16="http://schemas.microsoft.com/office/drawing/2014/main" id="{E386AB49-4F3B-F8D8-040C-117E1B15BF2E}"/>
                </a:ext>
              </a:extLst>
            </p:cNvPr>
            <p:cNvGrpSpPr/>
            <p:nvPr/>
          </p:nvGrpSpPr>
          <p:grpSpPr>
            <a:xfrm>
              <a:off x="10287000" y="845820"/>
              <a:ext cx="1783080" cy="2990088"/>
              <a:chOff x="10287000" y="845820"/>
              <a:chExt cx="1783080" cy="2990088"/>
            </a:xfrm>
          </p:grpSpPr>
          <p:sp>
            <p:nvSpPr>
              <p:cNvPr id="28" name="Rounded Rectangle 168">
                <a:extLst>
                  <a:ext uri="{FF2B5EF4-FFF2-40B4-BE49-F238E27FC236}">
                    <a16:creationId xmlns:a16="http://schemas.microsoft.com/office/drawing/2014/main" id="{4160C821-A0FD-679D-56FD-570EBAD3CBE9}"/>
                  </a:ext>
                </a:extLst>
              </p:cNvPr>
              <p:cNvSpPr/>
              <p:nvPr/>
            </p:nvSpPr>
            <p:spPr>
              <a:xfrm>
                <a:off x="10287000" y="845820"/>
                <a:ext cx="1783080" cy="2990088"/>
              </a:xfrm>
              <a:custGeom>
                <a:avLst>
                  <a:gd name="f0" fmla="val 1728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C9962E"/>
              </a:solidFill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29" name="TextBox 169">
                <a:extLst>
                  <a:ext uri="{FF2B5EF4-FFF2-40B4-BE49-F238E27FC236}">
                    <a16:creationId xmlns:a16="http://schemas.microsoft.com/office/drawing/2014/main" id="{CA38CB4F-CE01-B44B-E379-38FCAF6EA500}"/>
                  </a:ext>
                </a:extLst>
              </p:cNvPr>
              <p:cNvSpPr txBox="1"/>
              <p:nvPr/>
            </p:nvSpPr>
            <p:spPr>
              <a:xfrm>
                <a:off x="10424160" y="1028700"/>
                <a:ext cx="1508760" cy="173736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s-ES" sz="13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ROBUSTECIMOS LAS CAPACIDADES TÉCNICAS, DE PROCESOS Y DE LIDERAZGO</a:t>
                </a:r>
              </a:p>
            </p:txBody>
          </p:sp>
          <p:sp>
            <p:nvSpPr>
              <p:cNvPr id="30" name="TextBox 170">
                <a:extLst>
                  <a:ext uri="{FF2B5EF4-FFF2-40B4-BE49-F238E27FC236}">
                    <a16:creationId xmlns:a16="http://schemas.microsoft.com/office/drawing/2014/main" id="{A4C3B7BE-BA53-53D3-40D4-7EABAC738DF7}"/>
                  </a:ext>
                </a:extLst>
              </p:cNvPr>
              <p:cNvSpPr txBox="1"/>
              <p:nvPr/>
            </p:nvSpPr>
            <p:spPr>
              <a:xfrm>
                <a:off x="10424160" y="2720339"/>
                <a:ext cx="1508760" cy="100584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s-ES" sz="1000" b="0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Cápsulas online + formaciones presenciales con fechas definidas</a:t>
                </a:r>
              </a:p>
            </p:txBody>
          </p:sp>
        </p:grpSp>
      </p:grpSp>
      <p:cxnSp>
        <p:nvCxnSpPr>
          <p:cNvPr id="31" name="Connector 149">
            <a:extLst>
              <a:ext uri="{FF2B5EF4-FFF2-40B4-BE49-F238E27FC236}">
                <a16:creationId xmlns:a16="http://schemas.microsoft.com/office/drawing/2014/main" id="{8C5BF022-922A-FB37-E37A-A04BE7A76B32}"/>
              </a:ext>
            </a:extLst>
          </p:cNvPr>
          <p:cNvCxnSpPr>
            <a:stCxn id="36" idx="3"/>
          </p:cNvCxnSpPr>
          <p:nvPr/>
        </p:nvCxnSpPr>
        <p:spPr>
          <a:xfrm>
            <a:off x="1148010" y="5720765"/>
            <a:ext cx="2735794" cy="21548"/>
          </a:xfrm>
          <a:prstGeom prst="straightConnector1">
            <a:avLst/>
          </a:prstGeom>
          <a:noFill/>
          <a:ln w="25402" cap="flat">
            <a:solidFill>
              <a:srgbClr val="A9B09C"/>
            </a:solidFill>
            <a:prstDash val="solid"/>
            <a:miter/>
          </a:ln>
        </p:spPr>
      </p:cxnSp>
      <p:grpSp>
        <p:nvGrpSpPr>
          <p:cNvPr id="32" name="Grupo 13">
            <a:extLst>
              <a:ext uri="{FF2B5EF4-FFF2-40B4-BE49-F238E27FC236}">
                <a16:creationId xmlns:a16="http://schemas.microsoft.com/office/drawing/2014/main" id="{A9E754CC-8E54-30FC-99C7-E5140E94AF78}"/>
              </a:ext>
            </a:extLst>
          </p:cNvPr>
          <p:cNvGrpSpPr/>
          <p:nvPr/>
        </p:nvGrpSpPr>
        <p:grpSpPr>
          <a:xfrm>
            <a:off x="297180" y="4685641"/>
            <a:ext cx="3154680" cy="274320"/>
            <a:chOff x="297180" y="4685641"/>
            <a:chExt cx="3154680" cy="274320"/>
          </a:xfrm>
        </p:grpSpPr>
        <p:sp>
          <p:nvSpPr>
            <p:cNvPr id="33" name="Oval 147">
              <a:extLst>
                <a:ext uri="{FF2B5EF4-FFF2-40B4-BE49-F238E27FC236}">
                  <a16:creationId xmlns:a16="http://schemas.microsoft.com/office/drawing/2014/main" id="{45436E03-1166-BCB6-DBD9-9D55791D863B}"/>
                </a:ext>
              </a:extLst>
            </p:cNvPr>
            <p:cNvSpPr/>
            <p:nvPr/>
          </p:nvSpPr>
          <p:spPr>
            <a:xfrm>
              <a:off x="297180" y="4740505"/>
              <a:ext cx="164592" cy="164592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C9962E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4" name="TextBox 148">
              <a:extLst>
                <a:ext uri="{FF2B5EF4-FFF2-40B4-BE49-F238E27FC236}">
                  <a16:creationId xmlns:a16="http://schemas.microsoft.com/office/drawing/2014/main" id="{2711E10E-3342-2D69-AA17-3B7AFC02E9E7}"/>
                </a:ext>
              </a:extLst>
            </p:cNvPr>
            <p:cNvSpPr txBox="1"/>
            <p:nvPr/>
          </p:nvSpPr>
          <p:spPr>
            <a:xfrm>
              <a:off x="525780" y="4685641"/>
              <a:ext cx="2926080" cy="2743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100" b="0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Operadores de finca</a:t>
              </a:r>
            </a:p>
          </p:txBody>
        </p:sp>
      </p:grpSp>
      <p:grpSp>
        <p:nvGrpSpPr>
          <p:cNvPr id="35" name="Grupo 16">
            <a:extLst>
              <a:ext uri="{FF2B5EF4-FFF2-40B4-BE49-F238E27FC236}">
                <a16:creationId xmlns:a16="http://schemas.microsoft.com/office/drawing/2014/main" id="{3E568BC8-DD5C-62EB-EB7D-639A5D76B333}"/>
              </a:ext>
            </a:extLst>
          </p:cNvPr>
          <p:cNvGrpSpPr/>
          <p:nvPr/>
        </p:nvGrpSpPr>
        <p:grpSpPr>
          <a:xfrm>
            <a:off x="845820" y="4852089"/>
            <a:ext cx="3406789" cy="1737360"/>
            <a:chOff x="845820" y="4852089"/>
            <a:chExt cx="3406789" cy="1737360"/>
          </a:xfrm>
        </p:grpSpPr>
        <p:sp>
          <p:nvSpPr>
            <p:cNvPr id="36" name="Oval 160">
              <a:extLst>
                <a:ext uri="{FF2B5EF4-FFF2-40B4-BE49-F238E27FC236}">
                  <a16:creationId xmlns:a16="http://schemas.microsoft.com/office/drawing/2014/main" id="{7D78A2A6-47BA-C3A6-3881-ED5C44D86968}"/>
                </a:ext>
              </a:extLst>
            </p:cNvPr>
            <p:cNvSpPr/>
            <p:nvPr/>
          </p:nvSpPr>
          <p:spPr>
            <a:xfrm>
              <a:off x="1148010" y="5456023"/>
              <a:ext cx="529483" cy="5294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4C6A35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8h</a:t>
              </a:r>
            </a:p>
          </p:txBody>
        </p:sp>
        <p:sp>
          <p:nvSpPr>
            <p:cNvPr id="37" name="TextBox 161">
              <a:extLst>
                <a:ext uri="{FF2B5EF4-FFF2-40B4-BE49-F238E27FC236}">
                  <a16:creationId xmlns:a16="http://schemas.microsoft.com/office/drawing/2014/main" id="{E943F008-00CD-14A0-CA0A-AAA2367431C0}"/>
                </a:ext>
              </a:extLst>
            </p:cNvPr>
            <p:cNvSpPr txBox="1"/>
            <p:nvPr/>
          </p:nvSpPr>
          <p:spPr>
            <a:xfrm>
              <a:off x="845820" y="485208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Refuerzo agronómico</a:t>
              </a:r>
            </a:p>
          </p:txBody>
        </p:sp>
        <p:sp>
          <p:nvSpPr>
            <p:cNvPr id="38" name="Oval 162">
              <a:extLst>
                <a:ext uri="{FF2B5EF4-FFF2-40B4-BE49-F238E27FC236}">
                  <a16:creationId xmlns:a16="http://schemas.microsoft.com/office/drawing/2014/main" id="{B9F87959-3043-F42A-6802-BF64B5AC2853}"/>
                </a:ext>
              </a:extLst>
            </p:cNvPr>
            <p:cNvSpPr/>
            <p:nvPr/>
          </p:nvSpPr>
          <p:spPr>
            <a:xfrm>
              <a:off x="1905655" y="5456023"/>
              <a:ext cx="529483" cy="5294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C9962E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8h</a:t>
              </a:r>
            </a:p>
          </p:txBody>
        </p:sp>
        <p:sp>
          <p:nvSpPr>
            <p:cNvPr id="39" name="TextBox 163">
              <a:extLst>
                <a:ext uri="{FF2B5EF4-FFF2-40B4-BE49-F238E27FC236}">
                  <a16:creationId xmlns:a16="http://schemas.microsoft.com/office/drawing/2014/main" id="{7C37703A-7BEC-DBDE-B2A2-DB76619A4C0E}"/>
                </a:ext>
              </a:extLst>
            </p:cNvPr>
            <p:cNvSpPr txBox="1"/>
            <p:nvPr/>
          </p:nvSpPr>
          <p:spPr>
            <a:xfrm>
              <a:off x="1603464" y="613224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Calibración de sembradoras</a:t>
              </a:r>
            </a:p>
          </p:txBody>
        </p:sp>
        <p:sp>
          <p:nvSpPr>
            <p:cNvPr id="40" name="Oval 164">
              <a:extLst>
                <a:ext uri="{FF2B5EF4-FFF2-40B4-BE49-F238E27FC236}">
                  <a16:creationId xmlns:a16="http://schemas.microsoft.com/office/drawing/2014/main" id="{C2D5D4A6-680C-DBB1-405E-8552E17A8DC6}"/>
                </a:ext>
              </a:extLst>
            </p:cNvPr>
            <p:cNvSpPr/>
            <p:nvPr/>
          </p:nvSpPr>
          <p:spPr>
            <a:xfrm>
              <a:off x="2717944" y="5510668"/>
              <a:ext cx="420185" cy="420185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4C6A35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2h</a:t>
              </a:r>
            </a:p>
          </p:txBody>
        </p:sp>
        <p:sp>
          <p:nvSpPr>
            <p:cNvPr id="41" name="TextBox 165">
              <a:extLst>
                <a:ext uri="{FF2B5EF4-FFF2-40B4-BE49-F238E27FC236}">
                  <a16:creationId xmlns:a16="http://schemas.microsoft.com/office/drawing/2014/main" id="{438B5117-57D7-1CD5-80C5-13C59A30D3D6}"/>
                </a:ext>
              </a:extLst>
            </p:cNvPr>
            <p:cNvSpPr txBox="1"/>
            <p:nvPr/>
          </p:nvSpPr>
          <p:spPr>
            <a:xfrm>
              <a:off x="2361108" y="485208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Procesos</a:t>
              </a:r>
            </a:p>
          </p:txBody>
        </p:sp>
        <p:sp>
          <p:nvSpPr>
            <p:cNvPr id="42" name="TextBox 167">
              <a:extLst>
                <a:ext uri="{FF2B5EF4-FFF2-40B4-BE49-F238E27FC236}">
                  <a16:creationId xmlns:a16="http://schemas.microsoft.com/office/drawing/2014/main" id="{C0B50115-C4BB-9A6B-6780-C7DF2A8FC835}"/>
                </a:ext>
              </a:extLst>
            </p:cNvPr>
            <p:cNvSpPr txBox="1"/>
            <p:nvPr/>
          </p:nvSpPr>
          <p:spPr>
            <a:xfrm>
              <a:off x="3118753" y="613224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Calibración de cosechadoras</a:t>
              </a:r>
            </a:p>
          </p:txBody>
        </p:sp>
        <p:sp>
          <p:nvSpPr>
            <p:cNvPr id="43" name="Oval 166">
              <a:extLst>
                <a:ext uri="{FF2B5EF4-FFF2-40B4-BE49-F238E27FC236}">
                  <a16:creationId xmlns:a16="http://schemas.microsoft.com/office/drawing/2014/main" id="{B960E4CE-B282-247E-9740-813238667C65}"/>
                </a:ext>
              </a:extLst>
            </p:cNvPr>
            <p:cNvSpPr/>
            <p:nvPr/>
          </p:nvSpPr>
          <p:spPr>
            <a:xfrm>
              <a:off x="3420944" y="5456023"/>
              <a:ext cx="529483" cy="5294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C9962E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8h</a:t>
              </a:r>
            </a:p>
          </p:txBody>
        </p:sp>
      </p:grpSp>
      <p:grpSp>
        <p:nvGrpSpPr>
          <p:cNvPr id="44" name="Grupo 55">
            <a:extLst>
              <a:ext uri="{FF2B5EF4-FFF2-40B4-BE49-F238E27FC236}">
                <a16:creationId xmlns:a16="http://schemas.microsoft.com/office/drawing/2014/main" id="{F32C089F-1BA7-19E5-3E22-000EB631A80B}"/>
              </a:ext>
            </a:extLst>
          </p:cNvPr>
          <p:cNvGrpSpPr/>
          <p:nvPr/>
        </p:nvGrpSpPr>
        <p:grpSpPr>
          <a:xfrm>
            <a:off x="307485" y="1172964"/>
            <a:ext cx="5499137" cy="851653"/>
            <a:chOff x="307485" y="1172964"/>
            <a:chExt cx="5499137" cy="851653"/>
          </a:xfrm>
        </p:grpSpPr>
        <p:sp>
          <p:nvSpPr>
            <p:cNvPr id="45" name="Rounded Rectangle 168">
              <a:extLst>
                <a:ext uri="{FF2B5EF4-FFF2-40B4-BE49-F238E27FC236}">
                  <a16:creationId xmlns:a16="http://schemas.microsoft.com/office/drawing/2014/main" id="{A50A3A84-EED1-FF77-2778-5DF25FFB4665}"/>
                </a:ext>
              </a:extLst>
            </p:cNvPr>
            <p:cNvSpPr/>
            <p:nvPr/>
          </p:nvSpPr>
          <p:spPr>
            <a:xfrm>
              <a:off x="307485" y="1172964"/>
              <a:ext cx="5499137" cy="851653"/>
            </a:xfrm>
            <a:custGeom>
              <a:avLst>
                <a:gd name="f0" fmla="val 1728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BFD5A9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46" name="TextBox 169">
              <a:extLst>
                <a:ext uri="{FF2B5EF4-FFF2-40B4-BE49-F238E27FC236}">
                  <a16:creationId xmlns:a16="http://schemas.microsoft.com/office/drawing/2014/main" id="{CBE469D3-5A70-A9C7-2F0C-BCBCA33CD722}"/>
                </a:ext>
              </a:extLst>
            </p:cNvPr>
            <p:cNvSpPr txBox="1"/>
            <p:nvPr/>
          </p:nvSpPr>
          <p:spPr>
            <a:xfrm>
              <a:off x="412641" y="1290520"/>
              <a:ext cx="5393981" cy="20005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3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FORMAMOS A TU TÉCNICO PARA BRINDARTE LA MEJOR ASESORÍA</a:t>
              </a:r>
            </a:p>
          </p:txBody>
        </p:sp>
        <p:sp>
          <p:nvSpPr>
            <p:cNvPr id="47" name="TextBox 170">
              <a:extLst>
                <a:ext uri="{FF2B5EF4-FFF2-40B4-BE49-F238E27FC236}">
                  <a16:creationId xmlns:a16="http://schemas.microsoft.com/office/drawing/2014/main" id="{FF7F6A30-C93B-BB4A-86E5-66DE515CA8F5}"/>
                </a:ext>
              </a:extLst>
            </p:cNvPr>
            <p:cNvSpPr txBox="1"/>
            <p:nvPr/>
          </p:nvSpPr>
          <p:spPr>
            <a:xfrm>
              <a:off x="434193" y="1510415"/>
              <a:ext cx="3733540" cy="31515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just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000" b="0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Empleamos 60 horas de formación para poderte acompañar en cada uno de los incidentes a lo largo del ciclo</a:t>
              </a:r>
            </a:p>
          </p:txBody>
        </p:sp>
      </p:grpSp>
      <p:grpSp>
        <p:nvGrpSpPr>
          <p:cNvPr id="48" name="Grupo 56">
            <a:extLst>
              <a:ext uri="{FF2B5EF4-FFF2-40B4-BE49-F238E27FC236}">
                <a16:creationId xmlns:a16="http://schemas.microsoft.com/office/drawing/2014/main" id="{50358644-D167-2D3E-D62B-AE7607B59123}"/>
              </a:ext>
            </a:extLst>
          </p:cNvPr>
          <p:cNvGrpSpPr/>
          <p:nvPr/>
        </p:nvGrpSpPr>
        <p:grpSpPr>
          <a:xfrm>
            <a:off x="307485" y="3646124"/>
            <a:ext cx="5499137" cy="851653"/>
            <a:chOff x="307485" y="3646124"/>
            <a:chExt cx="5499137" cy="851653"/>
          </a:xfrm>
        </p:grpSpPr>
        <p:sp>
          <p:nvSpPr>
            <p:cNvPr id="49" name="Rounded Rectangle 168">
              <a:extLst>
                <a:ext uri="{FF2B5EF4-FFF2-40B4-BE49-F238E27FC236}">
                  <a16:creationId xmlns:a16="http://schemas.microsoft.com/office/drawing/2014/main" id="{4F1248B1-FDE4-2B1B-9604-EDCE7DA23838}"/>
                </a:ext>
              </a:extLst>
            </p:cNvPr>
            <p:cNvSpPr/>
            <p:nvPr/>
          </p:nvSpPr>
          <p:spPr>
            <a:xfrm>
              <a:off x="307485" y="3646124"/>
              <a:ext cx="5499137" cy="851653"/>
            </a:xfrm>
            <a:custGeom>
              <a:avLst>
                <a:gd name="f0" fmla="val 1728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5EAD4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50" name="TextBox 169">
              <a:extLst>
                <a:ext uri="{FF2B5EF4-FFF2-40B4-BE49-F238E27FC236}">
                  <a16:creationId xmlns:a16="http://schemas.microsoft.com/office/drawing/2014/main" id="{F1A315E3-C80C-543F-5D17-50EABFD4192E}"/>
                </a:ext>
              </a:extLst>
            </p:cNvPr>
            <p:cNvSpPr txBox="1"/>
            <p:nvPr/>
          </p:nvSpPr>
          <p:spPr>
            <a:xfrm>
              <a:off x="412641" y="3763679"/>
              <a:ext cx="5393981" cy="20005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3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HABILITAMOS ESPACIOS DE FORMACIÓN PARA TU OPERADOR</a:t>
              </a:r>
            </a:p>
          </p:txBody>
        </p:sp>
        <p:sp>
          <p:nvSpPr>
            <p:cNvPr id="51" name="TextBox 170">
              <a:extLst>
                <a:ext uri="{FF2B5EF4-FFF2-40B4-BE49-F238E27FC236}">
                  <a16:creationId xmlns:a16="http://schemas.microsoft.com/office/drawing/2014/main" id="{A16B5F19-5954-823B-8C31-56A0E037B947}"/>
                </a:ext>
              </a:extLst>
            </p:cNvPr>
            <p:cNvSpPr txBox="1"/>
            <p:nvPr/>
          </p:nvSpPr>
          <p:spPr>
            <a:xfrm>
              <a:off x="434193" y="3990962"/>
              <a:ext cx="3818415" cy="3077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just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000" b="0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Empleamos 16 horas de formación a tus operadores para brindarles el conocimiento de mejores prácticas con tu equipo</a:t>
              </a:r>
            </a:p>
          </p:txBody>
        </p:sp>
      </p:grpSp>
      <p:grpSp>
        <p:nvGrpSpPr>
          <p:cNvPr id="52" name="Grupo 91">
            <a:extLst>
              <a:ext uri="{FF2B5EF4-FFF2-40B4-BE49-F238E27FC236}">
                <a16:creationId xmlns:a16="http://schemas.microsoft.com/office/drawing/2014/main" id="{61F73AC6-3D4E-047F-8C0C-2CF293D3627D}"/>
              </a:ext>
            </a:extLst>
          </p:cNvPr>
          <p:cNvGrpSpPr/>
          <p:nvPr/>
        </p:nvGrpSpPr>
        <p:grpSpPr>
          <a:xfrm>
            <a:off x="6596426" y="4143429"/>
            <a:ext cx="5029200" cy="2331720"/>
            <a:chOff x="6596426" y="4143429"/>
            <a:chExt cx="5029200" cy="2331720"/>
          </a:xfrm>
        </p:grpSpPr>
        <p:sp>
          <p:nvSpPr>
            <p:cNvPr id="53" name="TextBox 125">
              <a:extLst>
                <a:ext uri="{FF2B5EF4-FFF2-40B4-BE49-F238E27FC236}">
                  <a16:creationId xmlns:a16="http://schemas.microsoft.com/office/drawing/2014/main" id="{79967E13-212C-2BEA-D815-AFBC54CE5F58}"/>
                </a:ext>
              </a:extLst>
            </p:cNvPr>
            <p:cNvSpPr txBox="1"/>
            <p:nvPr/>
          </p:nvSpPr>
          <p:spPr>
            <a:xfrm>
              <a:off x="6596426" y="4143429"/>
              <a:ext cx="2103120" cy="9144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60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100%</a:t>
              </a:r>
            </a:p>
          </p:txBody>
        </p:sp>
        <p:sp>
          <p:nvSpPr>
            <p:cNvPr id="54" name="TextBox 126">
              <a:extLst>
                <a:ext uri="{FF2B5EF4-FFF2-40B4-BE49-F238E27FC236}">
                  <a16:creationId xmlns:a16="http://schemas.microsoft.com/office/drawing/2014/main" id="{A446D567-AE48-B054-5BDF-C3D783CEA414}"/>
                </a:ext>
              </a:extLst>
            </p:cNvPr>
            <p:cNvSpPr txBox="1"/>
            <p:nvPr/>
          </p:nvSpPr>
          <p:spPr>
            <a:xfrm>
              <a:off x="8379506" y="4382060"/>
              <a:ext cx="2926080" cy="44627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700" b="1" i="0" u="none" strike="noStrike" kern="1200" cap="none" spc="0" baseline="0">
                  <a:solidFill>
                    <a:srgbClr val="000000"/>
                  </a:solidFill>
                  <a:uFillTx/>
                  <a:latin typeface="72 Condensed"/>
                </a:rPr>
                <a:t>del pensum ejecutado</a:t>
              </a: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0" i="0" u="none" strike="noStrike" kern="1200" cap="none" spc="0" baseline="0">
                  <a:solidFill>
                    <a:srgbClr val="000000"/>
                  </a:solidFill>
                  <a:uFillTx/>
                  <a:latin typeface="72 Condensed"/>
                </a:rPr>
                <a:t>Acumulado a agosto 2026</a:t>
              </a:r>
            </a:p>
          </p:txBody>
        </p:sp>
        <p:sp>
          <p:nvSpPr>
            <p:cNvPr id="55" name="Rounded Rectangle 127">
              <a:extLst>
                <a:ext uri="{FF2B5EF4-FFF2-40B4-BE49-F238E27FC236}">
                  <a16:creationId xmlns:a16="http://schemas.microsoft.com/office/drawing/2014/main" id="{5630B316-F048-3571-3772-FF513F6BD589}"/>
                </a:ext>
              </a:extLst>
            </p:cNvPr>
            <p:cNvSpPr/>
            <p:nvPr/>
          </p:nvSpPr>
          <p:spPr>
            <a:xfrm>
              <a:off x="659642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56" name="TextBox 128">
              <a:extLst>
                <a:ext uri="{FF2B5EF4-FFF2-40B4-BE49-F238E27FC236}">
                  <a16:creationId xmlns:a16="http://schemas.microsoft.com/office/drawing/2014/main" id="{EB22A21C-98DF-B895-544A-930E876F65FE}"/>
                </a:ext>
              </a:extLst>
            </p:cNvPr>
            <p:cNvSpPr txBox="1"/>
            <p:nvPr/>
          </p:nvSpPr>
          <p:spPr>
            <a:xfrm>
              <a:off x="6596426" y="5383548"/>
              <a:ext cx="1188720" cy="40011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9</a:t>
              </a:r>
            </a:p>
          </p:txBody>
        </p:sp>
        <p:sp>
          <p:nvSpPr>
            <p:cNvPr id="57" name="TextBox 129">
              <a:extLst>
                <a:ext uri="{FF2B5EF4-FFF2-40B4-BE49-F238E27FC236}">
                  <a16:creationId xmlns:a16="http://schemas.microsoft.com/office/drawing/2014/main" id="{7CBAF60F-1695-85B6-B569-88CC0E40805F}"/>
                </a:ext>
              </a:extLst>
            </p:cNvPr>
            <p:cNvSpPr txBox="1"/>
            <p:nvPr/>
          </p:nvSpPr>
          <p:spPr>
            <a:xfrm>
              <a:off x="664214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formaciones</a:t>
              </a:r>
            </a:p>
          </p:txBody>
        </p:sp>
        <p:sp>
          <p:nvSpPr>
            <p:cNvPr id="58" name="TextBox 130">
              <a:extLst>
                <a:ext uri="{FF2B5EF4-FFF2-40B4-BE49-F238E27FC236}">
                  <a16:creationId xmlns:a16="http://schemas.microsoft.com/office/drawing/2014/main" id="{71DC079C-C633-2A2D-8A09-E284F6B53788}"/>
                </a:ext>
              </a:extLst>
            </p:cNvPr>
            <p:cNvSpPr txBox="1"/>
            <p:nvPr/>
          </p:nvSpPr>
          <p:spPr>
            <a:xfrm>
              <a:off x="6642146" y="6063669"/>
              <a:ext cx="1097280" cy="13849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8 presenciales · 1 virtual</a:t>
              </a:r>
            </a:p>
          </p:txBody>
        </p:sp>
        <p:sp>
          <p:nvSpPr>
            <p:cNvPr id="59" name="Rounded Rectangle 131">
              <a:extLst>
                <a:ext uri="{FF2B5EF4-FFF2-40B4-BE49-F238E27FC236}">
                  <a16:creationId xmlns:a16="http://schemas.microsoft.com/office/drawing/2014/main" id="{B67ED200-5DB6-D61E-A132-029DEB1AC44A}"/>
                </a:ext>
              </a:extLst>
            </p:cNvPr>
            <p:cNvSpPr/>
            <p:nvPr/>
          </p:nvSpPr>
          <p:spPr>
            <a:xfrm>
              <a:off x="787658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60" name="TextBox 132">
              <a:extLst>
                <a:ext uri="{FF2B5EF4-FFF2-40B4-BE49-F238E27FC236}">
                  <a16:creationId xmlns:a16="http://schemas.microsoft.com/office/drawing/2014/main" id="{8FF58150-775A-883A-AF79-3A319E10012A}"/>
                </a:ext>
              </a:extLst>
            </p:cNvPr>
            <p:cNvSpPr txBox="1"/>
            <p:nvPr/>
          </p:nvSpPr>
          <p:spPr>
            <a:xfrm>
              <a:off x="7876586" y="5332149"/>
              <a:ext cx="1188720" cy="5029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76 h</a:t>
              </a:r>
            </a:p>
          </p:txBody>
        </p:sp>
        <p:sp>
          <p:nvSpPr>
            <p:cNvPr id="61" name="TextBox 133">
              <a:extLst>
                <a:ext uri="{FF2B5EF4-FFF2-40B4-BE49-F238E27FC236}">
                  <a16:creationId xmlns:a16="http://schemas.microsoft.com/office/drawing/2014/main" id="{0506FD87-6896-54B2-8E24-2BECA2B5ED89}"/>
                </a:ext>
              </a:extLst>
            </p:cNvPr>
            <p:cNvSpPr txBox="1"/>
            <p:nvPr/>
          </p:nvSpPr>
          <p:spPr>
            <a:xfrm>
              <a:off x="792230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teóricas</a:t>
              </a:r>
            </a:p>
          </p:txBody>
        </p:sp>
        <p:sp>
          <p:nvSpPr>
            <p:cNvPr id="62" name="TextBox 134">
              <a:extLst>
                <a:ext uri="{FF2B5EF4-FFF2-40B4-BE49-F238E27FC236}">
                  <a16:creationId xmlns:a16="http://schemas.microsoft.com/office/drawing/2014/main" id="{7DB18504-035B-125D-76A1-46B85F9B3F34}"/>
                </a:ext>
              </a:extLst>
            </p:cNvPr>
            <p:cNvSpPr txBox="1"/>
            <p:nvPr/>
          </p:nvSpPr>
          <p:spPr>
            <a:xfrm>
              <a:off x="7922306" y="6063669"/>
              <a:ext cx="1097280" cy="36576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a técnicos</a:t>
              </a:r>
            </a:p>
          </p:txBody>
        </p:sp>
        <p:sp>
          <p:nvSpPr>
            <p:cNvPr id="63" name="Rounded Rectangle 135">
              <a:extLst>
                <a:ext uri="{FF2B5EF4-FFF2-40B4-BE49-F238E27FC236}">
                  <a16:creationId xmlns:a16="http://schemas.microsoft.com/office/drawing/2014/main" id="{D71E78CF-42EB-C78E-D457-0878F49229A8}"/>
                </a:ext>
              </a:extLst>
            </p:cNvPr>
            <p:cNvSpPr/>
            <p:nvPr/>
          </p:nvSpPr>
          <p:spPr>
            <a:xfrm>
              <a:off x="915674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64" name="TextBox 136">
              <a:extLst>
                <a:ext uri="{FF2B5EF4-FFF2-40B4-BE49-F238E27FC236}">
                  <a16:creationId xmlns:a16="http://schemas.microsoft.com/office/drawing/2014/main" id="{820A0853-908F-90BB-F0A8-831B18D1CD0E}"/>
                </a:ext>
              </a:extLst>
            </p:cNvPr>
            <p:cNvSpPr txBox="1"/>
            <p:nvPr/>
          </p:nvSpPr>
          <p:spPr>
            <a:xfrm>
              <a:off x="9156746" y="5332149"/>
              <a:ext cx="1188720" cy="5029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36 h</a:t>
              </a:r>
            </a:p>
          </p:txBody>
        </p:sp>
        <p:sp>
          <p:nvSpPr>
            <p:cNvPr id="65" name="TextBox 137">
              <a:extLst>
                <a:ext uri="{FF2B5EF4-FFF2-40B4-BE49-F238E27FC236}">
                  <a16:creationId xmlns:a16="http://schemas.microsoft.com/office/drawing/2014/main" id="{E635AEDC-FEEF-9C29-6B03-9B97140C1942}"/>
                </a:ext>
              </a:extLst>
            </p:cNvPr>
            <p:cNvSpPr txBox="1"/>
            <p:nvPr/>
          </p:nvSpPr>
          <p:spPr>
            <a:xfrm>
              <a:off x="920246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prácticas</a:t>
              </a:r>
            </a:p>
          </p:txBody>
        </p:sp>
        <p:sp>
          <p:nvSpPr>
            <p:cNvPr id="66" name="TextBox 138">
              <a:extLst>
                <a:ext uri="{FF2B5EF4-FFF2-40B4-BE49-F238E27FC236}">
                  <a16:creationId xmlns:a16="http://schemas.microsoft.com/office/drawing/2014/main" id="{945966F4-281B-5AB2-775C-723DDE784AD4}"/>
                </a:ext>
              </a:extLst>
            </p:cNvPr>
            <p:cNvSpPr txBox="1"/>
            <p:nvPr/>
          </p:nvSpPr>
          <p:spPr>
            <a:xfrm>
              <a:off x="9202466" y="6063669"/>
              <a:ext cx="1097280" cy="36576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en campo</a:t>
              </a:r>
            </a:p>
          </p:txBody>
        </p:sp>
        <p:sp>
          <p:nvSpPr>
            <p:cNvPr id="67" name="Rounded Rectangle 139">
              <a:extLst>
                <a:ext uri="{FF2B5EF4-FFF2-40B4-BE49-F238E27FC236}">
                  <a16:creationId xmlns:a16="http://schemas.microsoft.com/office/drawing/2014/main" id="{660D65E0-4480-5B5B-9278-3FC612211CD4}"/>
                </a:ext>
              </a:extLst>
            </p:cNvPr>
            <p:cNvSpPr/>
            <p:nvPr/>
          </p:nvSpPr>
          <p:spPr>
            <a:xfrm>
              <a:off x="1043690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68" name="TextBox 140">
              <a:extLst>
                <a:ext uri="{FF2B5EF4-FFF2-40B4-BE49-F238E27FC236}">
                  <a16:creationId xmlns:a16="http://schemas.microsoft.com/office/drawing/2014/main" id="{821B1AB2-C09B-E286-77A4-4A0307148D5B}"/>
                </a:ext>
              </a:extLst>
            </p:cNvPr>
            <p:cNvSpPr txBox="1"/>
            <p:nvPr/>
          </p:nvSpPr>
          <p:spPr>
            <a:xfrm>
              <a:off x="10436906" y="5344849"/>
              <a:ext cx="1188720" cy="5029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 dirty="0">
                  <a:solidFill>
                    <a:srgbClr val="FFFFFF"/>
                  </a:solidFill>
                  <a:uFillTx/>
                  <a:latin typeface="72 Condensed"/>
                </a:rPr>
                <a:t>15,5</a:t>
              </a:r>
            </a:p>
          </p:txBody>
        </p:sp>
        <p:sp>
          <p:nvSpPr>
            <p:cNvPr id="69" name="TextBox 141">
              <a:extLst>
                <a:ext uri="{FF2B5EF4-FFF2-40B4-BE49-F238E27FC236}">
                  <a16:creationId xmlns:a16="http://schemas.microsoft.com/office/drawing/2014/main" id="{0B4AF08A-BEA4-7ADE-3D1F-62A93E9C04AB}"/>
                </a:ext>
              </a:extLst>
            </p:cNvPr>
            <p:cNvSpPr txBox="1"/>
            <p:nvPr/>
          </p:nvSpPr>
          <p:spPr>
            <a:xfrm>
              <a:off x="1048262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 dirty="0">
                  <a:solidFill>
                    <a:srgbClr val="C9962E"/>
                  </a:solidFill>
                  <a:uFillTx/>
                  <a:latin typeface="72 Condensed"/>
                </a:rPr>
                <a:t>nota</a:t>
              </a:r>
            </a:p>
          </p:txBody>
        </p:sp>
        <p:sp>
          <p:nvSpPr>
            <p:cNvPr id="70" name="TextBox 142">
              <a:extLst>
                <a:ext uri="{FF2B5EF4-FFF2-40B4-BE49-F238E27FC236}">
                  <a16:creationId xmlns:a16="http://schemas.microsoft.com/office/drawing/2014/main" id="{8C2DF611-75D2-F861-BA60-7C7B89C821A0}"/>
                </a:ext>
              </a:extLst>
            </p:cNvPr>
            <p:cNvSpPr txBox="1"/>
            <p:nvPr/>
          </p:nvSpPr>
          <p:spPr>
            <a:xfrm>
              <a:off x="10482626" y="6063669"/>
              <a:ext cx="1097280" cy="36576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promedio</a:t>
              </a:r>
            </a:p>
          </p:txBody>
        </p:sp>
      </p:grpSp>
      <p:sp>
        <p:nvSpPr>
          <p:cNvPr id="71" name="Leyenda tecnicos punto"/>
          <p:cNvSpPr/>
          <p:nvPr/>
        </p:nvSpPr>
        <p:spPr>
          <a:xfrm>
            <a:off x="1997180" y="4740505"/>
            <a:ext cx="164592" cy="164592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2" name="Leyenda tecnicos texto"/>
          <p:cNvSpPr txBox="1"/>
          <p:nvPr/>
        </p:nvSpPr>
        <p:spPr>
          <a:xfrm>
            <a:off x="2225780" y="4685641"/>
            <a:ext cx="292608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Técnicos</a:t>
            </a:r>
          </a:p>
        </p:txBody>
      </p:sp>
      <p:sp>
        <p:nvSpPr>
          <p:cNvPr id="73" name="Etiqueta tecnicos"/>
          <p:cNvSpPr/>
          <p:nvPr/>
        </p:nvSpPr>
        <p:spPr>
          <a:xfrm>
            <a:off x="4330000" y="1554480"/>
            <a:ext cx="1380000" cy="256032"/>
          </a:xfrm>
          <a:prstGeom prst="roundRect">
            <a:avLst>
              <a:gd name="adj" fmla="val 50000"/>
            </a:avLst>
          </a:prstGeom>
          <a:solidFill>
            <a:srgbClr val="2F4023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1000" b="1" spc="40" dirty="0">
                <a:solidFill>
                  <a:srgbClr val="FFFFFF"/>
                </a:solidFill>
                <a:latin typeface="72 Condensed"/>
              </a:rPr>
              <a:t>TÉCNICOS · 60 H</a:t>
            </a:r>
          </a:p>
        </p:txBody>
      </p:sp>
      <p:sp>
        <p:nvSpPr>
          <p:cNvPr id="74" name="Etiqueta operadores"/>
          <p:cNvSpPr/>
          <p:nvPr/>
        </p:nvSpPr>
        <p:spPr>
          <a:xfrm>
            <a:off x="4330000" y="4032504"/>
            <a:ext cx="1380000" cy="256032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1000" b="1" spc="40" dirty="0">
                <a:solidFill>
                  <a:srgbClr val="1F2E18"/>
                </a:solidFill>
                <a:latin typeface="72 Condensed"/>
              </a:rPr>
              <a:t>OPERADORES · 16 H</a:t>
            </a:r>
          </a:p>
        </p:txBody>
      </p:sp>
      <p:sp>
        <p:nvSpPr>
          <p:cNvPr id="75" name="Pie foto operadores"/>
          <p:cNvSpPr/>
          <p:nvPr/>
        </p:nvSpPr>
        <p:spPr>
          <a:xfrm>
            <a:off x="8074773" y="2053595"/>
            <a:ext cx="2099910" cy="210312"/>
          </a:xfrm>
          <a:prstGeom prst="rect">
            <a:avLst/>
          </a:prstGeom>
          <a:solidFill>
            <a:srgbClr val="1F2E18">
              <a:alpha val="80000"/>
            </a:srgbClr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750" b="1" spc="0" dirty="0">
                <a:solidFill>
                  <a:srgbClr val="FFFFFF"/>
                </a:solidFill>
                <a:latin typeface="72 Condensed"/>
              </a:rPr>
              <a:t>OPERADORES · CALIBRACIÓN DE COSECHADORAS</a:t>
            </a:r>
          </a:p>
        </p:txBody>
      </p:sp>
      <p:sp>
        <p:nvSpPr>
          <p:cNvPr id="76" name="Pie foto tecnicos"/>
          <p:cNvSpPr/>
          <p:nvPr/>
        </p:nvSpPr>
        <p:spPr>
          <a:xfrm>
            <a:off x="8062292" y="3654810"/>
            <a:ext cx="2097487" cy="210312"/>
          </a:xfrm>
          <a:prstGeom prst="rect">
            <a:avLst/>
          </a:prstGeom>
          <a:solidFill>
            <a:srgbClr val="1F2E18">
              <a:alpha val="80000"/>
            </a:srgbClr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750" b="1" spc="0" dirty="0">
                <a:solidFill>
                  <a:srgbClr val="FFFFFF"/>
                </a:solidFill>
                <a:latin typeface="72 Condensed"/>
              </a:rPr>
              <a:t>TÉCNICOS · FORMACIÓN PRESENCIAL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F4E4A4B8-8A4E-5940-971E-B69E98CAF0E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I+D 2026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C92B1A9-8901-FDF9-5DD4-23AE9C1632DB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2026 · ENSAYOS EN CAMPO PARA EL PRÓXIMO CICLO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F54F47-AAF9-CA1F-EE3D-D30B1F25319A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3 preguntas que nos planteamos en campo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DABFF521-D069-B9A2-E1D4-9D20BDF8908A}"/>
              </a:ext>
            </a:extLst>
          </p:cNvPr>
          <p:cNvSpPr txBox="1"/>
          <p:nvPr/>
        </p:nvSpPr>
        <p:spPr>
          <a:xfrm>
            <a:off x="502920" y="1298448"/>
            <a:ext cx="78638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Cada ensayo nace de una pregunta real de negocio del agricultor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37C38C46-0107-EB51-8E14-6334A0F53A8C}"/>
              </a:ext>
            </a:extLst>
          </p:cNvPr>
          <p:cNvSpPr/>
          <p:nvPr/>
        </p:nvSpPr>
        <p:spPr>
          <a:xfrm>
            <a:off x="50292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99306228-1F63-6865-CDE9-83B728F6B121}"/>
              </a:ext>
            </a:extLst>
          </p:cNvPr>
          <p:cNvSpPr txBox="1"/>
          <p:nvPr/>
        </p:nvSpPr>
        <p:spPr>
          <a:xfrm>
            <a:off x="323088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8" name="Oval 27">
            <a:extLst>
              <a:ext uri="{FF2B5EF4-FFF2-40B4-BE49-F238E27FC236}">
                <a16:creationId xmlns:a16="http://schemas.microsoft.com/office/drawing/2014/main" id="{9FAAAEF3-7133-C9C8-302E-398086CDA2F1}"/>
              </a:ext>
            </a:extLst>
          </p:cNvPr>
          <p:cNvSpPr/>
          <p:nvPr/>
        </p:nvSpPr>
        <p:spPr>
          <a:xfrm>
            <a:off x="70408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9" name="Picture 28" descr="flask_w.png">
            <a:extLst>
              <a:ext uri="{FF2B5EF4-FFF2-40B4-BE49-F238E27FC236}">
                <a16:creationId xmlns:a16="http://schemas.microsoft.com/office/drawing/2014/main" id="{C64DD5E4-3225-3715-9EB1-6AC8FDC6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1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29">
            <a:extLst>
              <a:ext uri="{FF2B5EF4-FFF2-40B4-BE49-F238E27FC236}">
                <a16:creationId xmlns:a16="http://schemas.microsoft.com/office/drawing/2014/main" id="{E4429D2A-CB01-3ACE-136D-4CD335AD5D14}"/>
              </a:ext>
            </a:extLst>
          </p:cNvPr>
          <p:cNvSpPr txBox="1"/>
          <p:nvPr/>
        </p:nvSpPr>
        <p:spPr>
          <a:xfrm>
            <a:off x="1371600" y="2124640"/>
            <a:ext cx="2499360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 dirty="0">
                <a:solidFill>
                  <a:srgbClr val="4C6A35"/>
                </a:solidFill>
                <a:uFillTx/>
                <a:latin typeface="72 Condensed"/>
              </a:rPr>
              <a:t>RDOE · GUÁRICO, PORTUGUESA Y YARACUY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F3D8564E-88EE-D1B1-341F-1B9278ED5D03}"/>
              </a:ext>
            </a:extLst>
          </p:cNvPr>
          <p:cNvSpPr txBox="1"/>
          <p:nvPr/>
        </p:nvSpPr>
        <p:spPr>
          <a:xfrm>
            <a:off x="704088" y="2697479"/>
            <a:ext cx="319430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potenciar el rendimiento y proteger mi cultivo?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417FEDCA-DE8C-0ABE-37DC-6C6BB32300AB}"/>
              </a:ext>
            </a:extLst>
          </p:cNvPr>
          <p:cNvSpPr txBox="1"/>
          <p:nvPr/>
        </p:nvSpPr>
        <p:spPr>
          <a:xfrm>
            <a:off x="70408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14D6805A-9ED9-2E44-36A1-FE25B5D12ACF}"/>
              </a:ext>
            </a:extLst>
          </p:cNvPr>
          <p:cNvSpPr txBox="1"/>
          <p:nvPr/>
        </p:nvSpPr>
        <p:spPr>
          <a:xfrm>
            <a:off x="704088" y="3886200"/>
            <a:ext cx="319430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Modelo de experimentos estadísticos para probar 5 nuevos insumos biológicos en este 2026, y así evaluar su comportamiento y ROI para el plan agronómico 2027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B4143D38-456B-21B1-A548-ED3C6BB7B72F}"/>
              </a:ext>
            </a:extLst>
          </p:cNvPr>
          <p:cNvSpPr/>
          <p:nvPr/>
        </p:nvSpPr>
        <p:spPr>
          <a:xfrm>
            <a:off x="61264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78C682CD-3237-81B3-0B3C-AA8F330FB7B0}"/>
              </a:ext>
            </a:extLst>
          </p:cNvPr>
          <p:cNvSpPr txBox="1"/>
          <p:nvPr/>
        </p:nvSpPr>
        <p:spPr>
          <a:xfrm>
            <a:off x="77724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82114166-7C33-20B4-6329-EFE5F6A075B3}"/>
              </a:ext>
            </a:extLst>
          </p:cNvPr>
          <p:cNvSpPr txBox="1"/>
          <p:nvPr/>
        </p:nvSpPr>
        <p:spPr>
          <a:xfrm>
            <a:off x="77724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Inviertes solo en lo que funciona en tu localidad.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0841872C-77A6-316B-B70F-A5C463E555E1}"/>
              </a:ext>
            </a:extLst>
          </p:cNvPr>
          <p:cNvSpPr/>
          <p:nvPr/>
        </p:nvSpPr>
        <p:spPr>
          <a:xfrm>
            <a:off x="428244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8" name="TextBox 37">
            <a:extLst>
              <a:ext uri="{FF2B5EF4-FFF2-40B4-BE49-F238E27FC236}">
                <a16:creationId xmlns:a16="http://schemas.microsoft.com/office/drawing/2014/main" id="{DE2F39A5-78F4-3FF9-63C6-8CB4B63C30F2}"/>
              </a:ext>
            </a:extLst>
          </p:cNvPr>
          <p:cNvSpPr txBox="1"/>
          <p:nvPr/>
        </p:nvSpPr>
        <p:spPr>
          <a:xfrm>
            <a:off x="701040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19" name="Oval 38">
            <a:extLst>
              <a:ext uri="{FF2B5EF4-FFF2-40B4-BE49-F238E27FC236}">
                <a16:creationId xmlns:a16="http://schemas.microsoft.com/office/drawing/2014/main" id="{D2F128E0-096B-1826-A8DC-88711AD9D144}"/>
              </a:ext>
            </a:extLst>
          </p:cNvPr>
          <p:cNvSpPr/>
          <p:nvPr/>
        </p:nvSpPr>
        <p:spPr>
          <a:xfrm>
            <a:off x="4483607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0" name="Picture 39" descr="tint_w.png">
            <a:extLst>
              <a:ext uri="{FF2B5EF4-FFF2-40B4-BE49-F238E27FC236}">
                <a16:creationId xmlns:a16="http://schemas.microsoft.com/office/drawing/2014/main" id="{43356B61-E843-094C-0615-67795555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33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TextBox 40">
            <a:extLst>
              <a:ext uri="{FF2B5EF4-FFF2-40B4-BE49-F238E27FC236}">
                <a16:creationId xmlns:a16="http://schemas.microsoft.com/office/drawing/2014/main" id="{9C2D3515-985B-B550-4532-54BBEDDCBA40}"/>
              </a:ext>
            </a:extLst>
          </p:cNvPr>
          <p:cNvSpPr txBox="1"/>
          <p:nvPr/>
        </p:nvSpPr>
        <p:spPr>
          <a:xfrm>
            <a:off x="515112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HIDROGEL · GUÁRICO Y SUR DE ARAGUA</a:t>
            </a:r>
          </a:p>
        </p:txBody>
      </p:sp>
      <p:sp>
        <p:nvSpPr>
          <p:cNvPr id="22" name="TextBox 41">
            <a:extLst>
              <a:ext uri="{FF2B5EF4-FFF2-40B4-BE49-F238E27FC236}">
                <a16:creationId xmlns:a16="http://schemas.microsoft.com/office/drawing/2014/main" id="{E336AF17-7893-692A-C5F8-C4C1559C5F95}"/>
              </a:ext>
            </a:extLst>
          </p:cNvPr>
          <p:cNvSpPr txBox="1"/>
          <p:nvPr/>
        </p:nvSpPr>
        <p:spPr>
          <a:xfrm>
            <a:off x="4483607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aprovecho cada gota de agua?</a:t>
            </a: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81F8B5FB-A7D5-551C-641B-7E42CF970467}"/>
              </a:ext>
            </a:extLst>
          </p:cNvPr>
          <p:cNvSpPr txBox="1"/>
          <p:nvPr/>
        </p:nvSpPr>
        <p:spPr>
          <a:xfrm>
            <a:off x="4483607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0423B348-FA21-46CC-3A8D-C280E789B281}"/>
              </a:ext>
            </a:extLst>
          </p:cNvPr>
          <p:cNvSpPr txBox="1"/>
          <p:nvPr/>
        </p:nvSpPr>
        <p:spPr>
          <a:xfrm>
            <a:off x="4483607" y="3886200"/>
            <a:ext cx="319430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Se sembraron 50 ha con hidrogel en las zonas con mayor déficit hídrico: un biopolímero que retiene la humedad en el suelo.</a:t>
            </a:r>
          </a:p>
        </p:txBody>
      </p:sp>
      <p:sp>
        <p:nvSpPr>
          <p:cNvPr id="25" name="Rounded Rectangle 44">
            <a:extLst>
              <a:ext uri="{FF2B5EF4-FFF2-40B4-BE49-F238E27FC236}">
                <a16:creationId xmlns:a16="http://schemas.microsoft.com/office/drawing/2014/main" id="{5104141A-75A4-055D-1E73-F1A74A8ACB7B}"/>
              </a:ext>
            </a:extLst>
          </p:cNvPr>
          <p:cNvSpPr/>
          <p:nvPr/>
        </p:nvSpPr>
        <p:spPr>
          <a:xfrm>
            <a:off x="439216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38978776-CE13-710F-EA24-13DBF3B5DB51}"/>
              </a:ext>
            </a:extLst>
          </p:cNvPr>
          <p:cNvSpPr txBox="1"/>
          <p:nvPr/>
        </p:nvSpPr>
        <p:spPr>
          <a:xfrm>
            <a:off x="4556759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378A59F4-3ECD-A0A5-A20F-862C618D3D49}"/>
              </a:ext>
            </a:extLst>
          </p:cNvPr>
          <p:cNvSpPr txBox="1"/>
          <p:nvPr/>
        </p:nvSpPr>
        <p:spPr>
          <a:xfrm>
            <a:off x="4556759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Un seguro de humedad ante sequía y años Niño.</a:t>
            </a:r>
          </a:p>
        </p:txBody>
      </p:sp>
      <p:sp>
        <p:nvSpPr>
          <p:cNvPr id="28" name="Rounded Rectangle 47">
            <a:extLst>
              <a:ext uri="{FF2B5EF4-FFF2-40B4-BE49-F238E27FC236}">
                <a16:creationId xmlns:a16="http://schemas.microsoft.com/office/drawing/2014/main" id="{F4377695-581E-8CF6-A977-A0A74D6CCFF8}"/>
              </a:ext>
            </a:extLst>
          </p:cNvPr>
          <p:cNvSpPr/>
          <p:nvPr/>
        </p:nvSpPr>
        <p:spPr>
          <a:xfrm>
            <a:off x="806196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9" name="TextBox 48">
            <a:extLst>
              <a:ext uri="{FF2B5EF4-FFF2-40B4-BE49-F238E27FC236}">
                <a16:creationId xmlns:a16="http://schemas.microsoft.com/office/drawing/2014/main" id="{00494B56-C0D8-9526-E8F8-AEA7D10BDF98}"/>
              </a:ext>
            </a:extLst>
          </p:cNvPr>
          <p:cNvSpPr txBox="1"/>
          <p:nvPr/>
        </p:nvSpPr>
        <p:spPr>
          <a:xfrm>
            <a:off x="10789919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30" name="Oval 49">
            <a:extLst>
              <a:ext uri="{FF2B5EF4-FFF2-40B4-BE49-F238E27FC236}">
                <a16:creationId xmlns:a16="http://schemas.microsoft.com/office/drawing/2014/main" id="{E86204A3-C035-4DD2-959F-ECDACA430C16}"/>
              </a:ext>
            </a:extLst>
          </p:cNvPr>
          <p:cNvSpPr/>
          <p:nvPr/>
        </p:nvSpPr>
        <p:spPr>
          <a:xfrm>
            <a:off x="826312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1" name="Picture 50" descr="drone_w.png">
            <a:extLst>
              <a:ext uri="{FF2B5EF4-FFF2-40B4-BE49-F238E27FC236}">
                <a16:creationId xmlns:a16="http://schemas.microsoft.com/office/drawing/2014/main" id="{26ECF81D-6410-3229-1D15-082BDA97A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85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2" name="TextBox 51">
            <a:extLst>
              <a:ext uri="{FF2B5EF4-FFF2-40B4-BE49-F238E27FC236}">
                <a16:creationId xmlns:a16="http://schemas.microsoft.com/office/drawing/2014/main" id="{E87A6E0E-129C-D8EE-6983-FA0BB6C353FD}"/>
              </a:ext>
            </a:extLst>
          </p:cNvPr>
          <p:cNvSpPr txBox="1"/>
          <p:nvPr/>
        </p:nvSpPr>
        <p:spPr>
          <a:xfrm>
            <a:off x="893064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DRONES · GUÁRICO</a:t>
            </a:r>
          </a:p>
        </p:txBody>
      </p:sp>
      <p:sp>
        <p:nvSpPr>
          <p:cNvPr id="33" name="TextBox 52">
            <a:extLst>
              <a:ext uri="{FF2B5EF4-FFF2-40B4-BE49-F238E27FC236}">
                <a16:creationId xmlns:a16="http://schemas.microsoft.com/office/drawing/2014/main" id="{19E0F16D-3AB1-214F-19E2-40326F8B9D95}"/>
              </a:ext>
            </a:extLst>
          </p:cNvPr>
          <p:cNvSpPr txBox="1"/>
          <p:nvPr/>
        </p:nvSpPr>
        <p:spPr>
          <a:xfrm>
            <a:off x="8263128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aplicar más rápido y a menor costo?</a:t>
            </a:r>
          </a:p>
        </p:txBody>
      </p:sp>
      <p:sp>
        <p:nvSpPr>
          <p:cNvPr id="34" name="TextBox 53">
            <a:extLst>
              <a:ext uri="{FF2B5EF4-FFF2-40B4-BE49-F238E27FC236}">
                <a16:creationId xmlns:a16="http://schemas.microsoft.com/office/drawing/2014/main" id="{9E1BFAAE-8CD6-7C28-8C01-E2A9334E8981}"/>
              </a:ext>
            </a:extLst>
          </p:cNvPr>
          <p:cNvSpPr txBox="1"/>
          <p:nvPr/>
        </p:nvSpPr>
        <p:spPr>
          <a:xfrm>
            <a:off x="826312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35" name="TextBox 54">
            <a:extLst>
              <a:ext uri="{FF2B5EF4-FFF2-40B4-BE49-F238E27FC236}">
                <a16:creationId xmlns:a16="http://schemas.microsoft.com/office/drawing/2014/main" id="{88E92FC5-5873-2BE1-1992-A7DB6DADE07B}"/>
              </a:ext>
            </a:extLst>
          </p:cNvPr>
          <p:cNvSpPr txBox="1"/>
          <p:nvPr/>
        </p:nvSpPr>
        <p:spPr>
          <a:xfrm>
            <a:off x="8263128" y="3886200"/>
            <a:ext cx="319430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Ensayo con drones para delimitar lotes, aplicar agroquímicos, estimar cosecha y comparar costos vs. maquinaria tradicional.</a:t>
            </a:r>
          </a:p>
        </p:txBody>
      </p:sp>
      <p:sp>
        <p:nvSpPr>
          <p:cNvPr id="36" name="Rounded Rectangle 55">
            <a:extLst>
              <a:ext uri="{FF2B5EF4-FFF2-40B4-BE49-F238E27FC236}">
                <a16:creationId xmlns:a16="http://schemas.microsoft.com/office/drawing/2014/main" id="{F13676E4-9F9B-0D24-96B9-D4CBE7E9DE39}"/>
              </a:ext>
            </a:extLst>
          </p:cNvPr>
          <p:cNvSpPr/>
          <p:nvPr/>
        </p:nvSpPr>
        <p:spPr>
          <a:xfrm>
            <a:off x="817168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7" name="TextBox 56">
            <a:extLst>
              <a:ext uri="{FF2B5EF4-FFF2-40B4-BE49-F238E27FC236}">
                <a16:creationId xmlns:a16="http://schemas.microsoft.com/office/drawing/2014/main" id="{C56A7604-0160-7734-523D-683637362956}"/>
              </a:ext>
            </a:extLst>
          </p:cNvPr>
          <p:cNvSpPr txBox="1"/>
          <p:nvPr/>
        </p:nvSpPr>
        <p:spPr>
          <a:xfrm>
            <a:off x="833628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C29F22F2-DF3A-8CD9-353E-35E69C42EE3A}"/>
              </a:ext>
            </a:extLst>
          </p:cNvPr>
          <p:cNvSpPr txBox="1"/>
          <p:nvPr/>
        </p:nvSpPr>
        <p:spPr>
          <a:xfrm>
            <a:off x="833628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Datos reales para elegir la aplicación más rentable.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4F0F5252-9CE5-D817-CCE4-60FF4878B173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I+D 2026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CBEC2FB9-5E87-D306-68AE-DA73487968B3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2026 · ENSAYOS EN LABORATORIO PARA EL PRÓXIMO CICLO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5ECF54B3-0CEF-D7DB-D265-E183C82FF024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3 situaciones que llevamos al laboratorio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FF97D059-A17D-0A4A-C64B-7B9C6D164ECD}"/>
              </a:ext>
            </a:extLst>
          </p:cNvPr>
          <p:cNvSpPr txBox="1"/>
          <p:nvPr/>
        </p:nvSpPr>
        <p:spPr>
          <a:xfrm>
            <a:off x="502920" y="1298448"/>
            <a:ext cx="78638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Ciencia aplicada junto a la Universidad Central de Venezuela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E54A1AF4-81C5-0CB3-955A-5E56916E41A9}"/>
              </a:ext>
            </a:extLst>
          </p:cNvPr>
          <p:cNvSpPr/>
          <p:nvPr/>
        </p:nvSpPr>
        <p:spPr>
          <a:xfrm>
            <a:off x="9464040" y="914400"/>
            <a:ext cx="2240279" cy="3657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324425"/>
                </a:solidFill>
                <a:uFillTx/>
                <a:latin typeface="72 Condensed"/>
              </a:rPr>
              <a:t>ALIANZA UCV</a:t>
            </a:r>
          </a:p>
        </p:txBody>
      </p:sp>
      <p:sp>
        <p:nvSpPr>
          <p:cNvPr id="18" name="Rounded Rectangle 37">
            <a:extLst>
              <a:ext uri="{FF2B5EF4-FFF2-40B4-BE49-F238E27FC236}">
                <a16:creationId xmlns:a16="http://schemas.microsoft.com/office/drawing/2014/main" id="{D84F4555-BC5D-83EB-45E8-9CD6081C9252}"/>
              </a:ext>
            </a:extLst>
          </p:cNvPr>
          <p:cNvSpPr/>
          <p:nvPr/>
        </p:nvSpPr>
        <p:spPr>
          <a:xfrm>
            <a:off x="50292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9" name="TextBox 38">
            <a:extLst>
              <a:ext uri="{FF2B5EF4-FFF2-40B4-BE49-F238E27FC236}">
                <a16:creationId xmlns:a16="http://schemas.microsoft.com/office/drawing/2014/main" id="{CAD80EC6-061B-DFC9-0B13-C2A5A2B99819}"/>
              </a:ext>
            </a:extLst>
          </p:cNvPr>
          <p:cNvSpPr txBox="1"/>
          <p:nvPr/>
        </p:nvSpPr>
        <p:spPr>
          <a:xfrm>
            <a:off x="323088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20" name="Oval 39">
            <a:extLst>
              <a:ext uri="{FF2B5EF4-FFF2-40B4-BE49-F238E27FC236}">
                <a16:creationId xmlns:a16="http://schemas.microsoft.com/office/drawing/2014/main" id="{09336AC1-7692-5265-498D-EC575B6BCA97}"/>
              </a:ext>
            </a:extLst>
          </p:cNvPr>
          <p:cNvSpPr/>
          <p:nvPr/>
        </p:nvSpPr>
        <p:spPr>
          <a:xfrm>
            <a:off x="704087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1" name="Picture 40" descr="grass_w.png">
            <a:extLst>
              <a:ext uri="{FF2B5EF4-FFF2-40B4-BE49-F238E27FC236}">
                <a16:creationId xmlns:a16="http://schemas.microsoft.com/office/drawing/2014/main" id="{06981A13-CF53-4F87-FF7E-EDD8B9496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TextBox 41">
            <a:extLst>
              <a:ext uri="{FF2B5EF4-FFF2-40B4-BE49-F238E27FC236}">
                <a16:creationId xmlns:a16="http://schemas.microsoft.com/office/drawing/2014/main" id="{6E48CAA9-6D7F-5F3C-CC43-14EC86F60A86}"/>
              </a:ext>
            </a:extLst>
          </p:cNvPr>
          <p:cNvSpPr txBox="1"/>
          <p:nvPr/>
        </p:nvSpPr>
        <p:spPr>
          <a:xfrm>
            <a:off x="137160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CONTROL DE MALEZAS</a:t>
            </a: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D627B25C-CBEA-AA77-30DA-E516DB4ED2CC}"/>
              </a:ext>
            </a:extLst>
          </p:cNvPr>
          <p:cNvSpPr txBox="1"/>
          <p:nvPr/>
        </p:nvSpPr>
        <p:spPr>
          <a:xfrm>
            <a:off x="704087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se controla mejor a las malezas?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170551E9-6873-67CC-AE0E-4B799A17D845}"/>
              </a:ext>
            </a:extLst>
          </p:cNvPr>
          <p:cNvSpPr txBox="1"/>
          <p:nvPr/>
        </p:nvSpPr>
        <p:spPr>
          <a:xfrm>
            <a:off x="704087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25" name="TextBox 44">
            <a:extLst>
              <a:ext uri="{FF2B5EF4-FFF2-40B4-BE49-F238E27FC236}">
                <a16:creationId xmlns:a16="http://schemas.microsoft.com/office/drawing/2014/main" id="{085EEF31-AFC2-780B-35C8-623BC1FE99D0}"/>
              </a:ext>
            </a:extLst>
          </p:cNvPr>
          <p:cNvSpPr txBox="1"/>
          <p:nvPr/>
        </p:nvSpPr>
        <p:spPr>
          <a:xfrm>
            <a:off x="704087" y="3886200"/>
            <a:ext cx="3194304" cy="6771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Se recogieron distintas muestras de semillas de malezas para hacer un análisis de resistencia a las distintas moléculas utilizadas en el plan agronómico.</a:t>
            </a:r>
          </a:p>
        </p:txBody>
      </p:sp>
      <p:sp>
        <p:nvSpPr>
          <p:cNvPr id="26" name="Rounded Rectangle 45">
            <a:extLst>
              <a:ext uri="{FF2B5EF4-FFF2-40B4-BE49-F238E27FC236}">
                <a16:creationId xmlns:a16="http://schemas.microsoft.com/office/drawing/2014/main" id="{0DBC1EFC-F1F4-17C1-C91A-EF1C4AF53342}"/>
              </a:ext>
            </a:extLst>
          </p:cNvPr>
          <p:cNvSpPr/>
          <p:nvPr/>
        </p:nvSpPr>
        <p:spPr>
          <a:xfrm>
            <a:off x="61264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CC06BCEF-D13E-C582-4957-5288657B8BED}"/>
              </a:ext>
            </a:extLst>
          </p:cNvPr>
          <p:cNvSpPr txBox="1"/>
          <p:nvPr/>
        </p:nvSpPr>
        <p:spPr>
          <a:xfrm>
            <a:off x="777239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28" name="TextBox 47">
            <a:extLst>
              <a:ext uri="{FF2B5EF4-FFF2-40B4-BE49-F238E27FC236}">
                <a16:creationId xmlns:a16="http://schemas.microsoft.com/office/drawing/2014/main" id="{E5DC60E6-5C09-CDC2-1224-654FDEF39C1B}"/>
              </a:ext>
            </a:extLst>
          </p:cNvPr>
          <p:cNvSpPr txBox="1"/>
          <p:nvPr/>
        </p:nvSpPr>
        <p:spPr>
          <a:xfrm>
            <a:off x="777239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Fórmulas de control más efectivas para tus lotes.</a:t>
            </a:r>
          </a:p>
        </p:txBody>
      </p:sp>
      <p:sp>
        <p:nvSpPr>
          <p:cNvPr id="29" name="Rounded Rectangle 48">
            <a:extLst>
              <a:ext uri="{FF2B5EF4-FFF2-40B4-BE49-F238E27FC236}">
                <a16:creationId xmlns:a16="http://schemas.microsoft.com/office/drawing/2014/main" id="{9836C479-FC61-1837-F085-2DB3246C509B}"/>
              </a:ext>
            </a:extLst>
          </p:cNvPr>
          <p:cNvSpPr/>
          <p:nvPr/>
        </p:nvSpPr>
        <p:spPr>
          <a:xfrm>
            <a:off x="428244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0" name="TextBox 49">
            <a:extLst>
              <a:ext uri="{FF2B5EF4-FFF2-40B4-BE49-F238E27FC236}">
                <a16:creationId xmlns:a16="http://schemas.microsoft.com/office/drawing/2014/main" id="{78B3746A-EEE2-5A54-4E97-0D020015D8F8}"/>
              </a:ext>
            </a:extLst>
          </p:cNvPr>
          <p:cNvSpPr txBox="1"/>
          <p:nvPr/>
        </p:nvSpPr>
        <p:spPr>
          <a:xfrm>
            <a:off x="7010399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31" name="Oval 50">
            <a:extLst>
              <a:ext uri="{FF2B5EF4-FFF2-40B4-BE49-F238E27FC236}">
                <a16:creationId xmlns:a16="http://schemas.microsoft.com/office/drawing/2014/main" id="{7AB98DA2-F91E-18F8-A19A-5758E48CDAE1}"/>
              </a:ext>
            </a:extLst>
          </p:cNvPr>
          <p:cNvSpPr/>
          <p:nvPr/>
        </p:nvSpPr>
        <p:spPr>
          <a:xfrm>
            <a:off x="448360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2" name="Picture 51" descr="micro_w.png">
            <a:extLst>
              <a:ext uri="{FF2B5EF4-FFF2-40B4-BE49-F238E27FC236}">
                <a16:creationId xmlns:a16="http://schemas.microsoft.com/office/drawing/2014/main" id="{CFECD085-5A99-5580-73D7-33E5F9D3E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33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3" name="TextBox 52">
            <a:extLst>
              <a:ext uri="{FF2B5EF4-FFF2-40B4-BE49-F238E27FC236}">
                <a16:creationId xmlns:a16="http://schemas.microsoft.com/office/drawing/2014/main" id="{EA499BD2-295B-E878-B2DE-5B264208214F}"/>
              </a:ext>
            </a:extLst>
          </p:cNvPr>
          <p:cNvSpPr txBox="1"/>
          <p:nvPr/>
        </p:nvSpPr>
        <p:spPr>
          <a:xfrm>
            <a:off x="515112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DIAGNÓSTICO FITOPATOLÓGICO</a:t>
            </a:r>
          </a:p>
        </p:txBody>
      </p:sp>
      <p:sp>
        <p:nvSpPr>
          <p:cNvPr id="34" name="TextBox 53">
            <a:extLst>
              <a:ext uri="{FF2B5EF4-FFF2-40B4-BE49-F238E27FC236}">
                <a16:creationId xmlns:a16="http://schemas.microsoft.com/office/drawing/2014/main" id="{55CC09B9-BE6F-A8B1-0BD1-EDA6A7BC3C99}"/>
              </a:ext>
            </a:extLst>
          </p:cNvPr>
          <p:cNvSpPr txBox="1"/>
          <p:nvPr/>
        </p:nvSpPr>
        <p:spPr>
          <a:xfrm>
            <a:off x="4483608" y="2697479"/>
            <a:ext cx="319430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han evolucionado los hongos y enfermedades?</a:t>
            </a:r>
          </a:p>
        </p:txBody>
      </p:sp>
      <p:sp>
        <p:nvSpPr>
          <p:cNvPr id="35" name="TextBox 54">
            <a:extLst>
              <a:ext uri="{FF2B5EF4-FFF2-40B4-BE49-F238E27FC236}">
                <a16:creationId xmlns:a16="http://schemas.microsoft.com/office/drawing/2014/main" id="{C6B00CD9-6EB2-E461-B9E6-E64AFD2843DE}"/>
              </a:ext>
            </a:extLst>
          </p:cNvPr>
          <p:cNvSpPr txBox="1"/>
          <p:nvPr/>
        </p:nvSpPr>
        <p:spPr>
          <a:xfrm>
            <a:off x="448360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36" name="TextBox 55">
            <a:extLst>
              <a:ext uri="{FF2B5EF4-FFF2-40B4-BE49-F238E27FC236}">
                <a16:creationId xmlns:a16="http://schemas.microsoft.com/office/drawing/2014/main" id="{155F0D1C-81DE-3958-2397-FF07A74A5445}"/>
              </a:ext>
            </a:extLst>
          </p:cNvPr>
          <p:cNvSpPr txBox="1"/>
          <p:nvPr/>
        </p:nvSpPr>
        <p:spPr>
          <a:xfrm>
            <a:off x="4483608" y="3886200"/>
            <a:ext cx="319430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Tomamos muestras de algunas plantas para diagnosticar hongos y bacterias de productores del programa.</a:t>
            </a:r>
          </a:p>
        </p:txBody>
      </p:sp>
      <p:sp>
        <p:nvSpPr>
          <p:cNvPr id="37" name="Rounded Rectangle 56">
            <a:extLst>
              <a:ext uri="{FF2B5EF4-FFF2-40B4-BE49-F238E27FC236}">
                <a16:creationId xmlns:a16="http://schemas.microsoft.com/office/drawing/2014/main" id="{E5480A53-A66A-F79A-4B68-4D55316BF9A5}"/>
              </a:ext>
            </a:extLst>
          </p:cNvPr>
          <p:cNvSpPr/>
          <p:nvPr/>
        </p:nvSpPr>
        <p:spPr>
          <a:xfrm>
            <a:off x="439216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B3AE0DC9-AD21-14E5-ACAB-F4DEF48CCCB7}"/>
              </a:ext>
            </a:extLst>
          </p:cNvPr>
          <p:cNvSpPr txBox="1"/>
          <p:nvPr/>
        </p:nvSpPr>
        <p:spPr>
          <a:xfrm>
            <a:off x="455676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39" name="TextBox 58">
            <a:extLst>
              <a:ext uri="{FF2B5EF4-FFF2-40B4-BE49-F238E27FC236}">
                <a16:creationId xmlns:a16="http://schemas.microsoft.com/office/drawing/2014/main" id="{AB0095B8-6010-6F26-BB51-B9F3809FE505}"/>
              </a:ext>
            </a:extLst>
          </p:cNvPr>
          <p:cNvSpPr txBox="1"/>
          <p:nvPr/>
        </p:nvSpPr>
        <p:spPr>
          <a:xfrm>
            <a:off x="455676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Tratas el patógeno exacto, sin aplicar a ciegas.</a:t>
            </a:r>
          </a:p>
        </p:txBody>
      </p:sp>
      <p:sp>
        <p:nvSpPr>
          <p:cNvPr id="40" name="Rounded Rectangle 59">
            <a:extLst>
              <a:ext uri="{FF2B5EF4-FFF2-40B4-BE49-F238E27FC236}">
                <a16:creationId xmlns:a16="http://schemas.microsoft.com/office/drawing/2014/main" id="{F7039837-C491-3F5C-F7F9-1D26B20704B8}"/>
              </a:ext>
            </a:extLst>
          </p:cNvPr>
          <p:cNvSpPr/>
          <p:nvPr/>
        </p:nvSpPr>
        <p:spPr>
          <a:xfrm>
            <a:off x="806196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1" name="TextBox 60">
            <a:extLst>
              <a:ext uri="{FF2B5EF4-FFF2-40B4-BE49-F238E27FC236}">
                <a16:creationId xmlns:a16="http://schemas.microsoft.com/office/drawing/2014/main" id="{2F707564-E013-3524-DEC8-539D7712A018}"/>
              </a:ext>
            </a:extLst>
          </p:cNvPr>
          <p:cNvSpPr txBox="1"/>
          <p:nvPr/>
        </p:nvSpPr>
        <p:spPr>
          <a:xfrm>
            <a:off x="1078992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42" name="Oval 61">
            <a:extLst>
              <a:ext uri="{FF2B5EF4-FFF2-40B4-BE49-F238E27FC236}">
                <a16:creationId xmlns:a16="http://schemas.microsoft.com/office/drawing/2014/main" id="{2317275F-3291-1D7B-532B-3228DF50831D}"/>
              </a:ext>
            </a:extLst>
          </p:cNvPr>
          <p:cNvSpPr/>
          <p:nvPr/>
        </p:nvSpPr>
        <p:spPr>
          <a:xfrm>
            <a:off x="826312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3" name="Picture 62" descr="bug_w.png">
            <a:extLst>
              <a:ext uri="{FF2B5EF4-FFF2-40B4-BE49-F238E27FC236}">
                <a16:creationId xmlns:a16="http://schemas.microsoft.com/office/drawing/2014/main" id="{4C3033E8-1596-D77A-314E-FA9549E10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85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4" name="TextBox 63">
            <a:extLst>
              <a:ext uri="{FF2B5EF4-FFF2-40B4-BE49-F238E27FC236}">
                <a16:creationId xmlns:a16="http://schemas.microsoft.com/office/drawing/2014/main" id="{742A0482-F8BB-2785-7D53-686A2D89C900}"/>
              </a:ext>
            </a:extLst>
          </p:cNvPr>
          <p:cNvSpPr txBox="1"/>
          <p:nvPr/>
        </p:nvSpPr>
        <p:spPr>
          <a:xfrm>
            <a:off x="893064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RESISTENCIA A INSECTICIDAS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8E746D0A-617D-C8CF-D158-7488DB679007}"/>
              </a:ext>
            </a:extLst>
          </p:cNvPr>
          <p:cNvSpPr txBox="1"/>
          <p:nvPr/>
        </p:nvSpPr>
        <p:spPr>
          <a:xfrm>
            <a:off x="8263128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¿Cómo ganarle la batalla a los gusanos?</a:t>
            </a:r>
          </a:p>
        </p:txBody>
      </p:sp>
      <p:sp>
        <p:nvSpPr>
          <p:cNvPr id="46" name="TextBox 65">
            <a:extLst>
              <a:ext uri="{FF2B5EF4-FFF2-40B4-BE49-F238E27FC236}">
                <a16:creationId xmlns:a16="http://schemas.microsoft.com/office/drawing/2014/main" id="{25C84A91-BFF6-C930-DB15-75360A3766F9}"/>
              </a:ext>
            </a:extLst>
          </p:cNvPr>
          <p:cNvSpPr txBox="1"/>
          <p:nvPr/>
        </p:nvSpPr>
        <p:spPr>
          <a:xfrm>
            <a:off x="826312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47" name="TextBox 66">
            <a:extLst>
              <a:ext uri="{FF2B5EF4-FFF2-40B4-BE49-F238E27FC236}">
                <a16:creationId xmlns:a16="http://schemas.microsoft.com/office/drawing/2014/main" id="{E167D68A-68E9-6C88-BFFA-EC2E82E23B4A}"/>
              </a:ext>
            </a:extLst>
          </p:cNvPr>
          <p:cNvSpPr txBox="1"/>
          <p:nvPr/>
        </p:nvSpPr>
        <p:spPr>
          <a:xfrm>
            <a:off x="8263128" y="3886200"/>
            <a:ext cx="319430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Recolectamos larvas para medir efecto letal y persistencia a la lluvia de 5 insecticidas.</a:t>
            </a:r>
          </a:p>
        </p:txBody>
      </p:sp>
      <p:sp>
        <p:nvSpPr>
          <p:cNvPr id="48" name="Rounded Rectangle 67">
            <a:extLst>
              <a:ext uri="{FF2B5EF4-FFF2-40B4-BE49-F238E27FC236}">
                <a16:creationId xmlns:a16="http://schemas.microsoft.com/office/drawing/2014/main" id="{EA23C56D-DFF5-0B76-7391-3CB3798D8981}"/>
              </a:ext>
            </a:extLst>
          </p:cNvPr>
          <p:cNvSpPr/>
          <p:nvPr/>
        </p:nvSpPr>
        <p:spPr>
          <a:xfrm>
            <a:off x="817168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9" name="TextBox 68">
            <a:extLst>
              <a:ext uri="{FF2B5EF4-FFF2-40B4-BE49-F238E27FC236}">
                <a16:creationId xmlns:a16="http://schemas.microsoft.com/office/drawing/2014/main" id="{5D8C937B-D55F-A289-D658-C4C5E6C8EC15}"/>
              </a:ext>
            </a:extLst>
          </p:cNvPr>
          <p:cNvSpPr txBox="1"/>
          <p:nvPr/>
        </p:nvSpPr>
        <p:spPr>
          <a:xfrm>
            <a:off x="833628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50" name="TextBox 69">
            <a:extLst>
              <a:ext uri="{FF2B5EF4-FFF2-40B4-BE49-F238E27FC236}">
                <a16:creationId xmlns:a16="http://schemas.microsoft.com/office/drawing/2014/main" id="{49737A03-6ACA-6E32-A11E-B7FF6509AD84}"/>
              </a:ext>
            </a:extLst>
          </p:cNvPr>
          <p:cNvSpPr txBox="1"/>
          <p:nvPr/>
        </p:nvSpPr>
        <p:spPr>
          <a:xfrm>
            <a:off x="833628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Sabrás qué molécula funciona y cuánto dura tras la lluvia.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4;p13">
            <a:extLst>
              <a:ext uri="{FF2B5EF4-FFF2-40B4-BE49-F238E27FC236}">
                <a16:creationId xmlns:a16="http://schemas.microsoft.com/office/drawing/2014/main" id="{348FD494-CA82-7DA2-13FE-EA9BB5231A39}"/>
              </a:ext>
            </a:extLst>
          </p:cNvPr>
          <p:cNvSpPr/>
          <p:nvPr/>
        </p:nvSpPr>
        <p:spPr>
          <a:xfrm>
            <a:off x="533396" y="2152589"/>
            <a:ext cx="4887367" cy="3836730"/>
          </a:xfrm>
          <a:custGeom>
            <a:avLst>
              <a:gd name="f0" fmla="val 6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AE8D0"/>
          </a:solidFill>
          <a:ln w="9528" cap="flat">
            <a:solidFill>
              <a:srgbClr val="E2E8F0"/>
            </a:solidFill>
            <a:prstDash val="solid"/>
            <a:round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3" name="Google Shape;85;p13">
            <a:extLst>
              <a:ext uri="{FF2B5EF4-FFF2-40B4-BE49-F238E27FC236}">
                <a16:creationId xmlns:a16="http://schemas.microsoft.com/office/drawing/2014/main" id="{469B9764-985F-B4EF-FD21-DCE541572271}"/>
              </a:ext>
            </a:extLst>
          </p:cNvPr>
          <p:cNvSpPr/>
          <p:nvPr/>
        </p:nvSpPr>
        <p:spPr>
          <a:xfrm>
            <a:off x="5649364" y="2152589"/>
            <a:ext cx="6009235" cy="3836730"/>
          </a:xfrm>
          <a:custGeom>
            <a:avLst>
              <a:gd name="f0" fmla="val 6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AE8D0"/>
          </a:solidFill>
          <a:ln w="9528" cap="flat">
            <a:solidFill>
              <a:srgbClr val="E2E8F0"/>
            </a:solidFill>
            <a:prstDash val="solid"/>
            <a:round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4" name="Google Shape;90;p13">
            <a:extLst>
              <a:ext uri="{FF2B5EF4-FFF2-40B4-BE49-F238E27FC236}">
                <a16:creationId xmlns:a16="http://schemas.microsoft.com/office/drawing/2014/main" id="{96854625-ABC9-90FC-18C8-7B11AB8ABAAE}"/>
              </a:ext>
            </a:extLst>
          </p:cNvPr>
          <p:cNvSpPr/>
          <p:nvPr/>
        </p:nvSpPr>
        <p:spPr>
          <a:xfrm>
            <a:off x="5849389" y="5619692"/>
            <a:ext cx="5609185" cy="295278"/>
          </a:xfrm>
          <a:custGeom>
            <a:avLst>
              <a:gd name="f0" fmla="val 41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2F2F2"/>
          </a:solidFill>
          <a:ln cap="flat">
            <a:noFill/>
            <a:prstDash val="solid"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644B17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5" name="Google Shape;90;p13">
            <a:extLst>
              <a:ext uri="{FF2B5EF4-FFF2-40B4-BE49-F238E27FC236}">
                <a16:creationId xmlns:a16="http://schemas.microsoft.com/office/drawing/2014/main" id="{B01DC020-BB31-80CE-B083-513CE406D2D3}"/>
              </a:ext>
            </a:extLst>
          </p:cNvPr>
          <p:cNvSpPr/>
          <p:nvPr/>
        </p:nvSpPr>
        <p:spPr>
          <a:xfrm>
            <a:off x="790571" y="5334371"/>
            <a:ext cx="4401592" cy="295278"/>
          </a:xfrm>
          <a:custGeom>
            <a:avLst>
              <a:gd name="f0" fmla="val 41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2F2F2"/>
          </a:solidFill>
          <a:ln cap="flat">
            <a:noFill/>
            <a:prstDash val="solid"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644B17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6" name="Google Shape;94;p13">
            <a:extLst>
              <a:ext uri="{FF2B5EF4-FFF2-40B4-BE49-F238E27FC236}">
                <a16:creationId xmlns:a16="http://schemas.microsoft.com/office/drawing/2014/main" id="{614160CC-29A1-5473-2C5A-2BA7FD65966A}"/>
              </a:ext>
            </a:extLst>
          </p:cNvPr>
          <p:cNvSpPr/>
          <p:nvPr/>
        </p:nvSpPr>
        <p:spPr>
          <a:xfrm>
            <a:off x="3858667" y="2414528"/>
            <a:ext cx="1381118" cy="153884"/>
          </a:xfrm>
          <a:custGeom>
            <a:avLst>
              <a:gd name="f0" fmla="val 411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9FF"/>
          </a:solidFill>
          <a:ln w="9528" cap="flat">
            <a:solidFill>
              <a:srgbClr val="BAE6FD"/>
            </a:solidFill>
            <a:prstDash val="solid"/>
            <a:round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7" name="Google Shape;95;p13">
            <a:extLst>
              <a:ext uri="{FF2B5EF4-FFF2-40B4-BE49-F238E27FC236}">
                <a16:creationId xmlns:a16="http://schemas.microsoft.com/office/drawing/2014/main" id="{DA7F4CBB-77C9-FA63-4862-77995DE62C1A}"/>
              </a:ext>
            </a:extLst>
          </p:cNvPr>
          <p:cNvSpPr/>
          <p:nvPr/>
        </p:nvSpPr>
        <p:spPr>
          <a:xfrm>
            <a:off x="9896478" y="2385953"/>
            <a:ext cx="1562096" cy="200025"/>
          </a:xfrm>
          <a:custGeom>
            <a:avLst>
              <a:gd name="f0" fmla="val 411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CFDF5"/>
          </a:solidFill>
          <a:ln cap="flat">
            <a:noFill/>
            <a:prstDash val="solid"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pic>
        <p:nvPicPr>
          <p:cNvPr id="8" name="Google Shape;100;p13" descr="image.png">
            <a:extLst>
              <a:ext uri="{FF2B5EF4-FFF2-40B4-BE49-F238E27FC236}">
                <a16:creationId xmlns:a16="http://schemas.microsoft.com/office/drawing/2014/main" id="{E6258AAB-FEEC-0ABF-1B25-DB13C05C44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9949750" y="404814"/>
            <a:ext cx="133346" cy="13334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oogle Shape;102;p13" descr="image.png">
            <a:extLst>
              <a:ext uri="{FF2B5EF4-FFF2-40B4-BE49-F238E27FC236}">
                <a16:creationId xmlns:a16="http://schemas.microsoft.com/office/drawing/2014/main" id="{CD2B9E50-4B5F-05E1-31DE-5E2C46990B8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857250" y="5397117"/>
            <a:ext cx="142875" cy="142875"/>
          </a:xfrm>
          <a:prstGeom prst="rect">
            <a:avLst/>
          </a:prstGeom>
          <a:solidFill>
            <a:srgbClr val="F2F2F2"/>
          </a:solidFill>
          <a:ln cap="flat">
            <a:noFill/>
          </a:ln>
        </p:spPr>
      </p:pic>
      <p:pic>
        <p:nvPicPr>
          <p:cNvPr id="10" name="Google Shape;103;p13" descr="image.png">
            <a:extLst>
              <a:ext uri="{FF2B5EF4-FFF2-40B4-BE49-F238E27FC236}">
                <a16:creationId xmlns:a16="http://schemas.microsoft.com/office/drawing/2014/main" id="{FB9EC801-BFB5-DBF0-66F8-109584C962D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5963689" y="5730819"/>
            <a:ext cx="142875" cy="123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oogle Shape;105;p13" descr="image.png">
            <a:extLst>
              <a:ext uri="{FF2B5EF4-FFF2-40B4-BE49-F238E27FC236}">
                <a16:creationId xmlns:a16="http://schemas.microsoft.com/office/drawing/2014/main" id="{5D4AABEA-BE93-D308-9475-F0B2C4011A2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rcRect/>
          <a:stretch>
            <a:fillRect/>
          </a:stretch>
        </p:blipFill>
        <p:spPr>
          <a:xfrm>
            <a:off x="733421" y="2352614"/>
            <a:ext cx="266703" cy="2667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oogle Shape;106;p13" descr="image.png">
            <a:extLst>
              <a:ext uri="{FF2B5EF4-FFF2-40B4-BE49-F238E27FC236}">
                <a16:creationId xmlns:a16="http://schemas.microsoft.com/office/drawing/2014/main" id="{5CD4B524-12D2-788B-B65C-766C329B6CE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rcRect/>
          <a:stretch>
            <a:fillRect/>
          </a:stretch>
        </p:blipFill>
        <p:spPr>
          <a:xfrm>
            <a:off x="5849389" y="2352614"/>
            <a:ext cx="266703" cy="2667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oogle Shape;108;p13" descr="image.png">
            <a:extLst>
              <a:ext uri="{FF2B5EF4-FFF2-40B4-BE49-F238E27FC236}">
                <a16:creationId xmlns:a16="http://schemas.microsoft.com/office/drawing/2014/main" id="{F5166EF9-E9FE-87B9-A8AA-A48CE85D0DD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rcRect/>
          <a:stretch>
            <a:fillRect/>
          </a:stretch>
        </p:blipFill>
        <p:spPr>
          <a:xfrm>
            <a:off x="790571" y="2424056"/>
            <a:ext cx="152403" cy="123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oogle Shape;109;p13" descr="image.png">
            <a:extLst>
              <a:ext uri="{FF2B5EF4-FFF2-40B4-BE49-F238E27FC236}">
                <a16:creationId xmlns:a16="http://schemas.microsoft.com/office/drawing/2014/main" id="{526E1D3A-B0D7-D845-7196-47C067E776DE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rcRect/>
          <a:stretch>
            <a:fillRect/>
          </a:stretch>
        </p:blipFill>
        <p:spPr>
          <a:xfrm>
            <a:off x="5930350" y="2424056"/>
            <a:ext cx="104771" cy="1238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Google Shape;113;p13">
            <a:extLst>
              <a:ext uri="{FF2B5EF4-FFF2-40B4-BE49-F238E27FC236}">
                <a16:creationId xmlns:a16="http://schemas.microsoft.com/office/drawing/2014/main" id="{B2EC25AA-4783-F4CD-CDBF-5358831ADAEE}"/>
              </a:ext>
            </a:extLst>
          </p:cNvPr>
          <p:cNvSpPr txBox="1"/>
          <p:nvPr/>
        </p:nvSpPr>
        <p:spPr>
          <a:xfrm>
            <a:off x="533396" y="1312429"/>
            <a:ext cx="10969060" cy="3462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25" b="0" i="0" u="none" strike="noStrike" kern="1200" cap="none" spc="0" baseline="0" dirty="0">
                <a:solidFill>
                  <a:srgbClr val="475569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Alianza con expertos internacionales para superar la compactación y liberar el potencial radicular. Se hizo el diagnóstico en 6 fincas en Portuguesa y 3 fincas en Guárico para entender el contexto actual e implementar progresivamente prácticas regenerativas.</a:t>
            </a:r>
            <a:endParaRPr lang="es-ES" sz="18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6" name="Google Shape;119;p13">
            <a:extLst>
              <a:ext uri="{FF2B5EF4-FFF2-40B4-BE49-F238E27FC236}">
                <a16:creationId xmlns:a16="http://schemas.microsoft.com/office/drawing/2014/main" id="{CF3BB13F-7C76-A26B-D69C-636396B9DAC9}"/>
              </a:ext>
            </a:extLst>
          </p:cNvPr>
          <p:cNvSpPr txBox="1"/>
          <p:nvPr/>
        </p:nvSpPr>
        <p:spPr>
          <a:xfrm>
            <a:off x="10159304" y="400050"/>
            <a:ext cx="1282125" cy="1384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AGRI. REGENERATIVA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7" name="Google Shape;120;p13">
            <a:extLst>
              <a:ext uri="{FF2B5EF4-FFF2-40B4-BE49-F238E27FC236}">
                <a16:creationId xmlns:a16="http://schemas.microsoft.com/office/drawing/2014/main" id="{4884036E-7A50-7F47-B899-8C885C17EF09}"/>
              </a:ext>
            </a:extLst>
          </p:cNvPr>
          <p:cNvSpPr txBox="1"/>
          <p:nvPr/>
        </p:nvSpPr>
        <p:spPr>
          <a:xfrm>
            <a:off x="733421" y="2733617"/>
            <a:ext cx="4582570" cy="4524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0" i="0" u="none" strike="noStrike" kern="1200" cap="none" spc="0" baseline="0">
                <a:solidFill>
                  <a:srgbClr val="64748B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Ingeniero Agrónomo y asesor internacional (Brasil) con experiencia directa en geografías tropicales homólogas.</a:t>
            </a:r>
            <a:endParaRPr lang="es-E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8" name="Google Shape;121;p13">
            <a:extLst>
              <a:ext uri="{FF2B5EF4-FFF2-40B4-BE49-F238E27FC236}">
                <a16:creationId xmlns:a16="http://schemas.microsoft.com/office/drawing/2014/main" id="{3981AEC3-F0F0-5B6F-1C68-FDB2561874A2}"/>
              </a:ext>
            </a:extLst>
          </p:cNvPr>
          <p:cNvSpPr txBox="1"/>
          <p:nvPr/>
        </p:nvSpPr>
        <p:spPr>
          <a:xfrm>
            <a:off x="1095378" y="5402787"/>
            <a:ext cx="4096795" cy="161583"/>
          </a:xfrm>
          <a:prstGeom prst="rect">
            <a:avLst/>
          </a:prstGeom>
          <a:solidFill>
            <a:srgbClr val="F2F2F2"/>
          </a:solidFill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1" i="0" u="none" strike="noStrike" kern="1200" cap="none" spc="0" baseline="0" dirty="0">
                <a:solidFill>
                  <a:srgbClr val="644B17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Foco técnico: Asociación de cultivos y descompactación biológica.</a:t>
            </a:r>
            <a:endParaRPr lang="es-ES" sz="2400" b="0" i="0" u="none" strike="noStrike" kern="1200" cap="none" spc="0" baseline="0" dirty="0">
              <a:solidFill>
                <a:srgbClr val="644B17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9" name="Google Shape;122;p13">
            <a:extLst>
              <a:ext uri="{FF2B5EF4-FFF2-40B4-BE49-F238E27FC236}">
                <a16:creationId xmlns:a16="http://schemas.microsoft.com/office/drawing/2014/main" id="{1F19F8AC-451E-B0BA-AD7D-028AEC398C49}"/>
              </a:ext>
            </a:extLst>
          </p:cNvPr>
          <p:cNvSpPr txBox="1"/>
          <p:nvPr/>
        </p:nvSpPr>
        <p:spPr>
          <a:xfrm>
            <a:off x="6157368" y="5702244"/>
            <a:ext cx="5310185" cy="161583"/>
          </a:xfrm>
          <a:prstGeom prst="rect">
            <a:avLst/>
          </a:prstGeom>
          <a:solidFill>
            <a:srgbClr val="F2F2F2"/>
          </a:solidFill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1" i="0" u="none" strike="noStrike" kern="1200" cap="none" spc="0" baseline="0">
                <a:solidFill>
                  <a:srgbClr val="644B17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Impacto directo: Resiliencia ante rachas secas y mayor retención de humedad.</a:t>
            </a:r>
            <a:endParaRPr lang="es-ES" sz="2400" b="0" i="0" u="none" strike="noStrike" kern="1200" cap="none" spc="0" baseline="0">
              <a:solidFill>
                <a:srgbClr val="644B17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0" name="Google Shape;127;p13">
            <a:extLst>
              <a:ext uri="{FF2B5EF4-FFF2-40B4-BE49-F238E27FC236}">
                <a16:creationId xmlns:a16="http://schemas.microsoft.com/office/drawing/2014/main" id="{DCB29375-470E-3921-CCE3-B494B8DAEF5D}"/>
              </a:ext>
            </a:extLst>
          </p:cNvPr>
          <p:cNvSpPr txBox="1"/>
          <p:nvPr/>
        </p:nvSpPr>
        <p:spPr>
          <a:xfrm>
            <a:off x="3934864" y="2414528"/>
            <a:ext cx="1304921" cy="1538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0284C7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EMBRAPA / BIOMATRIX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1" name="Google Shape;128;p13">
            <a:extLst>
              <a:ext uri="{FF2B5EF4-FFF2-40B4-BE49-F238E27FC236}">
                <a16:creationId xmlns:a16="http://schemas.microsoft.com/office/drawing/2014/main" id="{3406809B-D03A-D3DE-DE83-CA6078AFF1FB}"/>
              </a:ext>
            </a:extLst>
          </p:cNvPr>
          <p:cNvSpPr txBox="1"/>
          <p:nvPr/>
        </p:nvSpPr>
        <p:spPr>
          <a:xfrm>
            <a:off x="9991721" y="2414528"/>
            <a:ext cx="1466853" cy="161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E5E3A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Oportunidad: +67% Raíz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2" name="Google Shape;129;p13">
            <a:extLst>
              <a:ext uri="{FF2B5EF4-FFF2-40B4-BE49-F238E27FC236}">
                <a16:creationId xmlns:a16="http://schemas.microsoft.com/office/drawing/2014/main" id="{BD3F7371-AC5B-EA3E-75A5-74FE061B43EB}"/>
              </a:ext>
            </a:extLst>
          </p:cNvPr>
          <p:cNvSpPr txBox="1"/>
          <p:nvPr/>
        </p:nvSpPr>
        <p:spPr>
          <a:xfrm>
            <a:off x="5832244" y="5134840"/>
            <a:ext cx="5609185" cy="43626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1" i="0" u="none" strike="noStrike" kern="1200" cap="none" spc="0" baseline="0">
                <a:solidFill>
                  <a:srgbClr val="475569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Evidencia física en calicata:</a:t>
            </a:r>
            <a:r>
              <a:rPr lang="es-ES" sz="1050" b="0" i="0" u="none" strike="noStrike" kern="1200" cap="none" spc="0" baseline="0">
                <a:solidFill>
                  <a:srgbClr val="475569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 La descompactación permite duplicar el volumen de suelo explorado sin costo adicional de fertilizante.</a:t>
            </a:r>
            <a:endParaRPr lang="es-E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3" name="Google Shape;130;p13">
            <a:extLst>
              <a:ext uri="{FF2B5EF4-FFF2-40B4-BE49-F238E27FC236}">
                <a16:creationId xmlns:a16="http://schemas.microsoft.com/office/drawing/2014/main" id="{5CB87B06-DB6F-1654-24B8-9CCB29F92814}"/>
              </a:ext>
            </a:extLst>
          </p:cNvPr>
          <p:cNvSpPr txBox="1"/>
          <p:nvPr/>
        </p:nvSpPr>
        <p:spPr>
          <a:xfrm>
            <a:off x="1076321" y="2381189"/>
            <a:ext cx="3375425" cy="246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0F172A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Validación en Campo: Joao Celso</a:t>
            </a:r>
            <a:endParaRPr lang="es-E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4" name="Google Shape;131;p13">
            <a:extLst>
              <a:ext uri="{FF2B5EF4-FFF2-40B4-BE49-F238E27FC236}">
                <a16:creationId xmlns:a16="http://schemas.microsoft.com/office/drawing/2014/main" id="{9831DFBF-D933-D470-E333-CA8BB1192170}"/>
              </a:ext>
            </a:extLst>
          </p:cNvPr>
          <p:cNvSpPr txBox="1"/>
          <p:nvPr/>
        </p:nvSpPr>
        <p:spPr>
          <a:xfrm>
            <a:off x="6192289" y="2381189"/>
            <a:ext cx="3350416" cy="246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F172A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Diagnóstico Radicular: La Brecha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grpSp>
        <p:nvGrpSpPr>
          <p:cNvPr id="25" name="Grupo 3">
            <a:extLst>
              <a:ext uri="{FF2B5EF4-FFF2-40B4-BE49-F238E27FC236}">
                <a16:creationId xmlns:a16="http://schemas.microsoft.com/office/drawing/2014/main" id="{D08623CE-CB0F-EE2A-C645-A2B1D2F02D34}"/>
              </a:ext>
            </a:extLst>
          </p:cNvPr>
          <p:cNvGrpSpPr/>
          <p:nvPr/>
        </p:nvGrpSpPr>
        <p:grpSpPr>
          <a:xfrm>
            <a:off x="5849389" y="2733617"/>
            <a:ext cx="5809201" cy="1051569"/>
            <a:chOff x="5849389" y="2733617"/>
            <a:chExt cx="5809201" cy="1051569"/>
          </a:xfrm>
        </p:grpSpPr>
        <p:sp>
          <p:nvSpPr>
            <p:cNvPr id="26" name="Google Shape;96;p13">
              <a:extLst>
                <a:ext uri="{FF2B5EF4-FFF2-40B4-BE49-F238E27FC236}">
                  <a16:creationId xmlns:a16="http://schemas.microsoft.com/office/drawing/2014/main" id="{C6368782-70DC-5CE2-8680-352A7231A13D}"/>
                </a:ext>
              </a:extLst>
            </p:cNvPr>
            <p:cNvSpPr/>
            <p:nvPr/>
          </p:nvSpPr>
          <p:spPr>
            <a:xfrm>
              <a:off x="5849389" y="2733617"/>
              <a:ext cx="2759339" cy="1051569"/>
            </a:xfrm>
            <a:custGeom>
              <a:avLst>
                <a:gd name="f0" fmla="val 129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9528" cap="flat">
              <a:solidFill>
                <a:srgbClr val="FECACA"/>
              </a:solidFill>
              <a:prstDash val="solid"/>
              <a:round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sp>
          <p:nvSpPr>
            <p:cNvPr id="27" name="Google Shape;97;p13">
              <a:extLst>
                <a:ext uri="{FF2B5EF4-FFF2-40B4-BE49-F238E27FC236}">
                  <a16:creationId xmlns:a16="http://schemas.microsoft.com/office/drawing/2014/main" id="{A2FA90BE-8672-9CBD-7087-C1CB8BDE9C7E}"/>
                </a:ext>
              </a:extLst>
            </p:cNvPr>
            <p:cNvSpPr/>
            <p:nvPr/>
          </p:nvSpPr>
          <p:spPr>
            <a:xfrm>
              <a:off x="8743117" y="2733617"/>
              <a:ext cx="2759339" cy="1051569"/>
            </a:xfrm>
            <a:custGeom>
              <a:avLst>
                <a:gd name="f0" fmla="val 129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9528" cap="flat">
              <a:solidFill>
                <a:srgbClr val="BBF7D0"/>
              </a:solidFill>
              <a:prstDash val="solid"/>
              <a:round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sp>
          <p:nvSpPr>
            <p:cNvPr id="28" name="Google Shape;98;p13">
              <a:extLst>
                <a:ext uri="{FF2B5EF4-FFF2-40B4-BE49-F238E27FC236}">
                  <a16:creationId xmlns:a16="http://schemas.microsoft.com/office/drawing/2014/main" id="{9071A5F2-5BD1-ED15-4F48-A1F38B2A46B5}"/>
                </a:ext>
              </a:extLst>
            </p:cNvPr>
            <p:cNvSpPr/>
            <p:nvPr/>
          </p:nvSpPr>
          <p:spPr>
            <a:xfrm>
              <a:off x="6609831" y="3369262"/>
              <a:ext cx="1238307" cy="149102"/>
            </a:xfrm>
            <a:custGeom>
              <a:avLst>
                <a:gd name="f0" fmla="val 4547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EF2F2"/>
            </a:solidFill>
            <a:ln cap="flat">
              <a:noFill/>
              <a:prstDash val="solid"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sp>
          <p:nvSpPr>
            <p:cNvPr id="29" name="Google Shape;99;p13">
              <a:extLst>
                <a:ext uri="{FF2B5EF4-FFF2-40B4-BE49-F238E27FC236}">
                  <a16:creationId xmlns:a16="http://schemas.microsoft.com/office/drawing/2014/main" id="{9A5F7942-8C19-4AF1-AE06-0E458F9EDDF2}"/>
                </a:ext>
              </a:extLst>
            </p:cNvPr>
            <p:cNvSpPr/>
            <p:nvPr/>
          </p:nvSpPr>
          <p:spPr>
            <a:xfrm>
              <a:off x="9407566" y="3369262"/>
              <a:ext cx="1430295" cy="149102"/>
            </a:xfrm>
            <a:custGeom>
              <a:avLst>
                <a:gd name="f0" fmla="val 4547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0FDF4"/>
            </a:solidFill>
            <a:ln cap="flat">
              <a:noFill/>
              <a:prstDash val="solid"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pic>
          <p:nvPicPr>
            <p:cNvPr id="30" name="Google Shape;110;p13" descr="image.png">
              <a:extLst>
                <a:ext uri="{FF2B5EF4-FFF2-40B4-BE49-F238E27FC236}">
                  <a16:creationId xmlns:a16="http://schemas.microsoft.com/office/drawing/2014/main" id="{BE1AA60C-8AD1-C7F5-C269-29F21B233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/>
            </a:blip>
            <a:srcRect/>
            <a:stretch>
              <a:fillRect/>
            </a:stretch>
          </p:blipFill>
          <p:spPr>
            <a:xfrm>
              <a:off x="6845015" y="2867018"/>
              <a:ext cx="86392" cy="94174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31" name="Google Shape;111;p13" descr="image.png">
              <a:extLst>
                <a:ext uri="{FF2B5EF4-FFF2-40B4-BE49-F238E27FC236}">
                  <a16:creationId xmlns:a16="http://schemas.microsoft.com/office/drawing/2014/main" id="{9F2CF2A5-E9A7-781A-E4C6-79C6435D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/>
            </a:blip>
            <a:srcRect/>
            <a:stretch>
              <a:fillRect/>
            </a:stretch>
          </p:blipFill>
          <p:spPr>
            <a:xfrm>
              <a:off x="9426769" y="2867018"/>
              <a:ext cx="115186" cy="94174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32" name="Google Shape;132;p13">
              <a:extLst>
                <a:ext uri="{FF2B5EF4-FFF2-40B4-BE49-F238E27FC236}">
                  <a16:creationId xmlns:a16="http://schemas.microsoft.com/office/drawing/2014/main" id="{BA1761FD-B567-91A7-96D9-096C14B61300}"/>
                </a:ext>
              </a:extLst>
            </p:cNvPr>
            <p:cNvSpPr txBox="1"/>
            <p:nvPr/>
          </p:nvSpPr>
          <p:spPr>
            <a:xfrm>
              <a:off x="6633834" y="2924132"/>
              <a:ext cx="1190311" cy="49244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200" b="1" i="0" u="none" strike="noStrike" kern="1200" cap="none" spc="0" baseline="0">
                  <a:solidFill>
                    <a:srgbClr val="991B1B"/>
                  </a:solidFill>
                  <a:uFillTx/>
                  <a:latin typeface="72 Condensed" pitchFamily="34"/>
                  <a:ea typeface="Space Grotesk"/>
                  <a:cs typeface="72 Condensed" pitchFamily="34"/>
                </a:rPr>
                <a:t>30 cm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3" name="Google Shape;133;p13">
              <a:extLst>
                <a:ext uri="{FF2B5EF4-FFF2-40B4-BE49-F238E27FC236}">
                  <a16:creationId xmlns:a16="http://schemas.microsoft.com/office/drawing/2014/main" id="{D45E8FB6-0238-5F89-8731-5111681C9F28}"/>
                </a:ext>
              </a:extLst>
            </p:cNvPr>
            <p:cNvSpPr txBox="1"/>
            <p:nvPr/>
          </p:nvSpPr>
          <p:spPr>
            <a:xfrm>
              <a:off x="6531842" y="3384962"/>
              <a:ext cx="1394295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B91C1C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Suelo Compactado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4" name="Google Shape;135;p13">
              <a:extLst>
                <a:ext uri="{FF2B5EF4-FFF2-40B4-BE49-F238E27FC236}">
                  <a16:creationId xmlns:a16="http://schemas.microsoft.com/office/drawing/2014/main" id="{A9AC9987-8827-E964-0AE9-142FBAC31FC9}"/>
                </a:ext>
              </a:extLst>
            </p:cNvPr>
            <p:cNvSpPr txBox="1"/>
            <p:nvPr/>
          </p:nvSpPr>
          <p:spPr>
            <a:xfrm>
              <a:off x="9527563" y="2924132"/>
              <a:ext cx="1190311" cy="49244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200" b="1" i="0" u="none" strike="noStrike" kern="1200" cap="none" spc="0" baseline="0">
                  <a:solidFill>
                    <a:srgbClr val="166534"/>
                  </a:solidFill>
                  <a:uFillTx/>
                  <a:latin typeface="72 Condensed" pitchFamily="34"/>
                  <a:ea typeface="Space Grotesk"/>
                  <a:cs typeface="72 Condensed" pitchFamily="34"/>
                </a:rPr>
                <a:t>50 cm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5" name="Google Shape;136;p13">
              <a:extLst>
                <a:ext uri="{FF2B5EF4-FFF2-40B4-BE49-F238E27FC236}">
                  <a16:creationId xmlns:a16="http://schemas.microsoft.com/office/drawing/2014/main" id="{047FBD91-576C-8B27-FACE-381E8ADDEE0F}"/>
                </a:ext>
              </a:extLst>
            </p:cNvPr>
            <p:cNvSpPr txBox="1"/>
            <p:nvPr/>
          </p:nvSpPr>
          <p:spPr>
            <a:xfrm>
              <a:off x="9305574" y="3384962"/>
              <a:ext cx="1634270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15803D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Suelo Descompactado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6" name="Google Shape;137;p13">
              <a:extLst>
                <a:ext uri="{FF2B5EF4-FFF2-40B4-BE49-F238E27FC236}">
                  <a16:creationId xmlns:a16="http://schemas.microsoft.com/office/drawing/2014/main" id="{1F2D013E-2D6D-EA63-4AEF-C8EFFDE230EB}"/>
                </a:ext>
              </a:extLst>
            </p:cNvPr>
            <p:cNvSpPr txBox="1"/>
            <p:nvPr/>
          </p:nvSpPr>
          <p:spPr>
            <a:xfrm>
              <a:off x="8586828" y="3565455"/>
              <a:ext cx="3071762" cy="15388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000" b="0" i="0" u="none" strike="noStrike" kern="1200" cap="none" spc="0" baseline="0">
                  <a:solidFill>
                    <a:srgbClr val="14532D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Mayor exploración hídrica y absorción nutricional.</a:t>
              </a:r>
              <a:endParaRPr lang="es-E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7" name="Google Shape;138;p13">
              <a:extLst>
                <a:ext uri="{FF2B5EF4-FFF2-40B4-BE49-F238E27FC236}">
                  <a16:creationId xmlns:a16="http://schemas.microsoft.com/office/drawing/2014/main" id="{5589D993-35EF-6927-019B-FC1917DB5BF8}"/>
                </a:ext>
              </a:extLst>
            </p:cNvPr>
            <p:cNvSpPr txBox="1"/>
            <p:nvPr/>
          </p:nvSpPr>
          <p:spPr>
            <a:xfrm>
              <a:off x="6845015" y="2851327"/>
              <a:ext cx="911931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991B1B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Venezuela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8" name="Google Shape;139;p13">
              <a:extLst>
                <a:ext uri="{FF2B5EF4-FFF2-40B4-BE49-F238E27FC236}">
                  <a16:creationId xmlns:a16="http://schemas.microsoft.com/office/drawing/2014/main" id="{A798D231-949C-155D-A917-A6E4E0C931EE}"/>
                </a:ext>
              </a:extLst>
            </p:cNvPr>
            <p:cNvSpPr txBox="1"/>
            <p:nvPr/>
          </p:nvSpPr>
          <p:spPr>
            <a:xfrm>
              <a:off x="9447169" y="2851327"/>
              <a:ext cx="1523884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166534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Referencia Regional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</p:grpSp>
      <p:sp>
        <p:nvSpPr>
          <p:cNvPr id="39" name="Freeform 7">
            <a:extLst>
              <a:ext uri="{FF2B5EF4-FFF2-40B4-BE49-F238E27FC236}">
                <a16:creationId xmlns:a16="http://schemas.microsoft.com/office/drawing/2014/main" id="{961952FE-2005-3669-997E-F9B429AEBC46}"/>
              </a:ext>
            </a:extLst>
          </p:cNvPr>
          <p:cNvSpPr/>
          <p:nvPr/>
        </p:nvSpPr>
        <p:spPr>
          <a:xfrm>
            <a:off x="1611781" y="3248918"/>
            <a:ext cx="2730580" cy="1820387"/>
          </a:xfrm>
          <a:custGeom>
            <a:avLst/>
            <a:gdLst>
              <a:gd name="f0" fmla="val w"/>
              <a:gd name="f1" fmla="val h"/>
              <a:gd name="f2" fmla="val 0"/>
              <a:gd name="f3" fmla="val 9661906"/>
              <a:gd name="f4" fmla="val 4818158"/>
              <a:gd name="f5" fmla="val 258700"/>
              <a:gd name="f6" fmla="val 115855"/>
              <a:gd name="f7" fmla="val 186436"/>
              <a:gd name="f8" fmla="val 416306"/>
              <a:gd name="f9" fmla="val 9245600"/>
              <a:gd name="f10" fmla="val 9475597"/>
              <a:gd name="f11" fmla="val 4559457"/>
              <a:gd name="f12" fmla="val 4702382"/>
              <a:gd name="f13" fmla="val 9475470"/>
              <a:gd name="f14" fmla="*/ f0 1 9661906"/>
              <a:gd name="f15" fmla="*/ f1 1 4818158"/>
              <a:gd name="f16" fmla="val f2"/>
              <a:gd name="f17" fmla="val f3"/>
              <a:gd name="f18" fmla="val f4"/>
              <a:gd name="f19" fmla="+- f18 0 f16"/>
              <a:gd name="f20" fmla="+- f17 0 f16"/>
              <a:gd name="f21" fmla="*/ f20 1 9661906"/>
              <a:gd name="f22" fmla="*/ f19 1 4818158"/>
              <a:gd name="f23" fmla="*/ f16 1 f21"/>
              <a:gd name="f24" fmla="*/ f17 1 f21"/>
              <a:gd name="f25" fmla="*/ f16 1 f22"/>
              <a:gd name="f26" fmla="*/ f18 1 f22"/>
              <a:gd name="f27" fmla="*/ f23 f14 1"/>
              <a:gd name="f28" fmla="*/ f24 f14 1"/>
              <a:gd name="f29" fmla="*/ f26 f15 1"/>
              <a:gd name="f30" fmla="*/ f25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7" t="f30" r="f28" b="f29"/>
            <a:pathLst>
              <a:path w="9661906" h="4818158">
                <a:moveTo>
                  <a:pt x="f2" y="f5"/>
                </a:moveTo>
                <a:cubicBezTo>
                  <a:pt x="f2" y="f6"/>
                  <a:pt x="f7" y="f2"/>
                  <a:pt x="f8" y="f2"/>
                </a:cubicBezTo>
                <a:lnTo>
                  <a:pt x="f9" y="f2"/>
                </a:lnTo>
                <a:cubicBezTo>
                  <a:pt x="f10" y="f2"/>
                  <a:pt x="f3" y="f6"/>
                  <a:pt x="f3" y="f5"/>
                </a:cubicBezTo>
                <a:lnTo>
                  <a:pt x="f3" y="f11"/>
                </a:lnTo>
                <a:cubicBezTo>
                  <a:pt x="f3" y="f12"/>
                  <a:pt x="f13" y="f4"/>
                  <a:pt x="f9" y="f4"/>
                </a:cubicBezTo>
                <a:lnTo>
                  <a:pt x="f8" y="f4"/>
                </a:lnTo>
                <a:cubicBezTo>
                  <a:pt x="f7" y="f4"/>
                  <a:pt x="f2" y="f12"/>
                  <a:pt x="f2" y="f11"/>
                </a:cubicBezTo>
                <a:close/>
              </a:path>
            </a:pathLst>
          </a:custGeom>
          <a:blipFill>
            <a:blip r:embed="rId12">
              <a:alphaModFix/>
            </a:blip>
            <a:srcRect t="44000" b="6000"/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40" name="Google Shape;134;p13">
            <a:extLst>
              <a:ext uri="{FF2B5EF4-FFF2-40B4-BE49-F238E27FC236}">
                <a16:creationId xmlns:a16="http://schemas.microsoft.com/office/drawing/2014/main" id="{3A7B9ED8-076D-5254-CC91-61BDD8B56CC1}"/>
              </a:ext>
            </a:extLst>
          </p:cNvPr>
          <p:cNvSpPr txBox="1"/>
          <p:nvPr/>
        </p:nvSpPr>
        <p:spPr>
          <a:xfrm>
            <a:off x="5765749" y="3583240"/>
            <a:ext cx="2905121" cy="1538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7F1D1D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Desarrollo radicular limitado por piso de arado.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41" name="Freeform 15">
            <a:extLst>
              <a:ext uri="{FF2B5EF4-FFF2-40B4-BE49-F238E27FC236}">
                <a16:creationId xmlns:a16="http://schemas.microsoft.com/office/drawing/2014/main" id="{BA1A3AA9-7AAE-87E6-CDDB-B91752517814}"/>
              </a:ext>
            </a:extLst>
          </p:cNvPr>
          <p:cNvSpPr/>
          <p:nvPr/>
        </p:nvSpPr>
        <p:spPr>
          <a:xfrm>
            <a:off x="6559914" y="3910705"/>
            <a:ext cx="1378165" cy="1110611"/>
          </a:xfrm>
          <a:custGeom>
            <a:avLst/>
            <a:gdLst>
              <a:gd name="f0" fmla="val w"/>
              <a:gd name="f1" fmla="val h"/>
              <a:gd name="f2" fmla="val 0"/>
              <a:gd name="f3" fmla="val 2442973"/>
              <a:gd name="f4" fmla="val 3257298"/>
              <a:gd name="f5" fmla="val 2442974"/>
              <a:gd name="f6" fmla="*/ f0 1 2442973"/>
              <a:gd name="f7" fmla="*/ f1 1 3257298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2442973"/>
              <a:gd name="f14" fmla="*/ f11 1 3257298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442973" h="3257298">
                <a:moveTo>
                  <a:pt x="f2" y="f2"/>
                </a:moveTo>
                <a:lnTo>
                  <a:pt x="f5" y="f2"/>
                </a:lnTo>
                <a:lnTo>
                  <a:pt x="f5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3">
              <a:alphaModFix/>
            </a:blip>
            <a:srcRect t="20000" b="19560"/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2" name="Freeform 14">
            <a:extLst>
              <a:ext uri="{FF2B5EF4-FFF2-40B4-BE49-F238E27FC236}">
                <a16:creationId xmlns:a16="http://schemas.microsoft.com/office/drawing/2014/main" id="{F8F4D587-0607-C38F-4758-2943F88AE9FE}"/>
              </a:ext>
            </a:extLst>
          </p:cNvPr>
          <p:cNvSpPr/>
          <p:nvPr/>
        </p:nvSpPr>
        <p:spPr>
          <a:xfrm>
            <a:off x="9422233" y="3933565"/>
            <a:ext cx="1378165" cy="1063118"/>
          </a:xfrm>
          <a:custGeom>
            <a:avLst/>
            <a:gdLst>
              <a:gd name="f0" fmla="val w"/>
              <a:gd name="f1" fmla="val h"/>
              <a:gd name="f2" fmla="val 0"/>
              <a:gd name="f3" fmla="val 4403036"/>
              <a:gd name="f4" fmla="val 3249565"/>
              <a:gd name="f5" fmla="*/ f0 1 4403036"/>
              <a:gd name="f6" fmla="*/ f1 1 324956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03036"/>
              <a:gd name="f13" fmla="*/ f10 1 324956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03036" h="324956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9F65CD7A-B2F4-36E0-B3E2-5A47834A3F99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2026 · LO QUE HICIMOS EN CAMPO</a:t>
            </a: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84532F79-E731-498E-2B70-71B4746C85D3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El futuro: La agricultura regenerativa</a:t>
            </a:r>
          </a:p>
        </p:txBody>
      </p:sp>
      <p:sp>
        <p:nvSpPr>
          <p:cNvPr id="45" name="CuadroTexto 17">
            <a:extLst>
              <a:ext uri="{FF2B5EF4-FFF2-40B4-BE49-F238E27FC236}">
                <a16:creationId xmlns:a16="http://schemas.microsoft.com/office/drawing/2014/main" id="{CE13EC41-E4B5-8E39-7126-3BB2D7DCD972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AGRICULTURA REG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860B98-185E-DD0A-9066-FABF1376B94E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82D1FA32-1914-9F0E-D6D2-3985E5FEE78F}"/>
              </a:ext>
            </a:extLst>
          </p:cNvPr>
          <p:cNvSpPr/>
          <p:nvPr/>
        </p:nvSpPr>
        <p:spPr>
          <a:xfrm>
            <a:off x="-74432" y="-383810"/>
            <a:ext cx="12493895" cy="7233388"/>
          </a:xfrm>
          <a:prstGeom prst="rect">
            <a:avLst/>
          </a:prstGeom>
          <a:solidFill>
            <a:srgbClr val="0D0D0D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3728CB66-FF72-6FAD-E1C4-22ECF2509AD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C9962E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1F2E18"/>
                </a:solidFill>
                <a:uFillTx/>
                <a:latin typeface="72 Condensed" pitchFamily="34"/>
                <a:cs typeface="72 Condensed" pitchFamily="34"/>
              </a:rPr>
              <a:t>I+D 2027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EEBE7CFE-BF03-8ECC-C456-0B5663FC419F}"/>
              </a:ext>
            </a:extLst>
          </p:cNvPr>
          <p:cNvSpPr txBox="1"/>
          <p:nvPr/>
        </p:nvSpPr>
        <p:spPr>
          <a:xfrm>
            <a:off x="548640" y="685800"/>
            <a:ext cx="42062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· LO QUE VIENE</a:t>
            </a: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E9C1A92A-01E9-27F7-3F56-6AF4D1751989}"/>
              </a:ext>
            </a:extLst>
          </p:cNvPr>
          <p:cNvSpPr txBox="1"/>
          <p:nvPr/>
        </p:nvSpPr>
        <p:spPr>
          <a:xfrm>
            <a:off x="411480" y="960120"/>
            <a:ext cx="4206240" cy="1737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2027</a:t>
            </a: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2F5BE600-EEA0-CB6E-6518-46162E872814}"/>
              </a:ext>
            </a:extLst>
          </p:cNvPr>
          <p:cNvSpPr txBox="1"/>
          <p:nvPr/>
        </p:nvSpPr>
        <p:spPr>
          <a:xfrm>
            <a:off x="548640" y="2606039"/>
            <a:ext cx="3840480" cy="9941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400" b="0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Investigaciones que</a:t>
            </a:r>
            <a:r>
              <a:rPr lang="es-ES" sz="34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 cuidan tu inversión</a:t>
            </a:r>
          </a:p>
        </p:txBody>
      </p:sp>
      <p:sp>
        <p:nvSpPr>
          <p:cNvPr id="8" name="TextBox 25">
            <a:extLst>
              <a:ext uri="{FF2B5EF4-FFF2-40B4-BE49-F238E27FC236}">
                <a16:creationId xmlns:a16="http://schemas.microsoft.com/office/drawing/2014/main" id="{C963B98A-CAD8-56DC-3882-5F3CB1AD0366}"/>
              </a:ext>
            </a:extLst>
          </p:cNvPr>
          <p:cNvSpPr txBox="1"/>
          <p:nvPr/>
        </p:nvSpPr>
        <p:spPr>
          <a:xfrm>
            <a:off x="548640" y="3794759"/>
            <a:ext cx="3273963" cy="4308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4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No te pierdas lo que el programa Saturno trae para ti el próximo año</a:t>
            </a:r>
          </a:p>
        </p:txBody>
      </p:sp>
      <p:sp>
        <p:nvSpPr>
          <p:cNvPr id="9" name="Rounded Rectangle 26">
            <a:extLst>
              <a:ext uri="{FF2B5EF4-FFF2-40B4-BE49-F238E27FC236}">
                <a16:creationId xmlns:a16="http://schemas.microsoft.com/office/drawing/2014/main" id="{7FCBB387-A452-2C00-32E7-C7221D03F41D}"/>
              </a:ext>
            </a:extLst>
          </p:cNvPr>
          <p:cNvSpPr/>
          <p:nvPr/>
        </p:nvSpPr>
        <p:spPr>
          <a:xfrm>
            <a:off x="487680" y="5246076"/>
            <a:ext cx="1231391" cy="377484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11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EN INVESTIGACIÓN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3D2121FF-09CD-620A-5F51-D98501B576E9}"/>
              </a:ext>
            </a:extLst>
          </p:cNvPr>
          <p:cNvSpPr/>
          <p:nvPr/>
        </p:nvSpPr>
        <p:spPr>
          <a:xfrm>
            <a:off x="1810512" y="5257800"/>
            <a:ext cx="1170432" cy="3657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11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 IMPLEMENTAR</a:t>
            </a:r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846EB7B9-4786-5F37-171A-B2098F3941E2}"/>
              </a:ext>
            </a:extLst>
          </p:cNvPr>
          <p:cNvSpPr/>
          <p:nvPr/>
        </p:nvSpPr>
        <p:spPr>
          <a:xfrm>
            <a:off x="3072384" y="5257800"/>
            <a:ext cx="1170432" cy="3657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11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 EJECUCIÓN</a:t>
            </a:r>
          </a:p>
        </p:txBody>
      </p:sp>
      <p:sp>
        <p:nvSpPr>
          <p:cNvPr id="12" name="TextBox 29">
            <a:extLst>
              <a:ext uri="{FF2B5EF4-FFF2-40B4-BE49-F238E27FC236}">
                <a16:creationId xmlns:a16="http://schemas.microsoft.com/office/drawing/2014/main" id="{58F1D226-3DA9-B655-6ABA-46AF256B6C74}"/>
              </a:ext>
            </a:extLst>
          </p:cNvPr>
          <p:cNvSpPr txBox="1"/>
          <p:nvPr/>
        </p:nvSpPr>
        <p:spPr>
          <a:xfrm>
            <a:off x="548640" y="5760720"/>
            <a:ext cx="3749039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8BAA5E"/>
                </a:solidFill>
                <a:uFillTx/>
                <a:latin typeface="72 Condensed"/>
              </a:rPr>
              <a:t>Tres pilares de la próxima etapa del programa</a:t>
            </a:r>
          </a:p>
        </p:txBody>
      </p:sp>
      <p:sp>
        <p:nvSpPr>
          <p:cNvPr id="13" name="Rounded Rectangle 30">
            <a:extLst>
              <a:ext uri="{FF2B5EF4-FFF2-40B4-BE49-F238E27FC236}">
                <a16:creationId xmlns:a16="http://schemas.microsoft.com/office/drawing/2014/main" id="{5520B9C9-B032-6385-AF4F-A9D148C6961E}"/>
              </a:ext>
            </a:extLst>
          </p:cNvPr>
          <p:cNvSpPr/>
          <p:nvPr/>
        </p:nvSpPr>
        <p:spPr>
          <a:xfrm>
            <a:off x="4846320" y="658368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4" name="Oval 31">
            <a:extLst>
              <a:ext uri="{FF2B5EF4-FFF2-40B4-BE49-F238E27FC236}">
                <a16:creationId xmlns:a16="http://schemas.microsoft.com/office/drawing/2014/main" id="{B03E9CA1-5700-98CC-CD9C-C622D030EFDF}"/>
              </a:ext>
            </a:extLst>
          </p:cNvPr>
          <p:cNvSpPr/>
          <p:nvPr/>
        </p:nvSpPr>
        <p:spPr>
          <a:xfrm>
            <a:off x="5029200" y="832104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5" name="Picture 32" descr="sat_g.png">
            <a:extLst>
              <a:ext uri="{FF2B5EF4-FFF2-40B4-BE49-F238E27FC236}">
                <a16:creationId xmlns:a16="http://schemas.microsoft.com/office/drawing/2014/main" id="{B0D88A68-D6B9-DB35-17BD-CCEBFF76D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982" y="966886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TextBox 33">
            <a:extLst>
              <a:ext uri="{FF2B5EF4-FFF2-40B4-BE49-F238E27FC236}">
                <a16:creationId xmlns:a16="http://schemas.microsoft.com/office/drawing/2014/main" id="{B058182B-162E-2502-1C09-78BA7B825C45}"/>
              </a:ext>
            </a:extLst>
          </p:cNvPr>
          <p:cNvSpPr txBox="1"/>
          <p:nvPr/>
        </p:nvSpPr>
        <p:spPr>
          <a:xfrm>
            <a:off x="5852160" y="786384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Tu campo, visto desde el satélite</a:t>
            </a:r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5E2C93D2-D759-451B-64DE-89383601DAD0}"/>
              </a:ext>
            </a:extLst>
          </p:cNvPr>
          <p:cNvSpPr txBox="1"/>
          <p:nvPr/>
        </p:nvSpPr>
        <p:spPr>
          <a:xfrm>
            <a:off x="5852160" y="1097280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Imágenes satelitales y nuevas metodologías de muestreo para evaluar el estado del cultivo de forma constante.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AE0C5464-217D-0F43-73D5-35482C5D3C4B}"/>
              </a:ext>
            </a:extLst>
          </p:cNvPr>
          <p:cNvSpPr/>
          <p:nvPr/>
        </p:nvSpPr>
        <p:spPr>
          <a:xfrm>
            <a:off x="10488168" y="786384"/>
            <a:ext cx="1078992" cy="180502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EN INVESTIGACIÓN</a:t>
            </a:r>
          </a:p>
        </p:txBody>
      </p:sp>
      <p:sp>
        <p:nvSpPr>
          <p:cNvPr id="19" name="Rounded Rectangle 36">
            <a:extLst>
              <a:ext uri="{FF2B5EF4-FFF2-40B4-BE49-F238E27FC236}">
                <a16:creationId xmlns:a16="http://schemas.microsoft.com/office/drawing/2014/main" id="{7F0F99D4-B454-84BB-3E17-6B2447DFF7A0}"/>
              </a:ext>
            </a:extLst>
          </p:cNvPr>
          <p:cNvSpPr/>
          <p:nvPr/>
        </p:nvSpPr>
        <p:spPr>
          <a:xfrm>
            <a:off x="4846320" y="1746504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0" name="Oval 37">
            <a:extLst>
              <a:ext uri="{FF2B5EF4-FFF2-40B4-BE49-F238E27FC236}">
                <a16:creationId xmlns:a16="http://schemas.microsoft.com/office/drawing/2014/main" id="{19F1FEC8-8CD0-4E83-4177-6B395240AAC5}"/>
              </a:ext>
            </a:extLst>
          </p:cNvPr>
          <p:cNvSpPr/>
          <p:nvPr/>
        </p:nvSpPr>
        <p:spPr>
          <a:xfrm>
            <a:off x="5029200" y="1920240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1" name="Picture 38" descr="map_g.png">
            <a:extLst>
              <a:ext uri="{FF2B5EF4-FFF2-40B4-BE49-F238E27FC236}">
                <a16:creationId xmlns:a16="http://schemas.microsoft.com/office/drawing/2014/main" id="{6E3D8E31-3E39-6736-5646-22908DC73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982" y="2055022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TextBox 39">
            <a:extLst>
              <a:ext uri="{FF2B5EF4-FFF2-40B4-BE49-F238E27FC236}">
                <a16:creationId xmlns:a16="http://schemas.microsoft.com/office/drawing/2014/main" id="{9BC0060E-8421-FBB3-7E92-94F764937748}"/>
              </a:ext>
            </a:extLst>
          </p:cNvPr>
          <p:cNvSpPr txBox="1"/>
          <p:nvPr/>
        </p:nvSpPr>
        <p:spPr>
          <a:xfrm>
            <a:off x="5852160" y="1874519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Muestreo de suelo inteligente</a:t>
            </a:r>
          </a:p>
        </p:txBody>
      </p:sp>
      <p:sp>
        <p:nvSpPr>
          <p:cNvPr id="23" name="TextBox 40">
            <a:extLst>
              <a:ext uri="{FF2B5EF4-FFF2-40B4-BE49-F238E27FC236}">
                <a16:creationId xmlns:a16="http://schemas.microsoft.com/office/drawing/2014/main" id="{161C7235-5B21-3FD4-FFC2-E5B9C9461FCA}"/>
              </a:ext>
            </a:extLst>
          </p:cNvPr>
          <p:cNvSpPr txBox="1"/>
          <p:nvPr/>
        </p:nvSpPr>
        <p:spPr>
          <a:xfrm>
            <a:off x="5852160" y="2185415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Muestreos guiados por mapas satelitales y/o de drones: medimos donde realmente importa.</a:t>
            </a:r>
          </a:p>
        </p:txBody>
      </p:sp>
      <p:sp>
        <p:nvSpPr>
          <p:cNvPr id="24" name="Rounded Rectangle 41">
            <a:extLst>
              <a:ext uri="{FF2B5EF4-FFF2-40B4-BE49-F238E27FC236}">
                <a16:creationId xmlns:a16="http://schemas.microsoft.com/office/drawing/2014/main" id="{09E1F55B-643B-E9C8-5346-00C6629B1A92}"/>
              </a:ext>
            </a:extLst>
          </p:cNvPr>
          <p:cNvSpPr/>
          <p:nvPr/>
        </p:nvSpPr>
        <p:spPr>
          <a:xfrm>
            <a:off x="10607040" y="1874519"/>
            <a:ext cx="960120" cy="20116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 EJECUCIÓN</a:t>
            </a:r>
          </a:p>
        </p:txBody>
      </p:sp>
      <p:sp>
        <p:nvSpPr>
          <p:cNvPr id="25" name="Rounded Rectangle 42">
            <a:extLst>
              <a:ext uri="{FF2B5EF4-FFF2-40B4-BE49-F238E27FC236}">
                <a16:creationId xmlns:a16="http://schemas.microsoft.com/office/drawing/2014/main" id="{8812599D-C220-67C4-C06A-62D2F544D78F}"/>
              </a:ext>
            </a:extLst>
          </p:cNvPr>
          <p:cNvSpPr/>
          <p:nvPr/>
        </p:nvSpPr>
        <p:spPr>
          <a:xfrm>
            <a:off x="4846320" y="2834640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Oval 43">
            <a:extLst>
              <a:ext uri="{FF2B5EF4-FFF2-40B4-BE49-F238E27FC236}">
                <a16:creationId xmlns:a16="http://schemas.microsoft.com/office/drawing/2014/main" id="{717CACDB-B33E-9B24-CD03-2E4121FDE3AA}"/>
              </a:ext>
            </a:extLst>
          </p:cNvPr>
          <p:cNvSpPr/>
          <p:nvPr/>
        </p:nvSpPr>
        <p:spPr>
          <a:xfrm>
            <a:off x="5029200" y="3008376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7" name="Picture 44" descr="chart_g.png">
            <a:extLst>
              <a:ext uri="{FF2B5EF4-FFF2-40B4-BE49-F238E27FC236}">
                <a16:creationId xmlns:a16="http://schemas.microsoft.com/office/drawing/2014/main" id="{9865024F-B19B-429A-2D52-CC83DE37E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3982" y="3143158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8" name="TextBox 45">
            <a:extLst>
              <a:ext uri="{FF2B5EF4-FFF2-40B4-BE49-F238E27FC236}">
                <a16:creationId xmlns:a16="http://schemas.microsoft.com/office/drawing/2014/main" id="{34EBC3F7-632D-573B-86DD-6977BEA11D6D}"/>
              </a:ext>
            </a:extLst>
          </p:cNvPr>
          <p:cNvSpPr txBox="1"/>
          <p:nvPr/>
        </p:nvSpPr>
        <p:spPr>
          <a:xfrm>
            <a:off x="5852160" y="2962656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Fertilización a la medida de cada zona</a:t>
            </a:r>
          </a:p>
        </p:txBody>
      </p:sp>
      <p:sp>
        <p:nvSpPr>
          <p:cNvPr id="29" name="TextBox 46">
            <a:extLst>
              <a:ext uri="{FF2B5EF4-FFF2-40B4-BE49-F238E27FC236}">
                <a16:creationId xmlns:a16="http://schemas.microsoft.com/office/drawing/2014/main" id="{CEFB4FB8-F2C0-1414-A491-70AB16BAC846}"/>
              </a:ext>
            </a:extLst>
          </p:cNvPr>
          <p:cNvSpPr txBox="1"/>
          <p:nvPr/>
        </p:nvSpPr>
        <p:spPr>
          <a:xfrm>
            <a:off x="5852160" y="3273552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Agrupamos por zonas la data de la cosecha anterior para aplicar lo que cada lote necesita de verdad.</a:t>
            </a:r>
          </a:p>
        </p:txBody>
      </p:sp>
      <p:sp>
        <p:nvSpPr>
          <p:cNvPr id="30" name="Rounded Rectangle 47">
            <a:extLst>
              <a:ext uri="{FF2B5EF4-FFF2-40B4-BE49-F238E27FC236}">
                <a16:creationId xmlns:a16="http://schemas.microsoft.com/office/drawing/2014/main" id="{558EC93C-2CB3-468D-911C-E9FF0FE94475}"/>
              </a:ext>
            </a:extLst>
          </p:cNvPr>
          <p:cNvSpPr/>
          <p:nvPr/>
        </p:nvSpPr>
        <p:spPr>
          <a:xfrm>
            <a:off x="10607040" y="2962656"/>
            <a:ext cx="960120" cy="27432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 IMPLEMENTAR</a:t>
            </a:r>
          </a:p>
        </p:txBody>
      </p:sp>
      <p:sp>
        <p:nvSpPr>
          <p:cNvPr id="31" name="Rounded Rectangle 48">
            <a:extLst>
              <a:ext uri="{FF2B5EF4-FFF2-40B4-BE49-F238E27FC236}">
                <a16:creationId xmlns:a16="http://schemas.microsoft.com/office/drawing/2014/main" id="{DD913233-7C3A-B6FC-DB02-ED4D85B1FF85}"/>
              </a:ext>
            </a:extLst>
          </p:cNvPr>
          <p:cNvSpPr/>
          <p:nvPr/>
        </p:nvSpPr>
        <p:spPr>
          <a:xfrm>
            <a:off x="4846320" y="3922776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2" name="Oval 49">
            <a:extLst>
              <a:ext uri="{FF2B5EF4-FFF2-40B4-BE49-F238E27FC236}">
                <a16:creationId xmlns:a16="http://schemas.microsoft.com/office/drawing/2014/main" id="{E14C3770-FCBC-56B5-0486-6533CB81BF69}"/>
              </a:ext>
            </a:extLst>
          </p:cNvPr>
          <p:cNvSpPr/>
          <p:nvPr/>
        </p:nvSpPr>
        <p:spPr>
          <a:xfrm>
            <a:off x="5029200" y="4096512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3" name="Picture 50" descr="dna_g.png">
            <a:extLst>
              <a:ext uri="{FF2B5EF4-FFF2-40B4-BE49-F238E27FC236}">
                <a16:creationId xmlns:a16="http://schemas.microsoft.com/office/drawing/2014/main" id="{E5AAE6DF-AE64-7E9A-A7EA-C222E680FC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3982" y="4231294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4" name="TextBox 51">
            <a:extLst>
              <a:ext uri="{FF2B5EF4-FFF2-40B4-BE49-F238E27FC236}">
                <a16:creationId xmlns:a16="http://schemas.microsoft.com/office/drawing/2014/main" id="{94247889-651F-FE68-FFFE-67114015AD3E}"/>
              </a:ext>
            </a:extLst>
          </p:cNvPr>
          <p:cNvSpPr txBox="1"/>
          <p:nvPr/>
        </p:nvSpPr>
        <p:spPr>
          <a:xfrm>
            <a:off x="5852160" y="4050792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El híbrido ideal para tu ambiente</a:t>
            </a:r>
          </a:p>
        </p:txBody>
      </p:sp>
      <p:sp>
        <p:nvSpPr>
          <p:cNvPr id="35" name="TextBox 52">
            <a:extLst>
              <a:ext uri="{FF2B5EF4-FFF2-40B4-BE49-F238E27FC236}">
                <a16:creationId xmlns:a16="http://schemas.microsoft.com/office/drawing/2014/main" id="{CC48A316-6EA9-DAD4-C184-2127DAD39ABC}"/>
              </a:ext>
            </a:extLst>
          </p:cNvPr>
          <p:cNvSpPr txBox="1"/>
          <p:nvPr/>
        </p:nvSpPr>
        <p:spPr>
          <a:xfrm>
            <a:off x="5852160" y="4361688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Cruzamos rendimiento, productividad y sanidad de grano para asignar a cada zona el híbrido de mayor potencial.</a:t>
            </a:r>
          </a:p>
        </p:txBody>
      </p:sp>
      <p:sp>
        <p:nvSpPr>
          <p:cNvPr id="36" name="Rounded Rectangle 53">
            <a:extLst>
              <a:ext uri="{FF2B5EF4-FFF2-40B4-BE49-F238E27FC236}">
                <a16:creationId xmlns:a16="http://schemas.microsoft.com/office/drawing/2014/main" id="{70D619DD-E9AB-DBFA-F74D-A15376D31600}"/>
              </a:ext>
            </a:extLst>
          </p:cNvPr>
          <p:cNvSpPr/>
          <p:nvPr/>
        </p:nvSpPr>
        <p:spPr>
          <a:xfrm>
            <a:off x="10607040" y="4050792"/>
            <a:ext cx="960120" cy="27432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 IMPLEMENTAR</a:t>
            </a:r>
          </a:p>
        </p:txBody>
      </p:sp>
      <p:sp>
        <p:nvSpPr>
          <p:cNvPr id="37" name="Rounded Rectangle 54">
            <a:extLst>
              <a:ext uri="{FF2B5EF4-FFF2-40B4-BE49-F238E27FC236}">
                <a16:creationId xmlns:a16="http://schemas.microsoft.com/office/drawing/2014/main" id="{6006CAF3-C600-B9A5-3542-3993090A20FB}"/>
              </a:ext>
            </a:extLst>
          </p:cNvPr>
          <p:cNvSpPr/>
          <p:nvPr/>
        </p:nvSpPr>
        <p:spPr>
          <a:xfrm>
            <a:off x="4846320" y="5010912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Oval 55">
            <a:extLst>
              <a:ext uri="{FF2B5EF4-FFF2-40B4-BE49-F238E27FC236}">
                <a16:creationId xmlns:a16="http://schemas.microsoft.com/office/drawing/2014/main" id="{101DD515-539F-DDCE-E502-9D869DFAFBBA}"/>
              </a:ext>
            </a:extLst>
          </p:cNvPr>
          <p:cNvSpPr/>
          <p:nvPr/>
        </p:nvSpPr>
        <p:spPr>
          <a:xfrm>
            <a:off x="5029200" y="5184648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9" name="Picture 56" descr="leaf_g.png">
            <a:extLst>
              <a:ext uri="{FF2B5EF4-FFF2-40B4-BE49-F238E27FC236}">
                <a16:creationId xmlns:a16="http://schemas.microsoft.com/office/drawing/2014/main" id="{01637248-821F-B17D-9572-6BC0500C7D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3982" y="5319430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0" name="TextBox 57">
            <a:extLst>
              <a:ext uri="{FF2B5EF4-FFF2-40B4-BE49-F238E27FC236}">
                <a16:creationId xmlns:a16="http://schemas.microsoft.com/office/drawing/2014/main" id="{F3FB264E-8388-11D6-0BB7-373B0DA2C048}"/>
              </a:ext>
            </a:extLst>
          </p:cNvPr>
          <p:cNvSpPr txBox="1"/>
          <p:nvPr/>
        </p:nvSpPr>
        <p:spPr>
          <a:xfrm>
            <a:off x="5852160" y="5138927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Agricultura regenerativa</a:t>
            </a:r>
          </a:p>
        </p:txBody>
      </p:sp>
      <p:sp>
        <p:nvSpPr>
          <p:cNvPr id="41" name="TextBox 58">
            <a:extLst>
              <a:ext uri="{FF2B5EF4-FFF2-40B4-BE49-F238E27FC236}">
                <a16:creationId xmlns:a16="http://schemas.microsoft.com/office/drawing/2014/main" id="{CA28BF6E-7A41-0A9C-CE4D-5D7953FD7D1F}"/>
              </a:ext>
            </a:extLst>
          </p:cNvPr>
          <p:cNvSpPr txBox="1"/>
          <p:nvPr/>
        </p:nvSpPr>
        <p:spPr>
          <a:xfrm>
            <a:off x="5852160" y="5449824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Piloto con prácticas regenerativas y conservacionistas, medido con rigor estadístico junto a un asesor internacional.</a:t>
            </a:r>
          </a:p>
        </p:txBody>
      </p:sp>
      <p:sp>
        <p:nvSpPr>
          <p:cNvPr id="42" name="Rounded Rectangle 59">
            <a:extLst>
              <a:ext uri="{FF2B5EF4-FFF2-40B4-BE49-F238E27FC236}">
                <a16:creationId xmlns:a16="http://schemas.microsoft.com/office/drawing/2014/main" id="{5C993BF0-8037-DF4C-BBC7-0419E187F771}"/>
              </a:ext>
            </a:extLst>
          </p:cNvPr>
          <p:cNvSpPr/>
          <p:nvPr/>
        </p:nvSpPr>
        <p:spPr>
          <a:xfrm>
            <a:off x="10381488" y="5138927"/>
            <a:ext cx="1185672" cy="180502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EN INVESTIGACIÓN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2">
            <a:extLst>
              <a:ext uri="{FF2B5EF4-FFF2-40B4-BE49-F238E27FC236}">
                <a16:creationId xmlns:a16="http://schemas.microsoft.com/office/drawing/2014/main" id="{4263364B-FE9A-5D3D-1B92-E256E56AFA81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102" name="Rectángulo 5">
            <a:extLst>
              <a:ext uri="{FF2B5EF4-FFF2-40B4-BE49-F238E27FC236}">
                <a16:creationId xmlns:a16="http://schemas.microsoft.com/office/drawing/2014/main" id="{35A3365A-854C-5B8A-586F-A380B15FCA91}"/>
              </a:ext>
            </a:extLst>
          </p:cNvPr>
          <p:cNvSpPr/>
          <p:nvPr/>
        </p:nvSpPr>
        <p:spPr>
          <a:xfrm>
            <a:off x="4" y="-285749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7AC70978-D872-BB88-CEBC-19A2289762F8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MECANIZACIÓN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48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9962E"/>
                </a:solidFill>
                <a:latin typeface="72 Condensed"/>
              </a:rPr>
              <a:t>MECANIZACIÓN · TUS PAGOS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760000"/>
            <a:ext cx="90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72 Condensed"/>
              </a:rPr>
              <a:t>Tu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mecanización</a:t>
            </a:r>
            <a:r>
              <a:rPr sz="3000" b="1" i="0" dirty="0">
                <a:solidFill>
                  <a:srgbClr val="FFFFFF"/>
                </a:solidFill>
                <a:latin typeface="72 Condensed"/>
              </a:rPr>
              <a:t>,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pago</a:t>
            </a:r>
            <a:r>
              <a:rPr sz="30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por</a:t>
            </a:r>
            <a:r>
              <a:rPr sz="30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pago</a:t>
            </a:r>
            <a:endParaRPr sz="30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48640" y="133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5DAA5"/>
                </a:solidFill>
                <a:latin typeface="72 Condensed"/>
              </a:rPr>
              <a:t>Angela Rosa Guedez Morales · montos en USD  ·  PENDIENTE: cargar la liquidación de APC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4864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32442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68640" y="1990000"/>
            <a:ext cx="2299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000" b="1" i="0" spc="150" dirty="0">
                <a:solidFill>
                  <a:srgbClr val="C9962E"/>
                </a:solidFill>
                <a:latin typeface="72 Condensed"/>
              </a:rPr>
              <a:t>REAL</a:t>
            </a:r>
            <a:r>
              <a:rPr sz="1000" b="1" i="0" spc="150" dirty="0">
                <a:solidFill>
                  <a:srgbClr val="C9962E"/>
                </a:solidFill>
                <a:latin typeface="72 Condensed"/>
              </a:rPr>
              <a:t> </a:t>
            </a:r>
            <a:r>
              <a:rPr lang="es-ES" sz="1000" b="1" i="0" spc="150" dirty="0">
                <a:solidFill>
                  <a:srgbClr val="C9962E"/>
                </a:solidFill>
                <a:latin typeface="72 Condensed"/>
              </a:rPr>
              <a:t>INICIAL </a:t>
            </a:r>
            <a:r>
              <a:rPr sz="1000" b="1" i="0" spc="150" dirty="0">
                <a:solidFill>
                  <a:srgbClr val="C9962E"/>
                </a:solidFill>
                <a:latin typeface="72 Condensed"/>
              </a:rPr>
              <a:t>DE MECANIZACIÓN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8640" y="2280000"/>
            <a:ext cx="229984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3800" b="1" i="0" dirty="0">
                <a:solidFill>
                  <a:srgbClr val="FFFFFF"/>
                </a:solidFill>
                <a:latin typeface="72 Condensed"/>
              </a:rPr>
              <a:t>—</a:t>
            </a:r>
            <a:endParaRPr sz="38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76864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5DAA5"/>
                </a:solidFill>
                <a:latin typeface="72 Condensed"/>
              </a:rPr>
              <a:t>mecanización total ajustada,</a:t>
            </a:r>
          </a:p>
          <a:p>
            <a:pPr algn="l"/>
            <a:r>
              <a:rPr sz="1200" b="0" i="0">
                <a:solidFill>
                  <a:srgbClr val="C5DAA5"/>
                </a:solidFill>
                <a:latin typeface="72 Condensed"/>
              </a:rPr>
              <a:t>sin descuentos adicionales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35848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578480" y="1990000"/>
            <a:ext cx="22998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PAGO 1 · ABRIL–MAYO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78480" y="2280000"/>
            <a:ext cx="229984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72 Condensed"/>
              </a:rPr>
              <a:t>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7848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0E2"/>
                </a:solidFill>
                <a:latin typeface="72 Condensed"/>
              </a:rPr>
              <a:t>efectivo que el banco ya te entregó por mecanización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16832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388320" y="1990000"/>
            <a:ext cx="22998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PAGO 2 · 06 DE JULIO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88320" y="2280000"/>
            <a:ext cx="229984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3800" b="1" i="0" dirty="0">
                <a:solidFill>
                  <a:srgbClr val="FFFFFF"/>
                </a:solidFill>
                <a:latin typeface="72 Condensed"/>
              </a:rPr>
              <a:t>—</a:t>
            </a:r>
            <a:endParaRPr sz="38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38832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0E2"/>
                </a:solidFill>
                <a:latin typeface="72 Condensed"/>
              </a:rPr>
              <a:t>adelanto que APC te entregó por mecanización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97816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C9962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198160" y="1990000"/>
            <a:ext cx="22998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1F2E18"/>
                </a:solidFill>
                <a:latin typeface="72 Condensed"/>
              </a:rPr>
              <a:t>PAGO 3 · TOTAL FINAL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98160" y="2280000"/>
            <a:ext cx="229984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816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E18"/>
                </a:solidFill>
                <a:latin typeface="72 Condensed"/>
              </a:rPr>
              <a:t>importe definitivo a tu cuenta bancaria</a:t>
            </a:r>
          </a:p>
        </p:txBody>
      </p:sp>
      <p:sp>
        <p:nvSpPr>
          <p:cNvPr id="122" name="Oval 121"/>
          <p:cNvSpPr/>
          <p:nvPr/>
        </p:nvSpPr>
        <p:spPr>
          <a:xfrm>
            <a:off x="6013320" y="2635000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1F2E18"/>
                </a:solidFill>
                <a:latin typeface="72 Condensed"/>
              </a:rPr>
              <a:t>›</a:t>
            </a:r>
          </a:p>
        </p:txBody>
      </p:sp>
      <p:sp>
        <p:nvSpPr>
          <p:cNvPr id="123" name="Oval 122"/>
          <p:cNvSpPr/>
          <p:nvPr/>
        </p:nvSpPr>
        <p:spPr>
          <a:xfrm>
            <a:off x="8823160" y="2635000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1F2E18"/>
                </a:solidFill>
                <a:latin typeface="72 Condensed"/>
              </a:rPr>
              <a:t>›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48640" y="3850000"/>
            <a:ext cx="11109360" cy="1330000"/>
          </a:xfrm>
          <a:prstGeom prst="roundRect">
            <a:avLst>
              <a:gd name="adj" fmla="val 8000"/>
            </a:avLst>
          </a:prstGeom>
          <a:solidFill>
            <a:srgbClr val="32442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88640" y="40000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¿CÓMO SE CALCULA TU 3ER PAGO?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8864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8864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Restante por pagar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864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88640" y="4890000"/>
            <a:ext cx="1490472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560"/>
                </a:solidFill>
                <a:latin typeface="72 Condensed"/>
              </a:rPr>
              <a:t>plan ajustado − pago 1 − pago 2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58020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268020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Ajustes dron, avionetas y compras externas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8020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80200" y="4879598"/>
            <a:ext cx="1490472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dirty="0">
                <a:solidFill>
                  <a:srgbClr val="6B7560"/>
                </a:solidFill>
                <a:latin typeface="72 Condensed"/>
              </a:rPr>
              <a:t>sin </a:t>
            </a:r>
            <a:r>
              <a:rPr sz="750" b="0" i="0" dirty="0" err="1">
                <a:solidFill>
                  <a:srgbClr val="6B7560"/>
                </a:solidFill>
                <a:latin typeface="72 Condensed"/>
              </a:rPr>
              <a:t>deducciones</a:t>
            </a:r>
            <a:r>
              <a:rPr sz="750" b="0" i="0" dirty="0">
                <a:solidFill>
                  <a:srgbClr val="6B7560"/>
                </a:solidFill>
                <a:latin typeface="72 Condensed"/>
              </a:rPr>
              <a:t> </a:t>
            </a:r>
            <a:r>
              <a:rPr sz="750" b="0" i="0" dirty="0" err="1">
                <a:solidFill>
                  <a:srgbClr val="6B7560"/>
                </a:solidFill>
                <a:latin typeface="72 Condensed"/>
              </a:rPr>
              <a:t>ni</a:t>
            </a:r>
            <a:r>
              <a:rPr sz="750" b="0" i="0" dirty="0">
                <a:solidFill>
                  <a:srgbClr val="6B7560"/>
                </a:solidFill>
                <a:latin typeface="72 Condensed"/>
              </a:rPr>
              <a:t> </a:t>
            </a:r>
            <a:r>
              <a:rPr sz="750" b="0" i="0" dirty="0" err="1">
                <a:solidFill>
                  <a:srgbClr val="6B7560"/>
                </a:solidFill>
                <a:latin typeface="72 Condensed"/>
              </a:rPr>
              <a:t>reconocimientos</a:t>
            </a:r>
            <a:endParaRPr sz="850" b="0" i="0" dirty="0">
              <a:solidFill>
                <a:srgbClr val="6B7560"/>
              </a:solidFill>
              <a:latin typeface="72 Condensed"/>
            </a:endParaRPr>
          </a:p>
        </p:txBody>
      </p:sp>
      <p:sp>
        <p:nvSpPr>
          <p:cNvPr id="134" name="Rounded Rectangle 133"/>
          <p:cNvSpPr/>
          <p:nvPr/>
        </p:nvSpPr>
        <p:spPr>
          <a:xfrm>
            <a:off x="437176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47176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3er pago neto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7176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471760" y="4890000"/>
            <a:ext cx="1490472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560"/>
                </a:solidFill>
                <a:latin typeface="72 Condensed"/>
              </a:rPr>
              <a:t>saldo pendiente de mecanización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16332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26332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 err="1">
                <a:solidFill>
                  <a:srgbClr val="324425"/>
                </a:solidFill>
                <a:latin typeface="72 Condensed"/>
              </a:rPr>
              <a:t>Indexado</a:t>
            </a:r>
            <a:r>
              <a:rPr sz="950" b="1" i="0" dirty="0">
                <a:solidFill>
                  <a:srgbClr val="324425"/>
                </a:solidFill>
                <a:latin typeface="72 Condensed"/>
              </a:rPr>
              <a:t> a </a:t>
            </a:r>
            <a:r>
              <a:rPr sz="950" b="1" i="0" dirty="0" err="1">
                <a:solidFill>
                  <a:srgbClr val="324425"/>
                </a:solidFill>
                <a:latin typeface="72 Condensed"/>
              </a:rPr>
              <a:t>tasa</a:t>
            </a:r>
            <a:r>
              <a:rPr sz="950" b="1" i="0" dirty="0">
                <a:solidFill>
                  <a:srgbClr val="324425"/>
                </a:solidFill>
                <a:latin typeface="72 Condensed"/>
              </a:rPr>
              <a:t> de mercado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6332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320" y="4890000"/>
            <a:ext cx="1490472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560"/>
                </a:solidFill>
                <a:latin typeface="72 Condensed"/>
              </a:rPr>
              <a:t>tasa del día de liquidación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95488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05488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+ Comisiones bancarias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05488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054879" y="4890000"/>
            <a:ext cx="1490472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560"/>
                </a:solidFill>
                <a:latin typeface="72 Condensed"/>
              </a:rPr>
              <a:t>las asume el programa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74644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C9962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84644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E18"/>
                </a:solidFill>
                <a:latin typeface="72 Condensed"/>
              </a:rPr>
              <a:t>Total final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84644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846440" y="4890000"/>
            <a:ext cx="1490472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F2E18"/>
                </a:solidFill>
                <a:latin typeface="72 Condensed"/>
              </a:rPr>
              <a:t>lo que recibes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48640" y="5370000"/>
            <a:ext cx="2650000" cy="100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18640" y="5480000"/>
            <a:ext cx="235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4C6A35"/>
                </a:solidFill>
                <a:latin typeface="72 Condensed"/>
              </a:rPr>
              <a:t>AJUSTE ENCALADORA (60%)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18640" y="5700000"/>
            <a:ext cx="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598640" y="5720000"/>
            <a:ext cx="1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560"/>
                </a:solidFill>
                <a:latin typeface="72 Condensed"/>
              </a:rPr>
              <a:t>se descuenta el 60% restante (Agroinsa y Camaripano)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308640" y="5370000"/>
            <a:ext cx="2650000" cy="100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478640" y="5480000"/>
            <a:ext cx="235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4C6A35"/>
                </a:solidFill>
                <a:latin typeface="72 Condensed"/>
              </a:rPr>
              <a:t>AJUSTE DRON Y AVIONETAS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78640" y="5700000"/>
            <a:ext cx="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358640" y="5720000"/>
            <a:ext cx="1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560"/>
                </a:solidFill>
                <a:latin typeface="72 Condensed"/>
              </a:rPr>
              <a:t>uso de estos servicios, pagado al proveedor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068640" y="5370000"/>
            <a:ext cx="2650000" cy="100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6238640" y="5480000"/>
            <a:ext cx="235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4C6A35"/>
                </a:solidFill>
                <a:latin typeface="72 Condensed"/>
              </a:rPr>
              <a:t>AJUSTE COMPRAS EXTERNAS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8640" y="5700000"/>
            <a:ext cx="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118640" y="5720000"/>
            <a:ext cx="1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560"/>
                </a:solidFill>
                <a:latin typeface="72 Condensed"/>
              </a:rPr>
              <a:t>insumos de proveedores no afiliados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828640" y="5370000"/>
            <a:ext cx="2829360" cy="1000000"/>
          </a:xfrm>
          <a:prstGeom prst="roundRect">
            <a:avLst>
              <a:gd name="adj" fmla="val 10000"/>
            </a:avLst>
          </a:prstGeom>
          <a:solidFill>
            <a:srgbClr val="C9962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9028640" y="5490000"/>
            <a:ext cx="2449360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E18"/>
                </a:solidFill>
                <a:latin typeface="72 Condensed"/>
              </a:rPr>
              <a:t>Recuerda: </a:t>
            </a:r>
            <a:r>
              <a:rPr sz="1200" b="0" i="0">
                <a:solidFill>
                  <a:srgbClr val="1F2E18"/>
                </a:solidFill>
                <a:latin typeface="72 Condensed"/>
              </a:rPr>
              <a:t>el monto del 3er pago puede variar según la fecha en que se haga efectivo.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860B98-185E-DD0A-9066-FABF1376B94E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82D1FA32-1914-9F0E-D6D2-3985E5FEE78F}"/>
              </a:ext>
            </a:extLst>
          </p:cNvPr>
          <p:cNvSpPr/>
          <p:nvPr/>
        </p:nvSpPr>
        <p:spPr>
          <a:xfrm>
            <a:off x="0" y="-53826"/>
            <a:ext cx="12493895" cy="7233388"/>
          </a:xfrm>
          <a:prstGeom prst="rect">
            <a:avLst/>
          </a:prstGeom>
          <a:solidFill>
            <a:srgbClr val="0D0D0D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3728CB66-FF72-6FAD-E1C4-22ECF2509AD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C9962E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1F2E18"/>
                </a:solidFill>
                <a:uFillTx/>
                <a:latin typeface="72 Condensed" pitchFamily="34"/>
                <a:cs typeface="72 Condensed" pitchFamily="34"/>
              </a:rPr>
              <a:t>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9962E"/>
                </a:solidFill>
                <a:latin typeface="72 Condensed"/>
              </a:rPr>
              <a:t>TU CICLO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93729"/>
            <a:ext cx="4400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0" b="1" i="0" dirty="0">
                <a:solidFill>
                  <a:srgbClr val="C9962E"/>
                </a:solidFill>
                <a:latin typeface="72 Condensed"/>
              </a:rPr>
              <a:t>P&amp;L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39648"/>
            <a:ext cx="3900000" cy="1046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 dirty="0">
                <a:solidFill>
                  <a:srgbClr val="FFFFFF"/>
                </a:solidFill>
                <a:latin typeface="72 Condensed"/>
              </a:rPr>
              <a:t>Los </a:t>
            </a:r>
            <a:r>
              <a:rPr sz="3400" b="0" i="0" dirty="0" err="1">
                <a:solidFill>
                  <a:srgbClr val="FFFFFF"/>
                </a:solidFill>
                <a:latin typeface="72 Condensed"/>
              </a:rPr>
              <a:t>números</a:t>
            </a:r>
            <a:r>
              <a:rPr sz="3400" b="0" i="0" dirty="0">
                <a:solidFill>
                  <a:srgbClr val="FFFFFF"/>
                </a:solidFill>
                <a:latin typeface="72 Condensed"/>
              </a:rPr>
              <a:t> de</a:t>
            </a:r>
          </a:p>
          <a:p>
            <a:pPr algn="l"/>
            <a:r>
              <a:rPr sz="3400" b="1" i="0" dirty="0" err="1">
                <a:solidFill>
                  <a:srgbClr val="FFFFFF"/>
                </a:solidFill>
                <a:latin typeface="72 Condensed"/>
              </a:rPr>
              <a:t>tu</a:t>
            </a:r>
            <a:r>
              <a:rPr sz="34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lang="es-419" sz="3400" b="1" i="0" dirty="0">
                <a:solidFill>
                  <a:srgbClr val="FFFFFF"/>
                </a:solidFill>
                <a:latin typeface="72 Condensed"/>
              </a:rPr>
              <a:t>ciclo 2026</a:t>
            </a:r>
            <a:endParaRPr sz="34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228368"/>
            <a:ext cx="38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F0E2"/>
                </a:solidFill>
                <a:latin typeface="72 Condensed"/>
              </a:rPr>
              <a:t>Angela Rosa Guedez Morales</a:t>
            </a:r>
          </a:p>
          <a:p>
            <a:pPr algn="l"/>
            <a:r>
              <a:rPr sz="1300" b="0" i="0">
                <a:solidFill>
                  <a:srgbClr val="8BAA5E"/>
                </a:solidFill>
                <a:latin typeface="72 Condensed"/>
              </a:rPr>
              <a:t>Turen, Portuguesa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658368"/>
            <a:ext cx="3354000" cy="2420000"/>
          </a:xfrm>
          <a:prstGeom prst="roundRect">
            <a:avLst>
              <a:gd name="adj" fmla="val 7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6320" y="938368"/>
            <a:ext cx="2854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HECTÁREAS COSECHADAS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6320" y="1458368"/>
            <a:ext cx="2954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72 Condensed"/>
              </a:rPr>
              <a:t>227,3</a:t>
            </a:r>
            <a:r>
              <a:rPr sz="2000" b="0" i="0">
                <a:solidFill>
                  <a:srgbClr val="EDF0E2"/>
                </a:solidFill>
                <a:latin typeface="72 Condensed"/>
              </a:rPr>
              <a:t> 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6320" y="2508368"/>
            <a:ext cx="2854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EDF0E2"/>
                </a:solidFill>
                <a:latin typeface="72 Condensed"/>
              </a:rPr>
              <a:t>11 lotes · 227,3 ha sembradas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0320" y="658368"/>
            <a:ext cx="3354000" cy="2420000"/>
          </a:xfrm>
          <a:prstGeom prst="roundRect">
            <a:avLst>
              <a:gd name="adj" fmla="val 7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30320" y="938368"/>
            <a:ext cx="2854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RENDIMIENTO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0320" y="1458368"/>
            <a:ext cx="2954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72 Condensed"/>
              </a:rPr>
              <a:t>5,48</a:t>
            </a:r>
            <a:r>
              <a:rPr sz="2000" b="0" i="0">
                <a:solidFill>
                  <a:srgbClr val="EDF0E2"/>
                </a:solidFill>
                <a:latin typeface="72 Condensed"/>
              </a:rPr>
              <a:t> ton/ha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0320" y="2508368"/>
            <a:ext cx="2854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DF0E2"/>
                </a:solidFill>
                <a:latin typeface="72 Condensed"/>
              </a:rPr>
              <a:t>110% del plan (5 ton/ha)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228368"/>
            <a:ext cx="3354000" cy="2420000"/>
          </a:xfrm>
          <a:prstGeom prst="roundRect">
            <a:avLst>
              <a:gd name="adj" fmla="val 7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6320" y="3508368"/>
            <a:ext cx="2854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TONELADAS COSECHADAS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6320" y="4028368"/>
            <a:ext cx="2954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42" b="1" i="0">
                <a:solidFill>
                  <a:srgbClr val="FFFFFF"/>
                </a:solidFill>
                <a:latin typeface="72 Condensed"/>
              </a:rPr>
              <a:t>1.245,4</a:t>
            </a:r>
            <a:r>
              <a:rPr sz="2000" b="0" i="0">
                <a:solidFill>
                  <a:srgbClr val="EDF0E2"/>
                </a:solidFill>
                <a:latin typeface="72 Condensed"/>
              </a:rPr>
              <a:t> 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6320" y="5078368"/>
            <a:ext cx="2854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EDF0E2"/>
                </a:solidFill>
                <a:latin typeface="72 Condensed"/>
              </a:rPr>
              <a:t>de 1.137 ton planificadas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EF679-8917-3AFF-B008-0B5CC6B89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7CEB1CC3-F479-9C73-F0FF-CDF6A0BFE474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5" name="Rectángulo 5">
            <a:extLst>
              <a:ext uri="{FF2B5EF4-FFF2-40B4-BE49-F238E27FC236}">
                <a16:creationId xmlns:a16="http://schemas.microsoft.com/office/drawing/2014/main" id="{A1CDCDC7-5660-A4D4-C240-4F01A5D16F26}"/>
              </a:ext>
            </a:extLst>
          </p:cNvPr>
          <p:cNvSpPr/>
          <p:nvPr/>
        </p:nvSpPr>
        <p:spPr>
          <a:xfrm>
            <a:off x="-74432" y="-383810"/>
            <a:ext cx="12493895" cy="7233388"/>
          </a:xfrm>
          <a:prstGeom prst="rect">
            <a:avLst/>
          </a:prstGeom>
          <a:solidFill>
            <a:srgbClr val="0D0D0D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D25BEA8-A69A-0155-1E15-D6527DBC7F78}"/>
              </a:ext>
            </a:extLst>
          </p:cNvPr>
          <p:cNvSpPr txBox="1"/>
          <p:nvPr/>
        </p:nvSpPr>
        <p:spPr>
          <a:xfrm>
            <a:off x="8665865" y="1320021"/>
            <a:ext cx="5870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Condensed" panose="020B0506030000000003" pitchFamily="34" charset="0"/>
                <a:ea typeface="+mn-ea"/>
                <a:cs typeface="72 Condensed" panose="020B0506030000000003" pitchFamily="34" charset="0"/>
              </a:rPr>
              <a:t>Escenario </a:t>
            </a:r>
            <a:r>
              <a:rPr lang="es-419" sz="1600" b="1" dirty="0">
                <a:solidFill>
                  <a:schemeClr val="bg1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USD</a:t>
            </a:r>
            <a:endParaRPr kumimoji="0" lang="es-419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Condensed" panose="020B0506030000000003" pitchFamily="34" charset="0"/>
              <a:ea typeface="+mn-ea"/>
              <a:cs typeface="72 Condensed" panose="020B05060300000000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8FA1EE-5973-F068-C7ED-4667E4E45840}"/>
              </a:ext>
            </a:extLst>
          </p:cNvPr>
          <p:cNvSpPr txBox="1"/>
          <p:nvPr/>
        </p:nvSpPr>
        <p:spPr>
          <a:xfrm>
            <a:off x="7341272" y="1320021"/>
            <a:ext cx="15666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Condensed" panose="020B0506030000000003" pitchFamily="34" charset="0"/>
                <a:ea typeface="+mn-ea"/>
                <a:cs typeface="72 Condensed" panose="020B0506030000000003" pitchFamily="34" charset="0"/>
              </a:rPr>
              <a:t>Escenario </a:t>
            </a:r>
            <a:r>
              <a:rPr lang="es-419" sz="1600" b="1" dirty="0">
                <a:solidFill>
                  <a:schemeClr val="bg1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Bs</a:t>
            </a:r>
            <a:endParaRPr kumimoji="0" lang="es-419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Condensed" panose="020B0506030000000003" pitchFamily="34" charset="0"/>
              <a:ea typeface="+mn-ea"/>
              <a:cs typeface="72 Condensed" panose="020B0506030000000003" pitchFamily="34" charset="0"/>
            </a:endParaRP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0234436E-B0F3-367E-DB62-446FEF70174F}"/>
              </a:ext>
            </a:extLst>
          </p:cNvPr>
          <p:cNvSpPr/>
          <p:nvPr/>
        </p:nvSpPr>
        <p:spPr>
          <a:xfrm>
            <a:off x="1972780" y="1658574"/>
            <a:ext cx="8375179" cy="3879403"/>
          </a:xfrm>
          <a:prstGeom prst="roundRect">
            <a:avLst>
              <a:gd name="adj" fmla="val 7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C97CEBF-B6C4-F28F-A0A0-8ECE01379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463209"/>
              </p:ext>
            </p:extLst>
          </p:nvPr>
        </p:nvGraphicFramePr>
        <p:xfrm>
          <a:off x="2200248" y="1463040"/>
          <a:ext cx="7916335" cy="3975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5450">
                  <a:extLst>
                    <a:ext uri="{9D8B030D-6E8A-4147-A177-3AD203B41FA5}">
                      <a16:colId xmlns:a16="http://schemas.microsoft.com/office/drawing/2014/main" val="4204059218"/>
                    </a:ext>
                  </a:extLst>
                </a:gridCol>
                <a:gridCol w="1748831">
                  <a:extLst>
                    <a:ext uri="{9D8B030D-6E8A-4147-A177-3AD203B41FA5}">
                      <a16:colId xmlns:a16="http://schemas.microsoft.com/office/drawing/2014/main" val="3528467224"/>
                    </a:ext>
                  </a:extLst>
                </a:gridCol>
                <a:gridCol w="1212054">
                  <a:extLst>
                    <a:ext uri="{9D8B030D-6E8A-4147-A177-3AD203B41FA5}">
                      <a16:colId xmlns:a16="http://schemas.microsoft.com/office/drawing/2014/main" val="2814017075"/>
                    </a:ext>
                  </a:extLst>
                </a:gridCol>
              </a:tblGrid>
              <a:tr h="284717">
                <a:tc>
                  <a:txBody>
                    <a:bodyPr/>
                    <a:lstStyle/>
                    <a:p>
                      <a:pPr algn="l" fontAlgn="b"/>
                      <a:endParaRPr lang="es-VE" sz="11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VE" sz="1800" b="1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VE" sz="1800" b="1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075565"/>
                  </a:ext>
                </a:extLst>
              </a:tr>
              <a:tr h="360330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Ingresos de Terceros (Gandolas Rechazadas)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621039"/>
                  </a:ext>
                </a:extLst>
              </a:tr>
              <a:tr h="263492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Facturación Polar 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22091"/>
                  </a:ext>
                </a:extLst>
              </a:tr>
              <a:tr h="277390">
                <a:tc>
                  <a:txBody>
                    <a:bodyPr/>
                    <a:lstStyle/>
                    <a:p>
                      <a:pPr algn="l" fontAlgn="b"/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VE" sz="1600" b="0" i="0" u="none" strike="noStrike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s-VE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70419"/>
                  </a:ext>
                </a:extLst>
              </a:tr>
              <a:tr h="247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Nota de Crédito: Convenio para la Producción de Maíz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185660"/>
                  </a:ext>
                </a:extLst>
              </a:tr>
              <a:tr h="337141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Nota de Crédito: Compra Propia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09658"/>
                  </a:ext>
                </a:extLst>
              </a:tr>
              <a:tr h="489673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60% Cal</a:t>
                      </a:r>
                    </a:p>
                    <a:p>
                      <a:pPr algn="l" fontAlgn="b"/>
                      <a:endParaRPr lang="es-VE" sz="1600" b="0" i="0" u="none" strike="noStrike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9669"/>
                  </a:ext>
                </a:extLst>
              </a:tr>
              <a:tr h="489673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Costos Totales (a fecha de 01/10)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  <a:endParaRPr lang="es-VE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000344"/>
                  </a:ext>
                </a:extLst>
              </a:tr>
              <a:tr h="484417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Reconocimiento de Mecanización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580016"/>
                  </a:ext>
                </a:extLst>
              </a:tr>
              <a:tr h="247984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Neto a Recibir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721645"/>
                  </a:ext>
                </a:extLst>
              </a:tr>
              <a:tr h="48441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VE" sz="16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72 Condensed" panose="020B0506030000000003" pitchFamily="34" charset="0"/>
                        </a:rPr>
                        <a:t>Flujo de Caja  Final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72127"/>
                  </a:ext>
                </a:extLst>
              </a:tr>
            </a:tbl>
          </a:graphicData>
        </a:graphic>
      </p:graphicFrame>
      <p:sp>
        <p:nvSpPr>
          <p:cNvPr id="16" name="TextBox 5">
            <a:extLst>
              <a:ext uri="{FF2B5EF4-FFF2-40B4-BE49-F238E27FC236}">
                <a16:creationId xmlns:a16="http://schemas.microsoft.com/office/drawing/2014/main" id="{A45D13B5-8D3E-7EF0-4793-A55F7919973B}"/>
              </a:ext>
            </a:extLst>
          </p:cNvPr>
          <p:cNvSpPr txBox="1"/>
          <p:nvPr/>
        </p:nvSpPr>
        <p:spPr>
          <a:xfrm>
            <a:off x="124835" y="-103309"/>
            <a:ext cx="878313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VE" sz="7200" b="1" i="0" dirty="0">
                <a:solidFill>
                  <a:srgbClr val="C9962E"/>
                </a:solidFill>
                <a:latin typeface="72 Condensed"/>
              </a:rPr>
              <a:t>Flujo </a:t>
            </a:r>
            <a:r>
              <a:rPr lang="es-VE" sz="7200" b="1" dirty="0">
                <a:solidFill>
                  <a:srgbClr val="C9962E"/>
                </a:solidFill>
                <a:latin typeface="72 Condensed"/>
              </a:rPr>
              <a:t>de caja</a:t>
            </a:r>
            <a:endParaRPr sz="7200" b="1" i="0" dirty="0">
              <a:solidFill>
                <a:srgbClr val="C9962E"/>
              </a:solidFill>
              <a:latin typeface="72 Condensed"/>
            </a:endParaRPr>
          </a:p>
        </p:txBody>
      </p:sp>
      <p:sp>
        <p:nvSpPr>
          <p:cNvPr id="20" name="TextBox 103">
            <a:extLst>
              <a:ext uri="{FF2B5EF4-FFF2-40B4-BE49-F238E27FC236}">
                <a16:creationId xmlns:a16="http://schemas.microsoft.com/office/drawing/2014/main" id="{6FFC962B-4737-2D2C-17AC-D338E96F18BB}"/>
              </a:ext>
            </a:extLst>
          </p:cNvPr>
          <p:cNvSpPr txBox="1"/>
          <p:nvPr/>
        </p:nvSpPr>
        <p:spPr>
          <a:xfrm>
            <a:off x="548640" y="1079314"/>
            <a:ext cx="90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VE" sz="2000" b="1" i="0" dirty="0">
                <a:solidFill>
                  <a:srgbClr val="FFFFFF"/>
                </a:solidFill>
                <a:latin typeface="72 Condensed"/>
              </a:rPr>
              <a:t>Preliminar</a:t>
            </a:r>
            <a:endParaRPr sz="20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22" name="TextBox 104">
            <a:extLst>
              <a:ext uri="{FF2B5EF4-FFF2-40B4-BE49-F238E27FC236}">
                <a16:creationId xmlns:a16="http://schemas.microsoft.com/office/drawing/2014/main" id="{8A747E3C-B0EB-002D-14DB-842B0F8A50CA}"/>
              </a:ext>
            </a:extLst>
          </p:cNvPr>
          <p:cNvSpPr txBox="1"/>
          <p:nvPr/>
        </p:nvSpPr>
        <p:spPr>
          <a:xfrm>
            <a:off x="2011680" y="1133856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5DAA5"/>
                </a:solidFill>
                <a:latin typeface="72 Condensed"/>
              </a:rPr>
              <a:t>Angela Rosa Guedez Morales · montos en USD  ·  PENDIENTE: cargar el flujo de caja</a:t>
            </a:r>
          </a:p>
        </p:txBody>
      </p:sp>
    </p:spTree>
    <p:extLst>
      <p:ext uri="{BB962C8B-B14F-4D97-AF65-F5344CB8AC3E}">
        <p14:creationId xmlns:p14="http://schemas.microsoft.com/office/powerpoint/2010/main" val="41827670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7829</TotalTime>
  <Words>2147</Words>
  <Application>Microsoft Office PowerPoint</Application>
  <PresentationFormat>Widescreen</PresentationFormat>
  <Paragraphs>479</Paragraphs>
  <Slides>16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72 Condensed</vt:lpstr>
      <vt:lpstr>Aptos</vt:lpstr>
      <vt:lpstr>Aptos Display</vt:lpstr>
      <vt:lpstr>Arial</vt:lpstr>
      <vt:lpstr>Calibri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LINARES BOUQUETT, ANDREA CAROLINA</dc:creator>
  <cp:lastModifiedBy>LINARES BOUQUETT, ANDREA CAROLINA</cp:lastModifiedBy>
  <cp:revision>45</cp:revision>
  <dcterms:created xsi:type="dcterms:W3CDTF">2026-09-25T11:48:49Z</dcterms:created>
  <dcterms:modified xsi:type="dcterms:W3CDTF">2026-10-07T10:39:09Z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0x01010044974EB80EF6614399E8AF77E8627E2F</vt:lpwstr>
  </property>
</Properties>
</file>