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omments/modernComment_7FFFFFC9_0.xml" ContentType="application/vnd.ms-powerpoint.comments+xml"/>
  <Override PartName="/ppt/comments/modernComment_7FFFFFCC_0.xml" ContentType="application/vnd.ms-powerpoint.comment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402" r:id="rId2"/>
    <p:sldId id="2147483583" r:id="rId3"/>
    <p:sldId id="2147483593" r:id="rId4"/>
    <p:sldId id="2147483594" r:id="rId5"/>
    <p:sldId id="2147483599" r:id="rId6"/>
    <p:sldId id="2147483588" r:id="rId7"/>
    <p:sldId id="405" r:id="rId8"/>
    <p:sldId id="406" r:id="rId9"/>
    <p:sldId id="2147483596" r:id="rId10"/>
    <p:sldId id="2147483589" r:id="rId11"/>
    <p:sldId id="2147483590" r:id="rId12"/>
    <p:sldId id="256" r:id="rId13"/>
    <p:sldId id="2147483592" r:id="rId14"/>
    <p:sldId id="2147483597" r:id="rId15"/>
    <p:sldId id="2147483598" r:id="rId16"/>
    <p:sldId id="275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F2A9D0A-E788-E089-94D5-A08C2CBA102F}" name="LINARES BOUQUETT, ANDREA CAROLINA" initials="AL" userId="S::andrea.linares@empresaspolar.com::20607752-e8f6-42d1-b328-866947b25e50" providerId="AD"/>
  <p188:author id="{4AB3D9A2-D831-8862-E1DB-9CCA1613A328}" name="Luis Javier Pérez Laya" initials="LP" userId="3728beebd6141a86" providerId="Windows Live"/>
  <p188:author id="{07B6E7C0-9B38-055D-07FB-4BF647E7AF34}" name="GUZMAN MOROS, ALEJANDRA EUGENIA" initials="AG" userId="S::alejandra.guzman@empresaspolar.com::92aa2971-90c0-489d-ba8d-2756961bf9b7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F0E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">
    <a:wholeTbl>
      <a:tcTxStyle>
        <a:font>
          <a:latin typeface="+mn-lt"/>
          <a:ea typeface="+mn-ea"/>
          <a:cs typeface="+mn-cs"/>
        </a:font>
        <a:srgbClr val="000000"/>
      </a:tcTxStyle>
      <a:tcStyle>
        <a:tcBdr>
          <a:left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left>
          <a:right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right>
          <a:top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top>
          <a:bottom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bottom>
        </a:tcBdr>
        <a:fill>
          <a:solidFill>
            <a:srgbClr val="E7EAED"/>
          </a:solidFill>
        </a:fill>
      </a:tcStyle>
    </a:wholeTbl>
    <a:band1H>
      <a:tcStyle>
        <a:tcBdr/>
        <a:fill>
          <a:solidFill>
            <a:srgbClr val="CCD2D8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CCD2D8"/>
          </a:solidFill>
        </a:fill>
      </a:tcStyle>
    </a:band1V>
    <a:band2V>
      <a:tcStyle>
        <a:tcBdr/>
      </a:tcStyle>
    </a:band2V>
    <a:lastCol>
      <a:tcTxStyle b="on">
        <a:font>
          <a:latin typeface="+mn-lt"/>
          <a:ea typeface="+mn-ea"/>
          <a:cs typeface="+mn-cs"/>
        </a:font>
        <a:srgbClr val="FFFFFF"/>
      </a:tcTxStyle>
      <a:tcStyle>
        <a:tcBdr/>
        <a:fill>
          <a:solidFill>
            <a:srgbClr val="156082"/>
          </a:solidFill>
        </a:fill>
      </a:tcStyle>
    </a:lastCol>
    <a:firstCol>
      <a:tcTxStyle b="on">
        <a:font>
          <a:latin typeface="+mn-lt"/>
          <a:ea typeface="+mn-ea"/>
          <a:cs typeface="+mn-cs"/>
        </a:font>
        <a:srgbClr val="FFFFFF"/>
      </a:tcTxStyle>
      <a:tcStyle>
        <a:tcBdr/>
        <a:fill>
          <a:solidFill>
            <a:srgbClr val="156082"/>
          </a:solidFill>
        </a:fill>
      </a:tcStyle>
    </a:firstCol>
    <a:lastRow>
      <a:tcTxStyle b="on">
        <a:font>
          <a:latin typeface="+mn-lt"/>
          <a:ea typeface="+mn-ea"/>
          <a:cs typeface="+mn-cs"/>
        </a:font>
        <a:srgbClr val="FFFFFF"/>
      </a:tcTxStyle>
      <a:tcStyle>
        <a:tcBdr>
          <a:top>
            <a:ln w="38103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top>
        </a:tcBdr>
        <a:fill>
          <a:solidFill>
            <a:srgbClr val="156082"/>
          </a:solidFill>
        </a:fill>
      </a:tcStyle>
    </a:lastRow>
    <a:firstRow>
      <a:tcTxStyle b="on">
        <a:font>
          <a:latin typeface="+mn-lt"/>
          <a:ea typeface="+mn-ea"/>
          <a:cs typeface="+mn-cs"/>
        </a:font>
        <a:srgbClr val="FFFFFF"/>
      </a:tcTxStyle>
      <a:tcStyle>
        <a:tcBdr>
          <a:bottom>
            <a:ln w="38103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bottom>
        </a:tcBdr>
        <a:fill>
          <a:solidFill>
            <a:srgbClr val="15608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50" d="100"/>
          <a:sy n="50" d="100"/>
        </p:scale>
        <p:origin x="1188" y="1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microsoft.com/office/2018/10/relationships/authors" Target="authors.xml"/></Relationships>
</file>

<file path=ppt/comments/modernComment_7FFFFFC9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DD19F2B-D432-454D-895E-6821C1B56880}" authorId="{4AB3D9A2-D831-8862-E1DB-9CCA1613A328}" created="2026-10-06T22:18:20.577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147483593"/>
      <ac:spMk id="38" creationId="{288C8A97-53F7-823A-29C6-10F86CCFA717}"/>
    </ac:deMkLst>
    <p188:txBody>
      <a:bodyPr/>
      <a:lstStyle/>
      <a:p>
        <a:r>
          <a:rPr lang="en-US"/>
          <a:t>revisar</a:t>
        </a:r>
      </a:p>
    </p188:txBody>
  </p188:cm>
</p188:cmLst>
</file>

<file path=ppt/comments/modernComment_7FFFFFCC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C54C098D-D0C5-436A-807A-96E7ED9BA9F4}" authorId="{4AB3D9A2-D831-8862-E1DB-9CCA1613A328}" created="2026-10-06T21:17:01.114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147483596"/>
      <ac:spMk id="68" creationId="{821B1AB2-C09B-E286-77A4-4A0307148D5B}"/>
    </ac:deMkLst>
    <p188:replyLst>
      <p188:reply id="{D4A20D99-7A0C-4E5C-B686-5C08D76C33EC}" authorId="{4AB3D9A2-D831-8862-E1DB-9CCA1613A328}" created="2026-10-06T21:17:13.742">
        <p188:txBody>
          <a:bodyPr/>
          <a:lstStyle/>
          <a:p>
            <a:r>
              <a:rPr lang="en-US"/>
              <a:t>I guess</a:t>
            </a:r>
          </a:p>
        </p188:txBody>
      </p188:reply>
    </p188:replyLst>
    <p188:txBody>
      <a:bodyPr/>
      <a:lstStyle/>
      <a:p>
        <a:r>
          <a:rPr lang="en-US"/>
          <a:t>“Un puntaje de casi 8 sobre 10 en objetivos de aprendizaje de alto nivel”</a:t>
        </a:r>
      </a:p>
    </p188:txBody>
    <p188:extLst>
      <p:ext xmlns:p="http://schemas.openxmlformats.org/presentationml/2006/main" uri="{57CB4572-C831-44C2-8A1C-0ADB6CCDFE69}">
        <p223:reactions xmlns:p223="http://schemas.microsoft.com/office/powerpoint/2022/03/main">
          <p223:rxn type="👍">
            <p223:instance time="2026-10-07T10:20:21.401" authorId="{CF2A9D0A-E788-E089-94D5-A08C2CBA102F}"/>
          </p223:rxn>
        </p223:reactions>
      </p:ext>
    </p188:extLst>
  </p188:cm>
</p188:cmLst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5E0D7838-C18F-DC19-8BA8-F190B2277E5A}"/>
              </a:ext>
            </a:extLst>
          </p:cNvPr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GB" sz="1200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defRPr>
            </a:lvl1pPr>
          </a:lstStyle>
          <a:p>
            <a:pPr lvl="0"/>
            <a:endParaRPr lang="en-GB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5F0CE021-177C-47D7-483E-75A67D9001A2}"/>
              </a:ext>
            </a:extLst>
          </p:cNvPr>
          <p:cNvSpPr txBox="1">
            <a:spLocks noGrp="1"/>
          </p:cNvSpPr>
          <p:nvPr>
            <p:ph type="dt" idx="1"/>
          </p:nvPr>
        </p:nvSpPr>
        <p:spPr>
          <a:xfrm>
            <a:off x="3884608" y="0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GB" sz="1200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defRPr>
            </a:lvl1pPr>
          </a:lstStyle>
          <a:p>
            <a:pPr lvl="0"/>
            <a:fld id="{28E7684A-BECC-439E-A1BE-5921E42296AE}" type="datetime1">
              <a:rPr lang="en-GB"/>
              <a:pPr lvl="0"/>
              <a:t>07/10/2026</a:t>
            </a:fld>
            <a:endParaRPr lang="en-GB"/>
          </a:p>
        </p:txBody>
      </p:sp>
      <p:sp>
        <p:nvSpPr>
          <p:cNvPr id="4" name="Marcador de imagen de diapositiva 3">
            <a:extLst>
              <a:ext uri="{FF2B5EF4-FFF2-40B4-BE49-F238E27FC236}">
                <a16:creationId xmlns:a16="http://schemas.microsoft.com/office/drawing/2014/main" id="{4B6F556E-2AEA-D167-601C-4939129F34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099"/>
          </a:xfrm>
          <a:prstGeom prst="rect">
            <a:avLst/>
          </a:prstGeom>
          <a:noFill/>
          <a:ln w="12701">
            <a:solidFill>
              <a:srgbClr val="000000"/>
            </a:solidFill>
            <a:prstDash val="solid"/>
          </a:ln>
        </p:spPr>
      </p:sp>
      <p:sp>
        <p:nvSpPr>
          <p:cNvPr id="5" name="Marcador de notas 4">
            <a:extLst>
              <a:ext uri="{FF2B5EF4-FFF2-40B4-BE49-F238E27FC236}">
                <a16:creationId xmlns:a16="http://schemas.microsoft.com/office/drawing/2014/main" id="{F4FFF1C1-6A0B-BD2C-74C5-7C011C36364B}"/>
              </a:ext>
            </a:extLst>
          </p:cNvPr>
          <p:cNvSpPr txBox="1">
            <a:spLocks noGrp="1"/>
          </p:cNvSpPr>
          <p:nvPr>
            <p:ph type="body" sz="quarter" idx="3"/>
          </p:nvPr>
        </p:nvSpPr>
        <p:spPr>
          <a:xfrm>
            <a:off x="685800" y="4400549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BD5C50B7-5805-4514-AB65-0C6519E9EE9B}"/>
              </a:ext>
            </a:extLst>
          </p:cNvPr>
          <p:cNvSpPr txBox="1">
            <a:spLocks noGrp="1"/>
          </p:cNvSpPr>
          <p:nvPr>
            <p:ph type="ftr" sz="quarter" idx="4"/>
          </p:nvPr>
        </p:nvSpPr>
        <p:spPr>
          <a:xfrm>
            <a:off x="0" y="8685208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GB" sz="1200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defRPr>
            </a:lvl1pPr>
          </a:lstStyle>
          <a:p>
            <a:pPr lvl="0"/>
            <a:endParaRPr lang="en-GB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104B44E-8F17-02F4-F8EF-4332D94476B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GB" sz="1200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defRPr>
            </a:lvl1pPr>
          </a:lstStyle>
          <a:p>
            <a:pPr lvl="0"/>
            <a:fld id="{1ECA61B4-4262-4919-ACD2-728233A45F4A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954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marR="0" lvl="0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es-ES" sz="1200" b="0" i="0" u="none" strike="noStrike" kern="1200" cap="none" spc="0" baseline="0">
        <a:solidFill>
          <a:srgbClr val="000000"/>
        </a:solidFill>
        <a:uFillTx/>
        <a:latin typeface="Aptos"/>
      </a:defRPr>
    </a:lvl1pPr>
    <a:lvl2pPr marL="457200" marR="0" lvl="1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es-ES" sz="1200" b="0" i="0" u="none" strike="noStrike" kern="1200" cap="none" spc="0" baseline="0">
        <a:solidFill>
          <a:srgbClr val="000000"/>
        </a:solidFill>
        <a:uFillTx/>
        <a:latin typeface="Aptos"/>
      </a:defRPr>
    </a:lvl2pPr>
    <a:lvl3pPr marL="914400" marR="0" lvl="2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es-ES" sz="1200" b="0" i="0" u="none" strike="noStrike" kern="1200" cap="none" spc="0" baseline="0">
        <a:solidFill>
          <a:srgbClr val="000000"/>
        </a:solidFill>
        <a:uFillTx/>
        <a:latin typeface="Aptos"/>
      </a:defRPr>
    </a:lvl3pPr>
    <a:lvl4pPr marL="1371600" marR="0" lvl="3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es-ES" sz="1200" b="0" i="0" u="none" strike="noStrike" kern="1200" cap="none" spc="0" baseline="0">
        <a:solidFill>
          <a:srgbClr val="000000"/>
        </a:solidFill>
        <a:uFillTx/>
        <a:latin typeface="Aptos"/>
      </a:defRPr>
    </a:lvl4pPr>
    <a:lvl5pPr marL="1828800" marR="0" lvl="4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es-ES" sz="1200" b="0" i="0" u="none" strike="noStrike" kern="1200" cap="none" spc="0" baseline="0">
        <a:solidFill>
          <a:srgbClr val="000000"/>
        </a:solidFill>
        <a:uFillTx/>
        <a:latin typeface="Apto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B1D487-DDAE-76FF-D08A-5FD4898F05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0C11A7-5B30-0D4C-1A32-3B6EBAA4251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F52159-5FDF-B3BA-9084-693DB7B1BE1E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1AAED06E-8BF2-42AD-8A6A-770674966DE2}" type="slidenum">
              <a:t>7</a:t>
            </a:fld>
            <a:endParaRPr lang="en-GB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BFA1B2EC-71FE-7E01-5AD5-A4D0A8DD83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E25A62AD-DAB2-11D3-5199-7CF430A34F8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5FB1472-6766-53D0-6401-5FE0F10125E5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52F9D3F4-B62E-4E93-BFF7-25A95F920F43}" type="slidenum">
              <a:t>8</a:t>
            </a:fld>
            <a:endParaRPr lang="en-GB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CEFC739-0A44-7F24-01DE-436007D7DA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EE2B2F13-7EA5-AEBF-2310-42A22662ED2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4D8CAB9-D46D-CABB-14E1-39A109725B62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21D07565-C282-41D5-9403-1D258B3A8AD8}" type="slidenum">
              <a:t>9</a:t>
            </a:fld>
            <a:endParaRPr lang="es-VE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08D497-FDAB-3D71-8C73-11A384723F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BC3AE0-355E-5C44-E309-CF298646FEF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pPr lvl="0"/>
            <a:r>
              <a:rPr lang="es-ES"/>
              <a:t>Moléculas evaluadas en el estudio de resistencia: thiodicarb, profenofos, lambdacialotrina, emamectin benzoato y lufenuron (marcas comerciales como Barre y Match). </a:t>
            </a:r>
          </a:p>
          <a:p>
            <a:r>
              <a:t>Vincular con 9 lotes: el 24/06 se reportó «Aplicación de control de plagas con cañón por las orillas por incidencia localizada».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81;p1:notes">
            <a:extLst>
              <a:ext uri="{FF2B5EF4-FFF2-40B4-BE49-F238E27FC236}">
                <a16:creationId xmlns:a16="http://schemas.microsoft.com/office/drawing/2014/main" id="{7990ECBC-3CFE-1F05-1EF6-EEC552CDF5F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800" y="4343400"/>
            <a:ext cx="5486400" cy="4114800"/>
          </a:xfrm>
        </p:spPr>
        <p:txBody>
          <a:bodyPr lIns="91421" tIns="91421" rIns="91421" bIns="91421"/>
          <a:lstStyle/>
          <a:p>
            <a:endParaRPr lang="en-US"/>
          </a:p>
        </p:txBody>
      </p:sp>
      <p:sp>
        <p:nvSpPr>
          <p:cNvPr id="3" name="Google Shape;82;p1:notes">
            <a:extLst>
              <a:ext uri="{FF2B5EF4-FFF2-40B4-BE49-F238E27FC236}">
                <a16:creationId xmlns:a16="http://schemas.microsoft.com/office/drawing/2014/main" id="{6444B0F0-0F01-2238-B989-3BAA3B9774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0002AE-85C0-7EAC-4325-5B51CBB59E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2CF958B-F08A-216F-76DD-67A64ED7D4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93AB8110-05B8-6A1C-0E8D-AF990BB7A7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VE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F9CB0D8-7A26-AF41-4A1B-5D9C7D04C87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8B838AD-C211-4D19-A05C-52EF0C028FA0}" type="slidenum">
              <a:rPr kumimoji="0" lang="es-V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s-VE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1025317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9537317-76B8-642A-A1D1-B0BBB7F2EC83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524003" y="1122361"/>
            <a:ext cx="9144000" cy="2387598"/>
          </a:xfrm>
        </p:spPr>
        <p:txBody>
          <a:bodyPr anchor="b" anchorCtr="1"/>
          <a:lstStyle>
            <a:lvl1pPr algn="ctr">
              <a:defRPr sz="6000"/>
            </a:lvl1pPr>
          </a:lstStyle>
          <a:p>
            <a:pPr lvl="0"/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A8BE88C-2228-DAC5-1DAF-6EAE1079C0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524003" y="3602041"/>
            <a:ext cx="9144000" cy="1655758"/>
          </a:xfrm>
        </p:spPr>
        <p:txBody>
          <a:bodyPr anchorCtr="1"/>
          <a:lstStyle>
            <a:lvl1pPr marL="0" indent="0" algn="ctr">
              <a:buNone/>
              <a:defRPr sz="2400"/>
            </a:lvl1pPr>
          </a:lstStyle>
          <a:p>
            <a:pPr lvl="0"/>
            <a:r>
              <a:rPr lang="es-ES"/>
              <a:t>Haga clic para modificar el estilo de subtítulo del patrón</a:t>
            </a:r>
            <a:endParaRPr lang="en-GB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451EFDF-E607-7C2E-D2E7-B339739C4826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63640725-DE17-4D36-9CB5-FF253236F489}" type="datetime1">
              <a:rPr lang="en-GB"/>
              <a:pPr lvl="0"/>
              <a:t>07/10/2026</a:t>
            </a:fld>
            <a:endParaRPr lang="en-GB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C580397-FADC-ECF7-DC34-F3F9EC58A180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C3E0ACD-FEE9-1686-0D37-88BED24242C3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6F034FD6-34B3-412E-8E8D-378D50C42A42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9853243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64AF20-E236-28D0-6F47-92A940300F67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02FF0CD-7DCB-F083-2A40-575481A91EE8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9F1EE64-192E-94AA-5EE2-06D875B3A5D1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B8D19107-26FF-426E-B583-7CD7D5FD35FB}" type="datetime1">
              <a:rPr lang="en-GB"/>
              <a:pPr lvl="0"/>
              <a:t>07/10/2026</a:t>
            </a:fld>
            <a:endParaRPr lang="en-GB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61F6C58-7593-3630-108B-2FC528385570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0639E94-6368-3E84-B78B-915D22ECF60A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62B625C-6C71-492E-A8EC-48246A02205A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6742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454455C-CA71-536E-E7A1-8A0E92B08D0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1847" y="1709735"/>
            <a:ext cx="10515600" cy="2852735"/>
          </a:xfrm>
        </p:spPr>
        <p:txBody>
          <a:bodyPr anchor="b"/>
          <a:lstStyle>
            <a:lvl1pPr>
              <a:defRPr sz="6000"/>
            </a:lvl1pPr>
          </a:lstStyle>
          <a:p>
            <a:pPr lvl="0"/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D80F3A5-CF04-BF2C-3A2A-14F4B1195C2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1847" y="4589465"/>
            <a:ext cx="10515600" cy="1500182"/>
          </a:xfrm>
        </p:spPr>
        <p:txBody>
          <a:bodyPr/>
          <a:lstStyle>
            <a:lvl1pPr marL="0" indent="0">
              <a:buNone/>
              <a:defRPr sz="2400">
                <a:solidFill>
                  <a:srgbClr val="767676"/>
                </a:solidFill>
              </a:defRPr>
            </a:lvl1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447CD00-C077-7C3D-3BF5-0B9DDBA7AFBC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402CF641-3EB5-4274-AE77-374F76513C8F}" type="datetime1">
              <a:rPr lang="en-GB"/>
              <a:pPr lvl="0"/>
              <a:t>07/10/2026</a:t>
            </a:fld>
            <a:endParaRPr lang="en-GB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C07EA96-4F10-A5DC-ECE4-73AE00E1B2E0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2757644-BD6B-EE08-06FF-2D2DA6AB3263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61B33107-7CDC-4AB5-9239-436CD8A12D4D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81960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C9EF1A5-C479-9187-1A01-D0355424C389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64929BD-E89F-4947-D83D-4EE08EE726E2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5181603" cy="435133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F5FB6260-D15B-035C-0D78-191B711131F3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6172200" y="1825627"/>
            <a:ext cx="5181603" cy="435133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75491D7-DC44-52C0-54A6-AED72CC8D516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65231DC0-71F2-4438-813F-EDCB485774C2}" type="datetime1">
              <a:rPr lang="en-GB"/>
              <a:pPr lvl="0"/>
              <a:t>07/10/2026</a:t>
            </a:fld>
            <a:endParaRPr lang="en-GB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2DCF480-6F91-3DF6-5642-DE2B8AC0A1CB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DE5A975-2607-402D-BF54-EDDB22C35C36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54A17423-862F-451A-8EAF-E63F37E4AC85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92204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7697C3C-7593-D55C-1536-29824251B19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365129"/>
            <a:ext cx="10515600" cy="1325559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6F06C84-D899-D4F2-989B-E16D5EE8E1D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9784" y="1681160"/>
            <a:ext cx="5157782" cy="823910"/>
          </a:xfr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A5FDE6E1-2B83-BFDB-A4E7-728D8602FEEF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839784" y="2505071"/>
            <a:ext cx="5157782" cy="368458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2E5CCCBD-7C84-2111-2C08-DD110B14D9E1}"/>
              </a:ext>
            </a:extLst>
          </p:cNvPr>
          <p:cNvSpPr txBox="1">
            <a:spLocks noGrp="1"/>
          </p:cNvSpPr>
          <p:nvPr>
            <p:ph type="body" idx="3"/>
          </p:nvPr>
        </p:nvSpPr>
        <p:spPr>
          <a:xfrm>
            <a:off x="6172200" y="1681160"/>
            <a:ext cx="5183184" cy="823910"/>
          </a:xfr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A3D4EB29-9911-7B28-E12C-2B835933C375}"/>
              </a:ext>
            </a:extLst>
          </p:cNvPr>
          <p:cNvSpPr txBox="1">
            <a:spLocks noGrp="1"/>
          </p:cNvSpPr>
          <p:nvPr>
            <p:ph idx="4"/>
          </p:nvPr>
        </p:nvSpPr>
        <p:spPr>
          <a:xfrm>
            <a:off x="6172200" y="2505071"/>
            <a:ext cx="5183184" cy="368458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0F6A857F-79FA-A22B-C1EA-8A4B27A7F02F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6A778DFF-4CF9-463C-B9BB-6A14EE2C684A}" type="datetime1">
              <a:rPr lang="en-GB"/>
              <a:pPr lvl="0"/>
              <a:t>07/10/2026</a:t>
            </a:fld>
            <a:endParaRPr lang="en-GB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20431346-0922-1DC4-907C-0DA7787E09D2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FDA75521-17C4-A125-50FE-A599197A0A28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EE52E219-D1A6-4AFE-9C95-20362FCB8409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51941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9EA5686-E893-E574-301D-7104B4D13354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52AF1C9F-8B6D-9373-176C-EBE60E7E7A3A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250A350E-22D6-4F08-8583-50CA37177B2C}" type="datetime1">
              <a:rPr lang="en-GB"/>
              <a:pPr lvl="0"/>
              <a:t>07/10/2026</a:t>
            </a:fld>
            <a:endParaRPr lang="en-GB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038FE233-43AB-87AB-4FFF-3DCE8DCACDCE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3D8B3DCB-2574-91C1-0101-367966B8B052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F5AB9E52-13D0-4D64-B59D-F3C94434D6C1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86998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1A3159A1-23FB-836D-9FD6-882292384085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63058259-E6B5-4BE4-9E40-F8BE542E9627}" type="datetime1">
              <a:rPr lang="en-GB"/>
              <a:pPr lvl="0"/>
              <a:t>07/10/2026</a:t>
            </a:fld>
            <a:endParaRPr lang="en-GB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EA293FAE-2CA0-B6C7-614F-AC917371B798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961122F-8A00-039E-9729-5D37D4335D01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BC5F450C-DC9D-4BAF-AE73-00E93C14F82F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4877741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AD48B7D-27DF-85D5-17C7-AAEE882E9B3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457200"/>
            <a:ext cx="3932240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/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615F49E-4681-503A-1DE0-64EF702822CF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5183184" y="987423"/>
            <a:ext cx="6172200" cy="487362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80A54EA-9E42-EC25-5A77-171FAA9C97D9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839784" y="2057400"/>
            <a:ext cx="3932240" cy="3811584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D616045-7CBC-5615-0894-58141C5ACE65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4A5522DB-0000-4537-A675-2EEB3AD8E934}" type="datetime1">
              <a:rPr lang="en-GB"/>
              <a:pPr lvl="0"/>
              <a:t>07/10/2026</a:t>
            </a:fld>
            <a:endParaRPr lang="en-GB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36E7726-2CC6-26D9-E38C-94D602CC266A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3D84D5A6-8B09-3E87-5C07-D6701C776000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9E25F39D-0163-44EA-BA4C-D04B3D5C858B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21394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36EC88B-49C5-D702-D912-57E65B5492A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457200"/>
            <a:ext cx="3932240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/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98726AA3-AD2B-AE0F-6E8E-30A5ADBF397E}"/>
              </a:ext>
            </a:extLst>
          </p:cNvPr>
          <p:cNvSpPr txBox="1">
            <a:spLocks noGrp="1"/>
          </p:cNvSpPr>
          <p:nvPr>
            <p:ph type="pic" idx="1"/>
          </p:nvPr>
        </p:nvSpPr>
        <p:spPr>
          <a:xfrm>
            <a:off x="5183184" y="987423"/>
            <a:ext cx="6172200" cy="4873623"/>
          </a:xfrm>
        </p:spPr>
        <p:txBody>
          <a:bodyPr/>
          <a:lstStyle>
            <a:lvl1pPr marL="0" indent="0">
              <a:buNone/>
              <a:defRPr lang="en-GB" sz="3200"/>
            </a:lvl1pPr>
          </a:lstStyle>
          <a:p>
            <a:pPr lvl="0"/>
            <a:endParaRPr lang="en-GB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81697464-AD88-26A5-CF08-60902A390BCD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839784" y="2057400"/>
            <a:ext cx="3932240" cy="3811584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9C9A1DF-E858-D559-B683-05E3CC25CE14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4C0B6A19-BED2-48C7-8833-8E44DD3A7193}" type="datetime1">
              <a:rPr lang="en-GB"/>
              <a:pPr lvl="0"/>
              <a:t>07/10/2026</a:t>
            </a:fld>
            <a:endParaRPr lang="en-GB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F60909F-D69F-29CC-9F2A-81FD9D3E7872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863C573-AF3A-A030-D6B0-BCD334BA9E33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1FF8E020-CFB8-477A-977B-A16A565ED93B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521309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61BB3C9-CEDE-F0A7-C91C-9E40699BBE4D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2D2EBD80-1AEC-6B5C-76CF-90DDE1C8DFB0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DF8EBC5-F505-DFE3-6EC3-5FD5F35DCBB2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5215D83-31B2-42CD-B96C-A0EBD9E2D9D2}" type="datetime1">
              <a:rPr lang="en-GB"/>
              <a:pPr lvl="0"/>
              <a:t>07/10/2026</a:t>
            </a:fld>
            <a:endParaRPr lang="en-GB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4D3937A-26CF-B9A3-D7CF-D07951902EE6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BF68ED9-5AFF-C9A8-E674-66B80653F052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F5C877F9-0ED9-45C3-80D8-BD7B0054ECA2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18293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504E7299-BBCE-9977-E6AA-7F0565802D2B}"/>
              </a:ext>
            </a:extLst>
          </p:cNvPr>
          <p:cNvSpPr txBox="1">
            <a:spLocks noGrp="1"/>
          </p:cNvSpPr>
          <p:nvPr>
            <p:ph type="title" orient="vert"/>
          </p:nvPr>
        </p:nvSpPr>
        <p:spPr>
          <a:xfrm>
            <a:off x="8724903" y="365129"/>
            <a:ext cx="2628899" cy="5811834"/>
          </a:xfrm>
        </p:spPr>
        <p:txBody>
          <a:bodyPr vert="eaVert"/>
          <a:lstStyle>
            <a:lvl1pPr>
              <a:defRPr/>
            </a:lvl1pPr>
          </a:lstStyle>
          <a:p>
            <a:pPr lvl="0"/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79CF209A-E022-0BDF-DCD6-1F2870EB9FC3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>
          <a:xfrm>
            <a:off x="838203" y="365129"/>
            <a:ext cx="7734296" cy="5811834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77D64F2-6D69-A379-EA54-82ADFADDED89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C9393263-46F2-4DF8-828E-4BDBC1F2E675}" type="datetime1">
              <a:rPr lang="en-GB"/>
              <a:pPr lvl="0"/>
              <a:t>07/10/2026</a:t>
            </a:fld>
            <a:endParaRPr lang="en-GB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DB20D39-FE52-3FA7-4956-5C4E0A6E13EB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GB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A7502C8-BAAF-4193-4425-7DCA9D6658BE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CC95130A-9978-4B40-914A-6A2258D8B43F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54457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C74C2AC4-37D5-0C93-992B-D5CB1A49461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365129"/>
            <a:ext cx="10515600" cy="132555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rmAutofit/>
          </a:bodyPr>
          <a:lstStyle/>
          <a:p>
            <a:pPr lvl="0"/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5606E111-9898-B020-C037-2BCF2EFF85D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3" y="1825627"/>
            <a:ext cx="10515600" cy="4351336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1206DE6-A6D5-405F-FEBF-DC3FE7D33D4D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8382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GB" sz="1200" b="0" i="0" u="none" strike="noStrike" kern="1200" cap="none" spc="0" baseline="0">
                <a:solidFill>
                  <a:srgbClr val="767676"/>
                </a:solidFill>
                <a:uFillTx/>
                <a:latin typeface="Aptos"/>
              </a:defRPr>
            </a:lvl1pPr>
          </a:lstStyle>
          <a:p>
            <a:pPr lvl="0"/>
            <a:fld id="{4B402421-C55E-4A70-B7DB-AEE4A157316C}" type="datetime1">
              <a:rPr lang="en-GB"/>
              <a:pPr lvl="0"/>
              <a:t>07/10/2026</a:t>
            </a:fld>
            <a:endParaRPr lang="en-GB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B27DBA2-DF0F-6E1A-B860-218A511BB794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4038603" y="6356351"/>
            <a:ext cx="41148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1" compatLnSpc="1">
            <a:noAutofit/>
          </a:bodyPr>
          <a:lstStyle>
            <a:lvl1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GB" sz="1200" b="0" i="0" u="none" strike="noStrike" kern="1200" cap="none" spc="0" baseline="0">
                <a:solidFill>
                  <a:srgbClr val="767676"/>
                </a:solidFill>
                <a:uFillTx/>
                <a:latin typeface="Aptos"/>
              </a:defRPr>
            </a:lvl1pPr>
          </a:lstStyle>
          <a:p>
            <a:pPr lvl="0"/>
            <a:endParaRPr lang="en-GB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94B7A06-8C6E-F0AD-1E9B-F116C39A1911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86106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GB" sz="1200" b="0" i="0" u="none" strike="noStrike" kern="1200" cap="none" spc="0" baseline="0">
                <a:solidFill>
                  <a:srgbClr val="767676"/>
                </a:solidFill>
                <a:uFillTx/>
                <a:latin typeface="Aptos"/>
              </a:defRPr>
            </a:lvl1pPr>
          </a:lstStyle>
          <a:p>
            <a:pPr lvl="0"/>
            <a:fld id="{2E867B9A-618C-4DDC-BBB7-3D73F1F1B3EA}" type="slidenum">
              <a:t>‹#›</a:t>
            </a:fld>
            <a:endParaRPr lang="en-GB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marL="0" marR="0" lvl="0" indent="0" algn="l" defTabSz="914400" rtl="0" fontAlgn="auto" hangingPunct="1">
        <a:lnSpc>
          <a:spcPct val="90000"/>
        </a:lnSpc>
        <a:spcBef>
          <a:spcPts val="0"/>
        </a:spcBef>
        <a:spcAft>
          <a:spcPts val="0"/>
        </a:spcAft>
        <a:buNone/>
        <a:tabLst/>
        <a:defRPr lang="es-ES" sz="4400" b="0" i="0" u="none" strike="noStrike" kern="1200" cap="none" spc="0" baseline="0">
          <a:solidFill>
            <a:srgbClr val="000000"/>
          </a:solidFill>
          <a:uFillTx/>
          <a:latin typeface="Aptos Display"/>
        </a:defRPr>
      </a:lvl1pPr>
    </p:titleStyle>
    <p:bodyStyle>
      <a:lvl1pPr marL="228600" marR="0" lvl="0" indent="-228600" algn="l" defTabSz="914400" rtl="0" fontAlgn="auto" hangingPunct="1">
        <a:lnSpc>
          <a:spcPct val="90000"/>
        </a:lnSpc>
        <a:spcBef>
          <a:spcPts val="1000"/>
        </a:spcBef>
        <a:spcAft>
          <a:spcPts val="0"/>
        </a:spcAft>
        <a:buSzPct val="100000"/>
        <a:buFont typeface="Arial" pitchFamily="34"/>
        <a:buChar char="•"/>
        <a:tabLst/>
        <a:defRPr lang="es-ES" sz="2800" b="0" i="0" u="none" strike="noStrike" kern="1200" cap="none" spc="0" baseline="0">
          <a:solidFill>
            <a:srgbClr val="000000"/>
          </a:solidFill>
          <a:uFillTx/>
          <a:latin typeface="Aptos"/>
        </a:defRPr>
      </a:lvl1pPr>
      <a:lvl2pPr marL="685800" marR="0" lvl="1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s-ES" sz="2400" b="0" i="0" u="none" strike="noStrike" kern="1200" cap="none" spc="0" baseline="0">
          <a:solidFill>
            <a:srgbClr val="000000"/>
          </a:solidFill>
          <a:uFillTx/>
          <a:latin typeface="Aptos"/>
        </a:defRPr>
      </a:lvl2pPr>
      <a:lvl3pPr marL="1143000" marR="0" lvl="2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s-ES" sz="2000" b="0" i="0" u="none" strike="noStrike" kern="1200" cap="none" spc="0" baseline="0">
          <a:solidFill>
            <a:srgbClr val="000000"/>
          </a:solidFill>
          <a:uFillTx/>
          <a:latin typeface="Aptos"/>
        </a:defRPr>
      </a:lvl3pPr>
      <a:lvl4pPr marL="1600200" marR="0" lvl="3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s-ES" sz="1800" b="0" i="0" u="none" strike="noStrike" kern="1200" cap="none" spc="0" baseline="0">
          <a:solidFill>
            <a:srgbClr val="000000"/>
          </a:solidFill>
          <a:uFillTx/>
          <a:latin typeface="Aptos"/>
        </a:defRPr>
      </a:lvl4pPr>
      <a:lvl5pPr marL="2057400" marR="0" lvl="4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s-ES" sz="1800" b="0" i="0" u="none" strike="noStrike" kern="1200" cap="none" spc="0" baseline="0">
          <a:solidFill>
            <a:srgbClr val="000000"/>
          </a:solidFill>
          <a:uFillTx/>
          <a:latin typeface="Apto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18/10/relationships/comments" Target="../comments/modernComment_7FFFFFC9_0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3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36.png"/></Relationships>
</file>

<file path=ppt/slides/_rels/slide9.xml.rels><?xml version='1.0' encoding='UTF-8' standalone='yes'?>
<Relationships xmlns="http://schemas.openxmlformats.org/package/2006/relationships"><Relationship Id="rId1" Type="http://schemas.microsoft.com/office/2007/relationships/media" Target="../media/media1.mp4"/><Relationship Id="rId2" Type="http://schemas.openxmlformats.org/officeDocument/2006/relationships/video" Target="../media/media1.mp4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5" Type="http://schemas.microsoft.com/office/2018/10/relationships/comments" Target="../comments/modernComment_7FFFFFCC_0.xml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Relationship Id="rId8" Type="http://schemas.openxmlformats.org/officeDocument/2006/relationships/image" Target="../media/image23.png"/><Relationship Id="rId9" Type="http://schemas.openxmlformats.org/officeDocument/2006/relationships/image" Target="../media/image24.png"/><Relationship Id="rId10" Type="http://schemas.openxmlformats.org/officeDocument/2006/relationships/image" Target="../media/image25.png"/><Relationship Id="rId11" Type="http://schemas.openxmlformats.org/officeDocument/2006/relationships/image" Target="../media/image26.png"/><Relationship Id="rId12" Type="http://schemas.openxmlformats.org/officeDocument/2006/relationships/image" Target="../media/image27.jpeg"/><Relationship Id="rId13" Type="http://schemas.openxmlformats.org/officeDocument/2006/relationships/image" Target="../media/image28.jpeg"/><Relationship Id="rId14" Type="http://schemas.openxmlformats.org/officeDocument/2006/relationships/image" Target="../media/image29.jpe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6DECE719-6322-557E-417F-20BF31564375}"/>
              </a:ext>
            </a:extLst>
          </p:cNvPr>
          <p:cNvSpPr/>
          <p:nvPr/>
        </p:nvSpPr>
        <p:spPr>
          <a:xfrm>
            <a:off x="0" y="0"/>
            <a:ext cx="12191996" cy="6858000"/>
          </a:xfrm>
          <a:custGeom>
            <a:avLst/>
            <a:gdLst>
              <a:gd name="f0" fmla="val w"/>
              <a:gd name="f1" fmla="val h"/>
              <a:gd name="f2" fmla="val 0"/>
              <a:gd name="f3" fmla="val 18288000"/>
              <a:gd name="f4" fmla="val 10287000"/>
              <a:gd name="f5" fmla="*/ f0 1 18288000"/>
              <a:gd name="f6" fmla="*/ f1 1 10287000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8288000"/>
              <a:gd name="f13" fmla="*/ f10 1 10287000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8288000" h="10287000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2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000000"/>
              </a:solidFill>
              <a:uFillTx/>
              <a:latin typeface="72 Condensed"/>
            </a:endParaRPr>
          </a:p>
        </p:txBody>
      </p:sp>
      <p:sp>
        <p:nvSpPr>
          <p:cNvPr id="3" name="Rectángulo 5">
            <a:extLst>
              <a:ext uri="{FF2B5EF4-FFF2-40B4-BE49-F238E27FC236}">
                <a16:creationId xmlns:a16="http://schemas.microsoft.com/office/drawing/2014/main" id="{D9336088-195D-F705-6A5B-33E5CF9FA8CE}"/>
              </a:ext>
            </a:extLst>
          </p:cNvPr>
          <p:cNvSpPr/>
          <p:nvPr/>
        </p:nvSpPr>
        <p:spPr>
          <a:xfrm>
            <a:off x="0" y="-11430"/>
            <a:ext cx="12191996" cy="7143749"/>
          </a:xfrm>
          <a:prstGeom prst="rect">
            <a:avLst/>
          </a:prstGeom>
          <a:solidFill>
            <a:srgbClr val="1F2E18">
              <a:alpha val="62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FFFFFF"/>
              </a:solidFill>
              <a:uFillTx/>
              <a:latin typeface="72 Condensed"/>
            </a:endParaRPr>
          </a:p>
        </p:txBody>
      </p:sp>
      <p:sp>
        <p:nvSpPr>
          <p:cNvPr id="4" name="TextBox 5">
            <a:extLst>
              <a:ext uri="{FF2B5EF4-FFF2-40B4-BE49-F238E27FC236}">
                <a16:creationId xmlns:a16="http://schemas.microsoft.com/office/drawing/2014/main" id="{E73F207C-B87B-181E-AA96-7AD5B2C5E103}"/>
              </a:ext>
            </a:extLst>
          </p:cNvPr>
          <p:cNvSpPr txBox="1"/>
          <p:nvPr/>
        </p:nvSpPr>
        <p:spPr>
          <a:xfrm>
            <a:off x="0" y="195946"/>
            <a:ext cx="12191996" cy="6662053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33869" tIns="33869" rIns="33869" bIns="33869" anchor="ctr" anchorCtr="1" compatLnSpc="1">
            <a:noAutofit/>
          </a:bodyPr>
          <a:lstStyle/>
          <a:p>
            <a:pPr marL="0" marR="0" lvl="0" indent="0" algn="ctr" defTabSz="914372" rtl="0" fontAlgn="auto" hangingPunct="1">
              <a:lnSpc>
                <a:spcPts val="1775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200" b="0" i="0" u="none" strike="noStrike" kern="1200" cap="none" spc="0" baseline="0">
              <a:solidFill>
                <a:srgbClr val="000000"/>
              </a:solidFill>
              <a:uFillTx/>
              <a:latin typeface="72 Condensed"/>
            </a:endParaRPr>
          </a:p>
        </p:txBody>
      </p:sp>
      <p:sp>
        <p:nvSpPr>
          <p:cNvPr id="5" name="Freeform 4">
            <a:extLst>
              <a:ext uri="{FF2B5EF4-FFF2-40B4-BE49-F238E27FC236}">
                <a16:creationId xmlns:a16="http://schemas.microsoft.com/office/drawing/2014/main" id="{1FAE8CB8-D188-1A68-25BF-8D2DF2852CD1}"/>
              </a:ext>
            </a:extLst>
          </p:cNvPr>
          <p:cNvSpPr/>
          <p:nvPr/>
        </p:nvSpPr>
        <p:spPr>
          <a:xfrm>
            <a:off x="128423" y="2205339"/>
            <a:ext cx="3068442" cy="1876643"/>
          </a:xfrm>
          <a:custGeom>
            <a:avLst/>
            <a:gdLst>
              <a:gd name="f0" fmla="val w"/>
              <a:gd name="f1" fmla="val h"/>
              <a:gd name="f2" fmla="val 0"/>
              <a:gd name="f3" fmla="val 4602658"/>
              <a:gd name="f4" fmla="val 3806366"/>
              <a:gd name="f5" fmla="*/ f0 1 4602658"/>
              <a:gd name="f6" fmla="*/ f1 1 3806366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4602658"/>
              <a:gd name="f13" fmla="*/ f10 1 3806366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4602658" h="3806366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3">
              <a:alphaModFix/>
            </a:blip>
            <a:stretch>
              <a:fillRect t="-1" b="-35218"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 dirty="0">
              <a:solidFill>
                <a:srgbClr val="000000"/>
              </a:solidFill>
              <a:uFillTx/>
              <a:latin typeface="72 Condensed"/>
            </a:endParaRPr>
          </a:p>
        </p:txBody>
      </p:sp>
      <p:grpSp>
        <p:nvGrpSpPr>
          <p:cNvPr id="6" name="Grupo 2">
            <a:extLst>
              <a:ext uri="{FF2B5EF4-FFF2-40B4-BE49-F238E27FC236}">
                <a16:creationId xmlns:a16="http://schemas.microsoft.com/office/drawing/2014/main" id="{68110A8E-2AC5-20BB-8857-CB162592995F}"/>
              </a:ext>
            </a:extLst>
          </p:cNvPr>
          <p:cNvGrpSpPr/>
          <p:nvPr/>
        </p:nvGrpSpPr>
        <p:grpSpPr>
          <a:xfrm>
            <a:off x="3389836" y="2466557"/>
            <a:ext cx="7074968" cy="1365884"/>
            <a:chOff x="3389836" y="2466557"/>
            <a:chExt cx="7074968" cy="1365884"/>
          </a:xfrm>
        </p:grpSpPr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25BD2D8A-3C54-FAD6-2DAB-322A54528F62}"/>
                </a:ext>
              </a:extLst>
            </p:cNvPr>
            <p:cNvSpPr txBox="1"/>
            <p:nvPr/>
          </p:nvSpPr>
          <p:spPr>
            <a:xfrm>
              <a:off x="3389836" y="2466557"/>
              <a:ext cx="7074968" cy="677104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ctr" anchorCtr="0" compatLnSpc="1">
              <a:spAutoFit/>
            </a:bodyPr>
            <a:lstStyle/>
            <a:p>
              <a:pPr marL="0" marR="0" lvl="0" indent="0" algn="l" defTabSz="914372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s-VE" sz="4400" b="1" i="0" u="none" strike="noStrike" kern="1200" cap="none" spc="835" baseline="0">
                  <a:solidFill>
                    <a:srgbClr val="FFFFFF"/>
                  </a:solidFill>
                  <a:uFillTx/>
                  <a:latin typeface="72 Condensed" pitchFamily="34"/>
                  <a:ea typeface="Montserrat"/>
                  <a:cs typeface="72 Condensed" pitchFamily="34"/>
                </a:rPr>
                <a:t>PROGRAMA SATURNO</a:t>
              </a:r>
            </a:p>
          </p:txBody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53E8979B-37B1-9CCC-057E-1C40CFBB9567}"/>
                </a:ext>
              </a:extLst>
            </p:cNvPr>
            <p:cNvSpPr txBox="1"/>
            <p:nvPr/>
          </p:nvSpPr>
          <p:spPr>
            <a:xfrm>
              <a:off x="3389836" y="3216886"/>
              <a:ext cx="6544443" cy="615555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0" compatLnSpc="1">
              <a:spAutoFit/>
            </a:bodyPr>
            <a:lstStyle/>
            <a:p>
              <a:pPr marL="0" marR="0" lvl="0" indent="0" algn="l" defTabSz="914372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s-VE" sz="2000" b="1" i="0" u="none" strike="noStrike" kern="1200" cap="none" spc="577" baseline="0">
                  <a:solidFill>
                    <a:srgbClr val="FFFFFF"/>
                  </a:solidFill>
                  <a:uFillTx/>
                  <a:latin typeface="72 Condensed"/>
                  <a:ea typeface="Montserrat"/>
                  <a:cs typeface="72 Condensed" pitchFamily="34"/>
                </a:rPr>
                <a:t>INTEGRADOR DE PROCESOS, CONOCIMIENTO Y TECNOLOGÍA</a:t>
              </a:r>
            </a:p>
          </p:txBody>
        </p:sp>
      </p:grpSp>
      <p:pic>
        <p:nvPicPr>
          <p:cNvPr id="9" name="Imagen 9" descr="Dibujo con letras blancas&#10;&#10;El contenido generado por IA puede ser incorrecto.">
            <a:extLst>
              <a:ext uri="{FF2B5EF4-FFF2-40B4-BE49-F238E27FC236}">
                <a16:creationId xmlns:a16="http://schemas.microsoft.com/office/drawing/2014/main" id="{D8E638A5-6A0B-C0F9-D3E3-90EFAE4B18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4099" y="5785052"/>
            <a:ext cx="1606975" cy="524554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0" name="Rectangle 22">
            <a:extLst>
              <a:ext uri="{FF2B5EF4-FFF2-40B4-BE49-F238E27FC236}">
                <a16:creationId xmlns:a16="http://schemas.microsoft.com/office/drawing/2014/main" id="{EF3595B2-A37E-DF1F-DF97-62EBEC754E47}"/>
              </a:ext>
            </a:extLst>
          </p:cNvPr>
          <p:cNvSpPr/>
          <p:nvPr/>
        </p:nvSpPr>
        <p:spPr>
          <a:xfrm>
            <a:off x="3390000" y="2419996"/>
            <a:ext cx="999996" cy="58000"/>
          </a:xfrm>
          <a:prstGeom prst="rect">
            <a:avLst/>
          </a:prstGeom>
          <a:solidFill>
            <a:srgbClr val="C9962E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21474833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97C5697E-D089-3E7D-45B0-23D79D06B217}"/>
              </a:ext>
            </a:extLst>
          </p:cNvPr>
          <p:cNvSpPr/>
          <p:nvPr/>
        </p:nvSpPr>
        <p:spPr>
          <a:xfrm>
            <a:off x="0" y="0"/>
            <a:ext cx="12191996" cy="6858000"/>
          </a:xfrm>
          <a:custGeom>
            <a:avLst/>
            <a:gdLst>
              <a:gd name="f0" fmla="val w"/>
              <a:gd name="f1" fmla="val h"/>
              <a:gd name="f2" fmla="val 0"/>
              <a:gd name="f3" fmla="val 18288000"/>
              <a:gd name="f4" fmla="val 10287000"/>
              <a:gd name="f5" fmla="*/ f0 1 18288000"/>
              <a:gd name="f6" fmla="*/ f1 1 10287000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8288000"/>
              <a:gd name="f13" fmla="*/ f10 1 10287000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8288000" h="10287000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2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000000"/>
              </a:solidFill>
              <a:uFillTx/>
              <a:latin typeface="72 Condensed"/>
            </a:endParaRPr>
          </a:p>
        </p:txBody>
      </p:sp>
      <p:sp>
        <p:nvSpPr>
          <p:cNvPr id="3" name="Rectángulo 5">
            <a:extLst>
              <a:ext uri="{FF2B5EF4-FFF2-40B4-BE49-F238E27FC236}">
                <a16:creationId xmlns:a16="http://schemas.microsoft.com/office/drawing/2014/main" id="{FD3A318F-D812-6A9D-B59A-C3787918F82E}"/>
              </a:ext>
            </a:extLst>
          </p:cNvPr>
          <p:cNvSpPr/>
          <p:nvPr/>
        </p:nvSpPr>
        <p:spPr>
          <a:xfrm>
            <a:off x="0" y="-11430"/>
            <a:ext cx="12191996" cy="7143749"/>
          </a:xfrm>
          <a:prstGeom prst="rect">
            <a:avLst/>
          </a:prstGeom>
          <a:solidFill>
            <a:srgbClr val="1F2E18">
              <a:alpha val="62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FFFFFF"/>
              </a:solidFill>
              <a:uFillTx/>
              <a:latin typeface="72 Condensed"/>
            </a:endParaRPr>
          </a:p>
        </p:txBody>
      </p:sp>
      <p:grpSp>
        <p:nvGrpSpPr>
          <p:cNvPr id="6" name="Grupo 2">
            <a:extLst>
              <a:ext uri="{FF2B5EF4-FFF2-40B4-BE49-F238E27FC236}">
                <a16:creationId xmlns:a16="http://schemas.microsoft.com/office/drawing/2014/main" id="{D8AC48A4-8E81-DF10-B2CE-282D1B9B69AF}"/>
              </a:ext>
            </a:extLst>
          </p:cNvPr>
          <p:cNvGrpSpPr/>
          <p:nvPr/>
        </p:nvGrpSpPr>
        <p:grpSpPr>
          <a:xfrm>
            <a:off x="3389836" y="2128000"/>
            <a:ext cx="7392466" cy="1396663"/>
            <a:chOff x="3389836" y="2128000"/>
            <a:chExt cx="7392466" cy="1396663"/>
          </a:xfrm>
        </p:grpSpPr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5B953389-9AB9-AB37-9638-090DB6B7EA19}"/>
                </a:ext>
              </a:extLst>
            </p:cNvPr>
            <p:cNvSpPr txBox="1"/>
            <p:nvPr/>
          </p:nvSpPr>
          <p:spPr>
            <a:xfrm>
              <a:off x="3389836" y="2128000"/>
              <a:ext cx="7392466" cy="1354217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ctr" anchorCtr="0" compatLnSpc="1">
              <a:spAutoFit/>
            </a:bodyPr>
            <a:lstStyle/>
            <a:p>
              <a:pPr marL="0" marR="0" lvl="0" indent="0" algn="l" defTabSz="914372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s-VE" sz="4400" b="1" i="0" u="none" strike="noStrike" kern="1200" cap="none" spc="835" baseline="0">
                  <a:solidFill>
                    <a:srgbClr val="FFFFFF"/>
                  </a:solidFill>
                  <a:uFillTx/>
                  <a:latin typeface="72 Condensed" pitchFamily="34"/>
                  <a:ea typeface="Montserrat"/>
                  <a:cs typeface="72 Condensed" pitchFamily="34"/>
                </a:rPr>
                <a:t>ANGELA GUEDEZ</a:t>
              </a:r>
            </a:p>
          </p:txBody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A9B9B14D-BCCA-A6C9-C7AD-9979B94225AA}"/>
                </a:ext>
              </a:extLst>
            </p:cNvPr>
            <p:cNvSpPr txBox="1"/>
            <p:nvPr/>
          </p:nvSpPr>
          <p:spPr>
            <a:xfrm>
              <a:off x="3389836" y="3216886"/>
              <a:ext cx="6838139" cy="307777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0" compatLnSpc="1">
              <a:spAutoFit/>
            </a:bodyPr>
            <a:lstStyle/>
            <a:p>
              <a:pPr marL="0" marR="0" lvl="0" indent="0" algn="l" defTabSz="914372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s-VE" sz="2000" b="1" i="0" u="none" strike="noStrike" kern="1200" cap="none" spc="577" baseline="0">
                  <a:solidFill>
                    <a:srgbClr val="FFFFFF"/>
                  </a:solidFill>
                  <a:uFillTx/>
                  <a:latin typeface="72 Condensed"/>
                  <a:ea typeface="Montserrat"/>
                  <a:cs typeface="72 Condensed" pitchFamily="34"/>
                </a:rPr>
                <a:t>PORTUGUESA</a:t>
              </a:r>
            </a:p>
          </p:txBody>
        </p:sp>
      </p:grpSp>
      <p:pic>
        <p:nvPicPr>
          <p:cNvPr id="9" name="Imagen 9" descr="Dibujo con letras blancas&#10;&#10;El contenido generado por IA puede ser incorrecto.">
            <a:extLst>
              <a:ext uri="{FF2B5EF4-FFF2-40B4-BE49-F238E27FC236}">
                <a16:creationId xmlns:a16="http://schemas.microsoft.com/office/drawing/2014/main" id="{8A29E983-2705-74F3-0163-D7CE2A64BB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4099" y="5785052"/>
            <a:ext cx="1606975" cy="524554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0" name="Rectangle 22">
            <a:extLst>
              <a:ext uri="{FF2B5EF4-FFF2-40B4-BE49-F238E27FC236}">
                <a16:creationId xmlns:a16="http://schemas.microsoft.com/office/drawing/2014/main" id="{759D67DB-58D3-B012-8025-C705E2472D5B}"/>
              </a:ext>
            </a:extLst>
          </p:cNvPr>
          <p:cNvSpPr/>
          <p:nvPr/>
        </p:nvSpPr>
        <p:spPr>
          <a:xfrm>
            <a:off x="3390000" y="2419996"/>
            <a:ext cx="999996" cy="58000"/>
          </a:xfrm>
          <a:prstGeom prst="rect">
            <a:avLst/>
          </a:prstGeom>
          <a:solidFill>
            <a:srgbClr val="C9962E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11" name="Freeform 4">
            <a:extLst>
              <a:ext uri="{FF2B5EF4-FFF2-40B4-BE49-F238E27FC236}">
                <a16:creationId xmlns:a16="http://schemas.microsoft.com/office/drawing/2014/main" id="{3A1D31B7-F361-D543-35DF-D6FCA338D2BB}"/>
              </a:ext>
            </a:extLst>
          </p:cNvPr>
          <p:cNvSpPr/>
          <p:nvPr/>
        </p:nvSpPr>
        <p:spPr>
          <a:xfrm>
            <a:off x="128423" y="2205339"/>
            <a:ext cx="3068442" cy="1876643"/>
          </a:xfrm>
          <a:custGeom>
            <a:avLst/>
            <a:gdLst>
              <a:gd name="f0" fmla="val w"/>
              <a:gd name="f1" fmla="val h"/>
              <a:gd name="f2" fmla="val 0"/>
              <a:gd name="f3" fmla="val 4602658"/>
              <a:gd name="f4" fmla="val 3806366"/>
              <a:gd name="f5" fmla="*/ f0 1 4602658"/>
              <a:gd name="f6" fmla="*/ f1 1 3806366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4602658"/>
              <a:gd name="f13" fmla="*/ f10 1 3806366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4602658" h="3806366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4">
              <a:alphaModFix/>
            </a:blip>
            <a:stretch>
              <a:fillRect t="-1" b="-35218"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 dirty="0">
              <a:solidFill>
                <a:srgbClr val="000000"/>
              </a:solidFill>
              <a:uFillTx/>
              <a:latin typeface="72 Condensed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21474833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21">
            <a:extLst>
              <a:ext uri="{FF2B5EF4-FFF2-40B4-BE49-F238E27FC236}">
                <a16:creationId xmlns:a16="http://schemas.microsoft.com/office/drawing/2014/main" id="{3371455F-D535-BA63-2FD6-8979F9AD1DA3}"/>
              </a:ext>
            </a:extLst>
          </p:cNvPr>
          <p:cNvSpPr txBox="1"/>
          <p:nvPr/>
        </p:nvSpPr>
        <p:spPr>
          <a:xfrm>
            <a:off x="9336088" y="0"/>
            <a:ext cx="2855908" cy="369335"/>
          </a:xfrm>
          <a:prstGeom prst="rect">
            <a:avLst/>
          </a:prstGeom>
          <a:solidFill>
            <a:srgbClr val="324425"/>
          </a:solidFill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1" u="none" strike="noStrike" kern="1200" cap="none" spc="0" baseline="0">
                <a:solidFill>
                  <a:srgbClr val="FFFFFF"/>
                </a:solidFill>
                <a:uFillTx/>
                <a:latin typeface="72 Condensed" pitchFamily="34"/>
                <a:cs typeface="72 Condensed" pitchFamily="34"/>
              </a:rPr>
              <a:t>ANÁLISIS DE SUELOS</a:t>
            </a:r>
          </a:p>
        </p:txBody>
      </p:sp>
      <p:pic>
        <p:nvPicPr>
          <p:cNvPr id="3" name="Picture 22" descr="map_top.png">
            <a:extLst>
              <a:ext uri="{FF2B5EF4-FFF2-40B4-BE49-F238E27FC236}">
                <a16:creationId xmlns:a16="http://schemas.microsoft.com/office/drawing/2014/main" id="{5EF29110-E7E0-8D4F-6C2B-1D625FACF3D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411480" y="685800"/>
            <a:ext cx="2685262" cy="475488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4" name="Rounded Rectangle 23">
            <a:extLst>
              <a:ext uri="{FF2B5EF4-FFF2-40B4-BE49-F238E27FC236}">
                <a16:creationId xmlns:a16="http://schemas.microsoft.com/office/drawing/2014/main" id="{FA297047-87BD-5459-6D95-DF5B507E9183}"/>
              </a:ext>
            </a:extLst>
          </p:cNvPr>
          <p:cNvSpPr/>
          <p:nvPr/>
        </p:nvSpPr>
        <p:spPr>
          <a:xfrm>
            <a:off x="411480" y="5577840"/>
            <a:ext cx="5760720" cy="384048"/>
          </a:xfrm>
          <a:custGeom>
            <a:avLst>
              <a:gd name="f0" fmla="val 108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13716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1" i="0" u="none" strike="noStrike" kern="1200" cap="none" spc="0" baseline="0" dirty="0">
                <a:solidFill>
                  <a:srgbClr val="C9962E"/>
                </a:solidFill>
                <a:uFillTx/>
                <a:latin typeface="72 Condensed"/>
              </a:rPr>
              <a:t>FINCA</a:t>
            </a:r>
            <a:r>
              <a:rPr lang="en-US" sz="1200" b="1" i="0" u="none" strike="noStrike" kern="1200" cap="none" spc="0" baseline="0" dirty="0" err="1">
                <a:solidFill>
                  <a:srgbClr val="FFFFFF"/>
                </a:solidFill>
                <a:uFillTx/>
                <a:latin typeface="72 Condensed"/>
              </a:rPr>
              <a:t>  Las Cupulas  ·  11 lotes  ·  227,32 ha</a:t>
            </a:r>
          </a:p>
        </p:txBody>
      </p:sp>
      <p:sp>
        <p:nvSpPr>
          <p:cNvPr id="7" name="TextBox 26">
            <a:extLst>
              <a:ext uri="{FF2B5EF4-FFF2-40B4-BE49-F238E27FC236}">
                <a16:creationId xmlns:a16="http://schemas.microsoft.com/office/drawing/2014/main" id="{A2526888-BFB5-84DA-43D5-258CECEBB3AB}"/>
              </a:ext>
            </a:extLst>
          </p:cNvPr>
          <p:cNvSpPr txBox="1"/>
          <p:nvPr/>
        </p:nvSpPr>
        <p:spPr>
          <a:xfrm>
            <a:off x="411480" y="6035040"/>
            <a:ext cx="576072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Portuguesa · Imagen satelital con delimitación de lotes (Anexo B del convenio · Datum WGS 1984, UTM 19N)</a:t>
            </a:r>
          </a:p>
        </p:txBody>
      </p:sp>
      <p:sp>
        <p:nvSpPr>
          <p:cNvPr id="8" name="TextBox 27">
            <a:extLst>
              <a:ext uri="{FF2B5EF4-FFF2-40B4-BE49-F238E27FC236}">
                <a16:creationId xmlns:a16="http://schemas.microsoft.com/office/drawing/2014/main" id="{7F355FC8-F8D2-B97E-505E-F91788BE1C03}"/>
              </a:ext>
            </a:extLst>
          </p:cNvPr>
          <p:cNvSpPr txBox="1"/>
          <p:nvPr/>
        </p:nvSpPr>
        <p:spPr>
          <a:xfrm>
            <a:off x="6355080" y="685800"/>
            <a:ext cx="539496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300" b="1" i="0" u="none" strike="noStrike" kern="1200" cap="none" spc="200" baseline="0">
                <a:solidFill>
                  <a:srgbClr val="C9962E"/>
                </a:solidFill>
                <a:uFillTx/>
                <a:latin typeface="72 Condensed"/>
              </a:rPr>
              <a:t>ANÁLISIS DE SUELOS · LAB. EDAFOFINCA</a:t>
            </a:r>
          </a:p>
        </p:txBody>
      </p:sp>
      <p:sp>
        <p:nvSpPr>
          <p:cNvPr id="9" name="TextBox 28">
            <a:extLst>
              <a:ext uri="{FF2B5EF4-FFF2-40B4-BE49-F238E27FC236}">
                <a16:creationId xmlns:a16="http://schemas.microsoft.com/office/drawing/2014/main" id="{AB9C1A71-999B-DAF4-032A-973DF17DF63B}"/>
              </a:ext>
            </a:extLst>
          </p:cNvPr>
          <p:cNvSpPr txBox="1"/>
          <p:nvPr/>
        </p:nvSpPr>
        <p:spPr>
          <a:xfrm>
            <a:off x="6355080" y="960120"/>
            <a:ext cx="5394960" cy="5486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28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La radiografía de tu finca</a:t>
            </a:r>
          </a:p>
        </p:txBody>
      </p:sp>
      <p:sp>
        <p:nvSpPr>
          <p:cNvPr id="10" name="TextBox 29">
            <a:extLst>
              <a:ext uri="{FF2B5EF4-FFF2-40B4-BE49-F238E27FC236}">
                <a16:creationId xmlns:a16="http://schemas.microsoft.com/office/drawing/2014/main" id="{264FA520-259B-892E-FC42-45661CA2926C}"/>
              </a:ext>
            </a:extLst>
          </p:cNvPr>
          <p:cNvSpPr txBox="1"/>
          <p:nvPr/>
        </p:nvSpPr>
        <p:spPr>
          <a:xfrm>
            <a:off x="6355080" y="1508760"/>
            <a:ext cx="539496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3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Antes de sembrar medimos tu suelo, lote por lote, para diseñar un plan a su medida.</a:t>
            </a:r>
          </a:p>
        </p:txBody>
      </p:sp>
      <p:sp>
        <p:nvSpPr>
          <p:cNvPr id="11" name="Rounded Rectangle 30">
            <a:extLst>
              <a:ext uri="{FF2B5EF4-FFF2-40B4-BE49-F238E27FC236}">
                <a16:creationId xmlns:a16="http://schemas.microsoft.com/office/drawing/2014/main" id="{24073322-AC07-9A2D-6618-32FDF008FACC}"/>
              </a:ext>
            </a:extLst>
          </p:cNvPr>
          <p:cNvSpPr/>
          <p:nvPr/>
        </p:nvSpPr>
        <p:spPr>
          <a:xfrm>
            <a:off x="6355080" y="2148839"/>
            <a:ext cx="1691640" cy="1097280"/>
          </a:xfrm>
          <a:custGeom>
            <a:avLst>
              <a:gd name="f0" fmla="val 259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12" name="TextBox 31">
            <a:extLst>
              <a:ext uri="{FF2B5EF4-FFF2-40B4-BE49-F238E27FC236}">
                <a16:creationId xmlns:a16="http://schemas.microsoft.com/office/drawing/2014/main" id="{1B4F9DF7-262E-1511-C2BD-BA5FC1202E59}"/>
              </a:ext>
            </a:extLst>
          </p:cNvPr>
          <p:cNvSpPr txBox="1"/>
          <p:nvPr/>
        </p:nvSpPr>
        <p:spPr>
          <a:xfrm>
            <a:off x="6355080" y="2212848"/>
            <a:ext cx="1691640" cy="5943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4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11</a:t>
            </a:r>
          </a:p>
        </p:txBody>
      </p:sp>
      <p:sp>
        <p:nvSpPr>
          <p:cNvPr id="13" name="TextBox 32">
            <a:extLst>
              <a:ext uri="{FF2B5EF4-FFF2-40B4-BE49-F238E27FC236}">
                <a16:creationId xmlns:a16="http://schemas.microsoft.com/office/drawing/2014/main" id="{BCF7B890-6D58-52A9-815F-970D87E2B21E}"/>
              </a:ext>
            </a:extLst>
          </p:cNvPr>
          <p:cNvSpPr txBox="1"/>
          <p:nvPr/>
        </p:nvSpPr>
        <p:spPr>
          <a:xfrm>
            <a:off x="6355080" y="2816352"/>
            <a:ext cx="169164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1" i="0" u="none" strike="noStrike" kern="1200" cap="none" spc="0" baseline="0">
                <a:solidFill>
                  <a:srgbClr val="EDF0E2"/>
                </a:solidFill>
                <a:uFillTx/>
                <a:latin typeface="72 Condensed"/>
              </a:rPr>
              <a:t>lotes</a:t>
            </a:r>
          </a:p>
        </p:txBody>
      </p:sp>
      <p:sp>
        <p:nvSpPr>
          <p:cNvPr id="14" name="Rounded Rectangle 33">
            <a:extLst>
              <a:ext uri="{FF2B5EF4-FFF2-40B4-BE49-F238E27FC236}">
                <a16:creationId xmlns:a16="http://schemas.microsoft.com/office/drawing/2014/main" id="{664E2B96-1365-2C09-4D5E-135F9C7FE334}"/>
              </a:ext>
            </a:extLst>
          </p:cNvPr>
          <p:cNvSpPr/>
          <p:nvPr/>
        </p:nvSpPr>
        <p:spPr>
          <a:xfrm>
            <a:off x="8183880" y="2148839"/>
            <a:ext cx="1691640" cy="1097280"/>
          </a:xfrm>
          <a:custGeom>
            <a:avLst>
              <a:gd name="f0" fmla="val 259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15" name="TextBox 34">
            <a:extLst>
              <a:ext uri="{FF2B5EF4-FFF2-40B4-BE49-F238E27FC236}">
                <a16:creationId xmlns:a16="http://schemas.microsoft.com/office/drawing/2014/main" id="{F74BA957-904D-2AE6-3838-490D015AF926}"/>
              </a:ext>
            </a:extLst>
          </p:cNvPr>
          <p:cNvSpPr txBox="1"/>
          <p:nvPr/>
        </p:nvSpPr>
        <p:spPr>
          <a:xfrm>
            <a:off x="8183880" y="2212848"/>
            <a:ext cx="1691640" cy="5943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4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227,32</a:t>
            </a:r>
          </a:p>
        </p:txBody>
      </p:sp>
      <p:sp>
        <p:nvSpPr>
          <p:cNvPr id="16" name="TextBox 35">
            <a:extLst>
              <a:ext uri="{FF2B5EF4-FFF2-40B4-BE49-F238E27FC236}">
                <a16:creationId xmlns:a16="http://schemas.microsoft.com/office/drawing/2014/main" id="{AC8E55FA-F08E-19AA-9357-EFEDD0D99FCF}"/>
              </a:ext>
            </a:extLst>
          </p:cNvPr>
          <p:cNvSpPr txBox="1"/>
          <p:nvPr/>
        </p:nvSpPr>
        <p:spPr>
          <a:xfrm>
            <a:off x="8183880" y="2816352"/>
            <a:ext cx="169164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1" i="0" u="none" strike="noStrike" kern="1200" cap="none" spc="0" baseline="0">
                <a:solidFill>
                  <a:srgbClr val="EDF0E2"/>
                </a:solidFill>
                <a:uFillTx/>
                <a:latin typeface="72 Condensed"/>
              </a:rPr>
              <a:t>hectáreas</a:t>
            </a:r>
          </a:p>
        </p:txBody>
      </p:sp>
      <p:sp>
        <p:nvSpPr>
          <p:cNvPr id="17" name="Rounded Rectangle 36">
            <a:extLst>
              <a:ext uri="{FF2B5EF4-FFF2-40B4-BE49-F238E27FC236}">
                <a16:creationId xmlns:a16="http://schemas.microsoft.com/office/drawing/2014/main" id="{AEC0B262-0F60-80B7-0242-C966B6A323D7}"/>
              </a:ext>
            </a:extLst>
          </p:cNvPr>
          <p:cNvSpPr/>
          <p:nvPr/>
        </p:nvSpPr>
        <p:spPr>
          <a:xfrm>
            <a:off x="10012680" y="2148839"/>
            <a:ext cx="1691640" cy="1097280"/>
          </a:xfrm>
          <a:custGeom>
            <a:avLst>
              <a:gd name="f0" fmla="val 259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C9962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18" name="TextBox 37">
            <a:extLst>
              <a:ext uri="{FF2B5EF4-FFF2-40B4-BE49-F238E27FC236}">
                <a16:creationId xmlns:a16="http://schemas.microsoft.com/office/drawing/2014/main" id="{FEA8F420-0F0A-CA23-FC71-7D1B54D0CCB9}"/>
              </a:ext>
            </a:extLst>
          </p:cNvPr>
          <p:cNvSpPr txBox="1"/>
          <p:nvPr/>
        </p:nvSpPr>
        <p:spPr>
          <a:xfrm>
            <a:off x="10012680" y="2212848"/>
            <a:ext cx="1691640" cy="5943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4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24,4 t</a:t>
            </a:r>
          </a:p>
        </p:txBody>
      </p:sp>
      <p:sp>
        <p:nvSpPr>
          <p:cNvPr id="19" name="TextBox 38">
            <a:extLst>
              <a:ext uri="{FF2B5EF4-FFF2-40B4-BE49-F238E27FC236}">
                <a16:creationId xmlns:a16="http://schemas.microsoft.com/office/drawing/2014/main" id="{B67BB3CB-573A-768E-4483-76476B551E6A}"/>
              </a:ext>
            </a:extLst>
          </p:cNvPr>
          <p:cNvSpPr txBox="1"/>
          <p:nvPr/>
        </p:nvSpPr>
        <p:spPr>
          <a:xfrm>
            <a:off x="10012680" y="2816352"/>
            <a:ext cx="169164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sz="1200" b="1" i="0">
                <a:solidFill>
                  <a:srgbClr val="1F2E18"/>
                </a:solidFill>
                <a:latin typeface="72 Condensed"/>
              </a:rPr>
              <a:t>de cal aplicada</a:t>
            </a:r>
          </a:p>
        </p:txBody>
      </p:sp>
      <p:sp>
        <p:nvSpPr>
          <p:cNvPr id="20" name="TextBox 39">
            <a:extLst>
              <a:ext uri="{FF2B5EF4-FFF2-40B4-BE49-F238E27FC236}">
                <a16:creationId xmlns:a16="http://schemas.microsoft.com/office/drawing/2014/main" id="{A29D243A-BF16-CF06-7AEA-5B438B289092}"/>
              </a:ext>
            </a:extLst>
          </p:cNvPr>
          <p:cNvSpPr txBox="1"/>
          <p:nvPr/>
        </p:nvSpPr>
        <p:spPr>
          <a:xfrm>
            <a:off x="6355080" y="3520439"/>
            <a:ext cx="539496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150" baseline="0">
                <a:solidFill>
                  <a:srgbClr val="34506B"/>
                </a:solidFill>
                <a:uFillTx/>
                <a:latin typeface="72 Condensed"/>
              </a:rPr>
              <a:t>pH DE TU SUELO</a:t>
            </a:r>
          </a:p>
        </p:txBody>
      </p:sp>
      <p:sp>
        <p:nvSpPr>
          <p:cNvPr id="21" name="Rectangle 40">
            <a:extLst>
              <a:ext uri="{FF2B5EF4-FFF2-40B4-BE49-F238E27FC236}">
                <a16:creationId xmlns:a16="http://schemas.microsoft.com/office/drawing/2014/main" id="{A53B165B-5448-20C2-047A-A8BAC8DF6C5C}"/>
              </a:ext>
            </a:extLst>
          </p:cNvPr>
          <p:cNvSpPr/>
          <p:nvPr/>
        </p:nvSpPr>
        <p:spPr>
          <a:xfrm>
            <a:off x="6355080" y="4160520"/>
            <a:ext cx="1337310" cy="292608"/>
          </a:xfrm>
          <a:prstGeom prst="rect">
            <a:avLst/>
          </a:prstGeom>
          <a:solidFill>
            <a:srgbClr val="D7B98A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22" name="TextBox 41">
            <a:extLst>
              <a:ext uri="{FF2B5EF4-FFF2-40B4-BE49-F238E27FC236}">
                <a16:creationId xmlns:a16="http://schemas.microsoft.com/office/drawing/2014/main" id="{497DE6AA-4925-BD22-BF4F-A4D22DC0337F}"/>
              </a:ext>
            </a:extLst>
          </p:cNvPr>
          <p:cNvSpPr txBox="1"/>
          <p:nvPr/>
        </p:nvSpPr>
        <p:spPr>
          <a:xfrm>
            <a:off x="6355080" y="4507992"/>
            <a:ext cx="1337310" cy="3657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Ácido</a:t>
            </a:r>
          </a:p>
        </p:txBody>
      </p:sp>
      <p:sp>
        <p:nvSpPr>
          <p:cNvPr id="23" name="Rectangle 42">
            <a:extLst>
              <a:ext uri="{FF2B5EF4-FFF2-40B4-BE49-F238E27FC236}">
                <a16:creationId xmlns:a16="http://schemas.microsoft.com/office/drawing/2014/main" id="{63ED4C84-A363-6B4F-4D0C-7A4639C47CE5}"/>
              </a:ext>
            </a:extLst>
          </p:cNvPr>
          <p:cNvSpPr/>
          <p:nvPr/>
        </p:nvSpPr>
        <p:spPr>
          <a:xfrm>
            <a:off x="7692390" y="4160520"/>
            <a:ext cx="1337310" cy="292608"/>
          </a:xfrm>
          <a:prstGeom prst="rect">
            <a:avLst/>
          </a:prstGeom>
          <a:solidFill>
            <a:srgbClr val="E6D3A8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24" name="TextBox 43">
            <a:extLst>
              <a:ext uri="{FF2B5EF4-FFF2-40B4-BE49-F238E27FC236}">
                <a16:creationId xmlns:a16="http://schemas.microsoft.com/office/drawing/2014/main" id="{1303BC8C-AD6F-1728-36BE-160B8C10EEA5}"/>
              </a:ext>
            </a:extLst>
          </p:cNvPr>
          <p:cNvSpPr txBox="1"/>
          <p:nvPr/>
        </p:nvSpPr>
        <p:spPr>
          <a:xfrm>
            <a:off x="7692390" y="4507992"/>
            <a:ext cx="1337310" cy="3657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Ligeramente ácido</a:t>
            </a:r>
          </a:p>
        </p:txBody>
      </p:sp>
      <p:sp>
        <p:nvSpPr>
          <p:cNvPr id="25" name="Rectangle 44">
            <a:extLst>
              <a:ext uri="{FF2B5EF4-FFF2-40B4-BE49-F238E27FC236}">
                <a16:creationId xmlns:a16="http://schemas.microsoft.com/office/drawing/2014/main" id="{BCA4325F-059B-66A5-F99D-F9E08E4DEF4F}"/>
              </a:ext>
            </a:extLst>
          </p:cNvPr>
          <p:cNvSpPr/>
          <p:nvPr/>
        </p:nvSpPr>
        <p:spPr>
          <a:xfrm>
            <a:off x="9029700" y="4160520"/>
            <a:ext cx="1069848" cy="292608"/>
          </a:xfrm>
          <a:prstGeom prst="rect">
            <a:avLst/>
          </a:prstGeom>
          <a:solidFill>
            <a:srgbClr val="B9CC96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26" name="TextBox 45">
            <a:extLst>
              <a:ext uri="{FF2B5EF4-FFF2-40B4-BE49-F238E27FC236}">
                <a16:creationId xmlns:a16="http://schemas.microsoft.com/office/drawing/2014/main" id="{E835B00C-B27B-DDB1-6475-7F0840B52A50}"/>
              </a:ext>
            </a:extLst>
          </p:cNvPr>
          <p:cNvSpPr txBox="1"/>
          <p:nvPr/>
        </p:nvSpPr>
        <p:spPr>
          <a:xfrm>
            <a:off x="9029700" y="4507992"/>
            <a:ext cx="1069848" cy="3657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Neutro</a:t>
            </a:r>
          </a:p>
        </p:txBody>
      </p:sp>
      <p:sp>
        <p:nvSpPr>
          <p:cNvPr id="27" name="Rectangle 46">
            <a:extLst>
              <a:ext uri="{FF2B5EF4-FFF2-40B4-BE49-F238E27FC236}">
                <a16:creationId xmlns:a16="http://schemas.microsoft.com/office/drawing/2014/main" id="{37893C01-29F3-238F-4111-FB3266682FAE}"/>
              </a:ext>
            </a:extLst>
          </p:cNvPr>
          <p:cNvSpPr/>
          <p:nvPr/>
        </p:nvSpPr>
        <p:spPr>
          <a:xfrm>
            <a:off x="10099548" y="4160520"/>
            <a:ext cx="1604772" cy="292608"/>
          </a:xfrm>
          <a:prstGeom prst="rect">
            <a:avLst/>
          </a:prstGeom>
          <a:solidFill>
            <a:srgbClr val="8BAA5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28" name="TextBox 47">
            <a:extLst>
              <a:ext uri="{FF2B5EF4-FFF2-40B4-BE49-F238E27FC236}">
                <a16:creationId xmlns:a16="http://schemas.microsoft.com/office/drawing/2014/main" id="{FE63E0D9-5159-4EB9-B52C-8BE88D8C9348}"/>
              </a:ext>
            </a:extLst>
          </p:cNvPr>
          <p:cNvSpPr txBox="1"/>
          <p:nvPr/>
        </p:nvSpPr>
        <p:spPr>
          <a:xfrm>
            <a:off x="10099548" y="4507992"/>
            <a:ext cx="1604772" cy="3657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Ligeramente alcalino</a:t>
            </a:r>
          </a:p>
        </p:txBody>
      </p:sp>
      <p:sp>
        <p:nvSpPr>
          <p:cNvPr id="29" name="TextBox 48">
            <a:extLst>
              <a:ext uri="{FF2B5EF4-FFF2-40B4-BE49-F238E27FC236}">
                <a16:creationId xmlns:a16="http://schemas.microsoft.com/office/drawing/2014/main" id="{D0858473-6B08-D899-B7AC-706138D7722A}"/>
              </a:ext>
            </a:extLst>
          </p:cNvPr>
          <p:cNvSpPr txBox="1"/>
          <p:nvPr/>
        </p:nvSpPr>
        <p:spPr>
          <a:xfrm>
            <a:off x="6840855" y="4818888"/>
            <a:ext cx="365760" cy="20116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5</a:t>
            </a:r>
          </a:p>
        </p:txBody>
      </p:sp>
      <p:sp>
        <p:nvSpPr>
          <p:cNvPr id="30" name="TextBox 49">
            <a:extLst>
              <a:ext uri="{FF2B5EF4-FFF2-40B4-BE49-F238E27FC236}">
                <a16:creationId xmlns:a16="http://schemas.microsoft.com/office/drawing/2014/main" id="{1FB4D19A-3072-6460-1C25-61CA76EFFBFC}"/>
              </a:ext>
            </a:extLst>
          </p:cNvPr>
          <p:cNvSpPr txBox="1"/>
          <p:nvPr/>
        </p:nvSpPr>
        <p:spPr>
          <a:xfrm>
            <a:off x="8178165" y="4818888"/>
            <a:ext cx="365760" cy="20116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6</a:t>
            </a:r>
          </a:p>
        </p:txBody>
      </p:sp>
      <p:sp>
        <p:nvSpPr>
          <p:cNvPr id="31" name="TextBox 50">
            <a:extLst>
              <a:ext uri="{FF2B5EF4-FFF2-40B4-BE49-F238E27FC236}">
                <a16:creationId xmlns:a16="http://schemas.microsoft.com/office/drawing/2014/main" id="{E8CBEBB9-3AFC-6647-B9E7-26553EADDB8A}"/>
              </a:ext>
            </a:extLst>
          </p:cNvPr>
          <p:cNvSpPr txBox="1"/>
          <p:nvPr/>
        </p:nvSpPr>
        <p:spPr>
          <a:xfrm>
            <a:off x="9515475" y="4818888"/>
            <a:ext cx="365760" cy="20116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7</a:t>
            </a:r>
          </a:p>
        </p:txBody>
      </p:sp>
      <p:sp>
        <p:nvSpPr>
          <p:cNvPr id="32" name="TextBox 51">
            <a:extLst>
              <a:ext uri="{FF2B5EF4-FFF2-40B4-BE49-F238E27FC236}">
                <a16:creationId xmlns:a16="http://schemas.microsoft.com/office/drawing/2014/main" id="{A0321556-31F0-A5DF-3827-0B2676240B3A}"/>
              </a:ext>
            </a:extLst>
          </p:cNvPr>
          <p:cNvSpPr txBox="1"/>
          <p:nvPr/>
        </p:nvSpPr>
        <p:spPr>
          <a:xfrm>
            <a:off x="10852785" y="4818888"/>
            <a:ext cx="365760" cy="20116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8</a:t>
            </a:r>
          </a:p>
        </p:txBody>
      </p:sp>
      <p:sp>
        <p:nvSpPr>
          <p:cNvPr id="33" name="Rounded Rectangle 52">
            <a:extLst>
              <a:ext uri="{FF2B5EF4-FFF2-40B4-BE49-F238E27FC236}">
                <a16:creationId xmlns:a16="http://schemas.microsoft.com/office/drawing/2014/main" id="{98E28E37-E8AA-1F95-0377-6C3DF53364A5}"/>
              </a:ext>
            </a:extLst>
          </p:cNvPr>
          <p:cNvSpPr/>
          <p:nvPr/>
        </p:nvSpPr>
        <p:spPr>
          <a:xfrm>
            <a:off x="8915400" y="3703320"/>
            <a:ext cx="2011680" cy="329184"/>
          </a:xfrm>
          <a:custGeom>
            <a:avLst>
              <a:gd name="f0" fmla="val 108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9 lotes · pH 5,66 – 6,09</a:t>
            </a:r>
          </a:p>
        </p:txBody>
      </p:sp>
      <p:sp>
        <p:nvSpPr>
          <p:cNvPr id="37" name="Rounded Rectangle 56">
            <a:extLst>
              <a:ext uri="{FF2B5EF4-FFF2-40B4-BE49-F238E27FC236}">
                <a16:creationId xmlns:a16="http://schemas.microsoft.com/office/drawing/2014/main" id="{257D0212-577C-4FD1-4F7E-A4ECBD92AE1E}"/>
              </a:ext>
            </a:extLst>
          </p:cNvPr>
          <p:cNvSpPr/>
          <p:nvPr/>
        </p:nvSpPr>
        <p:spPr>
          <a:xfrm>
            <a:off x="6355080" y="5120640"/>
            <a:ext cx="5349240" cy="1234440"/>
          </a:xfrm>
          <a:custGeom>
            <a:avLst>
              <a:gd name="f0" fmla="val 259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38" name="TextBox 57">
            <a:extLst>
              <a:ext uri="{FF2B5EF4-FFF2-40B4-BE49-F238E27FC236}">
                <a16:creationId xmlns:a16="http://schemas.microsoft.com/office/drawing/2014/main" id="{288C8A97-53F7-823A-29C6-10F86CCFA717}"/>
              </a:ext>
            </a:extLst>
          </p:cNvPr>
          <p:cNvSpPr txBox="1"/>
          <p:nvPr/>
        </p:nvSpPr>
        <p:spPr>
          <a:xfrm>
            <a:off x="6583680" y="5303520"/>
            <a:ext cx="4937760" cy="9144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0" i="0" dirty="0">
                <a:solidFill>
                  <a:srgbClr val="1F2E18"/>
                </a:solidFill>
                <a:latin typeface="72 Condensed"/>
              </a:rPr>
              <a:t>Tus lotes están en rango ligeramente ácido (pH de 5,7 a 6,1). Aplicamos cal dolomítica en 5 lotes (24,4 t) para corregir la acidez y aportar calcio y magnesio antes de nutrir.</a:t>
            </a:r>
          </a:p>
        </p:txBody>
      </p:sp>
      <p:sp>
        <p:nvSpPr>
          <p:cNvPr id="39" name="Rounded Rectangle 56 (gen)"/>
          <p:cNvSpPr/>
          <p:nvPr/>
        </p:nvSpPr>
        <p:spPr>
          <a:xfrm>
            <a:off x="3233902" y="685800"/>
            <a:ext cx="2938297" cy="4754880"/>
          </a:xfrm>
          <a:custGeom>
            <a:avLst>
              <a:gd name="f0" fmla="val 259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40" name="TextBox 39 (gen)"/>
          <p:cNvSpPr txBox="1"/>
          <p:nvPr/>
        </p:nvSpPr>
        <p:spPr>
          <a:xfrm>
            <a:off x="3343630" y="804672"/>
            <a:ext cx="2755417" cy="20116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750" b="1" i="0" u="none" strike="noStrike" kern="1200" cap="none" spc="150" baseline="0">
                <a:solidFill>
                  <a:srgbClr val="34506B"/>
                </a:solidFill>
                <a:uFillTx/>
                <a:latin typeface="72 Condensed"/>
              </a:rPr>
              <a:t>Nº EN EL MAPA</a:t>
            </a:r>
          </a:p>
        </p:txBody>
      </p:sp>
      <p:sp>
        <p:nvSpPr>
          <p:cNvPr id="41" name="TextBox 57 (gen)"/>
          <p:cNvSpPr txBox="1"/>
          <p:nvPr/>
        </p:nvSpPr>
        <p:spPr>
          <a:xfrm>
            <a:off x="3343630" y="1097280"/>
            <a:ext cx="2755417" cy="369916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dirty="0">
                <a:solidFill>
                  <a:srgbClr val="C9962E"/>
                </a:solidFill>
                <a:latin typeface="72 Condensed"/>
              </a:rPr>
              <a:t>1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dirty="0">
                <a:solidFill>
                  <a:srgbClr val="1F2E18"/>
                </a:solidFill>
                <a:latin typeface="72 Condensed"/>
              </a:rPr>
              <a:t>Villa Marina 1</a:t>
            </a:r>
          </a:p>
        </p:txBody>
      </p:sp>
      <p:sp>
        <p:nvSpPr>
          <p:cNvPr id="42" name="TextBox 57 (gen)"/>
          <p:cNvSpPr txBox="1"/>
          <p:nvPr/>
        </p:nvSpPr>
        <p:spPr>
          <a:xfrm>
            <a:off x="3343630" y="1467196"/>
            <a:ext cx="2755417" cy="369916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dirty="0">
                <a:solidFill>
                  <a:srgbClr val="C9962E"/>
                </a:solidFill>
                <a:latin typeface="72 Condensed"/>
              </a:rPr>
              <a:t>2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dirty="0">
                <a:solidFill>
                  <a:srgbClr val="1F2E18"/>
                </a:solidFill>
                <a:latin typeface="72 Condensed"/>
              </a:rPr>
              <a:t>Villa Marina 2</a:t>
            </a:r>
          </a:p>
        </p:txBody>
      </p:sp>
      <p:sp>
        <p:nvSpPr>
          <p:cNvPr id="43" name="TextBox 57 (gen)"/>
          <p:cNvSpPr txBox="1"/>
          <p:nvPr/>
        </p:nvSpPr>
        <p:spPr>
          <a:xfrm>
            <a:off x="3343630" y="1837112"/>
            <a:ext cx="2755417" cy="369916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dirty="0">
                <a:solidFill>
                  <a:srgbClr val="C9962E"/>
                </a:solidFill>
                <a:latin typeface="72 Condensed"/>
              </a:rPr>
              <a:t>3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dirty="0">
                <a:solidFill>
                  <a:srgbClr val="1F2E18"/>
                </a:solidFill>
                <a:latin typeface="72 Condensed"/>
              </a:rPr>
              <a:t>Lote 1A</a:t>
            </a:r>
          </a:p>
        </p:txBody>
      </p:sp>
      <p:sp>
        <p:nvSpPr>
          <p:cNvPr id="44" name="TextBox 57 (gen)"/>
          <p:cNvSpPr txBox="1"/>
          <p:nvPr/>
        </p:nvSpPr>
        <p:spPr>
          <a:xfrm>
            <a:off x="3343630" y="2207029"/>
            <a:ext cx="2755417" cy="369916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dirty="0">
                <a:solidFill>
                  <a:srgbClr val="C9962E"/>
                </a:solidFill>
                <a:latin typeface="72 Condensed"/>
              </a:rPr>
              <a:t>4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dirty="0">
                <a:solidFill>
                  <a:srgbClr val="1F2E18"/>
                </a:solidFill>
                <a:latin typeface="72 Condensed"/>
              </a:rPr>
              <a:t>Lote 1B</a:t>
            </a:r>
          </a:p>
        </p:txBody>
      </p:sp>
      <p:sp>
        <p:nvSpPr>
          <p:cNvPr id="45" name="TextBox 57 (gen)"/>
          <p:cNvSpPr txBox="1"/>
          <p:nvPr/>
        </p:nvSpPr>
        <p:spPr>
          <a:xfrm>
            <a:off x="3343630" y="2576945"/>
            <a:ext cx="2755417" cy="369916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dirty="0">
                <a:solidFill>
                  <a:srgbClr val="C9962E"/>
                </a:solidFill>
                <a:latin typeface="72 Condensed"/>
              </a:rPr>
              <a:t>5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dirty="0">
                <a:solidFill>
                  <a:srgbClr val="1F2E18"/>
                </a:solidFill>
                <a:latin typeface="72 Condensed"/>
              </a:rPr>
              <a:t>Lote 4</a:t>
            </a:r>
          </a:p>
        </p:txBody>
      </p:sp>
      <p:sp>
        <p:nvSpPr>
          <p:cNvPr id="46" name="TextBox 57 (gen)"/>
          <p:cNvSpPr txBox="1"/>
          <p:nvPr/>
        </p:nvSpPr>
        <p:spPr>
          <a:xfrm>
            <a:off x="3343630" y="2946861"/>
            <a:ext cx="2755417" cy="369916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dirty="0">
                <a:solidFill>
                  <a:srgbClr val="C9962E"/>
                </a:solidFill>
                <a:latin typeface="72 Condensed"/>
              </a:rPr>
              <a:t>6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dirty="0">
                <a:solidFill>
                  <a:srgbClr val="1F2E18"/>
                </a:solidFill>
                <a:latin typeface="72 Condensed"/>
              </a:rPr>
              <a:t>Lote 5</a:t>
            </a:r>
          </a:p>
        </p:txBody>
      </p:sp>
      <p:sp>
        <p:nvSpPr>
          <p:cNvPr id="47" name="TextBox 57 (gen)"/>
          <p:cNvSpPr txBox="1"/>
          <p:nvPr/>
        </p:nvSpPr>
        <p:spPr>
          <a:xfrm>
            <a:off x="3343630" y="3316778"/>
            <a:ext cx="2755417" cy="369916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dirty="0">
                <a:solidFill>
                  <a:srgbClr val="C9962E"/>
                </a:solidFill>
                <a:latin typeface="72 Condensed"/>
              </a:rPr>
              <a:t>7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dirty="0">
                <a:solidFill>
                  <a:srgbClr val="1F2E18"/>
                </a:solidFill>
                <a:latin typeface="72 Condensed"/>
              </a:rPr>
              <a:t>Lote 6</a:t>
            </a:r>
          </a:p>
        </p:txBody>
      </p:sp>
      <p:sp>
        <p:nvSpPr>
          <p:cNvPr id="48" name="TextBox 57 (gen)"/>
          <p:cNvSpPr txBox="1"/>
          <p:nvPr/>
        </p:nvSpPr>
        <p:spPr>
          <a:xfrm>
            <a:off x="3343630" y="3686694"/>
            <a:ext cx="2755417" cy="369916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dirty="0">
                <a:solidFill>
                  <a:srgbClr val="C9962E"/>
                </a:solidFill>
                <a:latin typeface="72 Condensed"/>
              </a:rPr>
              <a:t>8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dirty="0">
                <a:solidFill>
                  <a:srgbClr val="1F2E18"/>
                </a:solidFill>
                <a:latin typeface="72 Condensed"/>
              </a:rPr>
              <a:t>Lote 7</a:t>
            </a:r>
          </a:p>
        </p:txBody>
      </p:sp>
      <p:sp>
        <p:nvSpPr>
          <p:cNvPr id="49" name="TextBox 57 (gen)"/>
          <p:cNvSpPr txBox="1"/>
          <p:nvPr/>
        </p:nvSpPr>
        <p:spPr>
          <a:xfrm>
            <a:off x="3343630" y="4056610"/>
            <a:ext cx="2755417" cy="369916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dirty="0">
                <a:solidFill>
                  <a:srgbClr val="C9962E"/>
                </a:solidFill>
                <a:latin typeface="72 Condensed"/>
              </a:rPr>
              <a:t>9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dirty="0">
                <a:solidFill>
                  <a:srgbClr val="1F2E18"/>
                </a:solidFill>
                <a:latin typeface="72 Condensed"/>
              </a:rPr>
              <a:t>Lote 8</a:t>
            </a:r>
          </a:p>
        </p:txBody>
      </p:sp>
      <p:sp>
        <p:nvSpPr>
          <p:cNvPr id="50" name="TextBox 57 (gen)"/>
          <p:cNvSpPr txBox="1"/>
          <p:nvPr/>
        </p:nvSpPr>
        <p:spPr>
          <a:xfrm>
            <a:off x="3343630" y="4426527"/>
            <a:ext cx="2755417" cy="369916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dirty="0">
                <a:solidFill>
                  <a:srgbClr val="C9962E"/>
                </a:solidFill>
                <a:latin typeface="72 Condensed"/>
              </a:rPr>
              <a:t>10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dirty="0">
                <a:solidFill>
                  <a:srgbClr val="1F2E18"/>
                </a:solidFill>
                <a:latin typeface="72 Condensed"/>
              </a:rPr>
              <a:t>Lote 9</a:t>
            </a:r>
          </a:p>
        </p:txBody>
      </p:sp>
      <p:sp>
        <p:nvSpPr>
          <p:cNvPr id="51" name="TextBox 57 (gen)"/>
          <p:cNvSpPr txBox="1"/>
          <p:nvPr/>
        </p:nvSpPr>
        <p:spPr>
          <a:xfrm>
            <a:off x="3343630" y="4796443"/>
            <a:ext cx="2755417" cy="369916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dirty="0">
                <a:solidFill>
                  <a:srgbClr val="C9962E"/>
                </a:solidFill>
                <a:latin typeface="72 Condensed"/>
              </a:rPr>
              <a:t>—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dirty="0">
                <a:solidFill>
                  <a:srgbClr val="1F2E18"/>
                </a:solidFill>
                <a:latin typeface="72 Condensed"/>
              </a:rPr>
              <a:t>Villa Marina 3</a:t>
            </a:r>
          </a:p>
        </p:txBody>
      </p:sp>
      <p:cxnSp>
        <p:nvCxnSpPr>
          <p:cNvPr id="52" name="Connector 53 (gen)"/>
          <p:cNvCxnSpPr/>
          <p:nvPr/>
        </p:nvCxnSpPr>
        <p:spPr>
          <a:xfrm>
            <a:off x="8092805" y="4032504"/>
            <a:ext cx="0" cy="420624"/>
          </a:xfrm>
          <a:prstGeom prst="straightConnector1">
            <a:avLst/>
          </a:prstGeom>
          <a:noFill/>
          <a:ln w="25402" cap="flat">
            <a:solidFill>
              <a:srgbClr val="324425"/>
            </a:solidFill>
            <a:prstDash val="solid"/>
            <a:miter/>
          </a:ln>
        </p:spPr>
      </p:cxnSp>
      <p:cxnSp>
        <p:nvCxnSpPr>
          <p:cNvPr id="53" name="Connector 53 (gen)"/>
          <p:cNvCxnSpPr/>
          <p:nvPr/>
        </p:nvCxnSpPr>
        <p:spPr>
          <a:xfrm>
            <a:off x="7905518" y="4032504"/>
            <a:ext cx="0" cy="420624"/>
          </a:xfrm>
          <a:prstGeom prst="straightConnector1">
            <a:avLst/>
          </a:prstGeom>
          <a:noFill/>
          <a:ln w="25402" cap="flat">
            <a:solidFill>
              <a:srgbClr val="324425"/>
            </a:solidFill>
            <a:prstDash val="solid"/>
            <a:miter/>
          </a:ln>
        </p:spPr>
      </p:cxnSp>
      <p:cxnSp>
        <p:nvCxnSpPr>
          <p:cNvPr id="54" name="Connector 53 (gen)"/>
          <p:cNvCxnSpPr/>
          <p:nvPr/>
        </p:nvCxnSpPr>
        <p:spPr>
          <a:xfrm>
            <a:off x="8467380" y="4032504"/>
            <a:ext cx="0" cy="420624"/>
          </a:xfrm>
          <a:prstGeom prst="straightConnector1">
            <a:avLst/>
          </a:prstGeom>
          <a:noFill/>
          <a:ln w="25402" cap="flat">
            <a:solidFill>
              <a:srgbClr val="324425"/>
            </a:solidFill>
            <a:prstDash val="solid"/>
            <a:miter/>
          </a:ln>
        </p:spPr>
      </p:cxnSp>
      <p:cxnSp>
        <p:nvCxnSpPr>
          <p:cNvPr id="55" name="Connector 53 (gen)"/>
          <p:cNvCxnSpPr/>
          <p:nvPr/>
        </p:nvCxnSpPr>
        <p:spPr>
          <a:xfrm>
            <a:off x="7905518" y="4032504"/>
            <a:ext cx="0" cy="420624"/>
          </a:xfrm>
          <a:prstGeom prst="straightConnector1">
            <a:avLst/>
          </a:prstGeom>
          <a:noFill/>
          <a:ln w="25402" cap="flat">
            <a:solidFill>
              <a:srgbClr val="324425"/>
            </a:solidFill>
            <a:prstDash val="solid"/>
            <a:miter/>
          </a:ln>
        </p:spPr>
      </p:cxnSp>
      <p:cxnSp>
        <p:nvCxnSpPr>
          <p:cNvPr id="56" name="Connector 53 (gen)"/>
          <p:cNvCxnSpPr/>
          <p:nvPr/>
        </p:nvCxnSpPr>
        <p:spPr>
          <a:xfrm>
            <a:off x="8413869" y="4032504"/>
            <a:ext cx="0" cy="420624"/>
          </a:xfrm>
          <a:prstGeom prst="straightConnector1">
            <a:avLst/>
          </a:prstGeom>
          <a:noFill/>
          <a:ln w="25402" cap="flat">
            <a:solidFill>
              <a:srgbClr val="324425"/>
            </a:solidFill>
            <a:prstDash val="solid"/>
            <a:miter/>
          </a:ln>
        </p:spPr>
      </p:cxnSp>
      <p:cxnSp>
        <p:nvCxnSpPr>
          <p:cNvPr id="57" name="Connector 53 (gen)"/>
          <p:cNvCxnSpPr/>
          <p:nvPr/>
        </p:nvCxnSpPr>
        <p:spPr>
          <a:xfrm>
            <a:off x="8413869" y="4032504"/>
            <a:ext cx="0" cy="420624"/>
          </a:xfrm>
          <a:prstGeom prst="straightConnector1">
            <a:avLst/>
          </a:prstGeom>
          <a:noFill/>
          <a:ln w="25402" cap="flat">
            <a:solidFill>
              <a:srgbClr val="324425"/>
            </a:solidFill>
            <a:prstDash val="solid"/>
            <a:miter/>
          </a:ln>
        </p:spPr>
      </p:cxnSp>
      <p:cxnSp>
        <p:nvCxnSpPr>
          <p:cNvPr id="58" name="Connector 53 (gen)"/>
          <p:cNvCxnSpPr/>
          <p:nvPr/>
        </p:nvCxnSpPr>
        <p:spPr>
          <a:xfrm>
            <a:off x="7972406" y="4032504"/>
            <a:ext cx="0" cy="420624"/>
          </a:xfrm>
          <a:prstGeom prst="straightConnector1">
            <a:avLst/>
          </a:prstGeom>
          <a:noFill/>
          <a:ln w="25402" cap="flat">
            <a:solidFill>
              <a:srgbClr val="324425"/>
            </a:solidFill>
            <a:prstDash val="solid"/>
            <a:miter/>
          </a:ln>
        </p:spPr>
      </p:cxnSp>
      <p:cxnSp>
        <p:nvCxnSpPr>
          <p:cNvPr id="59" name="Connector 53 (gen)"/>
          <p:cNvCxnSpPr/>
          <p:nvPr/>
        </p:nvCxnSpPr>
        <p:spPr>
          <a:xfrm>
            <a:off x="8159694" y="4032504"/>
            <a:ext cx="0" cy="420624"/>
          </a:xfrm>
          <a:prstGeom prst="straightConnector1">
            <a:avLst/>
          </a:prstGeom>
          <a:noFill/>
          <a:ln w="25402" cap="flat">
            <a:solidFill>
              <a:srgbClr val="324425"/>
            </a:solidFill>
            <a:prstDash val="solid"/>
            <a:miter/>
          </a:ln>
        </p:spPr>
      </p:cxnSp>
      <p:cxnSp>
        <p:nvCxnSpPr>
          <p:cNvPr id="60" name="Connector 53 (gen)"/>
          <p:cNvCxnSpPr/>
          <p:nvPr/>
        </p:nvCxnSpPr>
        <p:spPr>
          <a:xfrm>
            <a:off x="8480758" y="4032504"/>
            <a:ext cx="0" cy="420624"/>
          </a:xfrm>
          <a:prstGeom prst="straightConnector1">
            <a:avLst/>
          </a:prstGeom>
          <a:noFill/>
          <a:ln w="25402" cap="flat">
            <a:solidFill>
              <a:srgbClr val="324425"/>
            </a:solidFill>
            <a:prstDash val="solid"/>
            <a:miter/>
          </a:ln>
        </p:spPr>
      </p:cxnSp>
    </p:spTree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21474833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Freeform 2">
            <a:extLst>
              <a:ext uri="{FF2B5EF4-FFF2-40B4-BE49-F238E27FC236}">
                <a16:creationId xmlns:a16="http://schemas.microsoft.com/office/drawing/2014/main" id="{4263364B-FE9A-5D3D-1B92-E256E56AFA81}"/>
              </a:ext>
            </a:extLst>
          </p:cNvPr>
          <p:cNvSpPr/>
          <p:nvPr/>
        </p:nvSpPr>
        <p:spPr>
          <a:xfrm>
            <a:off x="0" y="0"/>
            <a:ext cx="12191996" cy="6858000"/>
          </a:xfrm>
          <a:custGeom>
            <a:avLst/>
            <a:gdLst>
              <a:gd name="f0" fmla="val w"/>
              <a:gd name="f1" fmla="val h"/>
              <a:gd name="f2" fmla="val 0"/>
              <a:gd name="f3" fmla="val 18288000"/>
              <a:gd name="f4" fmla="val 10287000"/>
              <a:gd name="f5" fmla="*/ f0 1 18288000"/>
              <a:gd name="f6" fmla="*/ f1 1 10287000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8288000"/>
              <a:gd name="f13" fmla="*/ f10 1 10287000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8288000" h="10287000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2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000000"/>
              </a:solidFill>
              <a:uFillTx/>
              <a:latin typeface="72 Condensed"/>
            </a:endParaRPr>
          </a:p>
        </p:txBody>
      </p:sp>
      <p:sp>
        <p:nvSpPr>
          <p:cNvPr id="102" name="Rectángulo 5">
            <a:extLst>
              <a:ext uri="{FF2B5EF4-FFF2-40B4-BE49-F238E27FC236}">
                <a16:creationId xmlns:a16="http://schemas.microsoft.com/office/drawing/2014/main" id="{35A3365A-854C-5B8A-586F-A380B15FCA91}"/>
              </a:ext>
            </a:extLst>
          </p:cNvPr>
          <p:cNvSpPr/>
          <p:nvPr/>
        </p:nvSpPr>
        <p:spPr>
          <a:xfrm>
            <a:off x="4" y="-285749"/>
            <a:ext cx="12191996" cy="7143749"/>
          </a:xfrm>
          <a:prstGeom prst="rect">
            <a:avLst/>
          </a:prstGeom>
          <a:solidFill>
            <a:srgbClr val="1F2E18">
              <a:alpha val="62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FFFFFF"/>
              </a:solidFill>
              <a:uFillTx/>
              <a:latin typeface="72 Condensed"/>
            </a:endParaRPr>
          </a:p>
        </p:txBody>
      </p:sp>
      <p:sp>
        <p:nvSpPr>
          <p:cNvPr id="4" name="CuadroTexto 21">
            <a:extLst>
              <a:ext uri="{FF2B5EF4-FFF2-40B4-BE49-F238E27FC236}">
                <a16:creationId xmlns:a16="http://schemas.microsoft.com/office/drawing/2014/main" id="{7AC70978-D872-BB88-CEBC-19A2289762F8}"/>
              </a:ext>
            </a:extLst>
          </p:cNvPr>
          <p:cNvSpPr txBox="1"/>
          <p:nvPr/>
        </p:nvSpPr>
        <p:spPr>
          <a:xfrm>
            <a:off x="9336088" y="0"/>
            <a:ext cx="2855908" cy="369335"/>
          </a:xfrm>
          <a:prstGeom prst="rect">
            <a:avLst/>
          </a:prstGeom>
          <a:solidFill>
            <a:srgbClr val="324425"/>
          </a:solidFill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1" u="none" strike="noStrike" kern="1200" cap="none" spc="0" baseline="0">
                <a:solidFill>
                  <a:srgbClr val="FFFFFF"/>
                </a:solidFill>
                <a:uFillTx/>
                <a:latin typeface="72 Condensed" pitchFamily="34"/>
                <a:cs typeface="72 Condensed" pitchFamily="34"/>
              </a:rPr>
              <a:t>ANÁLISIS DE SUELOS</a:t>
            </a:r>
          </a:p>
        </p:txBody>
      </p:sp>
      <p:sp>
        <p:nvSpPr>
          <p:cNvPr id="5" name="TextBox 22">
            <a:extLst>
              <a:ext uri="{FF2B5EF4-FFF2-40B4-BE49-F238E27FC236}">
                <a16:creationId xmlns:a16="http://schemas.microsoft.com/office/drawing/2014/main" id="{81C85450-36C4-91C7-36F1-9ACA05D7EBD5}"/>
              </a:ext>
            </a:extLst>
          </p:cNvPr>
          <p:cNvSpPr txBox="1"/>
          <p:nvPr/>
        </p:nvSpPr>
        <p:spPr>
          <a:xfrm>
            <a:off x="502920" y="502920"/>
            <a:ext cx="868680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250" baseline="0">
                <a:solidFill>
                  <a:srgbClr val="C9962E"/>
                </a:solidFill>
                <a:uFillTx/>
                <a:latin typeface="72 Condensed"/>
              </a:rPr>
              <a:t>ANÁLISIS DE SUELOS · RESULTADOS</a:t>
            </a:r>
          </a:p>
        </p:txBody>
      </p:sp>
      <p:sp>
        <p:nvSpPr>
          <p:cNvPr id="6" name="TextBox 23">
            <a:extLst>
              <a:ext uri="{FF2B5EF4-FFF2-40B4-BE49-F238E27FC236}">
                <a16:creationId xmlns:a16="http://schemas.microsoft.com/office/drawing/2014/main" id="{0FFF3F6D-E3CF-59A6-199F-1CA343263D6F}"/>
              </a:ext>
            </a:extLst>
          </p:cNvPr>
          <p:cNvSpPr txBox="1"/>
          <p:nvPr/>
        </p:nvSpPr>
        <p:spPr>
          <a:xfrm>
            <a:off x="502920" y="777240"/>
            <a:ext cx="8686800" cy="40011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2600" b="1" i="0" u="none" strike="noStrike" kern="1200" cap="none" spc="0" baseline="0">
                <a:solidFill>
                  <a:srgbClr val="EDF0E2"/>
                </a:solidFill>
                <a:uFillTx/>
                <a:latin typeface="72 Condensed"/>
              </a:rPr>
              <a:t>Lo que dice tu suelo, lote por lote</a:t>
            </a:r>
          </a:p>
        </p:txBody>
      </p:sp>
      <p:sp>
        <p:nvSpPr>
          <p:cNvPr id="7" name="TextBox 24">
            <a:extLst>
              <a:ext uri="{FF2B5EF4-FFF2-40B4-BE49-F238E27FC236}">
                <a16:creationId xmlns:a16="http://schemas.microsoft.com/office/drawing/2014/main" id="{5DB199E8-683B-C449-8F05-E2437D3A1E50}"/>
              </a:ext>
            </a:extLst>
          </p:cNvPr>
          <p:cNvSpPr txBox="1"/>
          <p:nvPr/>
        </p:nvSpPr>
        <p:spPr>
          <a:xfrm>
            <a:off x="502920" y="1280160"/>
            <a:ext cx="8686800" cy="200052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300" b="0" i="0" u="none" strike="noStrike" kern="1200" cap="none" spc="0" baseline="0">
                <a:solidFill>
                  <a:srgbClr val="EDF0E2"/>
                </a:solidFill>
                <a:uFillTx/>
                <a:latin typeface="72 Condensed"/>
              </a:rPr>
              <a:t>Bases intercambiables (me/100 g) medidas en laboratorio · ¿estás dentro del rango ideal?</a:t>
            </a:r>
          </a:p>
        </p:txBody>
      </p:sp>
      <p:sp>
        <p:nvSpPr>
          <p:cNvPr id="52" name="Rounded Rectangle 69">
            <a:extLst>
              <a:ext uri="{FF2B5EF4-FFF2-40B4-BE49-F238E27FC236}">
                <a16:creationId xmlns:a16="http://schemas.microsoft.com/office/drawing/2014/main" id="{238D2D3A-88F4-1C98-F43A-F4217F49E735}"/>
              </a:ext>
            </a:extLst>
          </p:cNvPr>
          <p:cNvSpPr/>
          <p:nvPr/>
        </p:nvSpPr>
        <p:spPr>
          <a:xfrm>
            <a:off x="411480" y="4419096"/>
            <a:ext cx="11201400" cy="1300000"/>
          </a:xfrm>
          <a:custGeom>
            <a:avLst>
              <a:gd name="f0" fmla="val 21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53" name="TextBox 70">
            <a:extLst>
              <a:ext uri="{FF2B5EF4-FFF2-40B4-BE49-F238E27FC236}">
                <a16:creationId xmlns:a16="http://schemas.microsoft.com/office/drawing/2014/main" id="{035AC32C-B792-1482-3CD3-ABAA52894693}"/>
              </a:ext>
            </a:extLst>
          </p:cNvPr>
          <p:cNvSpPr txBox="1"/>
          <p:nvPr/>
        </p:nvSpPr>
        <p:spPr>
          <a:xfrm>
            <a:off x="777240" y="4496731"/>
            <a:ext cx="320040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1" i="0" u="none" strike="noStrike" kern="1200" cap="none" spc="200" baseline="0">
                <a:solidFill>
                  <a:srgbClr val="C9962E"/>
                </a:solidFill>
                <a:uFillTx/>
                <a:latin typeface="72 Condensed"/>
              </a:rPr>
              <a:t>TU PRESCRIPCIÓN</a:t>
            </a:r>
          </a:p>
        </p:txBody>
      </p:sp>
      <p:sp>
        <p:nvSpPr>
          <p:cNvPr id="54" name="TextBox 71">
            <a:extLst>
              <a:ext uri="{FF2B5EF4-FFF2-40B4-BE49-F238E27FC236}">
                <a16:creationId xmlns:a16="http://schemas.microsoft.com/office/drawing/2014/main" id="{E6842B94-A52D-976D-779E-FEF7E0A118C1}"/>
              </a:ext>
            </a:extLst>
          </p:cNvPr>
          <p:cNvSpPr txBox="1"/>
          <p:nvPr/>
        </p:nvSpPr>
        <p:spPr>
          <a:xfrm>
            <a:off x="777240" y="4756238"/>
            <a:ext cx="3108960" cy="88639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400" b="1" i="0" u="none" strike="noStrike" kern="1200" cap="none" spc="0" baseline="0" dirty="0">
                <a:solidFill>
                  <a:srgbClr val="FFFFFF"/>
                </a:solidFill>
                <a:uFillTx/>
                <a:latin typeface="72 Condensed"/>
              </a:rPr>
              <a:t>Cal dolomítica</a:t>
            </a:r>
          </a:p>
          <a:p>
            <a:pPr marL="0" marR="0" lvl="0" indent="0" algn="l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400" b="1" i="0" u="none" strike="noStrike" kern="1200" cap="none" spc="0" baseline="0" dirty="0">
                <a:solidFill>
                  <a:srgbClr val="FFFFFF"/>
                </a:solidFill>
                <a:uFillTx/>
                <a:latin typeface="72 Condensed"/>
              </a:rPr>
              <a:t>+ KMAG</a:t>
            </a:r>
          </a:p>
          <a:p>
            <a:pPr marL="0" marR="0" lvl="0" indent="0" algn="l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1" i="0" u="none" strike="noStrike" kern="1200" cap="none" spc="0" baseline="0" dirty="0">
                <a:solidFill>
                  <a:srgbClr val="FFFFFF"/>
                </a:solidFill>
                <a:uFillTx/>
                <a:latin typeface="72 Condensed"/>
              </a:rPr>
              <a:t>enmiendas aplicadas según el análisis</a:t>
            </a:r>
          </a:p>
        </p:txBody>
      </p:sp>
      <p:sp>
        <p:nvSpPr>
          <p:cNvPr id="55" name="TextBox 72">
            <a:extLst>
              <a:ext uri="{FF2B5EF4-FFF2-40B4-BE49-F238E27FC236}">
                <a16:creationId xmlns:a16="http://schemas.microsoft.com/office/drawing/2014/main" id="{FDD8DFE4-32B8-B533-EDF8-016BC94327B6}"/>
              </a:ext>
            </a:extLst>
          </p:cNvPr>
          <p:cNvSpPr txBox="1"/>
          <p:nvPr/>
        </p:nvSpPr>
        <p:spPr>
          <a:xfrm>
            <a:off x="3931920" y="4536050"/>
            <a:ext cx="274320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DOSIS</a:t>
            </a:r>
          </a:p>
        </p:txBody>
      </p:sp>
      <p:sp>
        <p:nvSpPr>
          <p:cNvPr id="56" name="TextBox 73">
            <a:extLst>
              <a:ext uri="{FF2B5EF4-FFF2-40B4-BE49-F238E27FC236}">
                <a16:creationId xmlns:a16="http://schemas.microsoft.com/office/drawing/2014/main" id="{9B328A9D-7BF3-EEC4-1EBB-6A1AAE8BE573}"/>
              </a:ext>
            </a:extLst>
          </p:cNvPr>
          <p:cNvSpPr txBox="1"/>
          <p:nvPr/>
        </p:nvSpPr>
        <p:spPr>
          <a:xfrm>
            <a:off x="3931920" y="4771966"/>
            <a:ext cx="2743200" cy="5486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8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0,2–0,35 t/ha</a:t>
            </a:r>
          </a:p>
        </p:txBody>
      </p:sp>
      <p:sp>
        <p:nvSpPr>
          <p:cNvPr id="57" name="TextBox 74">
            <a:extLst>
              <a:ext uri="{FF2B5EF4-FFF2-40B4-BE49-F238E27FC236}">
                <a16:creationId xmlns:a16="http://schemas.microsoft.com/office/drawing/2014/main" id="{D9B16A1C-BD5A-CBF7-1D8A-9368B180604E}"/>
              </a:ext>
            </a:extLst>
          </p:cNvPr>
          <p:cNvSpPr txBox="1"/>
          <p:nvPr/>
        </p:nvSpPr>
        <p:spPr>
          <a:xfrm>
            <a:off x="3931920" y="5243796"/>
            <a:ext cx="2743200" cy="2500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0" i="0" u="none" strike="noStrike" kern="1200" cap="none" spc="0" baseline="0">
                <a:solidFill>
                  <a:srgbClr val="EDF0E2"/>
                </a:solidFill>
                <a:uFillTx/>
                <a:latin typeface="72 Condensed"/>
              </a:rPr>
              <a:t>cal · KMAG 1,5 sacos/ha</a:t>
            </a:r>
          </a:p>
        </p:txBody>
      </p:sp>
      <p:sp>
        <p:nvSpPr>
          <p:cNvPr id="58" name="TextBox 75">
            <a:extLst>
              <a:ext uri="{FF2B5EF4-FFF2-40B4-BE49-F238E27FC236}">
                <a16:creationId xmlns:a16="http://schemas.microsoft.com/office/drawing/2014/main" id="{2D6772F4-9DF4-A501-A861-9CA4B44A088D}"/>
              </a:ext>
            </a:extLst>
          </p:cNvPr>
          <p:cNvSpPr txBox="1"/>
          <p:nvPr/>
        </p:nvSpPr>
        <p:spPr>
          <a:xfrm>
            <a:off x="6492240" y="4536050"/>
            <a:ext cx="1737360" cy="16927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1" spc="100" dirty="0">
                <a:solidFill>
                  <a:srgbClr val="C9962E"/>
                </a:solidFill>
                <a:latin typeface="72 Condensed"/>
              </a:rPr>
              <a:t>CAL DOLOMÍTICA</a:t>
            </a:r>
          </a:p>
        </p:txBody>
      </p:sp>
      <p:sp>
        <p:nvSpPr>
          <p:cNvPr id="59" name="TextBox 76">
            <a:extLst>
              <a:ext uri="{FF2B5EF4-FFF2-40B4-BE49-F238E27FC236}">
                <a16:creationId xmlns:a16="http://schemas.microsoft.com/office/drawing/2014/main" id="{B1F3FDC7-99D9-FBE4-CD33-AE1A3B8D811E}"/>
              </a:ext>
            </a:extLst>
          </p:cNvPr>
          <p:cNvSpPr txBox="1"/>
          <p:nvPr/>
        </p:nvSpPr>
        <p:spPr>
          <a:xfrm>
            <a:off x="6492240" y="4771966"/>
            <a:ext cx="1737360" cy="5486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sz="2800" b="1" i="0">
                <a:solidFill>
                  <a:srgbClr val="FFFFFF"/>
                </a:solidFill>
                <a:latin typeface="72 Condensed"/>
              </a:rPr>
              <a:t>24,4</a:t>
            </a:r>
            <a:r>
              <a:rPr sz="1400" b="0" i="0">
                <a:solidFill>
                  <a:srgbClr val="EDF0E2"/>
                </a:solidFill>
                <a:latin typeface="72 Condensed"/>
              </a:rPr>
              <a:t> t</a:t>
            </a:r>
          </a:p>
        </p:txBody>
      </p:sp>
      <p:sp>
        <p:nvSpPr>
          <p:cNvPr id="60" name="TextBox 77">
            <a:extLst>
              <a:ext uri="{FF2B5EF4-FFF2-40B4-BE49-F238E27FC236}">
                <a16:creationId xmlns:a16="http://schemas.microsoft.com/office/drawing/2014/main" id="{351CDFB6-3562-CB03-CD8C-54BD9EFFAAD8}"/>
              </a:ext>
            </a:extLst>
          </p:cNvPr>
          <p:cNvSpPr txBox="1"/>
          <p:nvPr/>
        </p:nvSpPr>
        <p:spPr>
          <a:xfrm>
            <a:off x="6492240" y="5243796"/>
            <a:ext cx="1737360" cy="2500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0" i="0" u="none" strike="noStrike" kern="1200" cap="none" spc="0" baseline="0">
                <a:solidFill>
                  <a:srgbClr val="EDF0E2"/>
                </a:solidFill>
                <a:uFillTx/>
                <a:latin typeface="72 Condensed"/>
              </a:rPr>
              <a:t>en 5 lotes</a:t>
            </a:r>
          </a:p>
        </p:txBody>
      </p:sp>
      <p:sp>
        <p:nvSpPr>
          <p:cNvPr id="61" name="TextBox 78">
            <a:extLst>
              <a:ext uri="{FF2B5EF4-FFF2-40B4-BE49-F238E27FC236}">
                <a16:creationId xmlns:a16="http://schemas.microsoft.com/office/drawing/2014/main" id="{A7899A3F-8021-5375-2075-E16CBCA863D4}"/>
              </a:ext>
            </a:extLst>
          </p:cNvPr>
          <p:cNvSpPr txBox="1"/>
          <p:nvPr/>
        </p:nvSpPr>
        <p:spPr>
          <a:xfrm>
            <a:off x="8275320" y="4536050"/>
            <a:ext cx="1737360" cy="16927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1" spc="100" dirty="0">
                <a:solidFill>
                  <a:srgbClr val="C9962E"/>
                </a:solidFill>
                <a:latin typeface="72 Condensed"/>
              </a:rPr>
              <a:t>KMAG</a:t>
            </a:r>
          </a:p>
        </p:txBody>
      </p:sp>
      <p:sp>
        <p:nvSpPr>
          <p:cNvPr id="62" name="TextBox 79">
            <a:extLst>
              <a:ext uri="{FF2B5EF4-FFF2-40B4-BE49-F238E27FC236}">
                <a16:creationId xmlns:a16="http://schemas.microsoft.com/office/drawing/2014/main" id="{2BF5C7C6-AA96-AB88-FAD7-E3E5A8862DE1}"/>
              </a:ext>
            </a:extLst>
          </p:cNvPr>
          <p:cNvSpPr txBox="1"/>
          <p:nvPr/>
        </p:nvSpPr>
        <p:spPr>
          <a:xfrm>
            <a:off x="8275320" y="4771966"/>
            <a:ext cx="1737360" cy="5486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sz="2800" b="1" i="0">
                <a:solidFill>
                  <a:srgbClr val="FFFFFF"/>
                </a:solidFill>
                <a:latin typeface="72 Condensed"/>
              </a:rPr>
              <a:t>68,4</a:t>
            </a:r>
            <a:r>
              <a:rPr sz="1400" b="0" i="0">
                <a:solidFill>
                  <a:srgbClr val="EDF0E2"/>
                </a:solidFill>
                <a:latin typeface="72 Condensed"/>
              </a:rPr>
              <a:t> sacos</a:t>
            </a:r>
          </a:p>
        </p:txBody>
      </p:sp>
      <p:sp>
        <p:nvSpPr>
          <p:cNvPr id="63" name="TextBox 80">
            <a:extLst>
              <a:ext uri="{FF2B5EF4-FFF2-40B4-BE49-F238E27FC236}">
                <a16:creationId xmlns:a16="http://schemas.microsoft.com/office/drawing/2014/main" id="{95017659-4467-3EDF-C5AD-046F3E9532CC}"/>
              </a:ext>
            </a:extLst>
          </p:cNvPr>
          <p:cNvSpPr txBox="1"/>
          <p:nvPr/>
        </p:nvSpPr>
        <p:spPr>
          <a:xfrm>
            <a:off x="8275320" y="5243796"/>
            <a:ext cx="1737360" cy="2500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0" i="0" u="none" strike="noStrike" kern="1200" cap="none" spc="0" baseline="0">
                <a:solidFill>
                  <a:srgbClr val="EDF0E2"/>
                </a:solidFill>
                <a:uFillTx/>
                <a:latin typeface="72 Condensed"/>
              </a:rPr>
              <a:t>en 3 lotes</a:t>
            </a:r>
          </a:p>
        </p:txBody>
      </p:sp>
      <p:sp>
        <p:nvSpPr>
          <p:cNvPr id="64" name="TextBox 81">
            <a:extLst>
              <a:ext uri="{FF2B5EF4-FFF2-40B4-BE49-F238E27FC236}">
                <a16:creationId xmlns:a16="http://schemas.microsoft.com/office/drawing/2014/main" id="{08498007-48A6-5CD1-0C74-CC7A61719B94}"/>
              </a:ext>
            </a:extLst>
          </p:cNvPr>
          <p:cNvSpPr txBox="1"/>
          <p:nvPr/>
        </p:nvSpPr>
        <p:spPr>
          <a:xfrm>
            <a:off x="10058400" y="4536050"/>
            <a:ext cx="1554480" cy="12801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 dirty="0">
                <a:solidFill>
                  <a:srgbClr val="FFFFFF"/>
                </a:solidFill>
                <a:uFillTx/>
                <a:latin typeface="72 Condensed"/>
              </a:rPr>
              <a:t>MagniPlus: 0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 dirty="0">
                <a:solidFill>
                  <a:srgbClr val="FFFFFF"/>
                </a:solidFill>
                <a:uFillTx/>
                <a:latin typeface="72 Condensed"/>
              </a:rPr>
              <a:t>no requerido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11480" y="1627632"/>
            <a:ext cx="7406640" cy="2560320"/>
          </a:xfrm>
          <a:prstGeom prst="roundRect">
            <a:avLst>
              <a:gd name="adj" fmla="val 8000"/>
            </a:avLst>
          </a:prstGeom>
          <a:solidFill>
            <a:srgbClr val="EDF0E2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8001000" y="1627632"/>
            <a:ext cx="3703320" cy="2560320"/>
          </a:xfrm>
          <a:prstGeom prst="roundRect">
            <a:avLst>
              <a:gd name="adj" fmla="val 8000"/>
            </a:avLst>
          </a:prstGeom>
          <a:solidFill>
            <a:srgbClr val="324425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8202168" y="1755648"/>
            <a:ext cx="33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C9962E"/>
                </a:solidFill>
                <a:latin typeface="72 Condensed"/>
              </a:rPr>
              <a:t>¿QUÉ SIGNIFICA PARA TI?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202168" y="2057400"/>
            <a:ext cx="3337560" cy="20116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419" sz="1100" i="0" dirty="0">
                <a:solidFill>
                  <a:srgbClr val="FFFFFF"/>
                </a:solidFill>
                <a:latin typeface="72 Condensed"/>
              </a:rPr>
              <a:t>Calcio/magnesio: 5 de 7 lotes en rango ideal, 1 alto, 1 bajo. En 5 de 7 lotes el calcio domina sobre el potasio: lo equilibramos con la nutrición.</a:t>
            </a:r>
          </a:p>
        </p:txBody>
      </p:sp>
      <p:sp>
        <p:nvSpPr>
          <p:cNvPr id="103" name="TextBox 76 (gen)"/>
          <p:cNvSpPr txBox="1"/>
          <p:nvPr/>
        </p:nvSpPr>
        <p:spPr>
          <a:xfrm>
            <a:off x="640080" y="1737360"/>
            <a:ext cx="1463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spc="100">
                <a:solidFill>
                  <a:srgbClr val="6B7560"/>
                </a:solidFill>
                <a:latin typeface="72 Condensed"/>
              </a:rPr>
              <a:t>LOTE</a:t>
            </a:r>
          </a:p>
        </p:txBody>
      </p:sp>
      <p:sp>
        <p:nvSpPr>
          <p:cNvPr id="104" name="TextBox 76 (gen)"/>
          <p:cNvSpPr txBox="1"/>
          <p:nvPr/>
        </p:nvSpPr>
        <p:spPr>
          <a:xfrm>
            <a:off x="2194560" y="173736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spc="100">
                <a:solidFill>
                  <a:srgbClr val="6B7560"/>
                </a:solidFill>
                <a:latin typeface="72 Condensed"/>
              </a:rPr>
              <a:t>pH</a:t>
            </a:r>
          </a:p>
        </p:txBody>
      </p:sp>
      <p:sp>
        <p:nvSpPr>
          <p:cNvPr id="105" name="TextBox 76 (gen)"/>
          <p:cNvSpPr txBox="1"/>
          <p:nvPr/>
        </p:nvSpPr>
        <p:spPr>
          <a:xfrm>
            <a:off x="2880360" y="1737360"/>
            <a:ext cx="2194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spc="100">
                <a:solidFill>
                  <a:srgbClr val="6B7560"/>
                </a:solidFill>
                <a:latin typeface="72 Condensed"/>
              </a:rPr>
              <a:t>Ca / Mg  ·  ideal 3 – 5</a:t>
            </a:r>
          </a:p>
        </p:txBody>
      </p:sp>
      <p:sp>
        <p:nvSpPr>
          <p:cNvPr id="106" name="TextBox 76 (gen)"/>
          <p:cNvSpPr txBox="1"/>
          <p:nvPr/>
        </p:nvSpPr>
        <p:spPr>
          <a:xfrm>
            <a:off x="5257800" y="1737360"/>
            <a:ext cx="23774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spc="100">
                <a:solidFill>
                  <a:srgbClr val="6B7560"/>
                </a:solidFill>
                <a:latin typeface="72 Condensed"/>
              </a:rPr>
              <a:t>Ca / K  ·  ideal 10 – 20</a:t>
            </a:r>
          </a:p>
        </p:txBody>
      </p:sp>
      <p:sp>
        <p:nvSpPr>
          <p:cNvPr id="107" name="TextBox 78 (gen)"/>
          <p:cNvSpPr txBox="1"/>
          <p:nvPr/>
        </p:nvSpPr>
        <p:spPr>
          <a:xfrm>
            <a:off x="640080" y="2039112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VE" sz="1000" b="1" i="0" dirty="0">
                <a:solidFill>
                  <a:srgbClr val="1F2E18"/>
                </a:solidFill>
                <a:latin typeface="72 Condensed"/>
              </a:rPr>
              <a:t>Lote 9</a:t>
            </a:r>
          </a:p>
        </p:txBody>
      </p:sp>
      <p:sp>
        <p:nvSpPr>
          <p:cNvPr id="108" name="TextBox 79 (gen)"/>
          <p:cNvSpPr txBox="1"/>
          <p:nvPr/>
        </p:nvSpPr>
        <p:spPr>
          <a:xfrm>
            <a:off x="2194560" y="201168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6,09</a:t>
            </a:r>
          </a:p>
        </p:txBody>
      </p:sp>
      <p:sp>
        <p:nvSpPr>
          <p:cNvPr id="109" name="TextBox 79 (gen)"/>
          <p:cNvSpPr txBox="1"/>
          <p:nvPr/>
        </p:nvSpPr>
        <p:spPr>
          <a:xfrm>
            <a:off x="2880360" y="20116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5,6</a:t>
            </a:r>
          </a:p>
        </p:txBody>
      </p:sp>
      <p:sp>
        <p:nvSpPr>
          <p:cNvPr id="110" name="Rounded Rectangle 80 (gen)"/>
          <p:cNvSpPr/>
          <p:nvPr/>
        </p:nvSpPr>
        <p:spPr>
          <a:xfrm>
            <a:off x="3611880" y="20299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B453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ALTO</a:t>
            </a:r>
          </a:p>
        </p:txBody>
      </p:sp>
      <p:sp>
        <p:nvSpPr>
          <p:cNvPr id="111" name="TextBox 79 (gen)"/>
          <p:cNvSpPr txBox="1"/>
          <p:nvPr/>
        </p:nvSpPr>
        <p:spPr>
          <a:xfrm>
            <a:off x="5257800" y="20116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19,4</a:t>
            </a:r>
          </a:p>
        </p:txBody>
      </p:sp>
      <p:sp>
        <p:nvSpPr>
          <p:cNvPr id="112" name="Rounded Rectangle 80 (gen)"/>
          <p:cNvSpPr/>
          <p:nvPr/>
        </p:nvSpPr>
        <p:spPr>
          <a:xfrm>
            <a:off x="5989320" y="20299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4C6A3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IDEAL</a:t>
            </a:r>
          </a:p>
        </p:txBody>
      </p:sp>
      <p:sp>
        <p:nvSpPr>
          <p:cNvPr id="113" name="TextBox 78 (gen)"/>
          <p:cNvSpPr txBox="1"/>
          <p:nvPr/>
        </p:nvSpPr>
        <p:spPr>
          <a:xfrm>
            <a:off x="640080" y="2267712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VE" sz="1000" b="1" i="0" dirty="0">
                <a:solidFill>
                  <a:srgbClr val="1F2E18"/>
                </a:solidFill>
                <a:latin typeface="72 Condensed"/>
              </a:rPr>
              <a:t>Lote 1A</a:t>
            </a:r>
          </a:p>
        </p:txBody>
      </p:sp>
      <p:sp>
        <p:nvSpPr>
          <p:cNvPr id="114" name="TextBox 79 (gen)"/>
          <p:cNvSpPr txBox="1"/>
          <p:nvPr/>
        </p:nvSpPr>
        <p:spPr>
          <a:xfrm>
            <a:off x="2194560" y="224028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5,80</a:t>
            </a:r>
          </a:p>
        </p:txBody>
      </p:sp>
      <p:sp>
        <p:nvSpPr>
          <p:cNvPr id="115" name="TextBox 79 (gen)"/>
          <p:cNvSpPr txBox="1"/>
          <p:nvPr/>
        </p:nvSpPr>
        <p:spPr>
          <a:xfrm>
            <a:off x="2880360" y="22402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3,2</a:t>
            </a:r>
          </a:p>
        </p:txBody>
      </p:sp>
      <p:sp>
        <p:nvSpPr>
          <p:cNvPr id="116" name="Rounded Rectangle 80 (gen)"/>
          <p:cNvSpPr/>
          <p:nvPr/>
        </p:nvSpPr>
        <p:spPr>
          <a:xfrm>
            <a:off x="3611880" y="22585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4C6A3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IDEAL</a:t>
            </a:r>
          </a:p>
        </p:txBody>
      </p:sp>
      <p:sp>
        <p:nvSpPr>
          <p:cNvPr id="117" name="TextBox 79 (gen)"/>
          <p:cNvSpPr txBox="1"/>
          <p:nvPr/>
        </p:nvSpPr>
        <p:spPr>
          <a:xfrm>
            <a:off x="5257800" y="22402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37,1</a:t>
            </a:r>
          </a:p>
        </p:txBody>
      </p:sp>
      <p:sp>
        <p:nvSpPr>
          <p:cNvPr id="118" name="Rounded Rectangle 80 (gen)"/>
          <p:cNvSpPr/>
          <p:nvPr/>
        </p:nvSpPr>
        <p:spPr>
          <a:xfrm>
            <a:off x="5989320" y="22585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B453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ALTO</a:t>
            </a:r>
          </a:p>
        </p:txBody>
      </p:sp>
      <p:sp>
        <p:nvSpPr>
          <p:cNvPr id="119" name="TextBox 78 (gen)"/>
          <p:cNvSpPr txBox="1"/>
          <p:nvPr/>
        </p:nvSpPr>
        <p:spPr>
          <a:xfrm>
            <a:off x="640080" y="2496312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VE" sz="1000" b="1" i="0" dirty="0">
                <a:solidFill>
                  <a:srgbClr val="1F2E18"/>
                </a:solidFill>
                <a:latin typeface="72 Condensed"/>
              </a:rPr>
              <a:t>Lote 4</a:t>
            </a:r>
          </a:p>
        </p:txBody>
      </p:sp>
      <p:sp>
        <p:nvSpPr>
          <p:cNvPr id="120" name="TextBox 79 (gen)"/>
          <p:cNvSpPr txBox="1"/>
          <p:nvPr/>
        </p:nvSpPr>
        <p:spPr>
          <a:xfrm>
            <a:off x="2194560" y="246888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5,66</a:t>
            </a:r>
          </a:p>
        </p:txBody>
      </p:sp>
      <p:sp>
        <p:nvSpPr>
          <p:cNvPr id="121" name="TextBox 79 (gen)"/>
          <p:cNvSpPr txBox="1"/>
          <p:nvPr/>
        </p:nvSpPr>
        <p:spPr>
          <a:xfrm>
            <a:off x="2880360" y="24688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3,5</a:t>
            </a:r>
          </a:p>
        </p:txBody>
      </p:sp>
      <p:sp>
        <p:nvSpPr>
          <p:cNvPr id="122" name="Rounded Rectangle 80 (gen)"/>
          <p:cNvSpPr/>
          <p:nvPr/>
        </p:nvSpPr>
        <p:spPr>
          <a:xfrm>
            <a:off x="3611880" y="24871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4C6A3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IDEAL</a:t>
            </a:r>
          </a:p>
        </p:txBody>
      </p:sp>
      <p:sp>
        <p:nvSpPr>
          <p:cNvPr id="123" name="TextBox 79 (gen)"/>
          <p:cNvSpPr txBox="1"/>
          <p:nvPr/>
        </p:nvSpPr>
        <p:spPr>
          <a:xfrm>
            <a:off x="5257800" y="24688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24,6</a:t>
            </a:r>
          </a:p>
        </p:txBody>
      </p:sp>
      <p:sp>
        <p:nvSpPr>
          <p:cNvPr id="124" name="Rounded Rectangle 80 (gen)"/>
          <p:cNvSpPr/>
          <p:nvPr/>
        </p:nvSpPr>
        <p:spPr>
          <a:xfrm>
            <a:off x="5989320" y="24871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B453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ALTO</a:t>
            </a:r>
          </a:p>
        </p:txBody>
      </p:sp>
      <p:sp>
        <p:nvSpPr>
          <p:cNvPr id="125" name="TextBox 78 (gen)"/>
          <p:cNvSpPr txBox="1"/>
          <p:nvPr/>
        </p:nvSpPr>
        <p:spPr>
          <a:xfrm>
            <a:off x="640080" y="2724912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VE" sz="1000" b="1" i="0" dirty="0">
                <a:solidFill>
                  <a:srgbClr val="1F2E18"/>
                </a:solidFill>
                <a:latin typeface="72 Condensed"/>
              </a:rPr>
              <a:t>Villa Marina 1</a:t>
            </a:r>
          </a:p>
        </p:txBody>
      </p:sp>
      <p:sp>
        <p:nvSpPr>
          <p:cNvPr id="126" name="TextBox 79 (gen)"/>
          <p:cNvSpPr txBox="1"/>
          <p:nvPr/>
        </p:nvSpPr>
        <p:spPr>
          <a:xfrm>
            <a:off x="2194560" y="269748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5,66</a:t>
            </a:r>
          </a:p>
        </p:txBody>
      </p:sp>
      <p:sp>
        <p:nvSpPr>
          <p:cNvPr id="127" name="TextBox 79 (gen)"/>
          <p:cNvSpPr txBox="1"/>
          <p:nvPr/>
        </p:nvSpPr>
        <p:spPr>
          <a:xfrm>
            <a:off x="2880360" y="26974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s/d</a:t>
            </a:r>
          </a:p>
        </p:txBody>
      </p:sp>
      <p:sp>
        <p:nvSpPr>
          <p:cNvPr id="128" name="TextBox 79 (gen)"/>
          <p:cNvSpPr txBox="1"/>
          <p:nvPr/>
        </p:nvSpPr>
        <p:spPr>
          <a:xfrm>
            <a:off x="5257800" y="26974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s/d</a:t>
            </a:r>
          </a:p>
        </p:txBody>
      </p:sp>
      <p:sp>
        <p:nvSpPr>
          <p:cNvPr id="129" name="TextBox 78 (gen)"/>
          <p:cNvSpPr txBox="1"/>
          <p:nvPr/>
        </p:nvSpPr>
        <p:spPr>
          <a:xfrm>
            <a:off x="640080" y="2953512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VE" sz="1000" b="1" i="0" dirty="0">
                <a:solidFill>
                  <a:srgbClr val="1F2E18"/>
                </a:solidFill>
                <a:latin typeface="72 Condensed"/>
              </a:rPr>
              <a:t>Villa Marina 2</a:t>
            </a:r>
          </a:p>
        </p:txBody>
      </p:sp>
      <p:sp>
        <p:nvSpPr>
          <p:cNvPr id="130" name="TextBox 79 (gen)"/>
          <p:cNvSpPr txBox="1"/>
          <p:nvPr/>
        </p:nvSpPr>
        <p:spPr>
          <a:xfrm>
            <a:off x="2194560" y="292608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6,08</a:t>
            </a:r>
          </a:p>
        </p:txBody>
      </p:sp>
      <p:sp>
        <p:nvSpPr>
          <p:cNvPr id="131" name="TextBox 79 (gen)"/>
          <p:cNvSpPr txBox="1"/>
          <p:nvPr/>
        </p:nvSpPr>
        <p:spPr>
          <a:xfrm>
            <a:off x="2880360" y="29260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s/d</a:t>
            </a:r>
          </a:p>
        </p:txBody>
      </p:sp>
      <p:sp>
        <p:nvSpPr>
          <p:cNvPr id="132" name="TextBox 79 (gen)"/>
          <p:cNvSpPr txBox="1"/>
          <p:nvPr/>
        </p:nvSpPr>
        <p:spPr>
          <a:xfrm>
            <a:off x="5257800" y="29260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s/d</a:t>
            </a:r>
          </a:p>
        </p:txBody>
      </p:sp>
      <p:sp>
        <p:nvSpPr>
          <p:cNvPr id="133" name="TextBox 78 (gen)"/>
          <p:cNvSpPr txBox="1"/>
          <p:nvPr/>
        </p:nvSpPr>
        <p:spPr>
          <a:xfrm>
            <a:off x="640080" y="3182112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VE" sz="1000" b="1" i="0" dirty="0">
                <a:solidFill>
                  <a:srgbClr val="1F2E18"/>
                </a:solidFill>
                <a:latin typeface="72 Condensed"/>
              </a:rPr>
              <a:t>Lote 8</a:t>
            </a:r>
          </a:p>
        </p:txBody>
      </p:sp>
      <p:sp>
        <p:nvSpPr>
          <p:cNvPr id="134" name="TextBox 79 (gen)"/>
          <p:cNvSpPr txBox="1"/>
          <p:nvPr/>
        </p:nvSpPr>
        <p:spPr>
          <a:xfrm>
            <a:off x="2194560" y="315468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5,85</a:t>
            </a:r>
          </a:p>
        </p:txBody>
      </p:sp>
      <p:sp>
        <p:nvSpPr>
          <p:cNvPr id="135" name="TextBox 79 (gen)"/>
          <p:cNvSpPr txBox="1"/>
          <p:nvPr/>
        </p:nvSpPr>
        <p:spPr>
          <a:xfrm>
            <a:off x="2880360" y="31546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3,1</a:t>
            </a:r>
          </a:p>
        </p:txBody>
      </p:sp>
      <p:sp>
        <p:nvSpPr>
          <p:cNvPr id="136" name="Rounded Rectangle 80 (gen)"/>
          <p:cNvSpPr/>
          <p:nvPr/>
        </p:nvSpPr>
        <p:spPr>
          <a:xfrm>
            <a:off x="3611880" y="31729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4C6A3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IDEAL</a:t>
            </a:r>
          </a:p>
        </p:txBody>
      </p:sp>
      <p:sp>
        <p:nvSpPr>
          <p:cNvPr id="137" name="TextBox 79 (gen)"/>
          <p:cNvSpPr txBox="1"/>
          <p:nvPr/>
        </p:nvSpPr>
        <p:spPr>
          <a:xfrm>
            <a:off x="5257800" y="31546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29,7</a:t>
            </a:r>
          </a:p>
        </p:txBody>
      </p:sp>
      <p:sp>
        <p:nvSpPr>
          <p:cNvPr id="138" name="Rounded Rectangle 80 (gen)"/>
          <p:cNvSpPr/>
          <p:nvPr/>
        </p:nvSpPr>
        <p:spPr>
          <a:xfrm>
            <a:off x="5989320" y="31729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B453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ALTO</a:t>
            </a:r>
          </a:p>
        </p:txBody>
      </p:sp>
      <p:sp>
        <p:nvSpPr>
          <p:cNvPr id="139" name="TextBox 78 (gen)"/>
          <p:cNvSpPr txBox="1"/>
          <p:nvPr/>
        </p:nvSpPr>
        <p:spPr>
          <a:xfrm>
            <a:off x="640080" y="3410712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VE" sz="1000" b="1" i="0" dirty="0">
                <a:solidFill>
                  <a:srgbClr val="1F2E18"/>
                </a:solidFill>
                <a:latin typeface="72 Condensed"/>
              </a:rPr>
              <a:t>Lote 5</a:t>
            </a:r>
          </a:p>
        </p:txBody>
      </p:sp>
      <p:sp>
        <p:nvSpPr>
          <p:cNvPr id="140" name="TextBox 79 (gen)"/>
          <p:cNvSpPr txBox="1"/>
          <p:nvPr/>
        </p:nvSpPr>
        <p:spPr>
          <a:xfrm>
            <a:off x="2194560" y="338328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6,04</a:t>
            </a:r>
          </a:p>
        </p:txBody>
      </p:sp>
      <p:sp>
        <p:nvSpPr>
          <p:cNvPr id="141" name="TextBox 79 (gen)"/>
          <p:cNvSpPr txBox="1"/>
          <p:nvPr/>
        </p:nvSpPr>
        <p:spPr>
          <a:xfrm>
            <a:off x="2880360" y="33832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3,6</a:t>
            </a:r>
          </a:p>
        </p:txBody>
      </p:sp>
      <p:sp>
        <p:nvSpPr>
          <p:cNvPr id="142" name="Rounded Rectangle 80 (gen)"/>
          <p:cNvSpPr/>
          <p:nvPr/>
        </p:nvSpPr>
        <p:spPr>
          <a:xfrm>
            <a:off x="3611880" y="34015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4C6A3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IDEAL</a:t>
            </a:r>
          </a:p>
        </p:txBody>
      </p:sp>
      <p:sp>
        <p:nvSpPr>
          <p:cNvPr id="143" name="TextBox 79 (gen)"/>
          <p:cNvSpPr txBox="1"/>
          <p:nvPr/>
        </p:nvSpPr>
        <p:spPr>
          <a:xfrm>
            <a:off x="5257800" y="33832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44,2</a:t>
            </a:r>
          </a:p>
        </p:txBody>
      </p:sp>
      <p:sp>
        <p:nvSpPr>
          <p:cNvPr id="144" name="Rounded Rectangle 80 (gen)"/>
          <p:cNvSpPr/>
          <p:nvPr/>
        </p:nvSpPr>
        <p:spPr>
          <a:xfrm>
            <a:off x="5989320" y="34015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B453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ALTO</a:t>
            </a:r>
          </a:p>
        </p:txBody>
      </p:sp>
      <p:sp>
        <p:nvSpPr>
          <p:cNvPr id="145" name="TextBox 78 (gen)"/>
          <p:cNvSpPr txBox="1"/>
          <p:nvPr/>
        </p:nvSpPr>
        <p:spPr>
          <a:xfrm>
            <a:off x="640080" y="3639312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VE" sz="1000" b="1" i="0" dirty="0">
                <a:solidFill>
                  <a:srgbClr val="1F2E18"/>
                </a:solidFill>
                <a:latin typeface="72 Condensed"/>
              </a:rPr>
              <a:t>Lote 6</a:t>
            </a:r>
          </a:p>
        </p:txBody>
      </p:sp>
      <p:sp>
        <p:nvSpPr>
          <p:cNvPr id="146" name="TextBox 79 (gen)"/>
          <p:cNvSpPr txBox="1"/>
          <p:nvPr/>
        </p:nvSpPr>
        <p:spPr>
          <a:xfrm>
            <a:off x="2194560" y="361188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6,04</a:t>
            </a:r>
          </a:p>
        </p:txBody>
      </p:sp>
      <p:sp>
        <p:nvSpPr>
          <p:cNvPr id="147" name="TextBox 79 (gen)"/>
          <p:cNvSpPr txBox="1"/>
          <p:nvPr/>
        </p:nvSpPr>
        <p:spPr>
          <a:xfrm>
            <a:off x="2880360" y="36118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3,2</a:t>
            </a:r>
          </a:p>
        </p:txBody>
      </p:sp>
      <p:sp>
        <p:nvSpPr>
          <p:cNvPr id="148" name="Rounded Rectangle 80 (gen)"/>
          <p:cNvSpPr/>
          <p:nvPr/>
        </p:nvSpPr>
        <p:spPr>
          <a:xfrm>
            <a:off x="3611880" y="36301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4C6A3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IDEAL</a:t>
            </a:r>
          </a:p>
        </p:txBody>
      </p:sp>
      <p:sp>
        <p:nvSpPr>
          <p:cNvPr id="149" name="TextBox 79 (gen)"/>
          <p:cNvSpPr txBox="1"/>
          <p:nvPr/>
        </p:nvSpPr>
        <p:spPr>
          <a:xfrm>
            <a:off x="5257800" y="36118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37,1</a:t>
            </a:r>
          </a:p>
        </p:txBody>
      </p:sp>
      <p:sp>
        <p:nvSpPr>
          <p:cNvPr id="150" name="Rounded Rectangle 80 (gen)"/>
          <p:cNvSpPr/>
          <p:nvPr/>
        </p:nvSpPr>
        <p:spPr>
          <a:xfrm>
            <a:off x="5989320" y="36301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B453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ALTO</a:t>
            </a:r>
          </a:p>
        </p:txBody>
      </p:sp>
      <p:sp>
        <p:nvSpPr>
          <p:cNvPr id="151" name="TextBox 78 (gen)"/>
          <p:cNvSpPr txBox="1"/>
          <p:nvPr/>
        </p:nvSpPr>
        <p:spPr>
          <a:xfrm>
            <a:off x="640080" y="3867912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VE" sz="1000" b="1" i="0" dirty="0">
                <a:solidFill>
                  <a:srgbClr val="1F2E18"/>
                </a:solidFill>
                <a:latin typeface="72 Condensed"/>
              </a:rPr>
              <a:t>Lote 7</a:t>
            </a:r>
          </a:p>
        </p:txBody>
      </p:sp>
      <p:sp>
        <p:nvSpPr>
          <p:cNvPr id="152" name="TextBox 79 (gen)"/>
          <p:cNvSpPr txBox="1"/>
          <p:nvPr/>
        </p:nvSpPr>
        <p:spPr>
          <a:xfrm>
            <a:off x="2194560" y="384048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5,71</a:t>
            </a:r>
          </a:p>
        </p:txBody>
      </p:sp>
      <p:sp>
        <p:nvSpPr>
          <p:cNvPr id="153" name="TextBox 79 (gen)"/>
          <p:cNvSpPr txBox="1"/>
          <p:nvPr/>
        </p:nvSpPr>
        <p:spPr>
          <a:xfrm>
            <a:off x="2880360" y="38404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1,0</a:t>
            </a:r>
          </a:p>
        </p:txBody>
      </p:sp>
      <p:sp>
        <p:nvSpPr>
          <p:cNvPr id="154" name="Rounded Rectangle 80 (gen)"/>
          <p:cNvSpPr/>
          <p:nvPr/>
        </p:nvSpPr>
        <p:spPr>
          <a:xfrm>
            <a:off x="3611880" y="38587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C9962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BAJO</a:t>
            </a:r>
          </a:p>
        </p:txBody>
      </p:sp>
      <p:sp>
        <p:nvSpPr>
          <p:cNvPr id="155" name="TextBox 79 (gen)"/>
          <p:cNvSpPr txBox="1"/>
          <p:nvPr/>
        </p:nvSpPr>
        <p:spPr>
          <a:xfrm>
            <a:off x="5257800" y="3840480"/>
            <a:ext cx="640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2E18"/>
                </a:solidFill>
                <a:latin typeface="72 Condensed"/>
              </a:rPr>
              <a:t>18,9</a:t>
            </a:r>
          </a:p>
        </p:txBody>
      </p:sp>
      <p:sp>
        <p:nvSpPr>
          <p:cNvPr id="156" name="Rounded Rectangle 80 (gen)"/>
          <p:cNvSpPr/>
          <p:nvPr/>
        </p:nvSpPr>
        <p:spPr>
          <a:xfrm>
            <a:off x="5989320" y="3858768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4C6A3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FFF"/>
                </a:solidFill>
                <a:latin typeface="72 Condensed"/>
              </a:rPr>
              <a:t>IDEAL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21474833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21">
            <a:extLst>
              <a:ext uri="{FF2B5EF4-FFF2-40B4-BE49-F238E27FC236}">
                <a16:creationId xmlns:a16="http://schemas.microsoft.com/office/drawing/2014/main" id="{F4E4A4B8-8A4E-5940-971E-B69E98CAF0EE}"/>
              </a:ext>
            </a:extLst>
          </p:cNvPr>
          <p:cNvSpPr txBox="1"/>
          <p:nvPr/>
        </p:nvSpPr>
        <p:spPr>
          <a:xfrm>
            <a:off x="9347197" y="0"/>
            <a:ext cx="2844798" cy="369335"/>
          </a:xfrm>
          <a:prstGeom prst="rect">
            <a:avLst/>
          </a:prstGeom>
          <a:solidFill>
            <a:srgbClr val="324425"/>
          </a:solidFill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1" u="none" strike="noStrike" kern="1200" cap="none" spc="0" baseline="0">
                <a:solidFill>
                  <a:srgbClr val="FFFFFF"/>
                </a:solidFill>
                <a:uFillTx/>
                <a:latin typeface="72 Condensed" pitchFamily="34"/>
                <a:cs typeface="72 Condensed" pitchFamily="34"/>
              </a:rPr>
              <a:t>PLAN AGRONÓMICO</a:t>
            </a:r>
          </a:p>
        </p:txBody>
      </p:sp>
      <p:sp>
        <p:nvSpPr>
          <p:cNvPr id="3" name="TextBox 22">
            <a:extLst>
              <a:ext uri="{FF2B5EF4-FFF2-40B4-BE49-F238E27FC236}">
                <a16:creationId xmlns:a16="http://schemas.microsoft.com/office/drawing/2014/main" id="{EC92B1A9-8901-FDF9-5DD4-23AE9C1632DB}"/>
              </a:ext>
            </a:extLst>
          </p:cNvPr>
          <p:cNvSpPr txBox="1"/>
          <p:nvPr/>
        </p:nvSpPr>
        <p:spPr>
          <a:xfrm>
            <a:off x="502920" y="502920"/>
            <a:ext cx="777240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300" b="1" i="0" u="none" strike="noStrike" kern="1200" cap="none" spc="250" baseline="0">
                <a:solidFill>
                  <a:srgbClr val="C9962E"/>
                </a:solidFill>
                <a:uFillTx/>
                <a:latin typeface="72 Condensed"/>
              </a:rPr>
              <a:t>SATURNO INNOVA · YA APLICADO EN TU PLAN 2026</a:t>
            </a:r>
          </a:p>
        </p:txBody>
      </p:sp>
      <p:sp>
        <p:nvSpPr>
          <p:cNvPr id="4" name="TextBox 23">
            <a:extLst>
              <a:ext uri="{FF2B5EF4-FFF2-40B4-BE49-F238E27FC236}">
                <a16:creationId xmlns:a16="http://schemas.microsoft.com/office/drawing/2014/main" id="{04F54F47-AAF9-CA1F-EE3D-D30B1F25319A}"/>
              </a:ext>
            </a:extLst>
          </p:cNvPr>
          <p:cNvSpPr txBox="1"/>
          <p:nvPr/>
        </p:nvSpPr>
        <p:spPr>
          <a:xfrm>
            <a:off x="502920" y="777240"/>
            <a:ext cx="8778240" cy="36933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24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Qué incorporamos este año en tu plan agronómico</a:t>
            </a:r>
          </a:p>
        </p:txBody>
      </p:sp>
      <p:sp>
        <p:nvSpPr>
          <p:cNvPr id="5" name="TextBox 24">
            <a:extLst>
              <a:ext uri="{FF2B5EF4-FFF2-40B4-BE49-F238E27FC236}">
                <a16:creationId xmlns:a16="http://schemas.microsoft.com/office/drawing/2014/main" id="{DABFF521-D069-B9A2-E1D4-9D20BDF8908A}"/>
              </a:ext>
            </a:extLst>
          </p:cNvPr>
          <p:cNvSpPr txBox="1"/>
          <p:nvPr/>
        </p:nvSpPr>
        <p:spPr>
          <a:xfrm>
            <a:off x="502920" y="1298448"/>
            <a:ext cx="786384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300" b="0" i="0" u="none" strike="noStrike" kern="1200" cap="none" spc="0" baseline="0" dirty="0">
                <a:solidFill>
                  <a:srgbClr val="6B7560"/>
                </a:solidFill>
                <a:uFillTx/>
                <a:latin typeface="72 Condensed"/>
              </a:rPr>
              <a:t>Cuatro mejoras en semilla, suelo y hoja que sumamos a tu plan en este ciclo</a:t>
            </a:r>
          </a:p>
        </p:txBody>
      </p:sp>
      <p:sp>
        <p:nvSpPr>
          <p:cNvPr id="6" name="Rounded Rectangle 25">
            <a:extLst>
              <a:ext uri="{FF2B5EF4-FFF2-40B4-BE49-F238E27FC236}">
                <a16:creationId xmlns:a16="http://schemas.microsoft.com/office/drawing/2014/main" id="{37C38C46-0107-EB51-8E14-6334A0F53A8C}"/>
              </a:ext>
            </a:extLst>
          </p:cNvPr>
          <p:cNvSpPr/>
          <p:nvPr/>
        </p:nvSpPr>
        <p:spPr>
          <a:xfrm>
            <a:off x="502920" y="1783080"/>
            <a:ext cx="2651760" cy="4292000"/>
          </a:xfrm>
          <a:custGeom>
            <a:avLst>
              <a:gd name="f0" fmla="val 1296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8" name="Oval 27">
            <a:extLst>
              <a:ext uri="{FF2B5EF4-FFF2-40B4-BE49-F238E27FC236}">
                <a16:creationId xmlns:a16="http://schemas.microsoft.com/office/drawing/2014/main" id="{9FAAAEF3-7133-C9C8-302E-398086CDA2F1}"/>
              </a:ext>
            </a:extLst>
          </p:cNvPr>
          <p:cNvSpPr/>
          <p:nvPr/>
        </p:nvSpPr>
        <p:spPr>
          <a:xfrm>
            <a:off x="704088" y="1984248"/>
            <a:ext cx="566928" cy="56692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9" name="Picture 28" descr="flask_w.png">
            <a:extLst>
              <a:ext uri="{FF2B5EF4-FFF2-40B4-BE49-F238E27FC236}">
                <a16:creationId xmlns:a16="http://schemas.microsoft.com/office/drawing/2014/main" id="{C64DD5E4-3225-3715-9EB1-6AC8FDC6E3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812" y="2108972"/>
            <a:ext cx="317479" cy="317479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0" name="TextBox 29">
            <a:extLst>
              <a:ext uri="{FF2B5EF4-FFF2-40B4-BE49-F238E27FC236}">
                <a16:creationId xmlns:a16="http://schemas.microsoft.com/office/drawing/2014/main" id="{E4429D2A-CB01-3ACE-136D-4CD335AD5D14}"/>
              </a:ext>
            </a:extLst>
          </p:cNvPr>
          <p:cNvSpPr txBox="1"/>
          <p:nvPr/>
        </p:nvSpPr>
        <p:spPr>
          <a:xfrm>
            <a:off x="1371600" y="2124640"/>
            <a:ext cx="1680000" cy="27699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80" baseline="0" dirty="0">
                <a:solidFill>
                  <a:srgbClr val="4C6A35"/>
                </a:solidFill>
                <a:uFillTx/>
                <a:latin typeface="72 Condensed"/>
              </a:rPr>
              <a:t>NUTRICIÓN BASE PROTEGIDA</a:t>
            </a:r>
          </a:p>
        </p:txBody>
      </p:sp>
      <p:sp>
        <p:nvSpPr>
          <p:cNvPr id="11" name="TextBox 30">
            <a:extLst>
              <a:ext uri="{FF2B5EF4-FFF2-40B4-BE49-F238E27FC236}">
                <a16:creationId xmlns:a16="http://schemas.microsoft.com/office/drawing/2014/main" id="{F3D8564E-88EE-D1B1-341F-1B9278ED5D03}"/>
              </a:ext>
            </a:extLst>
          </p:cNvPr>
          <p:cNvSpPr txBox="1"/>
          <p:nvPr/>
        </p:nvSpPr>
        <p:spPr>
          <a:xfrm>
            <a:off x="704088" y="2697479"/>
            <a:ext cx="2249424" cy="73866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Fósforo que no se bloquea en el suelo</a:t>
            </a:r>
          </a:p>
        </p:txBody>
      </p:sp>
      <p:sp>
        <p:nvSpPr>
          <p:cNvPr id="12" name="TextBox 31">
            <a:extLst>
              <a:ext uri="{FF2B5EF4-FFF2-40B4-BE49-F238E27FC236}">
                <a16:creationId xmlns:a16="http://schemas.microsoft.com/office/drawing/2014/main" id="{417FEDCA-DE8C-0ABE-37DC-6C6BB32300AB}"/>
              </a:ext>
            </a:extLst>
          </p:cNvPr>
          <p:cNvSpPr txBox="1"/>
          <p:nvPr/>
        </p:nvSpPr>
        <p:spPr>
          <a:xfrm>
            <a:off x="704088" y="3657600"/>
            <a:ext cx="2249424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QUÉ INCORPORAMOS</a:t>
            </a:r>
          </a:p>
        </p:txBody>
      </p:sp>
      <p:sp>
        <p:nvSpPr>
          <p:cNvPr id="13" name="TextBox 32">
            <a:extLst>
              <a:ext uri="{FF2B5EF4-FFF2-40B4-BE49-F238E27FC236}">
                <a16:creationId xmlns:a16="http://schemas.microsoft.com/office/drawing/2014/main" id="{14D6805A-9ED9-2E44-36A1-FE25B5D12ACF}"/>
              </a:ext>
            </a:extLst>
          </p:cNvPr>
          <p:cNvSpPr txBox="1"/>
          <p:nvPr/>
        </p:nvSpPr>
        <p:spPr>
          <a:xfrm>
            <a:off x="704088" y="3886200"/>
            <a:ext cx="2249424" cy="67710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 dirty="0">
                <a:solidFill>
                  <a:srgbClr val="1F2E18"/>
                </a:solidFill>
                <a:uFillTx/>
                <a:latin typeface="72 Condensed"/>
              </a:rPr>
              <a:t>Fósforo y microelementos combinados con polímeros y quelatantes que evitan el bloqueo del fósforo en el suelo (por calcio o aluminio).</a:t>
            </a:r>
          </a:p>
        </p:txBody>
      </p:sp>
      <p:sp>
        <p:nvSpPr>
          <p:cNvPr id="14" name="Rounded Rectangle 33">
            <a:extLst>
              <a:ext uri="{FF2B5EF4-FFF2-40B4-BE49-F238E27FC236}">
                <a16:creationId xmlns:a16="http://schemas.microsoft.com/office/drawing/2014/main" id="{B4143D38-456B-21B1-A548-ED3C6BB7B72F}"/>
              </a:ext>
            </a:extLst>
          </p:cNvPr>
          <p:cNvSpPr/>
          <p:nvPr/>
        </p:nvSpPr>
        <p:spPr>
          <a:xfrm>
            <a:off x="612648" y="4983480"/>
            <a:ext cx="2432304" cy="981872"/>
          </a:xfrm>
          <a:custGeom>
            <a:avLst>
              <a:gd name="f0" fmla="val 21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15" name="TextBox 34">
            <a:extLst>
              <a:ext uri="{FF2B5EF4-FFF2-40B4-BE49-F238E27FC236}">
                <a16:creationId xmlns:a16="http://schemas.microsoft.com/office/drawing/2014/main" id="{78C682CD-3237-81B3-0B3C-AA8F330FB7B0}"/>
              </a:ext>
            </a:extLst>
          </p:cNvPr>
          <p:cNvSpPr txBox="1"/>
          <p:nvPr/>
        </p:nvSpPr>
        <p:spPr>
          <a:xfrm>
            <a:off x="777240" y="5093208"/>
            <a:ext cx="2103120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TU BENEFICIO</a:t>
            </a:r>
          </a:p>
        </p:txBody>
      </p:sp>
      <p:sp>
        <p:nvSpPr>
          <p:cNvPr id="16" name="TextBox 35">
            <a:extLst>
              <a:ext uri="{FF2B5EF4-FFF2-40B4-BE49-F238E27FC236}">
                <a16:creationId xmlns:a16="http://schemas.microsoft.com/office/drawing/2014/main" id="{82114166-7C33-20B4-6329-EFE5F6A075B3}"/>
              </a:ext>
            </a:extLst>
          </p:cNvPr>
          <p:cNvSpPr txBox="1"/>
          <p:nvPr/>
        </p:nvSpPr>
        <p:spPr>
          <a:xfrm>
            <a:off x="777240" y="5330952"/>
            <a:ext cx="210312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Aprovechas el fósforo aplicado y estimulas raíces más densas.</a:t>
            </a:r>
          </a:p>
        </p:txBody>
      </p:sp>
      <p:sp>
        <p:nvSpPr>
          <p:cNvPr id="17" name="Rounded Rectangle 36">
            <a:extLst>
              <a:ext uri="{FF2B5EF4-FFF2-40B4-BE49-F238E27FC236}">
                <a16:creationId xmlns:a16="http://schemas.microsoft.com/office/drawing/2014/main" id="{0841872C-77A6-316B-B70F-A5C463E555E1}"/>
              </a:ext>
            </a:extLst>
          </p:cNvPr>
          <p:cNvSpPr/>
          <p:nvPr/>
        </p:nvSpPr>
        <p:spPr>
          <a:xfrm>
            <a:off x="3337560" y="1783080"/>
            <a:ext cx="2651760" cy="4292000"/>
          </a:xfrm>
          <a:custGeom>
            <a:avLst>
              <a:gd name="f0" fmla="val 1296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19" name="Oval 38">
            <a:extLst>
              <a:ext uri="{FF2B5EF4-FFF2-40B4-BE49-F238E27FC236}">
                <a16:creationId xmlns:a16="http://schemas.microsoft.com/office/drawing/2014/main" id="{D2F128E0-096B-1826-A8DC-88711AD9D144}"/>
              </a:ext>
            </a:extLst>
          </p:cNvPr>
          <p:cNvSpPr/>
          <p:nvPr/>
        </p:nvSpPr>
        <p:spPr>
          <a:xfrm>
            <a:off x="3538727" y="1984248"/>
            <a:ext cx="566928" cy="56692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20" name="Picture 39">
            <a:extLst>
              <a:ext uri="{FF2B5EF4-FFF2-40B4-BE49-F238E27FC236}">
                <a16:creationId xmlns:a16="http://schemas.microsoft.com/office/drawing/2014/main" id="{43356B61-E843-094C-0615-677955554D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3452" y="2108972"/>
            <a:ext cx="317479" cy="317479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21" name="TextBox 40">
            <a:extLst>
              <a:ext uri="{FF2B5EF4-FFF2-40B4-BE49-F238E27FC236}">
                <a16:creationId xmlns:a16="http://schemas.microsoft.com/office/drawing/2014/main" id="{9C2D3515-985B-B550-4532-54BBEDDCBA40}"/>
              </a:ext>
            </a:extLst>
          </p:cNvPr>
          <p:cNvSpPr txBox="1"/>
          <p:nvPr/>
        </p:nvSpPr>
        <p:spPr>
          <a:xfrm>
            <a:off x="4206240" y="2057400"/>
            <a:ext cx="1680000" cy="4114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900" b="1" i="0" u="none" strike="noStrike" kern="1200" cap="none" spc="80" baseline="0">
                <a:solidFill>
                  <a:srgbClr val="4C6A35"/>
                </a:solidFill>
                <a:uFillTx/>
                <a:latin typeface="72 Condensed"/>
              </a:rPr>
              <a:t>MEZCLA DE MACRO Y MICRONUTRIENTES</a:t>
            </a:r>
          </a:p>
        </p:txBody>
      </p:sp>
      <p:sp>
        <p:nvSpPr>
          <p:cNvPr id="22" name="TextBox 41">
            <a:extLst>
              <a:ext uri="{FF2B5EF4-FFF2-40B4-BE49-F238E27FC236}">
                <a16:creationId xmlns:a16="http://schemas.microsoft.com/office/drawing/2014/main" id="{E336AF17-7893-692A-C5F8-C4C1559C5F95}"/>
              </a:ext>
            </a:extLst>
          </p:cNvPr>
          <p:cNvSpPr txBox="1"/>
          <p:nvPr/>
        </p:nvSpPr>
        <p:spPr>
          <a:xfrm>
            <a:off x="3538727" y="2697479"/>
            <a:ext cx="2249424" cy="4924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Blend alto en zinc, suplementado con grafito</a:t>
            </a:r>
          </a:p>
        </p:txBody>
      </p:sp>
      <p:sp>
        <p:nvSpPr>
          <p:cNvPr id="23" name="TextBox 42">
            <a:extLst>
              <a:ext uri="{FF2B5EF4-FFF2-40B4-BE49-F238E27FC236}">
                <a16:creationId xmlns:a16="http://schemas.microsoft.com/office/drawing/2014/main" id="{81F8B5FB-A7D5-551C-641B-7E42CF970467}"/>
              </a:ext>
            </a:extLst>
          </p:cNvPr>
          <p:cNvSpPr txBox="1"/>
          <p:nvPr/>
        </p:nvSpPr>
        <p:spPr>
          <a:xfrm>
            <a:off x="3538727" y="3657600"/>
            <a:ext cx="2249424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QUÉ INCORPORAMOS</a:t>
            </a:r>
          </a:p>
        </p:txBody>
      </p:sp>
      <p:sp>
        <p:nvSpPr>
          <p:cNvPr id="24" name="TextBox 43">
            <a:extLst>
              <a:ext uri="{FF2B5EF4-FFF2-40B4-BE49-F238E27FC236}">
                <a16:creationId xmlns:a16="http://schemas.microsoft.com/office/drawing/2014/main" id="{0423B348-FA21-46CC-3A8D-C280E789B281}"/>
              </a:ext>
            </a:extLst>
          </p:cNvPr>
          <p:cNvSpPr txBox="1"/>
          <p:nvPr/>
        </p:nvSpPr>
        <p:spPr>
          <a:xfrm>
            <a:off x="3538727" y="3886200"/>
            <a:ext cx="2249424" cy="67710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 dirty="0">
                <a:solidFill>
                  <a:srgbClr val="1F2E18"/>
                </a:solidFill>
                <a:uFillTx/>
                <a:latin typeface="72 Condensed"/>
              </a:rPr>
              <a:t>El zinc nutre la semilla para el arranque; el grafito actúa como lubricante seco en la dosificadora de la sembradora.</a:t>
            </a:r>
          </a:p>
        </p:txBody>
      </p:sp>
      <p:sp>
        <p:nvSpPr>
          <p:cNvPr id="25" name="Rounded Rectangle 44">
            <a:extLst>
              <a:ext uri="{FF2B5EF4-FFF2-40B4-BE49-F238E27FC236}">
                <a16:creationId xmlns:a16="http://schemas.microsoft.com/office/drawing/2014/main" id="{5104141A-75A4-055D-1E73-F1A74A8ACB7B}"/>
              </a:ext>
            </a:extLst>
          </p:cNvPr>
          <p:cNvSpPr/>
          <p:nvPr/>
        </p:nvSpPr>
        <p:spPr>
          <a:xfrm>
            <a:off x="3447288" y="4983480"/>
            <a:ext cx="2432304" cy="981872"/>
          </a:xfrm>
          <a:custGeom>
            <a:avLst>
              <a:gd name="f0" fmla="val 21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26" name="TextBox 45">
            <a:extLst>
              <a:ext uri="{FF2B5EF4-FFF2-40B4-BE49-F238E27FC236}">
                <a16:creationId xmlns:a16="http://schemas.microsoft.com/office/drawing/2014/main" id="{38978776-CE13-710F-EA24-13DBF3B5DB51}"/>
              </a:ext>
            </a:extLst>
          </p:cNvPr>
          <p:cNvSpPr txBox="1"/>
          <p:nvPr/>
        </p:nvSpPr>
        <p:spPr>
          <a:xfrm>
            <a:off x="3611879" y="5093208"/>
            <a:ext cx="2103120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TU BENEFICIO</a:t>
            </a:r>
          </a:p>
        </p:txBody>
      </p:sp>
      <p:sp>
        <p:nvSpPr>
          <p:cNvPr id="27" name="TextBox 46">
            <a:extLst>
              <a:ext uri="{FF2B5EF4-FFF2-40B4-BE49-F238E27FC236}">
                <a16:creationId xmlns:a16="http://schemas.microsoft.com/office/drawing/2014/main" id="{378A59F4-3ECD-A0A5-A20F-862C618D3D49}"/>
              </a:ext>
            </a:extLst>
          </p:cNvPr>
          <p:cNvSpPr txBox="1"/>
          <p:nvPr/>
        </p:nvSpPr>
        <p:spPr>
          <a:xfrm>
            <a:off x="3611879" y="5330952"/>
            <a:ext cx="210312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Mejor arranque del cultivo y una siembra precisa.</a:t>
            </a:r>
          </a:p>
        </p:txBody>
      </p:sp>
      <p:sp>
        <p:nvSpPr>
          <p:cNvPr id="28" name="Rounded Rectangle 47">
            <a:extLst>
              <a:ext uri="{FF2B5EF4-FFF2-40B4-BE49-F238E27FC236}">
                <a16:creationId xmlns:a16="http://schemas.microsoft.com/office/drawing/2014/main" id="{F4377695-581E-8CF6-A977-A0A74D6CCFF8}"/>
              </a:ext>
            </a:extLst>
          </p:cNvPr>
          <p:cNvSpPr/>
          <p:nvPr/>
        </p:nvSpPr>
        <p:spPr>
          <a:xfrm>
            <a:off x="6172200" y="1783080"/>
            <a:ext cx="2651760" cy="4292000"/>
          </a:xfrm>
          <a:custGeom>
            <a:avLst>
              <a:gd name="f0" fmla="val 1296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30" name="Oval 49">
            <a:extLst>
              <a:ext uri="{FF2B5EF4-FFF2-40B4-BE49-F238E27FC236}">
                <a16:creationId xmlns:a16="http://schemas.microsoft.com/office/drawing/2014/main" id="{E86204A3-C035-4DD2-959F-ECDACA430C16}"/>
              </a:ext>
            </a:extLst>
          </p:cNvPr>
          <p:cNvSpPr/>
          <p:nvPr/>
        </p:nvSpPr>
        <p:spPr>
          <a:xfrm>
            <a:off x="6373368" y="1984248"/>
            <a:ext cx="566928" cy="56692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31" name="Picture 50">
            <a:extLst>
              <a:ext uri="{FF2B5EF4-FFF2-40B4-BE49-F238E27FC236}">
                <a16:creationId xmlns:a16="http://schemas.microsoft.com/office/drawing/2014/main" id="{26ECF81D-6410-3229-1D15-082BDA97AF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8092" y="2108972"/>
            <a:ext cx="317479" cy="317479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32" name="TextBox 51">
            <a:extLst>
              <a:ext uri="{FF2B5EF4-FFF2-40B4-BE49-F238E27FC236}">
                <a16:creationId xmlns:a16="http://schemas.microsoft.com/office/drawing/2014/main" id="{E87A6E0E-129C-D8EE-6983-FA0BB6C353FD}"/>
              </a:ext>
            </a:extLst>
          </p:cNvPr>
          <p:cNvSpPr txBox="1"/>
          <p:nvPr/>
        </p:nvSpPr>
        <p:spPr>
          <a:xfrm>
            <a:off x="7040880" y="2057400"/>
            <a:ext cx="1680000" cy="4114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80" baseline="0">
                <a:solidFill>
                  <a:srgbClr val="4C6A35"/>
                </a:solidFill>
                <a:uFillTx/>
                <a:latin typeface="72 Condensed"/>
              </a:rPr>
              <a:t>INOCULACIÓN BIOLÓGICA · MYCOSSED</a:t>
            </a:r>
          </a:p>
        </p:txBody>
      </p:sp>
      <p:sp>
        <p:nvSpPr>
          <p:cNvPr id="33" name="TextBox 52">
            <a:extLst>
              <a:ext uri="{FF2B5EF4-FFF2-40B4-BE49-F238E27FC236}">
                <a16:creationId xmlns:a16="http://schemas.microsoft.com/office/drawing/2014/main" id="{19E0F16D-3AB1-214F-19E2-40326F8B9D95}"/>
              </a:ext>
            </a:extLst>
          </p:cNvPr>
          <p:cNvSpPr txBox="1"/>
          <p:nvPr/>
        </p:nvSpPr>
        <p:spPr>
          <a:xfrm>
            <a:off x="6373368" y="2697479"/>
            <a:ext cx="2249424" cy="4924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Un consorcio biológico aplicado en tu semilla</a:t>
            </a:r>
          </a:p>
        </p:txBody>
      </p:sp>
      <p:sp>
        <p:nvSpPr>
          <p:cNvPr id="34" name="TextBox 53">
            <a:extLst>
              <a:ext uri="{FF2B5EF4-FFF2-40B4-BE49-F238E27FC236}">
                <a16:creationId xmlns:a16="http://schemas.microsoft.com/office/drawing/2014/main" id="{9E1BFAAE-8CD6-7C28-8C01-E2A9334E8981}"/>
              </a:ext>
            </a:extLst>
          </p:cNvPr>
          <p:cNvSpPr txBox="1"/>
          <p:nvPr/>
        </p:nvSpPr>
        <p:spPr>
          <a:xfrm>
            <a:off x="6373368" y="3657600"/>
            <a:ext cx="2249424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QUÉ INCORPORAMOS</a:t>
            </a:r>
          </a:p>
        </p:txBody>
      </p:sp>
      <p:sp>
        <p:nvSpPr>
          <p:cNvPr id="35" name="TextBox 54">
            <a:extLst>
              <a:ext uri="{FF2B5EF4-FFF2-40B4-BE49-F238E27FC236}">
                <a16:creationId xmlns:a16="http://schemas.microsoft.com/office/drawing/2014/main" id="{88E92FC5-5873-2BE1-1992-A7DB6DADE07B}"/>
              </a:ext>
            </a:extLst>
          </p:cNvPr>
          <p:cNvSpPr txBox="1"/>
          <p:nvPr/>
        </p:nvSpPr>
        <p:spPr>
          <a:xfrm>
            <a:off x="6373368" y="3886200"/>
            <a:ext cx="2249424" cy="50783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Aplicación en la semilla de un consorcio de micorrizas, bacterias y Trichoderma.</a:t>
            </a:r>
          </a:p>
        </p:txBody>
      </p:sp>
      <p:sp>
        <p:nvSpPr>
          <p:cNvPr id="36" name="Rounded Rectangle 55">
            <a:extLst>
              <a:ext uri="{FF2B5EF4-FFF2-40B4-BE49-F238E27FC236}">
                <a16:creationId xmlns:a16="http://schemas.microsoft.com/office/drawing/2014/main" id="{F13676E4-9F9B-0D24-96B9-D4CBE7E9DE39}"/>
              </a:ext>
            </a:extLst>
          </p:cNvPr>
          <p:cNvSpPr/>
          <p:nvPr/>
        </p:nvSpPr>
        <p:spPr>
          <a:xfrm>
            <a:off x="6281928" y="4983480"/>
            <a:ext cx="2432304" cy="981872"/>
          </a:xfrm>
          <a:custGeom>
            <a:avLst>
              <a:gd name="f0" fmla="val 21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37" name="TextBox 56">
            <a:extLst>
              <a:ext uri="{FF2B5EF4-FFF2-40B4-BE49-F238E27FC236}">
                <a16:creationId xmlns:a16="http://schemas.microsoft.com/office/drawing/2014/main" id="{C56A7604-0160-7734-523D-683637362956}"/>
              </a:ext>
            </a:extLst>
          </p:cNvPr>
          <p:cNvSpPr txBox="1"/>
          <p:nvPr/>
        </p:nvSpPr>
        <p:spPr>
          <a:xfrm>
            <a:off x="6446520" y="5093208"/>
            <a:ext cx="2103120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TU BENEFICIO</a:t>
            </a:r>
          </a:p>
        </p:txBody>
      </p:sp>
      <p:sp>
        <p:nvSpPr>
          <p:cNvPr id="38" name="TextBox 57">
            <a:extLst>
              <a:ext uri="{FF2B5EF4-FFF2-40B4-BE49-F238E27FC236}">
                <a16:creationId xmlns:a16="http://schemas.microsoft.com/office/drawing/2014/main" id="{C29F22F2-DF3A-8CD9-353E-35E69C42EE3A}"/>
              </a:ext>
            </a:extLst>
          </p:cNvPr>
          <p:cNvSpPr txBox="1"/>
          <p:nvPr/>
        </p:nvSpPr>
        <p:spPr>
          <a:xfrm>
            <a:off x="6446520" y="5330952"/>
            <a:ext cx="210312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Multiplica la capacidad de la raíz para captar agua y crea una barrera contra hongos.</a:t>
            </a:r>
          </a:p>
        </p:txBody>
      </p:sp>
      <p:sp>
        <p:nvSpPr>
          <p:cNvPr id="39" name="Rounded Rectangle 58">
            <a:extLst>
              <a:ext uri="{FF2B5EF4-FFF2-40B4-BE49-F238E27FC236}">
                <a16:creationId xmlns:a16="http://schemas.microsoft.com/office/drawing/2014/main" id="{FEC5A47A-D136-AD17-087A-DFC0E79152F5}"/>
              </a:ext>
            </a:extLst>
          </p:cNvPr>
          <p:cNvSpPr/>
          <p:nvPr/>
        </p:nvSpPr>
        <p:spPr>
          <a:xfrm>
            <a:off x="9006840" y="1783080"/>
            <a:ext cx="2651760" cy="4292000"/>
          </a:xfrm>
          <a:custGeom>
            <a:avLst>
              <a:gd name="f0" fmla="val 1296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41" name="Oval 60">
            <a:extLst>
              <a:ext uri="{FF2B5EF4-FFF2-40B4-BE49-F238E27FC236}">
                <a16:creationId xmlns:a16="http://schemas.microsoft.com/office/drawing/2014/main" id="{7621124C-E69B-3DA8-5438-056024A94E03}"/>
              </a:ext>
            </a:extLst>
          </p:cNvPr>
          <p:cNvSpPr/>
          <p:nvPr/>
        </p:nvSpPr>
        <p:spPr>
          <a:xfrm>
            <a:off x="9208008" y="1984248"/>
            <a:ext cx="566928" cy="56692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42" name="Picture 61">
            <a:extLst>
              <a:ext uri="{FF2B5EF4-FFF2-40B4-BE49-F238E27FC236}">
                <a16:creationId xmlns:a16="http://schemas.microsoft.com/office/drawing/2014/main" id="{3AA1C79D-A20B-8396-2A5C-D8FB4DB06D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32732" y="2108972"/>
            <a:ext cx="317479" cy="317479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43" name="TextBox 62">
            <a:extLst>
              <a:ext uri="{FF2B5EF4-FFF2-40B4-BE49-F238E27FC236}">
                <a16:creationId xmlns:a16="http://schemas.microsoft.com/office/drawing/2014/main" id="{2CC4D982-D2E3-51CD-930E-D2F62F1C22E8}"/>
              </a:ext>
            </a:extLst>
          </p:cNvPr>
          <p:cNvSpPr txBox="1"/>
          <p:nvPr/>
        </p:nvSpPr>
        <p:spPr>
          <a:xfrm>
            <a:off x="9875520" y="2057400"/>
            <a:ext cx="1680000" cy="4114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80" baseline="0">
                <a:solidFill>
                  <a:srgbClr val="4C6A35"/>
                </a:solidFill>
                <a:uFillTx/>
                <a:latin typeface="72 Condensed"/>
              </a:rPr>
              <a:t>PROTECCIÓN FOLIAR BIOLÓGICA</a:t>
            </a:r>
          </a:p>
        </p:txBody>
      </p:sp>
      <p:sp>
        <p:nvSpPr>
          <p:cNvPr id="44" name="TextBox 63">
            <a:extLst>
              <a:ext uri="{FF2B5EF4-FFF2-40B4-BE49-F238E27FC236}">
                <a16:creationId xmlns:a16="http://schemas.microsoft.com/office/drawing/2014/main" id="{089F7076-0F0E-B9D2-4610-7923AC74EAFF}"/>
              </a:ext>
            </a:extLst>
          </p:cNvPr>
          <p:cNvSpPr txBox="1"/>
          <p:nvPr/>
        </p:nvSpPr>
        <p:spPr>
          <a:xfrm>
            <a:off x="9208008" y="2697479"/>
            <a:ext cx="2249424" cy="73866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Defensa integral y sustentable</a:t>
            </a:r>
          </a:p>
        </p:txBody>
      </p:sp>
      <p:sp>
        <p:nvSpPr>
          <p:cNvPr id="45" name="TextBox 64">
            <a:extLst>
              <a:ext uri="{FF2B5EF4-FFF2-40B4-BE49-F238E27FC236}">
                <a16:creationId xmlns:a16="http://schemas.microsoft.com/office/drawing/2014/main" id="{2CF66752-0EAA-01F3-208D-44D3FF91995A}"/>
              </a:ext>
            </a:extLst>
          </p:cNvPr>
          <p:cNvSpPr txBox="1"/>
          <p:nvPr/>
        </p:nvSpPr>
        <p:spPr>
          <a:xfrm>
            <a:off x="9208008" y="3657600"/>
            <a:ext cx="2249424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QUÉ INCORPORAMOS</a:t>
            </a:r>
          </a:p>
        </p:txBody>
      </p:sp>
      <p:sp>
        <p:nvSpPr>
          <p:cNvPr id="46" name="TextBox 65">
            <a:extLst>
              <a:ext uri="{FF2B5EF4-FFF2-40B4-BE49-F238E27FC236}">
                <a16:creationId xmlns:a16="http://schemas.microsoft.com/office/drawing/2014/main" id="{F962C328-A244-48C8-56D6-35DB9D803410}"/>
              </a:ext>
            </a:extLst>
          </p:cNvPr>
          <p:cNvSpPr txBox="1"/>
          <p:nvPr/>
        </p:nvSpPr>
        <p:spPr>
          <a:xfrm>
            <a:off x="9208008" y="3886200"/>
            <a:ext cx="2249424" cy="50783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 dirty="0">
                <a:solidFill>
                  <a:srgbClr val="1F2E18"/>
                </a:solidFill>
                <a:uFillTx/>
                <a:latin typeface="72 Condensed"/>
              </a:rPr>
              <a:t>Bacillus thuringiensis var. kurstaki + Trichoderma: el Bacillus combate larvas como el gusano cogollero y la Trichoderma previene enfermedades.</a:t>
            </a:r>
          </a:p>
        </p:txBody>
      </p:sp>
      <p:sp>
        <p:nvSpPr>
          <p:cNvPr id="47" name="Rounded Rectangle 66">
            <a:extLst>
              <a:ext uri="{FF2B5EF4-FFF2-40B4-BE49-F238E27FC236}">
                <a16:creationId xmlns:a16="http://schemas.microsoft.com/office/drawing/2014/main" id="{400D96CC-39C6-1F17-2BC8-1B96FC3C0010}"/>
              </a:ext>
            </a:extLst>
          </p:cNvPr>
          <p:cNvSpPr/>
          <p:nvPr/>
        </p:nvSpPr>
        <p:spPr>
          <a:xfrm>
            <a:off x="9116568" y="4983480"/>
            <a:ext cx="2432304" cy="981872"/>
          </a:xfrm>
          <a:custGeom>
            <a:avLst>
              <a:gd name="f0" fmla="val 21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48" name="TextBox 67">
            <a:extLst>
              <a:ext uri="{FF2B5EF4-FFF2-40B4-BE49-F238E27FC236}">
                <a16:creationId xmlns:a16="http://schemas.microsoft.com/office/drawing/2014/main" id="{239AEB03-0176-BA7F-3615-1AF14A07F37D}"/>
              </a:ext>
            </a:extLst>
          </p:cNvPr>
          <p:cNvSpPr txBox="1"/>
          <p:nvPr/>
        </p:nvSpPr>
        <p:spPr>
          <a:xfrm>
            <a:off x="9281160" y="5093208"/>
            <a:ext cx="2103120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TU BENEFICIO</a:t>
            </a:r>
          </a:p>
        </p:txBody>
      </p:sp>
      <p:sp>
        <p:nvSpPr>
          <p:cNvPr id="49" name="TextBox 68">
            <a:extLst>
              <a:ext uri="{FF2B5EF4-FFF2-40B4-BE49-F238E27FC236}">
                <a16:creationId xmlns:a16="http://schemas.microsoft.com/office/drawing/2014/main" id="{D0D7FC8A-6C31-E62F-E892-347FB83FE6DB}"/>
              </a:ext>
            </a:extLst>
          </p:cNvPr>
          <p:cNvSpPr txBox="1"/>
          <p:nvPr/>
        </p:nvSpPr>
        <p:spPr>
          <a:xfrm>
            <a:off x="9281160" y="5330952"/>
            <a:ext cx="210312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Proteges tu cultivo de plagas y enfermedades de manera sustentable.</a:t>
            </a:r>
          </a:p>
        </p:txBody>
      </p:sp>
      <p:sp>
        <p:nvSpPr>
          <p:cNvPr id="50" name="Franja mezclas"/>
          <p:cNvSpPr/>
          <p:nvPr/>
        </p:nvSpPr>
        <p:spPr>
          <a:xfrm>
            <a:off x="502920" y="6199632"/>
            <a:ext cx="11155680" cy="356616"/>
          </a:xfrm>
          <a:prstGeom prst="roundRect">
            <a:avLst>
              <a:gd name="adj" fmla="val 30000"/>
            </a:avLst>
          </a:prstGeom>
          <a:solidFill>
            <a:srgbClr val="324425"/>
          </a:solidFill>
          <a:ln>
            <a:noFill/>
          </a:ln>
        </p:spPr>
        <p:txBody>
          <a:bodyPr wrap="square" lIns="182880" tIns="0" rIns="182880" bIns="0" anchor="ctr">
            <a:noAutofit/>
          </a:bodyPr>
          <a:lstStyle/>
          <a:p>
            <a:pPr algn="l"/>
            <a:r>
              <a:rPr lang="es-ES" sz="1200" b="1" dirty="0">
                <a:solidFill>
                  <a:srgbClr val="C9962E"/>
                </a:solidFill>
                <a:latin typeface="72 Condensed"/>
              </a:rPr>
              <a:t>También en cada mezcla: </a:t>
            </a:r>
            <a:r>
              <a:rPr lang="es-ES" sz="1200" b="0" dirty="0">
                <a:solidFill>
                  <a:srgbClr val="FFFFFF"/>
                </a:solidFill>
                <a:latin typeface="72 Condensed"/>
              </a:rPr>
              <a:t>regulador de pH Effydrop 7 + coadyuvante Xpandrop, para maximizar el efecto de las moléculas utilizadas.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21474833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o 10">
            <a:extLst>
              <a:ext uri="{FF2B5EF4-FFF2-40B4-BE49-F238E27FC236}">
                <a16:creationId xmlns:a16="http://schemas.microsoft.com/office/drawing/2014/main" id="{A3A69297-E0B9-2200-BF8E-CA38A3FA97F0}"/>
              </a:ext>
            </a:extLst>
          </p:cNvPr>
          <p:cNvGrpSpPr/>
          <p:nvPr/>
        </p:nvGrpSpPr>
        <p:grpSpPr>
          <a:xfrm>
            <a:off x="0" y="-49533"/>
            <a:ext cx="5897880" cy="6907533"/>
            <a:chOff x="0" y="-49533"/>
            <a:chExt cx="5897880" cy="6907533"/>
          </a:xfrm>
        </p:grpSpPr>
        <p:sp>
          <p:nvSpPr>
            <p:cNvPr id="3" name="Freeform 2">
              <a:extLst>
                <a:ext uri="{FF2B5EF4-FFF2-40B4-BE49-F238E27FC236}">
                  <a16:creationId xmlns:a16="http://schemas.microsoft.com/office/drawing/2014/main" id="{38EC20A4-C0DB-AD1A-ECFB-98508B960E51}"/>
                </a:ext>
              </a:extLst>
            </p:cNvPr>
            <p:cNvSpPr/>
            <p:nvPr/>
          </p:nvSpPr>
          <p:spPr>
            <a:xfrm>
              <a:off x="0" y="-49533"/>
              <a:ext cx="5897880" cy="6907533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8288000"/>
                <a:gd name="f4" fmla="val 10287000"/>
                <a:gd name="f5" fmla="*/ f0 1 18288000"/>
                <a:gd name="f6" fmla="*/ f1 1 10287000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8288000"/>
                <a:gd name="f13" fmla="*/ f10 1 10287000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8288000" h="10287000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372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s-VE" sz="1800" b="0" i="0" u="none" strike="noStrike" kern="1200" cap="none" spc="0" baseline="0">
                <a:solidFill>
                  <a:srgbClr val="000000"/>
                </a:solidFill>
                <a:uFillTx/>
                <a:latin typeface="72 Condensed"/>
              </a:endParaRPr>
            </a:p>
          </p:txBody>
        </p:sp>
        <p:sp>
          <p:nvSpPr>
            <p:cNvPr id="4" name="Rectángulo 6">
              <a:extLst>
                <a:ext uri="{FF2B5EF4-FFF2-40B4-BE49-F238E27FC236}">
                  <a16:creationId xmlns:a16="http://schemas.microsoft.com/office/drawing/2014/main" id="{9EAC59EA-68EC-0842-4EE9-780C45AB8FC4}"/>
                </a:ext>
              </a:extLst>
            </p:cNvPr>
            <p:cNvSpPr/>
            <p:nvPr/>
          </p:nvSpPr>
          <p:spPr>
            <a:xfrm>
              <a:off x="0" y="-49533"/>
              <a:ext cx="5897880" cy="6907533"/>
            </a:xfrm>
            <a:prstGeom prst="rect">
              <a:avLst/>
            </a:prstGeom>
            <a:solidFill>
              <a:srgbClr val="1F2E18">
                <a:alpha val="62000"/>
              </a:srgbClr>
            </a:solidFill>
            <a:ln cap="flat">
              <a:noFill/>
              <a:prstDash val="solid"/>
            </a:ln>
          </p:spPr>
          <p:txBody>
            <a:bodyPr vert="horz" wrap="square" lIns="91440" tIns="45720" rIns="91440" bIns="45720" anchor="ctr" anchorCtr="1" compatLnSpc="1">
              <a:noAutofit/>
            </a:bodyPr>
            <a:lstStyle/>
            <a:p>
              <a:pPr marL="0" marR="0" lvl="0" indent="0" algn="ctr" defTabSz="914372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s-VE" sz="1800" b="0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endParaRPr>
            </a:p>
          </p:txBody>
        </p:sp>
      </p:grpSp>
      <p:sp>
        <p:nvSpPr>
          <p:cNvPr id="5" name="CuadroTexto 21">
            <a:extLst>
              <a:ext uri="{FF2B5EF4-FFF2-40B4-BE49-F238E27FC236}">
                <a16:creationId xmlns:a16="http://schemas.microsoft.com/office/drawing/2014/main" id="{5EC99D74-22C3-3CCA-E860-B96724340E3A}"/>
              </a:ext>
            </a:extLst>
          </p:cNvPr>
          <p:cNvSpPr txBox="1"/>
          <p:nvPr/>
        </p:nvSpPr>
        <p:spPr>
          <a:xfrm>
            <a:off x="9336088" y="0"/>
            <a:ext cx="2855908" cy="369335"/>
          </a:xfrm>
          <a:prstGeom prst="rect">
            <a:avLst/>
          </a:prstGeom>
          <a:solidFill>
            <a:srgbClr val="324425"/>
          </a:solidFill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1" u="none" strike="noStrike" kern="1200" cap="none" spc="0" baseline="0">
                <a:solidFill>
                  <a:srgbClr val="FFFFFF"/>
                </a:solidFill>
                <a:uFillTx/>
                <a:latin typeface="72 Condensed" pitchFamily="34"/>
                <a:cs typeface="72 Condensed" pitchFamily="34"/>
              </a:rPr>
              <a:t>SEGUIMIENTO PROCESOS</a:t>
            </a:r>
          </a:p>
        </p:txBody>
      </p:sp>
      <p:sp>
        <p:nvSpPr>
          <p:cNvPr id="6" name="TextBox 22">
            <a:extLst>
              <a:ext uri="{FF2B5EF4-FFF2-40B4-BE49-F238E27FC236}">
                <a16:creationId xmlns:a16="http://schemas.microsoft.com/office/drawing/2014/main" id="{129F48CA-71BF-9676-B014-4317E9FCD029}"/>
              </a:ext>
            </a:extLst>
          </p:cNvPr>
          <p:cNvSpPr txBox="1"/>
          <p:nvPr/>
        </p:nvSpPr>
        <p:spPr>
          <a:xfrm>
            <a:off x="502920" y="685800"/>
            <a:ext cx="5120640" cy="3200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400" b="1" i="0" u="none" strike="noStrike" kern="1200" cap="none" spc="300" baseline="0">
                <a:solidFill>
                  <a:srgbClr val="C9962E"/>
                </a:solidFill>
                <a:uFillTx/>
                <a:latin typeface="72 Condensed"/>
              </a:rPr>
              <a:t>TU CICLO 2026 EN NÚMEROS</a:t>
            </a:r>
          </a:p>
        </p:txBody>
      </p:sp>
      <p:sp>
        <p:nvSpPr>
          <p:cNvPr id="7" name="TextBox 23">
            <a:extLst>
              <a:ext uri="{FF2B5EF4-FFF2-40B4-BE49-F238E27FC236}">
                <a16:creationId xmlns:a16="http://schemas.microsoft.com/office/drawing/2014/main" id="{1A470711-95E5-505C-502C-EBB91E9B51F6}"/>
              </a:ext>
            </a:extLst>
          </p:cNvPr>
          <p:cNvSpPr txBox="1"/>
          <p:nvPr/>
        </p:nvSpPr>
        <p:spPr>
          <a:xfrm>
            <a:off x="502920" y="1051560"/>
            <a:ext cx="5303520" cy="6400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RESUMEN DEL CICLO</a:t>
            </a:r>
          </a:p>
        </p:txBody>
      </p:sp>
      <p:sp>
        <p:nvSpPr>
          <p:cNvPr id="8" name="TextBox 24">
            <a:extLst>
              <a:ext uri="{FF2B5EF4-FFF2-40B4-BE49-F238E27FC236}">
                <a16:creationId xmlns:a16="http://schemas.microsoft.com/office/drawing/2014/main" id="{7426C2A2-ED85-988F-7C61-A9484397A735}"/>
              </a:ext>
            </a:extLst>
          </p:cNvPr>
          <p:cNvSpPr txBox="1"/>
          <p:nvPr/>
        </p:nvSpPr>
        <p:spPr>
          <a:xfrm>
            <a:off x="502920" y="1737360"/>
            <a:ext cx="5303520" cy="4114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000" b="1" i="0" u="none" strike="noStrike" kern="1200" cap="none" spc="0" baseline="0">
                <a:solidFill>
                  <a:srgbClr val="C9962E"/>
                </a:solidFill>
                <a:uFillTx/>
                <a:latin typeface="72 Condensed"/>
              </a:rPr>
              <a:t>Angela Rosa Guedez Morales</a:t>
            </a:r>
          </a:p>
        </p:txBody>
      </p:sp>
      <p:sp>
        <p:nvSpPr>
          <p:cNvPr id="9" name="TextBox 25">
            <a:extLst>
              <a:ext uri="{FF2B5EF4-FFF2-40B4-BE49-F238E27FC236}">
                <a16:creationId xmlns:a16="http://schemas.microsoft.com/office/drawing/2014/main" id="{56F79EE8-3422-41FA-426A-FFF742CD6F28}"/>
              </a:ext>
            </a:extLst>
          </p:cNvPr>
          <p:cNvSpPr txBox="1"/>
          <p:nvPr/>
        </p:nvSpPr>
        <p:spPr>
          <a:xfrm>
            <a:off x="411480" y="2514600"/>
            <a:ext cx="5486400" cy="1645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8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227,32</a:t>
            </a:r>
          </a:p>
        </p:txBody>
      </p:sp>
      <p:sp>
        <p:nvSpPr>
          <p:cNvPr id="10" name="TextBox 26">
            <a:extLst>
              <a:ext uri="{FF2B5EF4-FFF2-40B4-BE49-F238E27FC236}">
                <a16:creationId xmlns:a16="http://schemas.microsoft.com/office/drawing/2014/main" id="{203A9C7A-9360-A02A-8325-CFA4968660B3}"/>
              </a:ext>
            </a:extLst>
          </p:cNvPr>
          <p:cNvSpPr txBox="1"/>
          <p:nvPr/>
        </p:nvSpPr>
        <p:spPr>
          <a:xfrm>
            <a:off x="502920" y="4160520"/>
            <a:ext cx="5303520" cy="502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3400" b="1" i="0" u="none" strike="noStrike" kern="1200" cap="none" spc="0" baseline="0">
                <a:solidFill>
                  <a:srgbClr val="C9962E"/>
                </a:solidFill>
                <a:uFillTx/>
                <a:latin typeface="72 Condensed"/>
              </a:rPr>
              <a:t>hectáreas</a:t>
            </a:r>
          </a:p>
        </p:txBody>
      </p:sp>
      <p:sp>
        <p:nvSpPr>
          <p:cNvPr id="11" name="TextBox 27">
            <a:extLst>
              <a:ext uri="{FF2B5EF4-FFF2-40B4-BE49-F238E27FC236}">
                <a16:creationId xmlns:a16="http://schemas.microsoft.com/office/drawing/2014/main" id="{19818931-5744-BC2E-3285-632F0BF18B58}"/>
              </a:ext>
            </a:extLst>
          </p:cNvPr>
          <p:cNvSpPr txBox="1"/>
          <p:nvPr/>
        </p:nvSpPr>
        <p:spPr>
          <a:xfrm>
            <a:off x="502920" y="4663440"/>
            <a:ext cx="5120640" cy="3657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600" b="0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planificadas a sembrar en 11 lotes</a:t>
            </a:r>
          </a:p>
        </p:txBody>
      </p:sp>
      <p:sp>
        <p:nvSpPr>
          <p:cNvPr id="12" name="Rounded Rectangle 28">
            <a:extLst>
              <a:ext uri="{FF2B5EF4-FFF2-40B4-BE49-F238E27FC236}">
                <a16:creationId xmlns:a16="http://schemas.microsoft.com/office/drawing/2014/main" id="{E9555DF4-829F-504F-4A55-F2CF030DDB1A}"/>
              </a:ext>
            </a:extLst>
          </p:cNvPr>
          <p:cNvSpPr/>
          <p:nvPr/>
        </p:nvSpPr>
        <p:spPr>
          <a:xfrm>
            <a:off x="502920" y="5303520"/>
            <a:ext cx="4297680" cy="502920"/>
          </a:xfrm>
          <a:custGeom>
            <a:avLst>
              <a:gd name="f0" fmla="val 108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C9962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5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96% DE AVANCE EN LAS LABORES</a:t>
            </a:r>
          </a:p>
        </p:txBody>
      </p:sp>
      <p:sp>
        <p:nvSpPr>
          <p:cNvPr id="13" name="TextBox 29">
            <a:extLst>
              <a:ext uri="{FF2B5EF4-FFF2-40B4-BE49-F238E27FC236}">
                <a16:creationId xmlns:a16="http://schemas.microsoft.com/office/drawing/2014/main" id="{C7FE1E6D-CA1A-BF2D-2BE6-9F11BEB1AA30}"/>
              </a:ext>
            </a:extLst>
          </p:cNvPr>
          <p:cNvSpPr txBox="1"/>
          <p:nvPr/>
        </p:nvSpPr>
        <p:spPr>
          <a:xfrm>
            <a:off x="6263640" y="658368"/>
            <a:ext cx="5394960" cy="3657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000" b="1" i="0" u="none" strike="noStrike" kern="1200" cap="none" spc="100" baseline="0">
                <a:solidFill>
                  <a:srgbClr val="34506B"/>
                </a:solidFill>
                <a:uFillTx/>
                <a:latin typeface="72 Condensed"/>
              </a:rPr>
              <a:t>LABORES EJECUTADAS POR LOTE</a:t>
            </a:r>
          </a:p>
        </p:txBody>
      </p:sp>
      <p:sp>
        <p:nvSpPr>
          <p:cNvPr id="14" name="TextBox 30">
            <a:extLst>
              <a:ext uri="{FF2B5EF4-FFF2-40B4-BE49-F238E27FC236}">
                <a16:creationId xmlns:a16="http://schemas.microsoft.com/office/drawing/2014/main" id="{BCDF5AD9-BB00-24F5-30A4-8C09B1BDB447}"/>
              </a:ext>
            </a:extLst>
          </p:cNvPr>
          <p:cNvSpPr txBox="1"/>
          <p:nvPr/>
        </p:nvSpPr>
        <p:spPr>
          <a:xfrm>
            <a:off x="6263640" y="1005840"/>
            <a:ext cx="539496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2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Hectáreas trabajadas en cada labor del ciclo</a:t>
            </a:r>
          </a:p>
        </p:txBody>
      </p:sp>
      <p:sp>
        <p:nvSpPr>
          <p:cNvPr id="15" name="TextBox 31">
            <a:extLst>
              <a:ext uri="{FF2B5EF4-FFF2-40B4-BE49-F238E27FC236}">
                <a16:creationId xmlns:a16="http://schemas.microsoft.com/office/drawing/2014/main" id="{5B061A33-F696-1A23-3F95-541E7BD00A84}"/>
              </a:ext>
            </a:extLst>
          </p:cNvPr>
          <p:cNvSpPr txBox="1"/>
          <p:nvPr/>
        </p:nvSpPr>
        <p:spPr>
          <a:xfrm>
            <a:off x="7287768" y="1481328"/>
            <a:ext cx="713232" cy="3657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b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Rastra</a:t>
            </a:r>
          </a:p>
        </p:txBody>
      </p:sp>
      <p:sp>
        <p:nvSpPr>
          <p:cNvPr id="16" name="TextBox 32">
            <a:extLst>
              <a:ext uri="{FF2B5EF4-FFF2-40B4-BE49-F238E27FC236}">
                <a16:creationId xmlns:a16="http://schemas.microsoft.com/office/drawing/2014/main" id="{7E4B9AF1-3509-5AC7-BFD1-01C870FD15C6}"/>
              </a:ext>
            </a:extLst>
          </p:cNvPr>
          <p:cNvSpPr txBox="1"/>
          <p:nvPr/>
        </p:nvSpPr>
        <p:spPr>
          <a:xfrm>
            <a:off x="7909560" y="1481328"/>
            <a:ext cx="713232" cy="3657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b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Enmienda</a:t>
            </a:r>
          </a:p>
        </p:txBody>
      </p:sp>
      <p:sp>
        <p:nvSpPr>
          <p:cNvPr id="17" name="TextBox 33">
            <a:extLst>
              <a:ext uri="{FF2B5EF4-FFF2-40B4-BE49-F238E27FC236}">
                <a16:creationId xmlns:a16="http://schemas.microsoft.com/office/drawing/2014/main" id="{B83F243E-5B82-C32F-AF8A-6E0A9A6A83BB}"/>
              </a:ext>
            </a:extLst>
          </p:cNvPr>
          <p:cNvSpPr txBox="1"/>
          <p:nvPr/>
        </p:nvSpPr>
        <p:spPr>
          <a:xfrm>
            <a:off x="8531352" y="1481328"/>
            <a:ext cx="713232" cy="3657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b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Siembra</a:t>
            </a:r>
          </a:p>
        </p:txBody>
      </p:sp>
      <p:sp>
        <p:nvSpPr>
          <p:cNvPr id="18" name="TextBox 34">
            <a:extLst>
              <a:ext uri="{FF2B5EF4-FFF2-40B4-BE49-F238E27FC236}">
                <a16:creationId xmlns:a16="http://schemas.microsoft.com/office/drawing/2014/main" id="{E436C1F0-AACE-9A41-C4EF-8BF992F256AA}"/>
              </a:ext>
            </a:extLst>
          </p:cNvPr>
          <p:cNvSpPr txBox="1"/>
          <p:nvPr/>
        </p:nvSpPr>
        <p:spPr>
          <a:xfrm>
            <a:off x="9153144" y="1481328"/>
            <a:ext cx="713232" cy="3657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b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Controles</a:t>
            </a:r>
          </a:p>
        </p:txBody>
      </p:sp>
      <p:sp>
        <p:nvSpPr>
          <p:cNvPr id="19" name="TextBox 35">
            <a:extLst>
              <a:ext uri="{FF2B5EF4-FFF2-40B4-BE49-F238E27FC236}">
                <a16:creationId xmlns:a16="http://schemas.microsoft.com/office/drawing/2014/main" id="{F7B7C720-7565-466B-B7F4-FF95FC184963}"/>
              </a:ext>
            </a:extLst>
          </p:cNvPr>
          <p:cNvSpPr txBox="1"/>
          <p:nvPr/>
        </p:nvSpPr>
        <p:spPr>
          <a:xfrm>
            <a:off x="9774936" y="1481328"/>
            <a:ext cx="713232" cy="3657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b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 dirty="0" err="1">
                <a:solidFill>
                  <a:srgbClr val="34506B"/>
                </a:solidFill>
                <a:uFillTx/>
                <a:latin typeface="72 Condensed"/>
              </a:rPr>
              <a:t>Reabono</a:t>
            </a:r>
            <a:endParaRPr lang="en-US" sz="900" b="1" i="0" u="none" strike="noStrike" kern="1200" cap="none" spc="0" baseline="0" dirty="0">
              <a:solidFill>
                <a:srgbClr val="34506B"/>
              </a:solidFill>
              <a:uFillTx/>
              <a:latin typeface="72 Condensed"/>
            </a:endParaRPr>
          </a:p>
          <a:p>
            <a:pPr marL="0" marR="0" lvl="0" indent="0" algn="ctr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 dirty="0">
                <a:solidFill>
                  <a:srgbClr val="34506B"/>
                </a:solidFill>
                <a:uFillTx/>
                <a:latin typeface="72 Condensed"/>
              </a:rPr>
              <a:t>1</a:t>
            </a:r>
          </a:p>
        </p:txBody>
      </p:sp>
      <p:sp>
        <p:nvSpPr>
          <p:cNvPr id="20" name="TextBox 36">
            <a:extLst>
              <a:ext uri="{FF2B5EF4-FFF2-40B4-BE49-F238E27FC236}">
                <a16:creationId xmlns:a16="http://schemas.microsoft.com/office/drawing/2014/main" id="{55180EEC-77C3-004C-2F16-2E16F79E03CD}"/>
              </a:ext>
            </a:extLst>
          </p:cNvPr>
          <p:cNvSpPr txBox="1"/>
          <p:nvPr/>
        </p:nvSpPr>
        <p:spPr>
          <a:xfrm>
            <a:off x="10396728" y="1481328"/>
            <a:ext cx="713232" cy="3657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b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Reabono</a:t>
            </a:r>
          </a:p>
          <a:p>
            <a:pPr marL="0" marR="0" lvl="0" indent="0" algn="ctr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2</a:t>
            </a:r>
          </a:p>
        </p:txBody>
      </p:sp>
      <p:sp>
        <p:nvSpPr>
          <p:cNvPr id="21" name="TextBox 37">
            <a:extLst>
              <a:ext uri="{FF2B5EF4-FFF2-40B4-BE49-F238E27FC236}">
                <a16:creationId xmlns:a16="http://schemas.microsoft.com/office/drawing/2014/main" id="{BA571321-06CF-B990-7366-C43A90130721}"/>
              </a:ext>
            </a:extLst>
          </p:cNvPr>
          <p:cNvSpPr txBox="1"/>
          <p:nvPr/>
        </p:nvSpPr>
        <p:spPr>
          <a:xfrm>
            <a:off x="11018520" y="1481328"/>
            <a:ext cx="713232" cy="3657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b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Cosecha</a:t>
            </a:r>
          </a:p>
        </p:txBody>
      </p:sp>
      <p:sp>
        <p:nvSpPr>
          <p:cNvPr id="54" name="TextBox 70">
            <a:extLst>
              <a:ext uri="{FF2B5EF4-FFF2-40B4-BE49-F238E27FC236}">
                <a16:creationId xmlns:a16="http://schemas.microsoft.com/office/drawing/2014/main" id="{7A2F9E3E-F6C3-4F8B-B5F6-E172D2ACBC27}"/>
              </a:ext>
            </a:extLst>
          </p:cNvPr>
          <p:cNvSpPr txBox="1"/>
          <p:nvPr/>
        </p:nvSpPr>
        <p:spPr>
          <a:xfrm>
            <a:off x="7982711" y="3310128"/>
            <a:ext cx="566928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—</a:t>
            </a:r>
          </a:p>
        </p:txBody>
      </p:sp>
      <p:sp>
        <p:nvSpPr>
          <p:cNvPr id="56" name="TextBox 72">
            <a:extLst>
              <a:ext uri="{FF2B5EF4-FFF2-40B4-BE49-F238E27FC236}">
                <a16:creationId xmlns:a16="http://schemas.microsoft.com/office/drawing/2014/main" id="{A1ECCEEC-463C-0219-DC88-DE0766B3DCD2}"/>
              </a:ext>
            </a:extLst>
          </p:cNvPr>
          <p:cNvSpPr txBox="1"/>
          <p:nvPr/>
        </p:nvSpPr>
        <p:spPr>
          <a:xfrm>
            <a:off x="8604504" y="3026663"/>
            <a:ext cx="566928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32,78</a:t>
            </a:r>
          </a:p>
        </p:txBody>
      </p:sp>
      <p:sp>
        <p:nvSpPr>
          <p:cNvPr id="57" name="TextBox 73">
            <a:extLst>
              <a:ext uri="{FF2B5EF4-FFF2-40B4-BE49-F238E27FC236}">
                <a16:creationId xmlns:a16="http://schemas.microsoft.com/office/drawing/2014/main" id="{4562CD5B-A4AF-26EF-B5B6-60F7ED2BFCF8}"/>
              </a:ext>
            </a:extLst>
          </p:cNvPr>
          <p:cNvSpPr txBox="1"/>
          <p:nvPr/>
        </p:nvSpPr>
        <p:spPr>
          <a:xfrm>
            <a:off x="8604504" y="3310128"/>
            <a:ext cx="566928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EDF0E2"/>
                </a:solidFill>
                <a:uFillTx/>
                <a:latin typeface="Arial"/>
              </a:rPr>
              <a:t>✓ 100%</a:t>
            </a:r>
          </a:p>
        </p:txBody>
      </p:sp>
      <p:sp>
        <p:nvSpPr>
          <p:cNvPr id="59" name="TextBox 75">
            <a:extLst>
              <a:ext uri="{FF2B5EF4-FFF2-40B4-BE49-F238E27FC236}">
                <a16:creationId xmlns:a16="http://schemas.microsoft.com/office/drawing/2014/main" id="{3DAEE04A-50D4-730C-D4E1-7FFC45DF9583}"/>
              </a:ext>
            </a:extLst>
          </p:cNvPr>
          <p:cNvSpPr txBox="1"/>
          <p:nvPr/>
        </p:nvSpPr>
        <p:spPr>
          <a:xfrm>
            <a:off x="9226296" y="3026663"/>
            <a:ext cx="566928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32,78</a:t>
            </a:r>
          </a:p>
        </p:txBody>
      </p:sp>
      <p:sp>
        <p:nvSpPr>
          <p:cNvPr id="60" name="TextBox 76">
            <a:extLst>
              <a:ext uri="{FF2B5EF4-FFF2-40B4-BE49-F238E27FC236}">
                <a16:creationId xmlns:a16="http://schemas.microsoft.com/office/drawing/2014/main" id="{009BAA4C-4C92-4CF6-9B43-514D592A6C0C}"/>
              </a:ext>
            </a:extLst>
          </p:cNvPr>
          <p:cNvSpPr txBox="1"/>
          <p:nvPr/>
        </p:nvSpPr>
        <p:spPr>
          <a:xfrm>
            <a:off x="9226296" y="3310128"/>
            <a:ext cx="566928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EDF0E2"/>
                </a:solidFill>
                <a:uFillTx/>
                <a:latin typeface="Arial"/>
              </a:rPr>
              <a:t>✓ 100%</a:t>
            </a:r>
          </a:p>
        </p:txBody>
      </p:sp>
      <p:sp>
        <p:nvSpPr>
          <p:cNvPr id="62" name="TextBox 78">
            <a:extLst>
              <a:ext uri="{FF2B5EF4-FFF2-40B4-BE49-F238E27FC236}">
                <a16:creationId xmlns:a16="http://schemas.microsoft.com/office/drawing/2014/main" id="{D395599C-92E3-04D8-BA1F-EB932D1022E1}"/>
              </a:ext>
            </a:extLst>
          </p:cNvPr>
          <p:cNvSpPr txBox="1"/>
          <p:nvPr/>
        </p:nvSpPr>
        <p:spPr>
          <a:xfrm>
            <a:off x="9848088" y="3026663"/>
            <a:ext cx="566928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32,78</a:t>
            </a:r>
          </a:p>
        </p:txBody>
      </p:sp>
      <p:sp>
        <p:nvSpPr>
          <p:cNvPr id="63" name="TextBox 79">
            <a:extLst>
              <a:ext uri="{FF2B5EF4-FFF2-40B4-BE49-F238E27FC236}">
                <a16:creationId xmlns:a16="http://schemas.microsoft.com/office/drawing/2014/main" id="{392020BB-FF47-BC44-B2CC-A937D2452DE2}"/>
              </a:ext>
            </a:extLst>
          </p:cNvPr>
          <p:cNvSpPr txBox="1"/>
          <p:nvPr/>
        </p:nvSpPr>
        <p:spPr>
          <a:xfrm>
            <a:off x="9848088" y="3310128"/>
            <a:ext cx="566928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EDF0E2"/>
                </a:solidFill>
                <a:uFillTx/>
                <a:latin typeface="Arial"/>
              </a:rPr>
              <a:t>✓ 100%</a:t>
            </a:r>
          </a:p>
        </p:txBody>
      </p:sp>
      <p:sp>
        <p:nvSpPr>
          <p:cNvPr id="65" name="TextBox 81">
            <a:extLst>
              <a:ext uri="{FF2B5EF4-FFF2-40B4-BE49-F238E27FC236}">
                <a16:creationId xmlns:a16="http://schemas.microsoft.com/office/drawing/2014/main" id="{B2F3FC1F-8ED4-1F28-05C7-DF560D796D43}"/>
              </a:ext>
            </a:extLst>
          </p:cNvPr>
          <p:cNvSpPr txBox="1"/>
          <p:nvPr/>
        </p:nvSpPr>
        <p:spPr>
          <a:xfrm>
            <a:off x="10469880" y="3026663"/>
            <a:ext cx="566928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32,78</a:t>
            </a:r>
          </a:p>
        </p:txBody>
      </p:sp>
      <p:sp>
        <p:nvSpPr>
          <p:cNvPr id="66" name="TextBox 82">
            <a:extLst>
              <a:ext uri="{FF2B5EF4-FFF2-40B4-BE49-F238E27FC236}">
                <a16:creationId xmlns:a16="http://schemas.microsoft.com/office/drawing/2014/main" id="{3F71FCA3-3C7F-A865-0F71-A5A8D82472B7}"/>
              </a:ext>
            </a:extLst>
          </p:cNvPr>
          <p:cNvSpPr txBox="1"/>
          <p:nvPr/>
        </p:nvSpPr>
        <p:spPr>
          <a:xfrm>
            <a:off x="10469880" y="3310128"/>
            <a:ext cx="566928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EDF0E2"/>
                </a:solidFill>
                <a:uFillTx/>
                <a:latin typeface="Arial"/>
              </a:rPr>
              <a:t>✓ 100%</a:t>
            </a:r>
          </a:p>
        </p:txBody>
      </p:sp>
      <p:sp>
        <p:nvSpPr>
          <p:cNvPr id="68" name="TextBox 84">
            <a:extLst>
              <a:ext uri="{FF2B5EF4-FFF2-40B4-BE49-F238E27FC236}">
                <a16:creationId xmlns:a16="http://schemas.microsoft.com/office/drawing/2014/main" id="{94A7C2B8-723C-3A06-68F9-920329B63B14}"/>
              </a:ext>
            </a:extLst>
          </p:cNvPr>
          <p:cNvSpPr txBox="1"/>
          <p:nvPr/>
        </p:nvSpPr>
        <p:spPr>
          <a:xfrm>
            <a:off x="11091672" y="3026663"/>
            <a:ext cx="566928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32,78</a:t>
            </a:r>
          </a:p>
        </p:txBody>
      </p:sp>
      <p:sp>
        <p:nvSpPr>
          <p:cNvPr id="69" name="TextBox 85">
            <a:extLst>
              <a:ext uri="{FF2B5EF4-FFF2-40B4-BE49-F238E27FC236}">
                <a16:creationId xmlns:a16="http://schemas.microsoft.com/office/drawing/2014/main" id="{E19A7B4D-9794-12BA-136C-361B980D1956}"/>
              </a:ext>
            </a:extLst>
          </p:cNvPr>
          <p:cNvSpPr txBox="1"/>
          <p:nvPr/>
        </p:nvSpPr>
        <p:spPr>
          <a:xfrm>
            <a:off x="11091672" y="3310128"/>
            <a:ext cx="566928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EDF0E2"/>
                </a:solidFill>
                <a:uFillTx/>
                <a:latin typeface="Arial"/>
              </a:rPr>
              <a:t>✓ 100%</a:t>
            </a:r>
          </a:p>
        </p:txBody>
      </p:sp>
      <p:cxnSp>
        <p:nvCxnSpPr>
          <p:cNvPr id="70" name="Connector 86">
            <a:extLst>
              <a:ext uri="{FF2B5EF4-FFF2-40B4-BE49-F238E27FC236}">
                <a16:creationId xmlns:a16="http://schemas.microsoft.com/office/drawing/2014/main" id="{D90A8651-CB0D-7A5C-1EE5-1D9AFBD6D30B}"/>
              </a:ext>
            </a:extLst>
          </p:cNvPr>
          <p:cNvCxnSpPr/>
          <p:nvPr/>
        </p:nvCxnSpPr>
        <p:spPr>
          <a:xfrm>
            <a:off x="6263640" y="4471416"/>
            <a:ext cx="5394960" cy="0"/>
          </a:xfrm>
          <a:prstGeom prst="straightConnector1">
            <a:avLst/>
          </a:prstGeom>
          <a:noFill/>
          <a:ln w="12701" cap="flat">
            <a:solidFill>
              <a:srgbClr val="A9B09C"/>
            </a:solidFill>
            <a:prstDash val="solid"/>
            <a:miter/>
          </a:ln>
        </p:spPr>
      </p:cxnSp>
      <p:sp>
        <p:nvSpPr>
          <p:cNvPr id="71" name="TextBox 87">
            <a:extLst>
              <a:ext uri="{FF2B5EF4-FFF2-40B4-BE49-F238E27FC236}">
                <a16:creationId xmlns:a16="http://schemas.microsoft.com/office/drawing/2014/main" id="{B23D58A3-6FE8-15F6-B8CF-BE6F975CADF5}"/>
              </a:ext>
            </a:extLst>
          </p:cNvPr>
          <p:cNvSpPr txBox="1"/>
          <p:nvPr/>
        </p:nvSpPr>
        <p:spPr>
          <a:xfrm>
            <a:off x="6263640" y="4526279"/>
            <a:ext cx="105156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324425"/>
                </a:solidFill>
                <a:uFillTx/>
                <a:latin typeface="72 Condensed"/>
              </a:rPr>
              <a:t>TOTAL</a:t>
            </a:r>
          </a:p>
        </p:txBody>
      </p:sp>
      <p:sp>
        <p:nvSpPr>
          <p:cNvPr id="72" name="TextBox 88">
            <a:extLst>
              <a:ext uri="{FF2B5EF4-FFF2-40B4-BE49-F238E27FC236}">
                <a16:creationId xmlns:a16="http://schemas.microsoft.com/office/drawing/2014/main" id="{EBB43062-5026-629D-1A57-9F070B8288D9}"/>
              </a:ext>
            </a:extLst>
          </p:cNvPr>
          <p:cNvSpPr txBox="1"/>
          <p:nvPr/>
        </p:nvSpPr>
        <p:spPr>
          <a:xfrm>
            <a:off x="6263640" y="4773168"/>
            <a:ext cx="1051560" cy="1828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227,32 ha plan</a:t>
            </a:r>
          </a:p>
        </p:txBody>
      </p:sp>
      <p:sp>
        <p:nvSpPr>
          <p:cNvPr id="94" name="Rounded Rectangle 110">
            <a:extLst>
              <a:ext uri="{FF2B5EF4-FFF2-40B4-BE49-F238E27FC236}">
                <a16:creationId xmlns:a16="http://schemas.microsoft.com/office/drawing/2014/main" id="{2E327A2C-196B-A53F-AA64-C51EFAAD82CB}"/>
              </a:ext>
            </a:extLst>
          </p:cNvPr>
          <p:cNvSpPr/>
          <p:nvPr/>
        </p:nvSpPr>
        <p:spPr>
          <a:xfrm>
            <a:off x="6263640" y="5065776"/>
            <a:ext cx="201168" cy="201168"/>
          </a:xfrm>
          <a:custGeom>
            <a:avLst>
              <a:gd name="f0" fmla="val 432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95" name="TextBox 111">
            <a:extLst>
              <a:ext uri="{FF2B5EF4-FFF2-40B4-BE49-F238E27FC236}">
                <a16:creationId xmlns:a16="http://schemas.microsoft.com/office/drawing/2014/main" id="{C49C0759-4992-1645-E6E4-7EC8FF4C4F74}"/>
              </a:ext>
            </a:extLst>
          </p:cNvPr>
          <p:cNvSpPr txBox="1"/>
          <p:nvPr/>
        </p:nvSpPr>
        <p:spPr>
          <a:xfrm>
            <a:off x="6537959" y="5038344"/>
            <a:ext cx="2377440" cy="256032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Labor ejecutada (ha)</a:t>
            </a:r>
          </a:p>
        </p:txBody>
      </p:sp>
      <p:sp>
        <p:nvSpPr>
          <p:cNvPr id="96" name="Rounded Rectangle 112">
            <a:extLst>
              <a:ext uri="{FF2B5EF4-FFF2-40B4-BE49-F238E27FC236}">
                <a16:creationId xmlns:a16="http://schemas.microsoft.com/office/drawing/2014/main" id="{3C9F6690-8670-7F71-1530-3C6F8FD2DDBD}"/>
              </a:ext>
            </a:extLst>
          </p:cNvPr>
          <p:cNvSpPr/>
          <p:nvPr/>
        </p:nvSpPr>
        <p:spPr>
          <a:xfrm>
            <a:off x="8458200" y="5065776"/>
            <a:ext cx="201168" cy="201168"/>
          </a:xfrm>
          <a:custGeom>
            <a:avLst>
              <a:gd name="f0" fmla="val 432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FFF"/>
          </a:solidFill>
          <a:ln w="12701" cap="flat">
            <a:solidFill>
              <a:srgbClr val="A9B09C"/>
            </a:solidFill>
            <a:custDash>
              <a:ds d="300000" sp="300000"/>
            </a:custDash>
            <a:miter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97" name="TextBox 113">
            <a:extLst>
              <a:ext uri="{FF2B5EF4-FFF2-40B4-BE49-F238E27FC236}">
                <a16:creationId xmlns:a16="http://schemas.microsoft.com/office/drawing/2014/main" id="{56169122-A338-D05E-4412-E0C3BB141ECA}"/>
              </a:ext>
            </a:extLst>
          </p:cNvPr>
          <p:cNvSpPr txBox="1"/>
          <p:nvPr/>
        </p:nvSpPr>
        <p:spPr>
          <a:xfrm>
            <a:off x="8732520" y="5084064"/>
            <a:ext cx="1463040" cy="16927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 dirty="0">
                <a:solidFill>
                  <a:srgbClr val="1F2E18"/>
                </a:solidFill>
                <a:uFillTx/>
                <a:latin typeface="72 Condensed"/>
              </a:rPr>
              <a:t>Labor que no aplica en el ciclo</a:t>
            </a:r>
          </a:p>
        </p:txBody>
      </p:sp>
      <p:sp>
        <p:nvSpPr>
          <p:cNvPr id="98" name="Rounded Rectangle 114">
            <a:extLst>
              <a:ext uri="{FF2B5EF4-FFF2-40B4-BE49-F238E27FC236}">
                <a16:creationId xmlns:a16="http://schemas.microsoft.com/office/drawing/2014/main" id="{2636F299-BACE-0813-35B3-A501739FB32B}"/>
              </a:ext>
            </a:extLst>
          </p:cNvPr>
          <p:cNvSpPr/>
          <p:nvPr/>
        </p:nvSpPr>
        <p:spPr>
          <a:xfrm>
            <a:off x="6263640" y="5404104"/>
            <a:ext cx="5349240" cy="1179576"/>
          </a:xfrm>
          <a:custGeom>
            <a:avLst>
              <a:gd name="f0" fmla="val 3888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99" name="TextBox 115">
            <a:extLst>
              <a:ext uri="{FF2B5EF4-FFF2-40B4-BE49-F238E27FC236}">
                <a16:creationId xmlns:a16="http://schemas.microsoft.com/office/drawing/2014/main" id="{C36B7D67-8269-C7A8-FBE7-5375935F4193}"/>
              </a:ext>
            </a:extLst>
          </p:cNvPr>
          <p:cNvSpPr txBox="1"/>
          <p:nvPr/>
        </p:nvSpPr>
        <p:spPr>
          <a:xfrm>
            <a:off x="6537959" y="5477256"/>
            <a:ext cx="4846320" cy="97840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8 de 11 lotes completaron las 7 labores aplicadas en el 100% de su superficie. Sin registro completo: Villa Marina 1 (rastra, reabono 1, reabono 2); Villa Marina 2 (reabono 1, reabono 2); Villa Marina 3 (rastra, siembra, reabono 1). La enmienda se aplicó en 5 lotes, donde el análisis la pidió.</a:t>
            </a:r>
          </a:p>
        </p:txBody>
      </p:sp>
      <p:sp>
        <p:nvSpPr>
          <p:cNvPr id="100" name="TextBox 31">
            <a:extLst>
              <a:ext uri="{FF2B5EF4-FFF2-40B4-BE49-F238E27FC236}">
                <a16:creationId xmlns:a16="http://schemas.microsoft.com/office/drawing/2014/main" id="{CDC04A24-2699-FF0B-A43A-A52BC9C02835}"/>
              </a:ext>
            </a:extLst>
          </p:cNvPr>
          <p:cNvSpPr txBox="1"/>
          <p:nvPr/>
        </p:nvSpPr>
        <p:spPr>
          <a:xfrm>
            <a:off x="6148425" y="1713292"/>
            <a:ext cx="713232" cy="12465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b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VE" sz="9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Lotes</a:t>
            </a:r>
          </a:p>
        </p:txBody>
      </p:sp>
      <p:sp>
        <p:nvSpPr>
          <p:cNvPr id="101" name="TextBox 39 (gen)"/>
          <p:cNvSpPr txBox="1"/>
          <p:nvPr/>
        </p:nvSpPr>
        <p:spPr>
          <a:xfrm>
            <a:off x="6263640" y="1938528"/>
            <a:ext cx="1097280" cy="19202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Lote 1A</a:t>
            </a:r>
          </a:p>
        </p:txBody>
      </p:sp>
      <p:sp>
        <p:nvSpPr>
          <p:cNvPr id="102" name="Rounded Rectangle 41 (gen)"/>
          <p:cNvSpPr/>
          <p:nvPr/>
        </p:nvSpPr>
        <p:spPr>
          <a:xfrm>
            <a:off x="7360920" y="19202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26,53</a:t>
            </a:r>
          </a:p>
        </p:txBody>
      </p:sp>
      <p:sp>
        <p:nvSpPr>
          <p:cNvPr id="103" name="Rounded Rectangle 41 (gen)"/>
          <p:cNvSpPr/>
          <p:nvPr/>
        </p:nvSpPr>
        <p:spPr>
          <a:xfrm>
            <a:off x="7982712" y="19202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26,53</a:t>
            </a:r>
          </a:p>
        </p:txBody>
      </p:sp>
      <p:sp>
        <p:nvSpPr>
          <p:cNvPr id="104" name="Rounded Rectangle 41 (gen)"/>
          <p:cNvSpPr/>
          <p:nvPr/>
        </p:nvSpPr>
        <p:spPr>
          <a:xfrm>
            <a:off x="8604504" y="19202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26,53</a:t>
            </a:r>
          </a:p>
        </p:txBody>
      </p:sp>
      <p:sp>
        <p:nvSpPr>
          <p:cNvPr id="105" name="Rounded Rectangle 41 (gen)"/>
          <p:cNvSpPr/>
          <p:nvPr/>
        </p:nvSpPr>
        <p:spPr>
          <a:xfrm>
            <a:off x="9226296" y="19202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26,53</a:t>
            </a:r>
          </a:p>
        </p:txBody>
      </p:sp>
      <p:sp>
        <p:nvSpPr>
          <p:cNvPr id="106" name="Rounded Rectangle 41 (gen)"/>
          <p:cNvSpPr/>
          <p:nvPr/>
        </p:nvSpPr>
        <p:spPr>
          <a:xfrm>
            <a:off x="9848088" y="19202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26,53</a:t>
            </a:r>
          </a:p>
        </p:txBody>
      </p:sp>
      <p:sp>
        <p:nvSpPr>
          <p:cNvPr id="107" name="Rounded Rectangle 41 (gen)"/>
          <p:cNvSpPr/>
          <p:nvPr/>
        </p:nvSpPr>
        <p:spPr>
          <a:xfrm>
            <a:off x="10469880" y="19202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26,53</a:t>
            </a:r>
          </a:p>
        </p:txBody>
      </p:sp>
      <p:sp>
        <p:nvSpPr>
          <p:cNvPr id="108" name="Rounded Rectangle 41 (gen)"/>
          <p:cNvSpPr/>
          <p:nvPr/>
        </p:nvSpPr>
        <p:spPr>
          <a:xfrm>
            <a:off x="11091672" y="19202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26,50</a:t>
            </a:r>
          </a:p>
        </p:txBody>
      </p:sp>
      <p:sp>
        <p:nvSpPr>
          <p:cNvPr id="109" name="TextBox 39 (gen)"/>
          <p:cNvSpPr txBox="1"/>
          <p:nvPr/>
        </p:nvSpPr>
        <p:spPr>
          <a:xfrm>
            <a:off x="6263640" y="2167128"/>
            <a:ext cx="1097280" cy="19202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Lote 1B</a:t>
            </a:r>
          </a:p>
        </p:txBody>
      </p:sp>
      <p:sp>
        <p:nvSpPr>
          <p:cNvPr id="110" name="Rounded Rectangle 41 (gen)"/>
          <p:cNvSpPr/>
          <p:nvPr/>
        </p:nvSpPr>
        <p:spPr>
          <a:xfrm>
            <a:off x="7360920" y="21488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33,30</a:t>
            </a:r>
          </a:p>
        </p:txBody>
      </p:sp>
      <p:sp>
        <p:nvSpPr>
          <p:cNvPr id="111" name="Rounded Rectangle 44 (gen)"/>
          <p:cNvSpPr/>
          <p:nvPr/>
        </p:nvSpPr>
        <p:spPr>
          <a:xfrm>
            <a:off x="7982712" y="21488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FFF"/>
          </a:solidFill>
          <a:ln w="15873" cap="flat">
            <a:solidFill>
              <a:srgbClr val="A9B09C"/>
            </a:solidFill>
            <a:custDash>
              <a:ds d="300013" sp="300013"/>
            </a:custDash>
            <a:miter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—</a:t>
            </a:r>
          </a:p>
        </p:txBody>
      </p:sp>
      <p:sp>
        <p:nvSpPr>
          <p:cNvPr id="112" name="Rounded Rectangle 41 (gen)"/>
          <p:cNvSpPr/>
          <p:nvPr/>
        </p:nvSpPr>
        <p:spPr>
          <a:xfrm>
            <a:off x="8604504" y="21488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33,30</a:t>
            </a:r>
          </a:p>
        </p:txBody>
      </p:sp>
      <p:sp>
        <p:nvSpPr>
          <p:cNvPr id="113" name="Rounded Rectangle 41 (gen)"/>
          <p:cNvSpPr/>
          <p:nvPr/>
        </p:nvSpPr>
        <p:spPr>
          <a:xfrm>
            <a:off x="9226296" y="21488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33,30</a:t>
            </a:r>
          </a:p>
        </p:txBody>
      </p:sp>
      <p:sp>
        <p:nvSpPr>
          <p:cNvPr id="114" name="Rounded Rectangle 41 (gen)"/>
          <p:cNvSpPr/>
          <p:nvPr/>
        </p:nvSpPr>
        <p:spPr>
          <a:xfrm>
            <a:off x="9848088" y="21488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33,30</a:t>
            </a:r>
          </a:p>
        </p:txBody>
      </p:sp>
      <p:sp>
        <p:nvSpPr>
          <p:cNvPr id="115" name="Rounded Rectangle 41 (gen)"/>
          <p:cNvSpPr/>
          <p:nvPr/>
        </p:nvSpPr>
        <p:spPr>
          <a:xfrm>
            <a:off x="10469880" y="21488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33,30</a:t>
            </a:r>
          </a:p>
        </p:txBody>
      </p:sp>
      <p:sp>
        <p:nvSpPr>
          <p:cNvPr id="116" name="Rounded Rectangle 41 (gen)"/>
          <p:cNvSpPr/>
          <p:nvPr/>
        </p:nvSpPr>
        <p:spPr>
          <a:xfrm>
            <a:off x="11091672" y="21488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33,30</a:t>
            </a:r>
          </a:p>
        </p:txBody>
      </p:sp>
      <p:sp>
        <p:nvSpPr>
          <p:cNvPr id="117" name="TextBox 39 (gen)"/>
          <p:cNvSpPr txBox="1"/>
          <p:nvPr/>
        </p:nvSpPr>
        <p:spPr>
          <a:xfrm>
            <a:off x="6263640" y="2395728"/>
            <a:ext cx="1097280" cy="19202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Lote 4</a:t>
            </a:r>
          </a:p>
        </p:txBody>
      </p:sp>
      <p:sp>
        <p:nvSpPr>
          <p:cNvPr id="118" name="Rounded Rectangle 41 (gen)"/>
          <p:cNvSpPr/>
          <p:nvPr/>
        </p:nvSpPr>
        <p:spPr>
          <a:xfrm>
            <a:off x="7360920" y="23774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26,31</a:t>
            </a:r>
          </a:p>
        </p:txBody>
      </p:sp>
      <p:sp>
        <p:nvSpPr>
          <p:cNvPr id="119" name="Rounded Rectangle 41 (gen)"/>
          <p:cNvSpPr/>
          <p:nvPr/>
        </p:nvSpPr>
        <p:spPr>
          <a:xfrm>
            <a:off x="7982712" y="23774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26,31</a:t>
            </a:r>
          </a:p>
        </p:txBody>
      </p:sp>
      <p:sp>
        <p:nvSpPr>
          <p:cNvPr id="120" name="Rounded Rectangle 41 (gen)"/>
          <p:cNvSpPr/>
          <p:nvPr/>
        </p:nvSpPr>
        <p:spPr>
          <a:xfrm>
            <a:off x="8604504" y="23774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26,31</a:t>
            </a:r>
          </a:p>
        </p:txBody>
      </p:sp>
      <p:sp>
        <p:nvSpPr>
          <p:cNvPr id="121" name="Rounded Rectangle 41 (gen)"/>
          <p:cNvSpPr/>
          <p:nvPr/>
        </p:nvSpPr>
        <p:spPr>
          <a:xfrm>
            <a:off x="9226296" y="23774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26,31</a:t>
            </a:r>
          </a:p>
        </p:txBody>
      </p:sp>
      <p:sp>
        <p:nvSpPr>
          <p:cNvPr id="122" name="Rounded Rectangle 41 (gen)"/>
          <p:cNvSpPr/>
          <p:nvPr/>
        </p:nvSpPr>
        <p:spPr>
          <a:xfrm>
            <a:off x="9848088" y="23774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26,31</a:t>
            </a:r>
          </a:p>
        </p:txBody>
      </p:sp>
      <p:sp>
        <p:nvSpPr>
          <p:cNvPr id="123" name="Rounded Rectangle 41 (gen)"/>
          <p:cNvSpPr/>
          <p:nvPr/>
        </p:nvSpPr>
        <p:spPr>
          <a:xfrm>
            <a:off x="10469880" y="23774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26,31</a:t>
            </a:r>
          </a:p>
        </p:txBody>
      </p:sp>
      <p:sp>
        <p:nvSpPr>
          <p:cNvPr id="124" name="Rounded Rectangle 41 (gen)"/>
          <p:cNvSpPr/>
          <p:nvPr/>
        </p:nvSpPr>
        <p:spPr>
          <a:xfrm>
            <a:off x="11091672" y="23774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26,26</a:t>
            </a:r>
          </a:p>
        </p:txBody>
      </p:sp>
      <p:sp>
        <p:nvSpPr>
          <p:cNvPr id="125" name="TextBox 39 (gen)"/>
          <p:cNvSpPr txBox="1"/>
          <p:nvPr/>
        </p:nvSpPr>
        <p:spPr>
          <a:xfrm>
            <a:off x="6263640" y="2624328"/>
            <a:ext cx="1097280" cy="19202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Lote 5</a:t>
            </a:r>
          </a:p>
        </p:txBody>
      </p:sp>
      <p:sp>
        <p:nvSpPr>
          <p:cNvPr id="126" name="Rounded Rectangle 41 (gen)"/>
          <p:cNvSpPr/>
          <p:nvPr/>
        </p:nvSpPr>
        <p:spPr>
          <a:xfrm>
            <a:off x="7360920" y="26060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14,56</a:t>
            </a:r>
          </a:p>
        </p:txBody>
      </p:sp>
      <p:sp>
        <p:nvSpPr>
          <p:cNvPr id="127" name="Rounded Rectangle 44 (gen)"/>
          <p:cNvSpPr/>
          <p:nvPr/>
        </p:nvSpPr>
        <p:spPr>
          <a:xfrm>
            <a:off x="7982712" y="26060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FFF"/>
          </a:solidFill>
          <a:ln w="15873" cap="flat">
            <a:solidFill>
              <a:srgbClr val="A9B09C"/>
            </a:solidFill>
            <a:custDash>
              <a:ds d="300013" sp="300013"/>
            </a:custDash>
            <a:miter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—</a:t>
            </a:r>
          </a:p>
        </p:txBody>
      </p:sp>
      <p:sp>
        <p:nvSpPr>
          <p:cNvPr id="128" name="Rounded Rectangle 41 (gen)"/>
          <p:cNvSpPr/>
          <p:nvPr/>
        </p:nvSpPr>
        <p:spPr>
          <a:xfrm>
            <a:off x="8604504" y="26060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14,56</a:t>
            </a:r>
          </a:p>
        </p:txBody>
      </p:sp>
      <p:sp>
        <p:nvSpPr>
          <p:cNvPr id="129" name="Rounded Rectangle 41 (gen)"/>
          <p:cNvSpPr/>
          <p:nvPr/>
        </p:nvSpPr>
        <p:spPr>
          <a:xfrm>
            <a:off x="9226296" y="26060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14,56</a:t>
            </a:r>
          </a:p>
        </p:txBody>
      </p:sp>
      <p:sp>
        <p:nvSpPr>
          <p:cNvPr id="130" name="Rounded Rectangle 41 (gen)"/>
          <p:cNvSpPr/>
          <p:nvPr/>
        </p:nvSpPr>
        <p:spPr>
          <a:xfrm>
            <a:off x="9848088" y="26060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14,56</a:t>
            </a:r>
          </a:p>
        </p:txBody>
      </p:sp>
      <p:sp>
        <p:nvSpPr>
          <p:cNvPr id="131" name="Rounded Rectangle 41 (gen)"/>
          <p:cNvSpPr/>
          <p:nvPr/>
        </p:nvSpPr>
        <p:spPr>
          <a:xfrm>
            <a:off x="10469880" y="26060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14,56</a:t>
            </a:r>
          </a:p>
        </p:txBody>
      </p:sp>
      <p:sp>
        <p:nvSpPr>
          <p:cNvPr id="132" name="Rounded Rectangle 41 (gen)"/>
          <p:cNvSpPr/>
          <p:nvPr/>
        </p:nvSpPr>
        <p:spPr>
          <a:xfrm>
            <a:off x="11091672" y="26060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14,56</a:t>
            </a:r>
          </a:p>
        </p:txBody>
      </p:sp>
      <p:sp>
        <p:nvSpPr>
          <p:cNvPr id="133" name="TextBox 39 (gen)"/>
          <p:cNvSpPr txBox="1"/>
          <p:nvPr/>
        </p:nvSpPr>
        <p:spPr>
          <a:xfrm>
            <a:off x="6263640" y="2852928"/>
            <a:ext cx="1097280" cy="19202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Lote 6</a:t>
            </a:r>
          </a:p>
        </p:txBody>
      </p:sp>
      <p:sp>
        <p:nvSpPr>
          <p:cNvPr id="134" name="Rounded Rectangle 41 (gen)"/>
          <p:cNvSpPr/>
          <p:nvPr/>
        </p:nvSpPr>
        <p:spPr>
          <a:xfrm>
            <a:off x="7360920" y="28346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9,19</a:t>
            </a:r>
          </a:p>
        </p:txBody>
      </p:sp>
      <p:sp>
        <p:nvSpPr>
          <p:cNvPr id="135" name="Rounded Rectangle 41 (gen)"/>
          <p:cNvSpPr/>
          <p:nvPr/>
        </p:nvSpPr>
        <p:spPr>
          <a:xfrm>
            <a:off x="7982712" y="28346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9,19</a:t>
            </a:r>
          </a:p>
        </p:txBody>
      </p:sp>
      <p:sp>
        <p:nvSpPr>
          <p:cNvPr id="136" name="Rounded Rectangle 41 (gen)"/>
          <p:cNvSpPr/>
          <p:nvPr/>
        </p:nvSpPr>
        <p:spPr>
          <a:xfrm>
            <a:off x="8604504" y="28346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9,19</a:t>
            </a:r>
          </a:p>
        </p:txBody>
      </p:sp>
      <p:sp>
        <p:nvSpPr>
          <p:cNvPr id="137" name="Rounded Rectangle 41 (gen)"/>
          <p:cNvSpPr/>
          <p:nvPr/>
        </p:nvSpPr>
        <p:spPr>
          <a:xfrm>
            <a:off x="9226296" y="28346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9,19</a:t>
            </a:r>
          </a:p>
        </p:txBody>
      </p:sp>
      <p:sp>
        <p:nvSpPr>
          <p:cNvPr id="138" name="Rounded Rectangle 41 (gen)"/>
          <p:cNvSpPr/>
          <p:nvPr/>
        </p:nvSpPr>
        <p:spPr>
          <a:xfrm>
            <a:off x="9848088" y="28346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9,19</a:t>
            </a:r>
          </a:p>
        </p:txBody>
      </p:sp>
      <p:sp>
        <p:nvSpPr>
          <p:cNvPr id="139" name="Rounded Rectangle 41 (gen)"/>
          <p:cNvSpPr/>
          <p:nvPr/>
        </p:nvSpPr>
        <p:spPr>
          <a:xfrm>
            <a:off x="10469880" y="28346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9,19</a:t>
            </a:r>
          </a:p>
        </p:txBody>
      </p:sp>
      <p:sp>
        <p:nvSpPr>
          <p:cNvPr id="140" name="Rounded Rectangle 41 (gen)"/>
          <p:cNvSpPr/>
          <p:nvPr/>
        </p:nvSpPr>
        <p:spPr>
          <a:xfrm>
            <a:off x="11091672" y="28346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9,19</a:t>
            </a:r>
          </a:p>
        </p:txBody>
      </p:sp>
      <p:sp>
        <p:nvSpPr>
          <p:cNvPr id="141" name="TextBox 39 (gen)"/>
          <p:cNvSpPr txBox="1"/>
          <p:nvPr/>
        </p:nvSpPr>
        <p:spPr>
          <a:xfrm>
            <a:off x="6263640" y="3081528"/>
            <a:ext cx="1097280" cy="19202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Lote 7</a:t>
            </a:r>
          </a:p>
        </p:txBody>
      </p:sp>
      <p:sp>
        <p:nvSpPr>
          <p:cNvPr id="142" name="Rounded Rectangle 41 (gen)"/>
          <p:cNvSpPr/>
          <p:nvPr/>
        </p:nvSpPr>
        <p:spPr>
          <a:xfrm>
            <a:off x="7360920" y="30632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7,89</a:t>
            </a:r>
          </a:p>
        </p:txBody>
      </p:sp>
      <p:sp>
        <p:nvSpPr>
          <p:cNvPr id="143" name="Rounded Rectangle 41 (gen)"/>
          <p:cNvSpPr/>
          <p:nvPr/>
        </p:nvSpPr>
        <p:spPr>
          <a:xfrm>
            <a:off x="7982712" y="30632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7,89</a:t>
            </a:r>
          </a:p>
        </p:txBody>
      </p:sp>
      <p:sp>
        <p:nvSpPr>
          <p:cNvPr id="144" name="Rounded Rectangle 41 (gen)"/>
          <p:cNvSpPr/>
          <p:nvPr/>
        </p:nvSpPr>
        <p:spPr>
          <a:xfrm>
            <a:off x="8604504" y="30632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7,89</a:t>
            </a:r>
          </a:p>
        </p:txBody>
      </p:sp>
      <p:sp>
        <p:nvSpPr>
          <p:cNvPr id="145" name="Rounded Rectangle 41 (gen)"/>
          <p:cNvSpPr/>
          <p:nvPr/>
        </p:nvSpPr>
        <p:spPr>
          <a:xfrm>
            <a:off x="9226296" y="30632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7,89</a:t>
            </a:r>
          </a:p>
        </p:txBody>
      </p:sp>
      <p:sp>
        <p:nvSpPr>
          <p:cNvPr id="146" name="Rounded Rectangle 41 (gen)"/>
          <p:cNvSpPr/>
          <p:nvPr/>
        </p:nvSpPr>
        <p:spPr>
          <a:xfrm>
            <a:off x="9848088" y="30632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7,89</a:t>
            </a:r>
          </a:p>
        </p:txBody>
      </p:sp>
      <p:sp>
        <p:nvSpPr>
          <p:cNvPr id="147" name="Rounded Rectangle 41 (gen)"/>
          <p:cNvSpPr/>
          <p:nvPr/>
        </p:nvSpPr>
        <p:spPr>
          <a:xfrm>
            <a:off x="10469880" y="30632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7,89</a:t>
            </a:r>
          </a:p>
        </p:txBody>
      </p:sp>
      <p:sp>
        <p:nvSpPr>
          <p:cNvPr id="148" name="Rounded Rectangle 41 (gen)"/>
          <p:cNvSpPr/>
          <p:nvPr/>
        </p:nvSpPr>
        <p:spPr>
          <a:xfrm>
            <a:off x="11091672" y="30632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7,89</a:t>
            </a:r>
          </a:p>
        </p:txBody>
      </p:sp>
      <p:sp>
        <p:nvSpPr>
          <p:cNvPr id="149" name="TextBox 39 (gen)"/>
          <p:cNvSpPr txBox="1"/>
          <p:nvPr/>
        </p:nvSpPr>
        <p:spPr>
          <a:xfrm>
            <a:off x="6263640" y="3310128"/>
            <a:ext cx="1097280" cy="19202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Lote 8</a:t>
            </a:r>
          </a:p>
        </p:txBody>
      </p:sp>
      <p:sp>
        <p:nvSpPr>
          <p:cNvPr id="150" name="Rounded Rectangle 41 (gen)"/>
          <p:cNvSpPr/>
          <p:nvPr/>
        </p:nvSpPr>
        <p:spPr>
          <a:xfrm>
            <a:off x="7360920" y="32918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17,74</a:t>
            </a:r>
          </a:p>
        </p:txBody>
      </p:sp>
      <p:sp>
        <p:nvSpPr>
          <p:cNvPr id="151" name="Rounded Rectangle 44 (gen)"/>
          <p:cNvSpPr/>
          <p:nvPr/>
        </p:nvSpPr>
        <p:spPr>
          <a:xfrm>
            <a:off x="7982712" y="32918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FFF"/>
          </a:solidFill>
          <a:ln w="15873" cap="flat">
            <a:solidFill>
              <a:srgbClr val="A9B09C"/>
            </a:solidFill>
            <a:custDash>
              <a:ds d="300013" sp="300013"/>
            </a:custDash>
            <a:miter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—</a:t>
            </a:r>
          </a:p>
        </p:txBody>
      </p:sp>
      <p:sp>
        <p:nvSpPr>
          <p:cNvPr id="152" name="Rounded Rectangle 41 (gen)"/>
          <p:cNvSpPr/>
          <p:nvPr/>
        </p:nvSpPr>
        <p:spPr>
          <a:xfrm>
            <a:off x="8604504" y="32918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17,74</a:t>
            </a:r>
          </a:p>
        </p:txBody>
      </p:sp>
      <p:sp>
        <p:nvSpPr>
          <p:cNvPr id="153" name="Rounded Rectangle 41 (gen)"/>
          <p:cNvSpPr/>
          <p:nvPr/>
        </p:nvSpPr>
        <p:spPr>
          <a:xfrm>
            <a:off x="9226296" y="32918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17,74</a:t>
            </a:r>
          </a:p>
        </p:txBody>
      </p:sp>
      <p:sp>
        <p:nvSpPr>
          <p:cNvPr id="154" name="Rounded Rectangle 41 (gen)"/>
          <p:cNvSpPr/>
          <p:nvPr/>
        </p:nvSpPr>
        <p:spPr>
          <a:xfrm>
            <a:off x="9848088" y="32918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17,74</a:t>
            </a:r>
          </a:p>
        </p:txBody>
      </p:sp>
      <p:sp>
        <p:nvSpPr>
          <p:cNvPr id="155" name="Rounded Rectangle 41 (gen)"/>
          <p:cNvSpPr/>
          <p:nvPr/>
        </p:nvSpPr>
        <p:spPr>
          <a:xfrm>
            <a:off x="10469880" y="32918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17,74</a:t>
            </a:r>
          </a:p>
        </p:txBody>
      </p:sp>
      <p:sp>
        <p:nvSpPr>
          <p:cNvPr id="156" name="Rounded Rectangle 41 (gen)"/>
          <p:cNvSpPr/>
          <p:nvPr/>
        </p:nvSpPr>
        <p:spPr>
          <a:xfrm>
            <a:off x="11091672" y="32918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17,74</a:t>
            </a:r>
          </a:p>
        </p:txBody>
      </p:sp>
      <p:sp>
        <p:nvSpPr>
          <p:cNvPr id="157" name="TextBox 39 (gen)"/>
          <p:cNvSpPr txBox="1"/>
          <p:nvPr/>
        </p:nvSpPr>
        <p:spPr>
          <a:xfrm>
            <a:off x="6263640" y="3538728"/>
            <a:ext cx="1097280" cy="19202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Lote 9</a:t>
            </a:r>
          </a:p>
        </p:txBody>
      </p:sp>
      <p:sp>
        <p:nvSpPr>
          <p:cNvPr id="158" name="Rounded Rectangle 41 (gen)"/>
          <p:cNvSpPr/>
          <p:nvPr/>
        </p:nvSpPr>
        <p:spPr>
          <a:xfrm>
            <a:off x="7360920" y="35204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32,09</a:t>
            </a:r>
          </a:p>
        </p:txBody>
      </p:sp>
      <p:sp>
        <p:nvSpPr>
          <p:cNvPr id="159" name="Rounded Rectangle 41 (gen)"/>
          <p:cNvSpPr/>
          <p:nvPr/>
        </p:nvSpPr>
        <p:spPr>
          <a:xfrm>
            <a:off x="7982712" y="35204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32,09</a:t>
            </a:r>
          </a:p>
        </p:txBody>
      </p:sp>
      <p:sp>
        <p:nvSpPr>
          <p:cNvPr id="160" name="Rounded Rectangle 41 (gen)"/>
          <p:cNvSpPr/>
          <p:nvPr/>
        </p:nvSpPr>
        <p:spPr>
          <a:xfrm>
            <a:off x="8604504" y="35204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32,09</a:t>
            </a:r>
          </a:p>
        </p:txBody>
      </p:sp>
      <p:sp>
        <p:nvSpPr>
          <p:cNvPr id="161" name="Rounded Rectangle 41 (gen)"/>
          <p:cNvSpPr/>
          <p:nvPr/>
        </p:nvSpPr>
        <p:spPr>
          <a:xfrm>
            <a:off x="9226296" y="35204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32,09</a:t>
            </a:r>
          </a:p>
        </p:txBody>
      </p:sp>
      <p:sp>
        <p:nvSpPr>
          <p:cNvPr id="162" name="Rounded Rectangle 41 (gen)"/>
          <p:cNvSpPr/>
          <p:nvPr/>
        </p:nvSpPr>
        <p:spPr>
          <a:xfrm>
            <a:off x="9848088" y="35204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32,09</a:t>
            </a:r>
          </a:p>
        </p:txBody>
      </p:sp>
      <p:sp>
        <p:nvSpPr>
          <p:cNvPr id="163" name="Rounded Rectangle 41 (gen)"/>
          <p:cNvSpPr/>
          <p:nvPr/>
        </p:nvSpPr>
        <p:spPr>
          <a:xfrm>
            <a:off x="10469880" y="35204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32,09</a:t>
            </a:r>
          </a:p>
        </p:txBody>
      </p:sp>
      <p:sp>
        <p:nvSpPr>
          <p:cNvPr id="164" name="Rounded Rectangle 41 (gen)"/>
          <p:cNvSpPr/>
          <p:nvPr/>
        </p:nvSpPr>
        <p:spPr>
          <a:xfrm>
            <a:off x="11091672" y="35204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32,09</a:t>
            </a:r>
          </a:p>
        </p:txBody>
      </p:sp>
      <p:sp>
        <p:nvSpPr>
          <p:cNvPr id="165" name="TextBox 39 (gen)"/>
          <p:cNvSpPr txBox="1"/>
          <p:nvPr/>
        </p:nvSpPr>
        <p:spPr>
          <a:xfrm>
            <a:off x="6263640" y="3767327"/>
            <a:ext cx="1097280" cy="19202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Villa Marina 1</a:t>
            </a:r>
          </a:p>
        </p:txBody>
      </p:sp>
      <p:sp>
        <p:nvSpPr>
          <p:cNvPr id="166" name="Rounded Rectangle 41 (gen)"/>
          <p:cNvSpPr/>
          <p:nvPr/>
        </p:nvSpPr>
        <p:spPr>
          <a:xfrm>
            <a:off x="7360920" y="3749039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C9962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23,00</a:t>
            </a:r>
          </a:p>
        </p:txBody>
      </p:sp>
      <p:sp>
        <p:nvSpPr>
          <p:cNvPr id="167" name="Rounded Rectangle 44 (gen)"/>
          <p:cNvSpPr/>
          <p:nvPr/>
        </p:nvSpPr>
        <p:spPr>
          <a:xfrm>
            <a:off x="7982712" y="3749039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FFF"/>
          </a:solidFill>
          <a:ln w="15873" cap="flat">
            <a:solidFill>
              <a:srgbClr val="A9B09C"/>
            </a:solidFill>
            <a:custDash>
              <a:ds d="300013" sp="300013"/>
            </a:custDash>
            <a:miter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—</a:t>
            </a:r>
          </a:p>
        </p:txBody>
      </p:sp>
      <p:sp>
        <p:nvSpPr>
          <p:cNvPr id="168" name="Rounded Rectangle 41 (gen)"/>
          <p:cNvSpPr/>
          <p:nvPr/>
        </p:nvSpPr>
        <p:spPr>
          <a:xfrm>
            <a:off x="8604504" y="3749039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25,63</a:t>
            </a:r>
          </a:p>
        </p:txBody>
      </p:sp>
      <p:sp>
        <p:nvSpPr>
          <p:cNvPr id="169" name="Rounded Rectangle 41 (gen)"/>
          <p:cNvSpPr/>
          <p:nvPr/>
        </p:nvSpPr>
        <p:spPr>
          <a:xfrm>
            <a:off x="9226296" y="3749039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25,63</a:t>
            </a:r>
          </a:p>
        </p:txBody>
      </p:sp>
      <p:sp>
        <p:nvSpPr>
          <p:cNvPr id="170" name="Rounded Rectangle 41 (gen)"/>
          <p:cNvSpPr/>
          <p:nvPr/>
        </p:nvSpPr>
        <p:spPr>
          <a:xfrm>
            <a:off x="9848088" y="3749039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C9962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17,60</a:t>
            </a:r>
          </a:p>
        </p:txBody>
      </p:sp>
      <p:sp>
        <p:nvSpPr>
          <p:cNvPr id="171" name="Rounded Rectangle 41 (gen)"/>
          <p:cNvSpPr/>
          <p:nvPr/>
        </p:nvSpPr>
        <p:spPr>
          <a:xfrm>
            <a:off x="10469880" y="3749039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C9962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17,63</a:t>
            </a:r>
          </a:p>
        </p:txBody>
      </p:sp>
      <p:sp>
        <p:nvSpPr>
          <p:cNvPr id="172" name="Rounded Rectangle 41 (gen)"/>
          <p:cNvSpPr/>
          <p:nvPr/>
        </p:nvSpPr>
        <p:spPr>
          <a:xfrm>
            <a:off x="11091672" y="3749039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25,63</a:t>
            </a:r>
          </a:p>
        </p:txBody>
      </p:sp>
      <p:sp>
        <p:nvSpPr>
          <p:cNvPr id="173" name="TextBox 39 (gen)"/>
          <p:cNvSpPr txBox="1"/>
          <p:nvPr/>
        </p:nvSpPr>
        <p:spPr>
          <a:xfrm>
            <a:off x="6263640" y="3995927"/>
            <a:ext cx="1097280" cy="19202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Villa Marina 2</a:t>
            </a:r>
          </a:p>
        </p:txBody>
      </p:sp>
      <p:sp>
        <p:nvSpPr>
          <p:cNvPr id="174" name="Rounded Rectangle 41 (gen)"/>
          <p:cNvSpPr/>
          <p:nvPr/>
        </p:nvSpPr>
        <p:spPr>
          <a:xfrm>
            <a:off x="7360920" y="3977639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20,08</a:t>
            </a:r>
          </a:p>
        </p:txBody>
      </p:sp>
      <p:sp>
        <p:nvSpPr>
          <p:cNvPr id="175" name="Rounded Rectangle 44 (gen)"/>
          <p:cNvSpPr/>
          <p:nvPr/>
        </p:nvSpPr>
        <p:spPr>
          <a:xfrm>
            <a:off x="7982712" y="3977639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FFF"/>
          </a:solidFill>
          <a:ln w="15873" cap="flat">
            <a:solidFill>
              <a:srgbClr val="A9B09C"/>
            </a:solidFill>
            <a:custDash>
              <a:ds d="300013" sp="300013"/>
            </a:custDash>
            <a:miter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—</a:t>
            </a:r>
          </a:p>
        </p:txBody>
      </p:sp>
      <p:sp>
        <p:nvSpPr>
          <p:cNvPr id="176" name="Rounded Rectangle 41 (gen)"/>
          <p:cNvSpPr/>
          <p:nvPr/>
        </p:nvSpPr>
        <p:spPr>
          <a:xfrm>
            <a:off x="8604504" y="3977639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20,00</a:t>
            </a:r>
          </a:p>
        </p:txBody>
      </p:sp>
      <p:sp>
        <p:nvSpPr>
          <p:cNvPr id="177" name="Rounded Rectangle 41 (gen)"/>
          <p:cNvSpPr/>
          <p:nvPr/>
        </p:nvSpPr>
        <p:spPr>
          <a:xfrm>
            <a:off x="9226296" y="3977639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20,08</a:t>
            </a:r>
          </a:p>
        </p:txBody>
      </p:sp>
      <p:sp>
        <p:nvSpPr>
          <p:cNvPr id="178" name="Rounded Rectangle 41 (gen)"/>
          <p:cNvSpPr/>
          <p:nvPr/>
        </p:nvSpPr>
        <p:spPr>
          <a:xfrm>
            <a:off x="9848088" y="3977639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C9962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14,00</a:t>
            </a:r>
          </a:p>
        </p:txBody>
      </p:sp>
      <p:sp>
        <p:nvSpPr>
          <p:cNvPr id="179" name="Rounded Rectangle 41 (gen)"/>
          <p:cNvSpPr/>
          <p:nvPr/>
        </p:nvSpPr>
        <p:spPr>
          <a:xfrm>
            <a:off x="10469880" y="3977639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C9962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14,00</a:t>
            </a:r>
          </a:p>
        </p:txBody>
      </p:sp>
      <p:sp>
        <p:nvSpPr>
          <p:cNvPr id="180" name="Rounded Rectangle 41 (gen)"/>
          <p:cNvSpPr/>
          <p:nvPr/>
        </p:nvSpPr>
        <p:spPr>
          <a:xfrm>
            <a:off x="11091672" y="3977639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20,08</a:t>
            </a:r>
          </a:p>
        </p:txBody>
      </p:sp>
      <p:sp>
        <p:nvSpPr>
          <p:cNvPr id="181" name="TextBox 39 (gen)"/>
          <p:cNvSpPr txBox="1"/>
          <p:nvPr/>
        </p:nvSpPr>
        <p:spPr>
          <a:xfrm>
            <a:off x="6263640" y="4224527"/>
            <a:ext cx="1097280" cy="19202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Villa Marina 3</a:t>
            </a:r>
          </a:p>
        </p:txBody>
      </p:sp>
      <p:sp>
        <p:nvSpPr>
          <p:cNvPr id="182" name="Rounded Rectangle 41 (gen)"/>
          <p:cNvSpPr/>
          <p:nvPr/>
        </p:nvSpPr>
        <p:spPr>
          <a:xfrm>
            <a:off x="7360920" y="42062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C9962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0,00</a:t>
            </a:r>
          </a:p>
        </p:txBody>
      </p:sp>
      <p:sp>
        <p:nvSpPr>
          <p:cNvPr id="183" name="Rounded Rectangle 44 (gen)"/>
          <p:cNvSpPr/>
          <p:nvPr/>
        </p:nvSpPr>
        <p:spPr>
          <a:xfrm>
            <a:off x="7982712" y="42062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FFF"/>
          </a:solidFill>
          <a:ln w="15873" cap="flat">
            <a:solidFill>
              <a:srgbClr val="A9B09C"/>
            </a:solidFill>
            <a:custDash>
              <a:ds d="300013" sp="300013"/>
            </a:custDash>
            <a:miter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—</a:t>
            </a:r>
          </a:p>
        </p:txBody>
      </p:sp>
      <p:sp>
        <p:nvSpPr>
          <p:cNvPr id="184" name="Rounded Rectangle 41 (gen)"/>
          <p:cNvSpPr/>
          <p:nvPr/>
        </p:nvSpPr>
        <p:spPr>
          <a:xfrm>
            <a:off x="8604504" y="42062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C9962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12,93</a:t>
            </a:r>
          </a:p>
        </p:txBody>
      </p:sp>
      <p:sp>
        <p:nvSpPr>
          <p:cNvPr id="185" name="Rounded Rectangle 41 (gen)"/>
          <p:cNvSpPr/>
          <p:nvPr/>
        </p:nvSpPr>
        <p:spPr>
          <a:xfrm>
            <a:off x="9226296" y="42062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14,00</a:t>
            </a:r>
          </a:p>
        </p:txBody>
      </p:sp>
      <p:sp>
        <p:nvSpPr>
          <p:cNvPr id="186" name="Rounded Rectangle 41 (gen)"/>
          <p:cNvSpPr/>
          <p:nvPr/>
        </p:nvSpPr>
        <p:spPr>
          <a:xfrm>
            <a:off x="9848088" y="42062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C9962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0,00</a:t>
            </a:r>
          </a:p>
        </p:txBody>
      </p:sp>
      <p:sp>
        <p:nvSpPr>
          <p:cNvPr id="187" name="Rounded Rectangle 41 (gen)"/>
          <p:cNvSpPr/>
          <p:nvPr/>
        </p:nvSpPr>
        <p:spPr>
          <a:xfrm>
            <a:off x="10469880" y="42062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14,00</a:t>
            </a:r>
          </a:p>
        </p:txBody>
      </p:sp>
      <p:sp>
        <p:nvSpPr>
          <p:cNvPr id="188" name="Rounded Rectangle 41 (gen)"/>
          <p:cNvSpPr/>
          <p:nvPr/>
        </p:nvSpPr>
        <p:spPr>
          <a:xfrm>
            <a:off x="11091672" y="4206240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14,00</a:t>
            </a:r>
          </a:p>
        </p:txBody>
      </p:sp>
      <p:sp>
        <p:nvSpPr>
          <p:cNvPr id="189" name="Rounded Rectangle 41 (gen)"/>
          <p:cNvSpPr/>
          <p:nvPr/>
        </p:nvSpPr>
        <p:spPr>
          <a:xfrm>
            <a:off x="7360920" y="4562855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C9962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210,69</a:t>
            </a:r>
          </a:p>
        </p:txBody>
      </p:sp>
      <p:sp>
        <p:nvSpPr>
          <p:cNvPr id="190" name="Rounded Rectangle 41 (gen)"/>
          <p:cNvSpPr/>
          <p:nvPr/>
        </p:nvSpPr>
        <p:spPr>
          <a:xfrm>
            <a:off x="7982712" y="4562855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102,01</a:t>
            </a:r>
          </a:p>
        </p:txBody>
      </p:sp>
      <p:sp>
        <p:nvSpPr>
          <p:cNvPr id="191" name="Rounded Rectangle 41 (gen)"/>
          <p:cNvSpPr/>
          <p:nvPr/>
        </p:nvSpPr>
        <p:spPr>
          <a:xfrm>
            <a:off x="8604504" y="4562855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226,17</a:t>
            </a:r>
          </a:p>
        </p:txBody>
      </p:sp>
      <p:sp>
        <p:nvSpPr>
          <p:cNvPr id="192" name="Rounded Rectangle 41 (gen)"/>
          <p:cNvSpPr/>
          <p:nvPr/>
        </p:nvSpPr>
        <p:spPr>
          <a:xfrm>
            <a:off x="9226296" y="4562855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227,32</a:t>
            </a:r>
          </a:p>
        </p:txBody>
      </p:sp>
      <p:sp>
        <p:nvSpPr>
          <p:cNvPr id="193" name="Rounded Rectangle 41 (gen)"/>
          <p:cNvSpPr/>
          <p:nvPr/>
        </p:nvSpPr>
        <p:spPr>
          <a:xfrm>
            <a:off x="9848088" y="4562855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C9962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199,21</a:t>
            </a:r>
          </a:p>
        </p:txBody>
      </p:sp>
      <p:sp>
        <p:nvSpPr>
          <p:cNvPr id="194" name="Rounded Rectangle 41 (gen)"/>
          <p:cNvSpPr/>
          <p:nvPr/>
        </p:nvSpPr>
        <p:spPr>
          <a:xfrm>
            <a:off x="10469880" y="4562855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C9962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213,24</a:t>
            </a:r>
          </a:p>
        </p:txBody>
      </p:sp>
      <p:sp>
        <p:nvSpPr>
          <p:cNvPr id="195" name="Rounded Rectangle 41 (gen)"/>
          <p:cNvSpPr/>
          <p:nvPr/>
        </p:nvSpPr>
        <p:spPr>
          <a:xfrm>
            <a:off x="11091672" y="4562855"/>
            <a:ext cx="566928" cy="192024"/>
          </a:xfrm>
          <a:custGeom>
            <a:avLst>
              <a:gd name="f0" fmla="val 324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5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227,24</a:t>
            </a:r>
          </a:p>
        </p:txBody>
      </p:sp>
      <p:sp>
        <p:nvSpPr>
          <p:cNvPr id="196" name="Rounded Rectangle 110 (gen)"/>
          <p:cNvSpPr/>
          <p:nvPr/>
        </p:nvSpPr>
        <p:spPr>
          <a:xfrm>
            <a:off x="10195560" y="5065776"/>
            <a:ext cx="201168" cy="201168"/>
          </a:xfrm>
          <a:custGeom>
            <a:avLst>
              <a:gd name="f0" fmla="val 432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C9962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197" name="TextBox 113 (gen)"/>
          <p:cNvSpPr txBox="1"/>
          <p:nvPr/>
        </p:nvSpPr>
        <p:spPr>
          <a:xfrm>
            <a:off x="10469880" y="5084064"/>
            <a:ext cx="1280160" cy="16927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 dirty="0">
                <a:solidFill>
                  <a:srgbClr val="1F2E18"/>
                </a:solidFill>
                <a:uFillTx/>
                <a:latin typeface="72 Condensed"/>
              </a:rPr>
              <a:t>Sin registro completo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50">
    <p:bg>
      <p:bgPr>
        <a:solidFill>
          <a:srgbClr val="3244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1BB2B0B7-4EA9-C1E6-4F23-9149AF99ABA2}"/>
              </a:ext>
            </a:extLst>
          </p:cNvPr>
          <p:cNvSpPr/>
          <p:nvPr/>
        </p:nvSpPr>
        <p:spPr>
          <a:xfrm>
            <a:off x="0" y="-360950"/>
            <a:ext cx="12191996" cy="7218950"/>
          </a:xfrm>
          <a:custGeom>
            <a:avLst/>
            <a:gdLst>
              <a:gd name="f0" fmla="val w"/>
              <a:gd name="f1" fmla="val h"/>
              <a:gd name="f2" fmla="val 0"/>
              <a:gd name="f3" fmla="val 18288000"/>
              <a:gd name="f4" fmla="val 10287000"/>
              <a:gd name="f5" fmla="*/ f0 1 18288000"/>
              <a:gd name="f6" fmla="*/ f1 1 10287000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8288000"/>
              <a:gd name="f13" fmla="*/ f10 1 10287000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8288000" h="10287000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3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000000"/>
              </a:solidFill>
              <a:uFillTx/>
              <a:latin typeface="72 Condensed"/>
            </a:endParaRPr>
          </a:p>
        </p:txBody>
      </p:sp>
      <p:sp>
        <p:nvSpPr>
          <p:cNvPr id="3" name="Rectángulo 5">
            <a:extLst>
              <a:ext uri="{FF2B5EF4-FFF2-40B4-BE49-F238E27FC236}">
                <a16:creationId xmlns:a16="http://schemas.microsoft.com/office/drawing/2014/main" id="{77D54427-80B3-CFF4-C5E9-AF9DBD4E0AF9}"/>
              </a:ext>
            </a:extLst>
          </p:cNvPr>
          <p:cNvSpPr/>
          <p:nvPr/>
        </p:nvSpPr>
        <p:spPr>
          <a:xfrm>
            <a:off x="6300" y="-360227"/>
            <a:ext cx="12191996" cy="7218950"/>
          </a:xfrm>
          <a:prstGeom prst="rect">
            <a:avLst/>
          </a:prstGeom>
          <a:solidFill>
            <a:srgbClr val="1F2E18">
              <a:alpha val="62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FFFFFF"/>
              </a:solidFill>
              <a:uFillTx/>
              <a:latin typeface="72 Condensed"/>
            </a:endParaRPr>
          </a:p>
        </p:txBody>
      </p:sp>
      <p:sp>
        <p:nvSpPr>
          <p:cNvPr id="4" name="CuadroTexto 21">
            <a:extLst>
              <a:ext uri="{FF2B5EF4-FFF2-40B4-BE49-F238E27FC236}">
                <a16:creationId xmlns:a16="http://schemas.microsoft.com/office/drawing/2014/main" id="{7AC70978-D872-BB88-CEBC-19A2289762F8}"/>
              </a:ext>
            </a:extLst>
          </p:cNvPr>
          <p:cNvSpPr txBox="1"/>
          <p:nvPr/>
        </p:nvSpPr>
        <p:spPr>
          <a:xfrm>
            <a:off x="9336088" y="0"/>
            <a:ext cx="2855908" cy="369335"/>
          </a:xfrm>
          <a:prstGeom prst="rect">
            <a:avLst/>
          </a:prstGeom>
          <a:solidFill>
            <a:srgbClr val="324425"/>
          </a:solidFill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1" u="none" strike="noStrike" kern="1200" cap="none" spc="0" baseline="0">
                <a:solidFill>
                  <a:srgbClr val="FFFFFF"/>
                </a:solidFill>
                <a:uFillTx/>
                <a:latin typeface="72 Condensed" pitchFamily="34"/>
                <a:cs typeface="72 Condensed" pitchFamily="34"/>
              </a:rPr>
              <a:t>SEGUIMIENTO PROCESOS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0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300">
                <a:solidFill>
                  <a:srgbClr val="C9962E"/>
                </a:solidFill>
                <a:latin typeface="72 Condensed"/>
              </a:rPr>
              <a:t>TU TEMPORADA DE INCIDENCIAS · LÍNEA DE TIEMPO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2761488"/>
            <a:ext cx="10744200" cy="190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47" name="Oval 46"/>
          <p:cNvSpPr/>
          <p:nvPr/>
        </p:nvSpPr>
        <p:spPr>
          <a:xfrm>
            <a:off x="548640" y="4330000"/>
            <a:ext cx="182880" cy="182880"/>
          </a:xfrm>
          <a:prstGeom prst="ellipse">
            <a:avLst/>
          </a:prstGeom>
          <a:solidFill>
            <a:srgbClr val="88A85E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00000" y="4320000"/>
            <a:ext cx="140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EDF0E2"/>
                </a:solidFill>
                <a:latin typeface="72 Condensed"/>
              </a:rPr>
              <a:t>Atendida (14)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304288" y="4320000"/>
            <a:ext cx="5559552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EDF0E2"/>
                </a:solidFill>
                <a:latin typeface="72 Condensed"/>
              </a:rPr>
              <a:t>Mayo concentró 10 de 14 reportes  ·  DDS: días tras la siembra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900000" y="4240000"/>
            <a:ext cx="3758000" cy="380000"/>
          </a:xfrm>
          <a:prstGeom prst="roundRect">
            <a:avLst>
              <a:gd name="adj" fmla="val 50000"/>
            </a:avLst>
          </a:prstGeom>
          <a:solidFill>
            <a:srgbClr val="C9962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200" b="1" i="0">
                <a:solidFill>
                  <a:srgbClr val="1F2E18"/>
                </a:solidFill>
                <a:latin typeface="72 Condensed"/>
              </a:rPr>
              <a:t>Ver el detalle de cada incidencia en el Hub  →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48640" y="4750000"/>
            <a:ext cx="3603120" cy="1640000"/>
          </a:xfrm>
          <a:prstGeom prst="roundRect">
            <a:avLst>
              <a:gd name="adj" fmla="val 10000"/>
            </a:avLst>
          </a:prstGeom>
          <a:solidFill>
            <a:srgbClr val="4C6A35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808640" y="4950000"/>
            <a:ext cx="320312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150" dirty="0">
                <a:solidFill>
                  <a:srgbClr val="C9962E"/>
                </a:solidFill>
                <a:latin typeface="72 Condensed"/>
              </a:rPr>
              <a:t>RETO 1 · PLAGAS EN PLÁNTULA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8640" y="5270000"/>
            <a:ext cx="3203120" cy="6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72 Condensed"/>
              </a:rPr>
              <a:t>10 de 14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8640" y="5940000"/>
            <a:ext cx="3203120" cy="3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72 Condensed"/>
              </a:rPr>
              <a:t>reportes de gusano cogollero y larvas entre 19 y 91 DDS, en 5 lotes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301760" y="4750000"/>
            <a:ext cx="3603120" cy="1640000"/>
          </a:xfrm>
          <a:prstGeom prst="roundRect">
            <a:avLst>
              <a:gd name="adj" fmla="val 10000"/>
            </a:avLst>
          </a:prstGeom>
          <a:solidFill>
            <a:srgbClr val="4C6A35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561760" y="4950000"/>
            <a:ext cx="320312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150">
                <a:solidFill>
                  <a:srgbClr val="C9962E"/>
                </a:solidFill>
                <a:latin typeface="72 Condensed"/>
              </a:rPr>
              <a:t>RETO 2 · MALEZAS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61760" y="5270000"/>
            <a:ext cx="3203120" cy="6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72 Condensed"/>
              </a:rPr>
              <a:t>3 de 14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61760" y="5940000"/>
            <a:ext cx="3203120" cy="3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72 Condensed"/>
              </a:rPr>
              <a:t>reportes de malezas entre 9 y 126 DDS, en Lote 9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054880" y="4750000"/>
            <a:ext cx="3603120" cy="1640000"/>
          </a:xfrm>
          <a:prstGeom prst="roundRect">
            <a:avLst>
              <a:gd name="adj" fmla="val 10000"/>
            </a:avLst>
          </a:prstGeom>
          <a:solidFill>
            <a:srgbClr val="EDF0E2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8314880" y="4950000"/>
            <a:ext cx="320312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150">
                <a:solidFill>
                  <a:srgbClr val="C9962E"/>
                </a:solidFill>
                <a:latin typeface="72 Condensed"/>
              </a:rPr>
              <a:t>RETO 3 · MAZORCA AL CIERRE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14880" y="5270000"/>
            <a:ext cx="3203120" cy="6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1F2E18"/>
                </a:solidFill>
                <a:latin typeface="72 Condensed"/>
              </a:rPr>
              <a:t>1 de 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314880" y="5940000"/>
            <a:ext cx="3203120" cy="3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324425"/>
                </a:solidFill>
                <a:latin typeface="72 Condensed"/>
              </a:rPr>
              <a:t>mazorcas con agobio o daño a los 119 DDS, en Lote 1A</a:t>
            </a:r>
          </a:p>
        </p:txBody>
      </p:sp>
      <p:sp>
        <p:nvSpPr>
          <p:cNvPr id="63" name="Oval 12 (gen)"/>
          <p:cNvSpPr/>
          <p:nvPr/>
        </p:nvSpPr>
        <p:spPr>
          <a:xfrm>
            <a:off x="1106097" y="2560320"/>
            <a:ext cx="384048" cy="384048"/>
          </a:xfrm>
          <a:prstGeom prst="ellipse">
            <a:avLst/>
          </a:prstGeom>
          <a:solidFill>
            <a:srgbClr val="88A85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1F2E18"/>
                </a:solidFill>
                <a:latin typeface="72 Condensed"/>
              </a:rPr>
              <a:t>1</a:t>
            </a:r>
          </a:p>
        </p:txBody>
      </p:sp>
      <p:sp>
        <p:nvSpPr>
          <p:cNvPr id="64" name="TextBox 13 (gen)"/>
          <p:cNvSpPr txBox="1"/>
          <p:nvPr/>
        </p:nvSpPr>
        <p:spPr>
          <a:xfrm>
            <a:off x="886641" y="2267712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C5DAA5"/>
                </a:solidFill>
                <a:latin typeface="72 Condensed"/>
              </a:rPr>
              <a:t>01/05</a:t>
            </a:r>
          </a:p>
        </p:txBody>
      </p:sp>
      <p:sp>
        <p:nvSpPr>
          <p:cNvPr id="65" name="TextBox 14 (gen)"/>
          <p:cNvSpPr txBox="1"/>
          <p:nvPr/>
        </p:nvSpPr>
        <p:spPr>
          <a:xfrm>
            <a:off x="886641" y="3017520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DF0E2"/>
                </a:solidFill>
                <a:latin typeface="72 Condensed"/>
              </a:rPr>
              <a:t>9 DDS</a:t>
            </a:r>
          </a:p>
        </p:txBody>
      </p:sp>
      <p:sp>
        <p:nvSpPr>
          <p:cNvPr id="66" name="TextBox 15 (gen)"/>
          <p:cNvSpPr txBox="1"/>
          <p:nvPr/>
        </p:nvSpPr>
        <p:spPr>
          <a:xfrm>
            <a:off x="914073" y="3218687"/>
            <a:ext cx="7680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Lote 9</a:t>
            </a:r>
          </a:p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Baja eficiencia del control</a:t>
            </a:r>
          </a:p>
        </p:txBody>
      </p:sp>
      <p:sp>
        <p:nvSpPr>
          <p:cNvPr id="67" name="Oval 12 (gen)"/>
          <p:cNvSpPr/>
          <p:nvPr/>
        </p:nvSpPr>
        <p:spPr>
          <a:xfrm>
            <a:off x="1873540" y="2560320"/>
            <a:ext cx="384048" cy="384048"/>
          </a:xfrm>
          <a:prstGeom prst="ellipse">
            <a:avLst/>
          </a:prstGeom>
          <a:solidFill>
            <a:srgbClr val="88A85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1F2E18"/>
                </a:solidFill>
                <a:latin typeface="72 Condensed"/>
              </a:rPr>
              <a:t>2</a:t>
            </a:r>
          </a:p>
        </p:txBody>
      </p:sp>
      <p:sp>
        <p:nvSpPr>
          <p:cNvPr id="68" name="TextBox 13 (gen)"/>
          <p:cNvSpPr txBox="1"/>
          <p:nvPr/>
        </p:nvSpPr>
        <p:spPr>
          <a:xfrm>
            <a:off x="1654084" y="2267712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C5DAA5"/>
                </a:solidFill>
                <a:latin typeface="72 Condensed"/>
              </a:rPr>
              <a:t>14/05</a:t>
            </a:r>
          </a:p>
        </p:txBody>
      </p:sp>
      <p:sp>
        <p:nvSpPr>
          <p:cNvPr id="69" name="TextBox 14 (gen)"/>
          <p:cNvSpPr txBox="1"/>
          <p:nvPr/>
        </p:nvSpPr>
        <p:spPr>
          <a:xfrm>
            <a:off x="1654084" y="3017520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DF0E2"/>
                </a:solidFill>
                <a:latin typeface="72 Condensed"/>
              </a:rPr>
              <a:t>V3</a:t>
            </a:r>
          </a:p>
        </p:txBody>
      </p:sp>
      <p:sp>
        <p:nvSpPr>
          <p:cNvPr id="70" name="TextBox 15 (gen)"/>
          <p:cNvSpPr txBox="1"/>
          <p:nvPr/>
        </p:nvSpPr>
        <p:spPr>
          <a:xfrm>
            <a:off x="1681516" y="3218687"/>
            <a:ext cx="7680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Lote 7</a:t>
            </a:r>
          </a:p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Gusano cogollero</a:t>
            </a:r>
          </a:p>
        </p:txBody>
      </p:sp>
      <p:sp>
        <p:nvSpPr>
          <p:cNvPr id="71" name="Oval 12 (gen)"/>
          <p:cNvSpPr/>
          <p:nvPr/>
        </p:nvSpPr>
        <p:spPr>
          <a:xfrm>
            <a:off x="2640983" y="2560320"/>
            <a:ext cx="384048" cy="384048"/>
          </a:xfrm>
          <a:prstGeom prst="ellipse">
            <a:avLst/>
          </a:prstGeom>
          <a:solidFill>
            <a:srgbClr val="88A85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1F2E18"/>
                </a:solidFill>
                <a:latin typeface="72 Condensed"/>
              </a:rPr>
              <a:t>3</a:t>
            </a:r>
          </a:p>
        </p:txBody>
      </p:sp>
      <p:sp>
        <p:nvSpPr>
          <p:cNvPr id="72" name="TextBox 13 (gen)"/>
          <p:cNvSpPr txBox="1"/>
          <p:nvPr/>
        </p:nvSpPr>
        <p:spPr>
          <a:xfrm>
            <a:off x="2421527" y="2267712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C5DAA5"/>
                </a:solidFill>
                <a:latin typeface="72 Condensed"/>
              </a:rPr>
              <a:t>17/05</a:t>
            </a:r>
          </a:p>
        </p:txBody>
      </p:sp>
      <p:sp>
        <p:nvSpPr>
          <p:cNvPr id="73" name="TextBox 14 (gen)"/>
          <p:cNvSpPr txBox="1"/>
          <p:nvPr/>
        </p:nvSpPr>
        <p:spPr>
          <a:xfrm>
            <a:off x="2421527" y="3017520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DF0E2"/>
                </a:solidFill>
                <a:latin typeface="72 Condensed"/>
              </a:rPr>
              <a:t>V4</a:t>
            </a:r>
          </a:p>
        </p:txBody>
      </p:sp>
      <p:sp>
        <p:nvSpPr>
          <p:cNvPr id="74" name="TextBox 15 (gen)"/>
          <p:cNvSpPr txBox="1"/>
          <p:nvPr/>
        </p:nvSpPr>
        <p:spPr>
          <a:xfrm>
            <a:off x="2448959" y="3218687"/>
            <a:ext cx="7680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Lote 4</a:t>
            </a:r>
          </a:p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Focos de plagas</a:t>
            </a:r>
          </a:p>
        </p:txBody>
      </p:sp>
      <p:sp>
        <p:nvSpPr>
          <p:cNvPr id="75" name="Oval 12 (gen)"/>
          <p:cNvSpPr/>
          <p:nvPr/>
        </p:nvSpPr>
        <p:spPr>
          <a:xfrm>
            <a:off x="3408426" y="2560320"/>
            <a:ext cx="384048" cy="384048"/>
          </a:xfrm>
          <a:prstGeom prst="ellipse">
            <a:avLst/>
          </a:prstGeom>
          <a:solidFill>
            <a:srgbClr val="88A85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1F2E18"/>
                </a:solidFill>
                <a:latin typeface="72 Condensed"/>
              </a:rPr>
              <a:t>4</a:t>
            </a:r>
          </a:p>
        </p:txBody>
      </p:sp>
      <p:sp>
        <p:nvSpPr>
          <p:cNvPr id="76" name="TextBox 13 (gen)"/>
          <p:cNvSpPr txBox="1"/>
          <p:nvPr/>
        </p:nvSpPr>
        <p:spPr>
          <a:xfrm>
            <a:off x="3188970" y="2267712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C5DAA5"/>
                </a:solidFill>
                <a:latin typeface="72 Condensed"/>
              </a:rPr>
              <a:t>17/05</a:t>
            </a:r>
          </a:p>
        </p:txBody>
      </p:sp>
      <p:sp>
        <p:nvSpPr>
          <p:cNvPr id="77" name="TextBox 14 (gen)"/>
          <p:cNvSpPr txBox="1"/>
          <p:nvPr/>
        </p:nvSpPr>
        <p:spPr>
          <a:xfrm>
            <a:off x="3188970" y="3017520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DF0E2"/>
                </a:solidFill>
                <a:latin typeface="72 Condensed"/>
              </a:rPr>
              <a:t>V3</a:t>
            </a:r>
          </a:p>
        </p:txBody>
      </p:sp>
      <p:sp>
        <p:nvSpPr>
          <p:cNvPr id="78" name="TextBox 15 (gen)"/>
          <p:cNvSpPr txBox="1"/>
          <p:nvPr/>
        </p:nvSpPr>
        <p:spPr>
          <a:xfrm>
            <a:off x="3216402" y="3218687"/>
            <a:ext cx="7680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Lote 7</a:t>
            </a:r>
          </a:p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Lesiones en follaje</a:t>
            </a:r>
          </a:p>
        </p:txBody>
      </p:sp>
      <p:sp>
        <p:nvSpPr>
          <p:cNvPr id="79" name="Oval 12 (gen)"/>
          <p:cNvSpPr/>
          <p:nvPr/>
        </p:nvSpPr>
        <p:spPr>
          <a:xfrm>
            <a:off x="4175868" y="2560320"/>
            <a:ext cx="384048" cy="384048"/>
          </a:xfrm>
          <a:prstGeom prst="ellipse">
            <a:avLst/>
          </a:prstGeom>
          <a:solidFill>
            <a:srgbClr val="88A85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1F2E18"/>
                </a:solidFill>
                <a:latin typeface="72 Condensed"/>
              </a:rPr>
              <a:t>5</a:t>
            </a:r>
          </a:p>
        </p:txBody>
      </p:sp>
      <p:sp>
        <p:nvSpPr>
          <p:cNvPr id="80" name="TextBox 13 (gen)"/>
          <p:cNvSpPr txBox="1"/>
          <p:nvPr/>
        </p:nvSpPr>
        <p:spPr>
          <a:xfrm>
            <a:off x="3956412" y="2267712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C5DAA5"/>
                </a:solidFill>
                <a:latin typeface="72 Condensed"/>
              </a:rPr>
              <a:t>17/05</a:t>
            </a:r>
          </a:p>
        </p:txBody>
      </p:sp>
      <p:sp>
        <p:nvSpPr>
          <p:cNvPr id="81" name="TextBox 14 (gen)"/>
          <p:cNvSpPr txBox="1"/>
          <p:nvPr/>
        </p:nvSpPr>
        <p:spPr>
          <a:xfrm>
            <a:off x="3956412" y="3017520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DF0E2"/>
                </a:solidFill>
                <a:latin typeface="72 Condensed"/>
              </a:rPr>
              <a:t>V4</a:t>
            </a:r>
          </a:p>
        </p:txBody>
      </p:sp>
      <p:sp>
        <p:nvSpPr>
          <p:cNvPr id="82" name="TextBox 15 (gen)"/>
          <p:cNvSpPr txBox="1"/>
          <p:nvPr/>
        </p:nvSpPr>
        <p:spPr>
          <a:xfrm>
            <a:off x="3983844" y="3218687"/>
            <a:ext cx="7680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Lote 8</a:t>
            </a:r>
          </a:p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Baja eficiencia del control</a:t>
            </a:r>
          </a:p>
        </p:txBody>
      </p:sp>
      <p:sp>
        <p:nvSpPr>
          <p:cNvPr id="83" name="Oval 12 (gen)"/>
          <p:cNvSpPr/>
          <p:nvPr/>
        </p:nvSpPr>
        <p:spPr>
          <a:xfrm>
            <a:off x="4943311" y="2560320"/>
            <a:ext cx="384048" cy="384048"/>
          </a:xfrm>
          <a:prstGeom prst="ellipse">
            <a:avLst/>
          </a:prstGeom>
          <a:solidFill>
            <a:srgbClr val="88A85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1F2E18"/>
                </a:solidFill>
                <a:latin typeface="72 Condensed"/>
              </a:rPr>
              <a:t>6</a:t>
            </a:r>
          </a:p>
        </p:txBody>
      </p:sp>
      <p:sp>
        <p:nvSpPr>
          <p:cNvPr id="84" name="TextBox 13 (gen)"/>
          <p:cNvSpPr txBox="1"/>
          <p:nvPr/>
        </p:nvSpPr>
        <p:spPr>
          <a:xfrm>
            <a:off x="4723855" y="2267712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C5DAA5"/>
                </a:solidFill>
                <a:latin typeface="72 Condensed"/>
              </a:rPr>
              <a:t>18/05</a:t>
            </a:r>
          </a:p>
        </p:txBody>
      </p:sp>
      <p:sp>
        <p:nvSpPr>
          <p:cNvPr id="85" name="TextBox 14 (gen)"/>
          <p:cNvSpPr txBox="1"/>
          <p:nvPr/>
        </p:nvSpPr>
        <p:spPr>
          <a:xfrm>
            <a:off x="4723855" y="3017520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DF0E2"/>
                </a:solidFill>
                <a:latin typeface="72 Condensed"/>
              </a:rPr>
              <a:t>V5</a:t>
            </a:r>
          </a:p>
        </p:txBody>
      </p:sp>
      <p:sp>
        <p:nvSpPr>
          <p:cNvPr id="86" name="TextBox 15 (gen)"/>
          <p:cNvSpPr txBox="1"/>
          <p:nvPr/>
        </p:nvSpPr>
        <p:spPr>
          <a:xfrm>
            <a:off x="4751287" y="3218687"/>
            <a:ext cx="7680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Lote 9</a:t>
            </a:r>
          </a:p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Malezas avanzadas</a:t>
            </a:r>
          </a:p>
        </p:txBody>
      </p:sp>
      <p:sp>
        <p:nvSpPr>
          <p:cNvPr id="87" name="Oval 12 (gen)"/>
          <p:cNvSpPr/>
          <p:nvPr/>
        </p:nvSpPr>
        <p:spPr>
          <a:xfrm>
            <a:off x="5710754" y="2560320"/>
            <a:ext cx="384048" cy="384048"/>
          </a:xfrm>
          <a:prstGeom prst="ellipse">
            <a:avLst/>
          </a:prstGeom>
          <a:solidFill>
            <a:srgbClr val="88A85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1F2E18"/>
                </a:solidFill>
                <a:latin typeface="72 Condensed"/>
              </a:rPr>
              <a:t>7</a:t>
            </a:r>
          </a:p>
        </p:txBody>
      </p:sp>
      <p:sp>
        <p:nvSpPr>
          <p:cNvPr id="88" name="TextBox 13 (gen)"/>
          <p:cNvSpPr txBox="1"/>
          <p:nvPr/>
        </p:nvSpPr>
        <p:spPr>
          <a:xfrm>
            <a:off x="5491298" y="2267712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C5DAA5"/>
                </a:solidFill>
                <a:latin typeface="72 Condensed"/>
              </a:rPr>
              <a:t>19/05</a:t>
            </a:r>
          </a:p>
        </p:txBody>
      </p:sp>
      <p:sp>
        <p:nvSpPr>
          <p:cNvPr id="89" name="TextBox 14 (gen)"/>
          <p:cNvSpPr txBox="1"/>
          <p:nvPr/>
        </p:nvSpPr>
        <p:spPr>
          <a:xfrm>
            <a:off x="5491298" y="3017520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DF0E2"/>
                </a:solidFill>
                <a:latin typeface="72 Condensed"/>
              </a:rPr>
              <a:t>V1</a:t>
            </a:r>
          </a:p>
        </p:txBody>
      </p:sp>
      <p:sp>
        <p:nvSpPr>
          <p:cNvPr id="90" name="TextBox 15 (gen)"/>
          <p:cNvSpPr txBox="1"/>
          <p:nvPr/>
        </p:nvSpPr>
        <p:spPr>
          <a:xfrm>
            <a:off x="5518730" y="3218687"/>
            <a:ext cx="7680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2 lotes</a:t>
            </a:r>
          </a:p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Emergencia irregular</a:t>
            </a:r>
          </a:p>
        </p:txBody>
      </p:sp>
      <p:sp>
        <p:nvSpPr>
          <p:cNvPr id="91" name="Oval 12 (gen)"/>
          <p:cNvSpPr/>
          <p:nvPr/>
        </p:nvSpPr>
        <p:spPr>
          <a:xfrm>
            <a:off x="6478197" y="2560320"/>
            <a:ext cx="384048" cy="384048"/>
          </a:xfrm>
          <a:prstGeom prst="ellipse">
            <a:avLst/>
          </a:prstGeom>
          <a:solidFill>
            <a:srgbClr val="88A85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1F2E18"/>
                </a:solidFill>
                <a:latin typeface="72 Condensed"/>
              </a:rPr>
              <a:t>8</a:t>
            </a:r>
          </a:p>
        </p:txBody>
      </p:sp>
      <p:sp>
        <p:nvSpPr>
          <p:cNvPr id="92" name="TextBox 13 (gen)"/>
          <p:cNvSpPr txBox="1"/>
          <p:nvPr/>
        </p:nvSpPr>
        <p:spPr>
          <a:xfrm>
            <a:off x="6258741" y="2267712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C5DAA5"/>
                </a:solidFill>
                <a:latin typeface="72 Condensed"/>
              </a:rPr>
              <a:t>25/05</a:t>
            </a:r>
          </a:p>
        </p:txBody>
      </p:sp>
      <p:sp>
        <p:nvSpPr>
          <p:cNvPr id="93" name="TextBox 14 (gen)"/>
          <p:cNvSpPr txBox="1"/>
          <p:nvPr/>
        </p:nvSpPr>
        <p:spPr>
          <a:xfrm>
            <a:off x="6258741" y="3017520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DF0E2"/>
                </a:solidFill>
                <a:latin typeface="72 Condensed"/>
              </a:rPr>
              <a:t>V5</a:t>
            </a:r>
          </a:p>
        </p:txBody>
      </p:sp>
      <p:sp>
        <p:nvSpPr>
          <p:cNvPr id="94" name="TextBox 15 (gen)"/>
          <p:cNvSpPr txBox="1"/>
          <p:nvPr/>
        </p:nvSpPr>
        <p:spPr>
          <a:xfrm>
            <a:off x="6286173" y="3218687"/>
            <a:ext cx="7680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Lote 8</a:t>
            </a:r>
          </a:p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Control efectivo</a:t>
            </a:r>
          </a:p>
        </p:txBody>
      </p:sp>
      <p:sp>
        <p:nvSpPr>
          <p:cNvPr id="95" name="Oval 12 (gen)"/>
          <p:cNvSpPr/>
          <p:nvPr/>
        </p:nvSpPr>
        <p:spPr>
          <a:xfrm>
            <a:off x="7245640" y="2560320"/>
            <a:ext cx="384048" cy="384048"/>
          </a:xfrm>
          <a:prstGeom prst="ellipse">
            <a:avLst/>
          </a:prstGeom>
          <a:solidFill>
            <a:srgbClr val="88A85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1F2E18"/>
                </a:solidFill>
                <a:latin typeface="72 Condensed"/>
              </a:rPr>
              <a:t>9</a:t>
            </a:r>
          </a:p>
        </p:txBody>
      </p:sp>
      <p:sp>
        <p:nvSpPr>
          <p:cNvPr id="96" name="TextBox 13 (gen)"/>
          <p:cNvSpPr txBox="1"/>
          <p:nvPr/>
        </p:nvSpPr>
        <p:spPr>
          <a:xfrm>
            <a:off x="7026184" y="2267712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C5DAA5"/>
                </a:solidFill>
                <a:latin typeface="72 Condensed"/>
              </a:rPr>
              <a:t>27/05</a:t>
            </a:r>
          </a:p>
        </p:txBody>
      </p:sp>
      <p:sp>
        <p:nvSpPr>
          <p:cNvPr id="97" name="TextBox 14 (gen)"/>
          <p:cNvSpPr txBox="1"/>
          <p:nvPr/>
        </p:nvSpPr>
        <p:spPr>
          <a:xfrm>
            <a:off x="7026184" y="3017520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DF0E2"/>
                </a:solidFill>
                <a:latin typeface="72 Condensed"/>
              </a:rPr>
              <a:t>V5</a:t>
            </a:r>
          </a:p>
        </p:txBody>
      </p:sp>
      <p:sp>
        <p:nvSpPr>
          <p:cNvPr id="98" name="TextBox 15 (gen)"/>
          <p:cNvSpPr txBox="1"/>
          <p:nvPr/>
        </p:nvSpPr>
        <p:spPr>
          <a:xfrm>
            <a:off x="7053616" y="3218687"/>
            <a:ext cx="7680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Lote 8</a:t>
            </a:r>
          </a:p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Gusano cogollero</a:t>
            </a:r>
          </a:p>
        </p:txBody>
      </p:sp>
      <p:sp>
        <p:nvSpPr>
          <p:cNvPr id="99" name="Oval 12 (gen)"/>
          <p:cNvSpPr/>
          <p:nvPr/>
        </p:nvSpPr>
        <p:spPr>
          <a:xfrm>
            <a:off x="8013083" y="2560320"/>
            <a:ext cx="384048" cy="384048"/>
          </a:xfrm>
          <a:prstGeom prst="ellipse">
            <a:avLst/>
          </a:prstGeom>
          <a:solidFill>
            <a:srgbClr val="88A85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1F2E18"/>
                </a:solidFill>
                <a:latin typeface="72 Condensed"/>
              </a:rPr>
              <a:t>10</a:t>
            </a:r>
          </a:p>
        </p:txBody>
      </p:sp>
      <p:sp>
        <p:nvSpPr>
          <p:cNvPr id="100" name="TextBox 13 (gen)"/>
          <p:cNvSpPr txBox="1"/>
          <p:nvPr/>
        </p:nvSpPr>
        <p:spPr>
          <a:xfrm>
            <a:off x="7793627" y="2267712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C5DAA5"/>
                </a:solidFill>
                <a:latin typeface="72 Condensed"/>
              </a:rPr>
              <a:t>27/05</a:t>
            </a:r>
          </a:p>
        </p:txBody>
      </p:sp>
      <p:sp>
        <p:nvSpPr>
          <p:cNvPr id="101" name="TextBox 14 (gen)"/>
          <p:cNvSpPr txBox="1"/>
          <p:nvPr/>
        </p:nvSpPr>
        <p:spPr>
          <a:xfrm>
            <a:off x="7793627" y="3017520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DF0E2"/>
                </a:solidFill>
                <a:latin typeface="72 Condensed"/>
              </a:rPr>
              <a:t>V5</a:t>
            </a:r>
          </a:p>
        </p:txBody>
      </p:sp>
      <p:sp>
        <p:nvSpPr>
          <p:cNvPr id="102" name="TextBox 15 (gen)"/>
          <p:cNvSpPr txBox="1"/>
          <p:nvPr/>
        </p:nvSpPr>
        <p:spPr>
          <a:xfrm>
            <a:off x="7821059" y="3218687"/>
            <a:ext cx="7680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Lote 7</a:t>
            </a:r>
          </a:p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Control efectivo</a:t>
            </a:r>
          </a:p>
        </p:txBody>
      </p:sp>
      <p:sp>
        <p:nvSpPr>
          <p:cNvPr id="103" name="Oval 12 (gen)"/>
          <p:cNvSpPr/>
          <p:nvPr/>
        </p:nvSpPr>
        <p:spPr>
          <a:xfrm>
            <a:off x="8780526" y="2560320"/>
            <a:ext cx="384048" cy="384048"/>
          </a:xfrm>
          <a:prstGeom prst="ellipse">
            <a:avLst/>
          </a:prstGeom>
          <a:solidFill>
            <a:srgbClr val="88A85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1F2E18"/>
                </a:solidFill>
                <a:latin typeface="72 Condensed"/>
              </a:rPr>
              <a:t>11</a:t>
            </a:r>
          </a:p>
        </p:txBody>
      </p:sp>
      <p:sp>
        <p:nvSpPr>
          <p:cNvPr id="104" name="TextBox 13 (gen)"/>
          <p:cNvSpPr txBox="1"/>
          <p:nvPr/>
        </p:nvSpPr>
        <p:spPr>
          <a:xfrm>
            <a:off x="8561070" y="2267712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C5DAA5"/>
                </a:solidFill>
                <a:latin typeface="72 Condensed"/>
              </a:rPr>
              <a:t>24/06</a:t>
            </a:r>
          </a:p>
        </p:txBody>
      </p:sp>
      <p:sp>
        <p:nvSpPr>
          <p:cNvPr id="105" name="TextBox 14 (gen)"/>
          <p:cNvSpPr txBox="1"/>
          <p:nvPr/>
        </p:nvSpPr>
        <p:spPr>
          <a:xfrm>
            <a:off x="8561070" y="3017520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DF0E2"/>
                </a:solidFill>
                <a:latin typeface="72 Condensed"/>
              </a:rPr>
              <a:t>64 DDS</a:t>
            </a:r>
          </a:p>
        </p:txBody>
      </p:sp>
      <p:sp>
        <p:nvSpPr>
          <p:cNvPr id="106" name="TextBox 15 (gen)"/>
          <p:cNvSpPr txBox="1"/>
          <p:nvPr/>
        </p:nvSpPr>
        <p:spPr>
          <a:xfrm>
            <a:off x="8588502" y="3218687"/>
            <a:ext cx="7680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9 lotes</a:t>
            </a:r>
          </a:p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Plagas en bordes</a:t>
            </a:r>
          </a:p>
        </p:txBody>
      </p:sp>
      <p:sp>
        <p:nvSpPr>
          <p:cNvPr id="107" name="Oval 12 (gen)"/>
          <p:cNvSpPr/>
          <p:nvPr/>
        </p:nvSpPr>
        <p:spPr>
          <a:xfrm>
            <a:off x="9547968" y="2560320"/>
            <a:ext cx="384048" cy="384048"/>
          </a:xfrm>
          <a:prstGeom prst="ellipse">
            <a:avLst/>
          </a:prstGeom>
          <a:solidFill>
            <a:srgbClr val="88A85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1F2E18"/>
                </a:solidFill>
                <a:latin typeface="72 Condensed"/>
              </a:rPr>
              <a:t>12</a:t>
            </a:r>
          </a:p>
        </p:txBody>
      </p:sp>
      <p:sp>
        <p:nvSpPr>
          <p:cNvPr id="108" name="TextBox 13 (gen)"/>
          <p:cNvSpPr txBox="1"/>
          <p:nvPr/>
        </p:nvSpPr>
        <p:spPr>
          <a:xfrm>
            <a:off x="9328512" y="2267712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C5DAA5"/>
                </a:solidFill>
                <a:latin typeface="72 Condensed"/>
              </a:rPr>
              <a:t>24/07</a:t>
            </a:r>
          </a:p>
        </p:txBody>
      </p:sp>
      <p:sp>
        <p:nvSpPr>
          <p:cNvPr id="109" name="TextBox 14 (gen)"/>
          <p:cNvSpPr txBox="1"/>
          <p:nvPr/>
        </p:nvSpPr>
        <p:spPr>
          <a:xfrm>
            <a:off x="9328512" y="3017520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DF0E2"/>
                </a:solidFill>
                <a:latin typeface="72 Condensed"/>
              </a:rPr>
              <a:t>91 DDS</a:t>
            </a:r>
          </a:p>
        </p:txBody>
      </p:sp>
      <p:sp>
        <p:nvSpPr>
          <p:cNvPr id="110" name="TextBox 15 (gen)"/>
          <p:cNvSpPr txBox="1"/>
          <p:nvPr/>
        </p:nvSpPr>
        <p:spPr>
          <a:xfrm>
            <a:off x="9355944" y="3218687"/>
            <a:ext cx="7680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2 lotes</a:t>
            </a:r>
          </a:p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Plagas en bordes</a:t>
            </a:r>
          </a:p>
        </p:txBody>
      </p:sp>
      <p:sp>
        <p:nvSpPr>
          <p:cNvPr id="111" name="Oval 12 (gen)"/>
          <p:cNvSpPr/>
          <p:nvPr/>
        </p:nvSpPr>
        <p:spPr>
          <a:xfrm>
            <a:off x="10315411" y="2560320"/>
            <a:ext cx="384048" cy="384048"/>
          </a:xfrm>
          <a:prstGeom prst="ellipse">
            <a:avLst/>
          </a:prstGeom>
          <a:solidFill>
            <a:srgbClr val="88A85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1F2E18"/>
                </a:solidFill>
                <a:latin typeface="72 Condensed"/>
              </a:rPr>
              <a:t>13</a:t>
            </a:r>
          </a:p>
        </p:txBody>
      </p:sp>
      <p:sp>
        <p:nvSpPr>
          <p:cNvPr id="112" name="TextBox 13 (gen)"/>
          <p:cNvSpPr txBox="1"/>
          <p:nvPr/>
        </p:nvSpPr>
        <p:spPr>
          <a:xfrm>
            <a:off x="10095955" y="2267712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C5DAA5"/>
                </a:solidFill>
                <a:latin typeface="72 Condensed"/>
              </a:rPr>
              <a:t>21/08</a:t>
            </a:r>
          </a:p>
        </p:txBody>
      </p:sp>
      <p:sp>
        <p:nvSpPr>
          <p:cNvPr id="113" name="TextBox 14 (gen)"/>
          <p:cNvSpPr txBox="1"/>
          <p:nvPr/>
        </p:nvSpPr>
        <p:spPr>
          <a:xfrm>
            <a:off x="10095955" y="3017520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DF0E2"/>
                </a:solidFill>
                <a:latin typeface="72 Condensed"/>
              </a:rPr>
              <a:t>119 DDS</a:t>
            </a:r>
          </a:p>
        </p:txBody>
      </p:sp>
      <p:sp>
        <p:nvSpPr>
          <p:cNvPr id="114" name="TextBox 15 (gen)"/>
          <p:cNvSpPr txBox="1"/>
          <p:nvPr/>
        </p:nvSpPr>
        <p:spPr>
          <a:xfrm>
            <a:off x="10123387" y="3218687"/>
            <a:ext cx="7680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Lote 1A</a:t>
            </a:r>
          </a:p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Agobio en mazorcas</a:t>
            </a:r>
          </a:p>
        </p:txBody>
      </p:sp>
      <p:sp>
        <p:nvSpPr>
          <p:cNvPr id="115" name="Oval 12 (gen)"/>
          <p:cNvSpPr/>
          <p:nvPr/>
        </p:nvSpPr>
        <p:spPr>
          <a:xfrm>
            <a:off x="11082854" y="2560320"/>
            <a:ext cx="384048" cy="384048"/>
          </a:xfrm>
          <a:prstGeom prst="ellipse">
            <a:avLst/>
          </a:prstGeom>
          <a:solidFill>
            <a:srgbClr val="88A85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1F2E18"/>
                </a:solidFill>
                <a:latin typeface="72 Condensed"/>
              </a:rPr>
              <a:t>14</a:t>
            </a:r>
          </a:p>
        </p:txBody>
      </p:sp>
      <p:sp>
        <p:nvSpPr>
          <p:cNvPr id="116" name="TextBox 13 (gen)"/>
          <p:cNvSpPr txBox="1"/>
          <p:nvPr/>
        </p:nvSpPr>
        <p:spPr>
          <a:xfrm>
            <a:off x="10863398" y="2267712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C5DAA5"/>
                </a:solidFill>
                <a:latin typeface="72 Condensed"/>
              </a:rPr>
              <a:t>26/08</a:t>
            </a:r>
          </a:p>
        </p:txBody>
      </p:sp>
      <p:sp>
        <p:nvSpPr>
          <p:cNvPr id="117" name="TextBox 14 (gen)"/>
          <p:cNvSpPr txBox="1"/>
          <p:nvPr/>
        </p:nvSpPr>
        <p:spPr>
          <a:xfrm>
            <a:off x="10863398" y="3017520"/>
            <a:ext cx="822960" cy="1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EDF0E2"/>
                </a:solidFill>
                <a:latin typeface="72 Condensed"/>
              </a:rPr>
              <a:t>126 DDS</a:t>
            </a:r>
          </a:p>
        </p:txBody>
      </p:sp>
      <p:sp>
        <p:nvSpPr>
          <p:cNvPr id="118" name="TextBox 15 (gen)"/>
          <p:cNvSpPr txBox="1"/>
          <p:nvPr/>
        </p:nvSpPr>
        <p:spPr>
          <a:xfrm>
            <a:off x="10890830" y="3218687"/>
            <a:ext cx="76809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Lote 9</a:t>
            </a:r>
          </a:p>
          <a:p>
            <a:pPr algn="ctr"/>
            <a:r>
              <a:rPr sz="850" b="1" i="0">
                <a:solidFill>
                  <a:srgbClr val="EDF0E2"/>
                </a:solidFill>
                <a:latin typeface="72 Condensed"/>
              </a:rPr>
              <a:t>Muestreo de malezas (I+D)</a:t>
            </a:r>
          </a:p>
        </p:txBody>
      </p:sp>
      <p:sp>
        <p:nvSpPr>
          <p:cNvPr id="119" name="TextBox 5 (gen)"/>
          <p:cNvSpPr txBox="1"/>
          <p:nvPr/>
        </p:nvSpPr>
        <p:spPr>
          <a:xfrm>
            <a:off x="4111534" y="1554480"/>
            <a:ext cx="128016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 spc="300" dirty="0">
                <a:solidFill>
                  <a:srgbClr val="8FB06A"/>
                </a:solidFill>
                <a:latin typeface="72 Condensed"/>
              </a:rPr>
              <a:t>MAYO</a:t>
            </a:r>
          </a:p>
        </p:txBody>
      </p:sp>
      <p:sp>
        <p:nvSpPr>
          <p:cNvPr id="120" name="TextBox 5 (gen)"/>
          <p:cNvSpPr txBox="1"/>
          <p:nvPr/>
        </p:nvSpPr>
        <p:spPr>
          <a:xfrm>
            <a:off x="8332470" y="1554480"/>
            <a:ext cx="128016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 spc="300" dirty="0">
                <a:solidFill>
                  <a:srgbClr val="8FB06A"/>
                </a:solidFill>
                <a:latin typeface="72 Condensed"/>
              </a:rPr>
              <a:t>JUNIO</a:t>
            </a:r>
          </a:p>
        </p:txBody>
      </p:sp>
      <p:sp>
        <p:nvSpPr>
          <p:cNvPr id="121" name="Rectangle 8 (gen)"/>
          <p:cNvSpPr/>
          <p:nvPr/>
        </p:nvSpPr>
        <p:spPr>
          <a:xfrm>
            <a:off x="8588828" y="1554480"/>
            <a:ext cx="12700" cy="2194560"/>
          </a:xfrm>
          <a:prstGeom prst="rect">
            <a:avLst/>
          </a:prstGeom>
          <a:solidFill>
            <a:srgbClr val="5E7A45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22" name="TextBox 5 (gen)"/>
          <p:cNvSpPr txBox="1"/>
          <p:nvPr/>
        </p:nvSpPr>
        <p:spPr>
          <a:xfrm>
            <a:off x="9099912" y="1554480"/>
            <a:ext cx="128016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 spc="300" dirty="0">
                <a:solidFill>
                  <a:srgbClr val="8FB06A"/>
                </a:solidFill>
                <a:latin typeface="72 Condensed"/>
              </a:rPr>
              <a:t>JULIO</a:t>
            </a:r>
          </a:p>
        </p:txBody>
      </p:sp>
      <p:sp>
        <p:nvSpPr>
          <p:cNvPr id="123" name="Rectangle 8 (gen)"/>
          <p:cNvSpPr/>
          <p:nvPr/>
        </p:nvSpPr>
        <p:spPr>
          <a:xfrm>
            <a:off x="9356271" y="1554480"/>
            <a:ext cx="12700" cy="2194560"/>
          </a:xfrm>
          <a:prstGeom prst="rect">
            <a:avLst/>
          </a:prstGeom>
          <a:solidFill>
            <a:srgbClr val="5E7A45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24" name="TextBox 5 (gen)"/>
          <p:cNvSpPr txBox="1"/>
          <p:nvPr/>
        </p:nvSpPr>
        <p:spPr>
          <a:xfrm>
            <a:off x="10251077" y="1554480"/>
            <a:ext cx="128016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 spc="300" dirty="0">
                <a:solidFill>
                  <a:srgbClr val="8FB06A"/>
                </a:solidFill>
                <a:latin typeface="72 Condensed"/>
              </a:rPr>
              <a:t>AGOSTO</a:t>
            </a:r>
          </a:p>
        </p:txBody>
      </p:sp>
      <p:sp>
        <p:nvSpPr>
          <p:cNvPr id="125" name="Rectangle 8 (gen)"/>
          <p:cNvSpPr/>
          <p:nvPr/>
        </p:nvSpPr>
        <p:spPr>
          <a:xfrm>
            <a:off x="10123714" y="1554480"/>
            <a:ext cx="12700" cy="2194560"/>
          </a:xfrm>
          <a:prstGeom prst="rect">
            <a:avLst/>
          </a:prstGeom>
          <a:solidFill>
            <a:srgbClr val="5E7A45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21">
            <a:extLst>
              <a:ext uri="{FF2B5EF4-FFF2-40B4-BE49-F238E27FC236}">
                <a16:creationId xmlns:a16="http://schemas.microsoft.com/office/drawing/2014/main" id="{777B6228-C893-6AAA-68B5-21D59DDBC55E}"/>
              </a:ext>
            </a:extLst>
          </p:cNvPr>
          <p:cNvSpPr txBox="1"/>
          <p:nvPr/>
        </p:nvSpPr>
        <p:spPr>
          <a:xfrm>
            <a:off x="9336088" y="0"/>
            <a:ext cx="2855908" cy="369335"/>
          </a:xfrm>
          <a:prstGeom prst="rect">
            <a:avLst/>
          </a:prstGeom>
          <a:solidFill>
            <a:srgbClr val="324425"/>
          </a:solidFill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1" u="none" strike="noStrike" kern="1200" cap="none" spc="0" baseline="0">
                <a:solidFill>
                  <a:srgbClr val="FFFFFF"/>
                </a:solidFill>
                <a:uFillTx/>
                <a:latin typeface="72 Condensed" pitchFamily="34"/>
                <a:cs typeface="72 Condensed" pitchFamily="34"/>
              </a:rPr>
              <a:t>CLIMA</a:t>
            </a:r>
          </a:p>
        </p:txBody>
      </p:sp>
      <p:sp>
        <p:nvSpPr>
          <p:cNvPr id="3" name="CuadroTexto 3">
            <a:extLst>
              <a:ext uri="{FF2B5EF4-FFF2-40B4-BE49-F238E27FC236}">
                <a16:creationId xmlns:a16="http://schemas.microsoft.com/office/drawing/2014/main" id="{031511F3-7B30-8276-0290-459FFF60F55A}"/>
              </a:ext>
            </a:extLst>
          </p:cNvPr>
          <p:cNvSpPr txBox="1"/>
          <p:nvPr/>
        </p:nvSpPr>
        <p:spPr>
          <a:xfrm>
            <a:off x="228600" y="811767"/>
            <a:ext cx="3594104" cy="36933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0" u="none" strike="noStrike" kern="1200" cap="none" spc="0" baseline="0">
                <a:solidFill>
                  <a:srgbClr val="34506B"/>
                </a:solidFill>
                <a:uFillTx/>
                <a:latin typeface="72 Condensed" pitchFamily="34"/>
                <a:cs typeface="72 Condensed" pitchFamily="34"/>
              </a:rPr>
              <a:t>COMPORTAMIENTO DE LA LLUVIA</a:t>
            </a:r>
          </a:p>
        </p:txBody>
      </p:sp>
      <p:sp>
        <p:nvSpPr>
          <p:cNvPr id="4" name="TextBox 24">
            <a:extLst>
              <a:ext uri="{FF2B5EF4-FFF2-40B4-BE49-F238E27FC236}">
                <a16:creationId xmlns:a16="http://schemas.microsoft.com/office/drawing/2014/main" id="{165382EC-3858-6B0A-F15E-4BF40D29D1A6}"/>
              </a:ext>
            </a:extLst>
          </p:cNvPr>
          <p:cNvSpPr txBox="1"/>
          <p:nvPr/>
        </p:nvSpPr>
        <p:spPr>
          <a:xfrm>
            <a:off x="228600" y="240404"/>
            <a:ext cx="11640001" cy="2462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45720" rIns="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000" b="0" i="0" u="none" strike="noStrike" kern="1200" cap="none" spc="0" baseline="0">
                <a:solidFill>
                  <a:srgbClr val="2A2A2A"/>
                </a:solidFill>
                <a:uFillTx/>
                <a:latin typeface="72 Condensed"/>
              </a:rPr>
              <a:t>Fuente: estación meteorológica P10-Turen Las Cúpulas-Saturno, la estación Saturno asignada a la finca de Angela.</a:t>
            </a:r>
          </a:p>
        </p:txBody>
      </p:sp>
      <p:pic>
        <p:nvPicPr>
          <p:cNvPr id="5" name="Imagen 2">
            <a:extLst>
              <a:ext uri="{FF2B5EF4-FFF2-40B4-BE49-F238E27FC236}">
                <a16:creationId xmlns:a16="http://schemas.microsoft.com/office/drawing/2014/main" id="{71DAE0F0-307D-4DC1-7210-B5681D7498F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283464" y="1627632"/>
            <a:ext cx="11640312" cy="3063240"/>
          </a:xfrm>
          <a:prstGeom prst="rect">
            <a:avLst/>
          </a:prstGeom>
          <a:noFill/>
          <a:ln cap="flat">
            <a:noFill/>
          </a:ln>
        </p:spPr>
      </p:pic>
      <p:cxnSp>
        <p:nvCxnSpPr>
          <p:cNvPr id="8" name="Conector recto 16">
            <a:extLst>
              <a:ext uri="{FF2B5EF4-FFF2-40B4-BE49-F238E27FC236}">
                <a16:creationId xmlns:a16="http://schemas.microsoft.com/office/drawing/2014/main" id="{42E9A576-A977-AE1A-CFE2-000D18FB6203}"/>
              </a:ext>
            </a:extLst>
          </p:cNvPr>
          <p:cNvCxnSpPr/>
          <p:nvPr/>
        </p:nvCxnSpPr>
        <p:spPr>
          <a:xfrm>
            <a:off x="2048000" y="5292090"/>
            <a:ext cx="285750" cy="0"/>
          </a:xfrm>
          <a:prstGeom prst="straightConnector1">
            <a:avLst/>
          </a:prstGeom>
          <a:noFill/>
          <a:ln w="38103" cap="flat">
            <a:solidFill>
              <a:srgbClr val="5F7F3F"/>
            </a:solidFill>
            <a:prstDash val="solid"/>
            <a:miter/>
          </a:ln>
        </p:spPr>
      </p:cxnSp>
      <p:cxnSp>
        <p:nvCxnSpPr>
          <p:cNvPr id="9" name="Conector recto 17">
            <a:extLst>
              <a:ext uri="{FF2B5EF4-FFF2-40B4-BE49-F238E27FC236}">
                <a16:creationId xmlns:a16="http://schemas.microsoft.com/office/drawing/2014/main" id="{7B72BA6D-712A-751F-262E-5B3E24152B59}"/>
              </a:ext>
            </a:extLst>
          </p:cNvPr>
          <p:cNvCxnSpPr/>
          <p:nvPr/>
        </p:nvCxnSpPr>
        <p:spPr>
          <a:xfrm>
            <a:off x="3823464" y="5295903"/>
            <a:ext cx="285750" cy="0"/>
          </a:xfrm>
          <a:prstGeom prst="straightConnector1">
            <a:avLst/>
          </a:prstGeom>
          <a:noFill/>
          <a:ln w="38103" cap="flat">
            <a:solidFill>
              <a:srgbClr val="5F7F3F"/>
            </a:solidFill>
            <a:custDash>
              <a:ds d="299976" sp="299976"/>
            </a:custDash>
            <a:miter/>
          </a:ln>
        </p:spPr>
      </p:cxnSp>
      <p:sp>
        <p:nvSpPr>
          <p:cNvPr id="10" name="CuadroTexto 18">
            <a:extLst>
              <a:ext uri="{FF2B5EF4-FFF2-40B4-BE49-F238E27FC236}">
                <a16:creationId xmlns:a16="http://schemas.microsoft.com/office/drawing/2014/main" id="{3B279626-0FB1-6468-596A-45FF2F0AF0D6}"/>
              </a:ext>
            </a:extLst>
          </p:cNvPr>
          <p:cNvSpPr txBox="1"/>
          <p:nvPr/>
        </p:nvSpPr>
        <p:spPr>
          <a:xfrm>
            <a:off x="2333750" y="5144542"/>
            <a:ext cx="1588770" cy="30777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400" b="0" i="0" u="none" strike="noStrike" kern="1200" cap="none" spc="0" baseline="0">
                <a:solidFill>
                  <a:srgbClr val="000000"/>
                </a:solidFill>
                <a:uFillTx/>
                <a:latin typeface="72 Condensed" pitchFamily="34"/>
                <a:cs typeface="72 Condensed" pitchFamily="34"/>
              </a:rPr>
              <a:t>Lluvia real</a:t>
            </a:r>
          </a:p>
        </p:txBody>
      </p:sp>
      <p:sp>
        <p:nvSpPr>
          <p:cNvPr id="11" name="CuadroTexto 20">
            <a:extLst>
              <a:ext uri="{FF2B5EF4-FFF2-40B4-BE49-F238E27FC236}">
                <a16:creationId xmlns:a16="http://schemas.microsoft.com/office/drawing/2014/main" id="{4747AB0C-A8C7-E69E-E60E-39B9EE95BBB5}"/>
              </a:ext>
            </a:extLst>
          </p:cNvPr>
          <p:cNvSpPr txBox="1"/>
          <p:nvPr/>
        </p:nvSpPr>
        <p:spPr>
          <a:xfrm>
            <a:off x="4049750" y="5138196"/>
            <a:ext cx="1588770" cy="30777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400" b="0" i="0" u="none" strike="noStrike" kern="1200" cap="none" spc="0" baseline="0" dirty="0">
                <a:solidFill>
                  <a:srgbClr val="000000"/>
                </a:solidFill>
                <a:uFillTx/>
                <a:latin typeface="72 Condensed" pitchFamily="34"/>
                <a:cs typeface="72 Condensed" pitchFamily="34"/>
              </a:rPr>
              <a:t>Lluvia </a:t>
            </a:r>
            <a:r>
              <a:rPr lang="en-GB" sz="1400" b="0" i="0" u="none" strike="noStrike" kern="1200" cap="none" spc="0" baseline="0" dirty="0" err="1">
                <a:solidFill>
                  <a:srgbClr val="000000"/>
                </a:solidFill>
                <a:uFillTx/>
                <a:latin typeface="72 Condensed" pitchFamily="34"/>
                <a:cs typeface="72 Condensed" pitchFamily="34"/>
              </a:rPr>
              <a:t>estimada</a:t>
            </a:r>
            <a:endParaRPr lang="en-GB" sz="1400" b="0" i="0" u="none" strike="noStrike" kern="1200" cap="none" spc="0" baseline="0" dirty="0">
              <a:solidFill>
                <a:srgbClr val="000000"/>
              </a:solidFill>
              <a:uFillTx/>
              <a:latin typeface="72 Condensed" pitchFamily="34"/>
              <a:cs typeface="72 Condensed" pitchFamily="34"/>
            </a:endParaRPr>
          </a:p>
        </p:txBody>
      </p:sp>
      <p:cxnSp>
        <p:nvCxnSpPr>
          <p:cNvPr id="15" name="Conector recto 17">
            <a:extLst>
              <a:ext uri="{FF2B5EF4-FFF2-40B4-BE49-F238E27FC236}">
                <a16:creationId xmlns:a16="http://schemas.microsoft.com/office/drawing/2014/main" id="{690A2A59-900B-3174-E25C-C74CA53E8F1B}"/>
              </a:ext>
            </a:extLst>
          </p:cNvPr>
          <p:cNvCxnSpPr>
            <a:cxnSpLocks/>
          </p:cNvCxnSpPr>
          <p:nvPr/>
        </p:nvCxnSpPr>
        <p:spPr>
          <a:xfrm>
            <a:off x="5448109" y="5300590"/>
            <a:ext cx="210283" cy="0"/>
          </a:xfrm>
          <a:prstGeom prst="straightConnector1">
            <a:avLst/>
          </a:prstGeom>
          <a:ln w="19050" cap="flat" cmpd="sng" algn="ctr">
            <a:solidFill>
              <a:schemeClr val="accent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6" name="CuadroTexto 20">
            <a:extLst>
              <a:ext uri="{FF2B5EF4-FFF2-40B4-BE49-F238E27FC236}">
                <a16:creationId xmlns:a16="http://schemas.microsoft.com/office/drawing/2014/main" id="{490C6BAA-6B4D-1960-424D-AF27D0130C1E}"/>
              </a:ext>
            </a:extLst>
          </p:cNvPr>
          <p:cNvSpPr txBox="1"/>
          <p:nvPr/>
        </p:nvSpPr>
        <p:spPr>
          <a:xfrm>
            <a:off x="5598928" y="5142883"/>
            <a:ext cx="1588770" cy="30777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400" b="0" i="0" u="none" strike="noStrike" kern="1200" cap="none" spc="0" baseline="0" dirty="0" err="1">
                <a:solidFill>
                  <a:srgbClr val="000000"/>
                </a:solidFill>
                <a:uFillTx/>
                <a:latin typeface="72 Condensed" pitchFamily="34"/>
                <a:cs typeface="72 Condensed" pitchFamily="34"/>
              </a:rPr>
              <a:t>Siembra</a:t>
            </a:r>
            <a:endParaRPr lang="en-GB" sz="1400" b="0" i="0" u="none" strike="noStrike" kern="1200" cap="none" spc="0" baseline="0" dirty="0">
              <a:solidFill>
                <a:srgbClr val="000000"/>
              </a:solidFill>
              <a:uFillTx/>
              <a:latin typeface="72 Condensed" pitchFamily="34"/>
              <a:cs typeface="72 Condensed" pitchFamily="34"/>
            </a:endParaRPr>
          </a:p>
        </p:txBody>
      </p:sp>
      <p:cxnSp>
        <p:nvCxnSpPr>
          <p:cNvPr id="19" name="Conector recto 17">
            <a:extLst>
              <a:ext uri="{FF2B5EF4-FFF2-40B4-BE49-F238E27FC236}">
                <a16:creationId xmlns:a16="http://schemas.microsoft.com/office/drawing/2014/main" id="{E44C4943-812A-9550-F904-E5A1A522900B}"/>
              </a:ext>
            </a:extLst>
          </p:cNvPr>
          <p:cNvCxnSpPr>
            <a:cxnSpLocks/>
          </p:cNvCxnSpPr>
          <p:nvPr/>
        </p:nvCxnSpPr>
        <p:spPr>
          <a:xfrm>
            <a:off x="6402663" y="5291101"/>
            <a:ext cx="210283" cy="0"/>
          </a:xfrm>
          <a:prstGeom prst="straightConnector1">
            <a:avLst/>
          </a:prstGeom>
          <a:ln w="19050" cap="flat" cmpd="sng" algn="ctr">
            <a:solidFill>
              <a:schemeClr val="accent2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0" name="CuadroTexto 20">
            <a:extLst>
              <a:ext uri="{FF2B5EF4-FFF2-40B4-BE49-F238E27FC236}">
                <a16:creationId xmlns:a16="http://schemas.microsoft.com/office/drawing/2014/main" id="{A2A0D901-7FE8-1A76-DA12-7680B6A866D3}"/>
              </a:ext>
            </a:extLst>
          </p:cNvPr>
          <p:cNvSpPr txBox="1"/>
          <p:nvPr/>
        </p:nvSpPr>
        <p:spPr>
          <a:xfrm>
            <a:off x="6553482" y="5133394"/>
            <a:ext cx="1588770" cy="30777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400" b="0" i="0" u="none" strike="noStrike" kern="1200" cap="none" spc="0" baseline="0" dirty="0" err="1">
                <a:solidFill>
                  <a:srgbClr val="000000"/>
                </a:solidFill>
                <a:uFillTx/>
                <a:latin typeface="72 Condensed" pitchFamily="34"/>
                <a:cs typeface="72 Condensed" pitchFamily="34"/>
              </a:rPr>
              <a:t>Floración</a:t>
            </a:r>
            <a:endParaRPr lang="en-GB" sz="1400" b="0" i="0" u="none" strike="noStrike" kern="1200" cap="none" spc="0" baseline="0" dirty="0">
              <a:solidFill>
                <a:srgbClr val="000000"/>
              </a:solidFill>
              <a:uFillTx/>
              <a:latin typeface="72 Condensed" pitchFamily="34"/>
              <a:cs typeface="72 Condensed" pitchFamily="34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1097280" y="5577840"/>
            <a:ext cx="23774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34439" y="5623560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6B7560"/>
                </a:solidFill>
                <a:latin typeface="72 Condensed"/>
              </a:rPr>
              <a:t>LOTES MOSTRADOS</a:t>
            </a:r>
          </a:p>
          <a:p>
            <a:r>
              <a:rPr sz="1700" b="1">
                <a:solidFill>
                  <a:srgbClr val="1F2E18"/>
                </a:solidFill>
                <a:latin typeface="72 Condensed"/>
              </a:rPr>
              <a:t>11</a:t>
            </a:r>
          </a:p>
          <a:p>
            <a:r>
              <a:rPr sz="800" b="0">
                <a:solidFill>
                  <a:srgbClr val="6B7560"/>
                </a:solidFill>
                <a:latin typeface="72 Condensed"/>
              </a:rPr>
              <a:t>con la misma estación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5577840"/>
            <a:ext cx="23774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94760" y="5623560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6B7560"/>
                </a:solidFill>
                <a:latin typeface="72 Condensed"/>
              </a:rPr>
              <a:t>LLUVIA EN EL CICLO</a:t>
            </a:r>
          </a:p>
          <a:p>
            <a:r>
              <a:rPr sz="1700" b="1">
                <a:solidFill>
                  <a:srgbClr val="1F2E18"/>
                </a:solidFill>
                <a:latin typeface="72 Condensed"/>
              </a:rPr>
              <a:t>1.587,0 mm</a:t>
            </a:r>
          </a:p>
          <a:p>
            <a:r>
              <a:rPr sz="800" b="0">
                <a:solidFill>
                  <a:srgbClr val="6B7560"/>
                </a:solidFill>
                <a:latin typeface="72 Condensed"/>
              </a:rPr>
              <a:t>desde la siembra a hoy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5577840"/>
            <a:ext cx="23774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80" y="5623560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6B7560"/>
                </a:solidFill>
                <a:latin typeface="72 Condensed"/>
              </a:rPr>
              <a:t>LLUVIA EN FLORACIÓN</a:t>
            </a:r>
          </a:p>
          <a:p>
            <a:r>
              <a:rPr sz="1700" b="1">
                <a:solidFill>
                  <a:srgbClr val="1F2E18"/>
                </a:solidFill>
                <a:latin typeface="72 Condensed"/>
              </a:rPr>
              <a:t>208 – 316 mm</a:t>
            </a:r>
          </a:p>
          <a:p>
            <a:r>
              <a:rPr sz="800" b="0">
                <a:solidFill>
                  <a:srgbClr val="6B7560"/>
                </a:solidFill>
                <a:latin typeface="72 Condensed"/>
              </a:rPr>
              <a:t>meta 140 mm en 30 días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78240" y="5577840"/>
            <a:ext cx="23774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2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15400" y="5623560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6B7560"/>
                </a:solidFill>
                <a:latin typeface="72 Condensed"/>
              </a:rPr>
              <a:t>RACHA SECA MÁXIMA</a:t>
            </a:r>
          </a:p>
          <a:p>
            <a:r>
              <a:rPr sz="1700" b="1">
                <a:solidFill>
                  <a:srgbClr val="1F2E18"/>
                </a:solidFill>
                <a:latin typeface="72 Condensed"/>
              </a:rPr>
              <a:t>3 días</a:t>
            </a:r>
          </a:p>
          <a:p>
            <a:r>
              <a:rPr sz="800" b="0">
                <a:solidFill>
                  <a:srgbClr val="6B7560"/>
                </a:solidFill>
                <a:latin typeface="72 Condensed"/>
              </a:rPr>
              <a:t>en la ventana de floración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21474833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1">
            <a:extLst>
              <a:ext uri="{FF2B5EF4-FFF2-40B4-BE49-F238E27FC236}">
                <a16:creationId xmlns:a16="http://schemas.microsoft.com/office/drawing/2014/main" id="{0A539D16-4290-F9B4-C327-056B1AC8B29B}"/>
              </a:ext>
            </a:extLst>
          </p:cNvPr>
          <p:cNvSpPr txBox="1"/>
          <p:nvPr/>
        </p:nvSpPr>
        <p:spPr>
          <a:xfrm>
            <a:off x="9347197" y="0"/>
            <a:ext cx="2844798" cy="369335"/>
          </a:xfrm>
          <a:prstGeom prst="rect">
            <a:avLst/>
          </a:prstGeom>
          <a:solidFill>
            <a:srgbClr val="324425"/>
          </a:solidFill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1" u="none" strike="noStrike" kern="1200" cap="none" spc="0" baseline="0">
                <a:solidFill>
                  <a:srgbClr val="FFFFFF"/>
                </a:solidFill>
                <a:uFillTx/>
                <a:latin typeface="72 Condensed" pitchFamily="34"/>
                <a:cs typeface="72 Condensed" pitchFamily="34"/>
              </a:rPr>
              <a:t>FORMACIONES</a:t>
            </a:r>
          </a:p>
        </p:txBody>
      </p:sp>
      <p:sp>
        <p:nvSpPr>
          <p:cNvPr id="3" name="TextBox 143">
            <a:extLst>
              <a:ext uri="{FF2B5EF4-FFF2-40B4-BE49-F238E27FC236}">
                <a16:creationId xmlns:a16="http://schemas.microsoft.com/office/drawing/2014/main" id="{8B583E48-6A76-A959-E8FF-F9D4C3308C1C}"/>
              </a:ext>
            </a:extLst>
          </p:cNvPr>
          <p:cNvSpPr txBox="1"/>
          <p:nvPr/>
        </p:nvSpPr>
        <p:spPr>
          <a:xfrm>
            <a:off x="297180" y="566928"/>
            <a:ext cx="5943600" cy="3200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FORMACIONES EJECUTADAS EN EL CICLO</a:t>
            </a:r>
          </a:p>
        </p:txBody>
      </p:sp>
      <p:sp>
        <p:nvSpPr>
          <p:cNvPr id="4" name="TextBox 144">
            <a:extLst>
              <a:ext uri="{FF2B5EF4-FFF2-40B4-BE49-F238E27FC236}">
                <a16:creationId xmlns:a16="http://schemas.microsoft.com/office/drawing/2014/main" id="{A78D2BCB-669C-00A3-70E0-656E1CB24CFE}"/>
              </a:ext>
            </a:extLst>
          </p:cNvPr>
          <p:cNvSpPr txBox="1"/>
          <p:nvPr/>
        </p:nvSpPr>
        <p:spPr>
          <a:xfrm>
            <a:off x="297180" y="896112"/>
            <a:ext cx="594360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Tamaño del círculo = horas de formación · en orden cronológico</a:t>
            </a:r>
          </a:p>
        </p:txBody>
      </p:sp>
      <p:grpSp>
        <p:nvGrpSpPr>
          <p:cNvPr id="5" name="Grupo 45">
            <a:extLst>
              <a:ext uri="{FF2B5EF4-FFF2-40B4-BE49-F238E27FC236}">
                <a16:creationId xmlns:a16="http://schemas.microsoft.com/office/drawing/2014/main" id="{CC4BAA06-32C1-18DC-950D-880ADF473A1D}"/>
              </a:ext>
            </a:extLst>
          </p:cNvPr>
          <p:cNvGrpSpPr/>
          <p:nvPr/>
        </p:nvGrpSpPr>
        <p:grpSpPr>
          <a:xfrm>
            <a:off x="297180" y="2061633"/>
            <a:ext cx="5535713" cy="1835658"/>
            <a:chOff x="297180" y="2061633"/>
            <a:chExt cx="5535713" cy="1835658"/>
          </a:xfrm>
        </p:grpSpPr>
        <p:grpSp>
          <p:nvGrpSpPr>
            <p:cNvPr id="6" name="Grupo 10">
              <a:extLst>
                <a:ext uri="{FF2B5EF4-FFF2-40B4-BE49-F238E27FC236}">
                  <a16:creationId xmlns:a16="http://schemas.microsoft.com/office/drawing/2014/main" id="{EB6F0B59-5F69-D1ED-2989-30970A766F6F}"/>
                </a:ext>
              </a:extLst>
            </p:cNvPr>
            <p:cNvGrpSpPr/>
            <p:nvPr/>
          </p:nvGrpSpPr>
          <p:grpSpPr>
            <a:xfrm>
              <a:off x="297180" y="2061633"/>
              <a:ext cx="1417320" cy="274320"/>
              <a:chOff x="297180" y="2061633"/>
              <a:chExt cx="1417320" cy="274320"/>
            </a:xfrm>
          </p:grpSpPr>
          <p:sp>
            <p:nvSpPr>
              <p:cNvPr id="7" name="Oval 145">
                <a:extLst>
                  <a:ext uri="{FF2B5EF4-FFF2-40B4-BE49-F238E27FC236}">
                    <a16:creationId xmlns:a16="http://schemas.microsoft.com/office/drawing/2014/main" id="{9BBCEB91-8A87-C34B-AEE1-BC1073833946}"/>
                  </a:ext>
                </a:extLst>
              </p:cNvPr>
              <p:cNvSpPr/>
              <p:nvPr/>
            </p:nvSpPr>
            <p:spPr>
              <a:xfrm>
                <a:off x="297180" y="2116497"/>
                <a:ext cx="164592" cy="164592"/>
              </a:xfrm>
              <a:custGeom>
                <a:avLst/>
                <a:gdLst>
                  <a:gd name="f0" fmla="val 21600000"/>
                  <a:gd name="f1" fmla="val 10800000"/>
                  <a:gd name="f2" fmla="val 5400000"/>
                  <a:gd name="f3" fmla="val 180"/>
                  <a:gd name="f4" fmla="val w"/>
                  <a:gd name="f5" fmla="val h"/>
                  <a:gd name="f6" fmla="val ss"/>
                  <a:gd name="f7" fmla="val 0"/>
                  <a:gd name="f8" fmla="*/ 5419351 1 1725033"/>
                  <a:gd name="f9" fmla="+- 0 0 -360"/>
                  <a:gd name="f10" fmla="+- 0 0 -180"/>
                  <a:gd name="f11" fmla="abs f4"/>
                  <a:gd name="f12" fmla="abs f5"/>
                  <a:gd name="f13" fmla="abs f6"/>
                  <a:gd name="f14" fmla="val f7"/>
                  <a:gd name="f15" fmla="+- 2700000 f2 0"/>
                  <a:gd name="f16" fmla="*/ f9 f1 1"/>
                  <a:gd name="f17" fmla="*/ f10 f1 1"/>
                  <a:gd name="f18" fmla="?: f11 f4 1"/>
                  <a:gd name="f19" fmla="?: f12 f5 1"/>
                  <a:gd name="f20" fmla="?: f13 f6 1"/>
                  <a:gd name="f21" fmla="*/ f15 f8 1"/>
                  <a:gd name="f22" fmla="*/ f16 1 f3"/>
                  <a:gd name="f23" fmla="*/ f17 1 f3"/>
                  <a:gd name="f24" fmla="*/ f18 1 21600"/>
                  <a:gd name="f25" fmla="*/ f19 1 21600"/>
                  <a:gd name="f26" fmla="*/ 21600 f18 1"/>
                  <a:gd name="f27" fmla="*/ 21600 f19 1"/>
                  <a:gd name="f28" fmla="*/ f21 1 f1"/>
                  <a:gd name="f29" fmla="+- f22 0 f2"/>
                  <a:gd name="f30" fmla="+- f23 0 f2"/>
                  <a:gd name="f31" fmla="min f25 f24"/>
                  <a:gd name="f32" fmla="*/ f26 1 f20"/>
                  <a:gd name="f33" fmla="*/ f27 1 f20"/>
                  <a:gd name="f34" fmla="+- 0 0 f28"/>
                  <a:gd name="f35" fmla="val f32"/>
                  <a:gd name="f36" fmla="val f33"/>
                  <a:gd name="f37" fmla="+- 0 0 f34"/>
                  <a:gd name="f38" fmla="*/ f14 f31 1"/>
                  <a:gd name="f39" fmla="+- f36 0 f14"/>
                  <a:gd name="f40" fmla="+- f35 0 f14"/>
                  <a:gd name="f41" fmla="*/ f37 f1 1"/>
                  <a:gd name="f42" fmla="*/ f39 1 2"/>
                  <a:gd name="f43" fmla="*/ f40 1 2"/>
                  <a:gd name="f44" fmla="*/ f41 1 f8"/>
                  <a:gd name="f45" fmla="+- f14 f42 0"/>
                  <a:gd name="f46" fmla="+- f14 f43 0"/>
                  <a:gd name="f47" fmla="+- f44 0 f2"/>
                  <a:gd name="f48" fmla="*/ f43 f31 1"/>
                  <a:gd name="f49" fmla="*/ f42 f31 1"/>
                  <a:gd name="f50" fmla="cos 1 f47"/>
                  <a:gd name="f51" fmla="sin 1 f47"/>
                  <a:gd name="f52" fmla="*/ f45 f31 1"/>
                  <a:gd name="f53" fmla="+- 0 0 f50"/>
                  <a:gd name="f54" fmla="+- 0 0 f51"/>
                  <a:gd name="f55" fmla="+- 0 0 f53"/>
                  <a:gd name="f56" fmla="+- 0 0 f54"/>
                  <a:gd name="f57" fmla="*/ f55 f43 1"/>
                  <a:gd name="f58" fmla="*/ f56 f42 1"/>
                  <a:gd name="f59" fmla="+- f46 0 f57"/>
                  <a:gd name="f60" fmla="+- f46 f57 0"/>
                  <a:gd name="f61" fmla="+- f45 0 f58"/>
                  <a:gd name="f62" fmla="+- f45 f58 0"/>
                  <a:gd name="f63" fmla="*/ f59 f31 1"/>
                  <a:gd name="f64" fmla="*/ f61 f31 1"/>
                  <a:gd name="f65" fmla="*/ f60 f31 1"/>
                  <a:gd name="f66" fmla="*/ f62 f31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  <a:cxn ang="f29">
                    <a:pos x="f63" y="f64"/>
                  </a:cxn>
                  <a:cxn ang="f30">
                    <a:pos x="f63" y="f66"/>
                  </a:cxn>
                  <a:cxn ang="f30">
                    <a:pos x="f65" y="f66"/>
                  </a:cxn>
                  <a:cxn ang="f29">
                    <a:pos x="f65" y="f64"/>
                  </a:cxn>
                </a:cxnLst>
                <a:rect l="f63" t="f64" r="f65" b="f66"/>
                <a:pathLst>
                  <a:path>
                    <a:moveTo>
                      <a:pt x="f38" y="f52"/>
                    </a:moveTo>
                    <a:arcTo wR="f48" hR="f49" stAng="f1" swAng="f0"/>
                    <a:close/>
                  </a:path>
                </a:pathLst>
              </a:custGeom>
              <a:solidFill>
                <a:srgbClr val="4C6A35"/>
              </a:solidFill>
              <a:ln cap="flat">
                <a:noFill/>
                <a:prstDash val="solid"/>
              </a:ln>
            </p:spPr>
            <p:txBody>
              <a:bodyPr vert="horz" wrap="square" lIns="0" tIns="0" rIns="0" bIns="0" anchor="ctr" anchorCtr="1" compatLnSpc="1">
                <a:noAutofit/>
              </a:bodyPr>
              <a:lstStyle/>
              <a:p>
                <a:pPr marL="0" marR="0" lvl="0" indent="0" algn="ctr" defTabSz="914400" rtl="0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endParaRPr lang="en-US" sz="1800" b="0" i="0" u="none" strike="noStrike" kern="1200" cap="none" spc="0" baseline="0">
                  <a:solidFill>
                    <a:srgbClr val="FFFFFF"/>
                  </a:solidFill>
                  <a:uFillTx/>
                  <a:latin typeface="Aptos"/>
                </a:endParaRPr>
              </a:p>
            </p:txBody>
          </p:sp>
          <p:sp>
            <p:nvSpPr>
              <p:cNvPr id="8" name="TextBox 146">
                <a:extLst>
                  <a:ext uri="{FF2B5EF4-FFF2-40B4-BE49-F238E27FC236}">
                    <a16:creationId xmlns:a16="http://schemas.microsoft.com/office/drawing/2014/main" id="{74591A79-8DCB-8156-2326-31A979490509}"/>
                  </a:ext>
                </a:extLst>
              </p:cNvPr>
              <p:cNvSpPr txBox="1"/>
              <p:nvPr/>
            </p:nvSpPr>
            <p:spPr>
              <a:xfrm>
                <a:off x="525780" y="2061633"/>
                <a:ext cx="1188720" cy="274320"/>
              </a:xfrm>
              <a:prstGeom prst="rect">
                <a:avLst/>
              </a:prstGeom>
              <a:noFill/>
              <a:ln cap="flat">
                <a:noFill/>
              </a:ln>
            </p:spPr>
            <p:txBody>
              <a:bodyPr vert="horz" wrap="square" lIns="0" tIns="0" rIns="0" bIns="0" anchor="ctr" anchorCtr="0" compatLnSpc="1">
                <a:spAutoFit/>
              </a:bodyPr>
              <a:lstStyle/>
              <a:p>
                <a:pPr marL="0" marR="0" lvl="0" indent="0" algn="l" defTabSz="914400" rtl="0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US" sz="1100" b="0" i="0" u="none" strike="noStrike" kern="1200" cap="none" spc="0" baseline="0">
                    <a:solidFill>
                      <a:srgbClr val="1F2E18"/>
                    </a:solidFill>
                    <a:uFillTx/>
                    <a:latin typeface="72 Condensed"/>
                  </a:rPr>
                  <a:t>Técnicos</a:t>
                </a:r>
              </a:p>
            </p:txBody>
          </p:sp>
        </p:grpSp>
        <p:grpSp>
          <p:nvGrpSpPr>
            <p:cNvPr id="9" name="Grupo 15">
              <a:extLst>
                <a:ext uri="{FF2B5EF4-FFF2-40B4-BE49-F238E27FC236}">
                  <a16:creationId xmlns:a16="http://schemas.microsoft.com/office/drawing/2014/main" id="{80156F68-DE1F-467C-EA78-D67C179D2896}"/>
                </a:ext>
              </a:extLst>
            </p:cNvPr>
            <p:cNvGrpSpPr/>
            <p:nvPr/>
          </p:nvGrpSpPr>
          <p:grpSpPr>
            <a:xfrm>
              <a:off x="644652" y="2159931"/>
              <a:ext cx="5188241" cy="1737360"/>
              <a:chOff x="644652" y="2159931"/>
              <a:chExt cx="5188241" cy="1737360"/>
            </a:xfrm>
          </p:grpSpPr>
          <p:cxnSp>
            <p:nvCxnSpPr>
              <p:cNvPr id="10" name="Connector 149">
                <a:extLst>
                  <a:ext uri="{FF2B5EF4-FFF2-40B4-BE49-F238E27FC236}">
                    <a16:creationId xmlns:a16="http://schemas.microsoft.com/office/drawing/2014/main" id="{88D7ECF0-7AE0-E586-4B49-C07A4798F486}"/>
                  </a:ext>
                </a:extLst>
              </p:cNvPr>
              <p:cNvCxnSpPr>
                <a:endCxn id="21" idx="1"/>
              </p:cNvCxnSpPr>
              <p:nvPr/>
            </p:nvCxnSpPr>
            <p:spPr>
              <a:xfrm>
                <a:off x="1211580" y="3028611"/>
                <a:ext cx="4264478" cy="11431"/>
              </a:xfrm>
              <a:prstGeom prst="straightConnector1">
                <a:avLst/>
              </a:prstGeom>
              <a:noFill/>
              <a:ln w="25402" cap="flat">
                <a:solidFill>
                  <a:srgbClr val="A9B09C"/>
                </a:solidFill>
                <a:prstDash val="solid"/>
                <a:miter/>
              </a:ln>
            </p:spPr>
          </p:cxnSp>
          <p:sp>
            <p:nvSpPr>
              <p:cNvPr id="11" name="Oval 152">
                <a:extLst>
                  <a:ext uri="{FF2B5EF4-FFF2-40B4-BE49-F238E27FC236}">
                    <a16:creationId xmlns:a16="http://schemas.microsoft.com/office/drawing/2014/main" id="{26604307-FFC2-5C5B-E842-D1C001461B7A}"/>
                  </a:ext>
                </a:extLst>
              </p:cNvPr>
              <p:cNvSpPr/>
              <p:nvPr/>
            </p:nvSpPr>
            <p:spPr>
              <a:xfrm>
                <a:off x="827532" y="2644563"/>
                <a:ext cx="768096" cy="768096"/>
              </a:xfrm>
              <a:custGeom>
                <a:avLst/>
                <a:gdLst>
                  <a:gd name="f0" fmla="val 21600000"/>
                  <a:gd name="f1" fmla="val 10800000"/>
                  <a:gd name="f2" fmla="val 5400000"/>
                  <a:gd name="f3" fmla="val 180"/>
                  <a:gd name="f4" fmla="val w"/>
                  <a:gd name="f5" fmla="val h"/>
                  <a:gd name="f6" fmla="val ss"/>
                  <a:gd name="f7" fmla="val 0"/>
                  <a:gd name="f8" fmla="*/ 5419351 1 1725033"/>
                  <a:gd name="f9" fmla="+- 0 0 -360"/>
                  <a:gd name="f10" fmla="+- 0 0 -180"/>
                  <a:gd name="f11" fmla="abs f4"/>
                  <a:gd name="f12" fmla="abs f5"/>
                  <a:gd name="f13" fmla="abs f6"/>
                  <a:gd name="f14" fmla="val f7"/>
                  <a:gd name="f15" fmla="+- 2700000 f2 0"/>
                  <a:gd name="f16" fmla="*/ f9 f1 1"/>
                  <a:gd name="f17" fmla="*/ f10 f1 1"/>
                  <a:gd name="f18" fmla="?: f11 f4 1"/>
                  <a:gd name="f19" fmla="?: f12 f5 1"/>
                  <a:gd name="f20" fmla="?: f13 f6 1"/>
                  <a:gd name="f21" fmla="*/ f15 f8 1"/>
                  <a:gd name="f22" fmla="*/ f16 1 f3"/>
                  <a:gd name="f23" fmla="*/ f17 1 f3"/>
                  <a:gd name="f24" fmla="*/ f18 1 21600"/>
                  <a:gd name="f25" fmla="*/ f19 1 21600"/>
                  <a:gd name="f26" fmla="*/ 21600 f18 1"/>
                  <a:gd name="f27" fmla="*/ 21600 f19 1"/>
                  <a:gd name="f28" fmla="*/ f21 1 f1"/>
                  <a:gd name="f29" fmla="+- f22 0 f2"/>
                  <a:gd name="f30" fmla="+- f23 0 f2"/>
                  <a:gd name="f31" fmla="min f25 f24"/>
                  <a:gd name="f32" fmla="*/ f26 1 f20"/>
                  <a:gd name="f33" fmla="*/ f27 1 f20"/>
                  <a:gd name="f34" fmla="+- 0 0 f28"/>
                  <a:gd name="f35" fmla="val f32"/>
                  <a:gd name="f36" fmla="val f33"/>
                  <a:gd name="f37" fmla="+- 0 0 f34"/>
                  <a:gd name="f38" fmla="*/ f14 f31 1"/>
                  <a:gd name="f39" fmla="+- f36 0 f14"/>
                  <a:gd name="f40" fmla="+- f35 0 f14"/>
                  <a:gd name="f41" fmla="*/ f37 f1 1"/>
                  <a:gd name="f42" fmla="*/ f39 1 2"/>
                  <a:gd name="f43" fmla="*/ f40 1 2"/>
                  <a:gd name="f44" fmla="*/ f41 1 f8"/>
                  <a:gd name="f45" fmla="+- f14 f42 0"/>
                  <a:gd name="f46" fmla="+- f14 f43 0"/>
                  <a:gd name="f47" fmla="+- f44 0 f2"/>
                  <a:gd name="f48" fmla="*/ f43 f31 1"/>
                  <a:gd name="f49" fmla="*/ f42 f31 1"/>
                  <a:gd name="f50" fmla="cos 1 f47"/>
                  <a:gd name="f51" fmla="sin 1 f47"/>
                  <a:gd name="f52" fmla="*/ f45 f31 1"/>
                  <a:gd name="f53" fmla="+- 0 0 f50"/>
                  <a:gd name="f54" fmla="+- 0 0 f51"/>
                  <a:gd name="f55" fmla="+- 0 0 f53"/>
                  <a:gd name="f56" fmla="+- 0 0 f54"/>
                  <a:gd name="f57" fmla="*/ f55 f43 1"/>
                  <a:gd name="f58" fmla="*/ f56 f42 1"/>
                  <a:gd name="f59" fmla="+- f46 0 f57"/>
                  <a:gd name="f60" fmla="+- f46 f57 0"/>
                  <a:gd name="f61" fmla="+- f45 0 f58"/>
                  <a:gd name="f62" fmla="+- f45 f58 0"/>
                  <a:gd name="f63" fmla="*/ f59 f31 1"/>
                  <a:gd name="f64" fmla="*/ f61 f31 1"/>
                  <a:gd name="f65" fmla="*/ f60 f31 1"/>
                  <a:gd name="f66" fmla="*/ f62 f31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  <a:cxn ang="f29">
                    <a:pos x="f63" y="f64"/>
                  </a:cxn>
                  <a:cxn ang="f30">
                    <a:pos x="f63" y="f66"/>
                  </a:cxn>
                  <a:cxn ang="f30">
                    <a:pos x="f65" y="f66"/>
                  </a:cxn>
                  <a:cxn ang="f29">
                    <a:pos x="f65" y="f64"/>
                  </a:cxn>
                </a:cxnLst>
                <a:rect l="f63" t="f64" r="f65" b="f66"/>
                <a:pathLst>
                  <a:path>
                    <a:moveTo>
                      <a:pt x="f38" y="f52"/>
                    </a:moveTo>
                    <a:arcTo wR="f48" hR="f49" stAng="f1" swAng="f0"/>
                    <a:close/>
                  </a:path>
                </a:pathLst>
              </a:custGeom>
              <a:solidFill>
                <a:srgbClr val="4C6A35"/>
              </a:solidFill>
              <a:ln w="19046" cap="flat">
                <a:solidFill>
                  <a:srgbClr val="FFFFFF"/>
                </a:solidFill>
                <a:prstDash val="solid"/>
                <a:miter/>
              </a:ln>
            </p:spPr>
            <p:txBody>
              <a:bodyPr vert="horz" wrap="square" lIns="0" tIns="0" rIns="0" bIns="0" anchor="ctr" anchorCtr="1" compatLnSpc="1">
                <a:noAutofit/>
              </a:bodyPr>
              <a:lstStyle/>
              <a:p>
                <a:pPr marL="0" marR="0" lvl="0" indent="0" algn="ctr" defTabSz="914400" rtl="0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US" sz="1200" b="1" i="0" u="none" strike="noStrike" kern="1200" cap="none" spc="0" baseline="0">
                    <a:solidFill>
                      <a:srgbClr val="FFFFFF"/>
                    </a:solidFill>
                    <a:uFillTx/>
                    <a:latin typeface="72 Condensed"/>
                  </a:rPr>
                  <a:t>35h</a:t>
                </a:r>
              </a:p>
            </p:txBody>
          </p:sp>
          <p:sp>
            <p:nvSpPr>
              <p:cNvPr id="12" name="TextBox 153">
                <a:extLst>
                  <a:ext uri="{FF2B5EF4-FFF2-40B4-BE49-F238E27FC236}">
                    <a16:creationId xmlns:a16="http://schemas.microsoft.com/office/drawing/2014/main" id="{7090DE7F-0D20-D163-E764-D6CB59C747AC}"/>
                  </a:ext>
                </a:extLst>
              </p:cNvPr>
              <p:cNvSpPr txBox="1"/>
              <p:nvPr/>
            </p:nvSpPr>
            <p:spPr>
              <a:xfrm>
                <a:off x="644652" y="2159931"/>
                <a:ext cx="1133856" cy="457200"/>
              </a:xfrm>
              <a:prstGeom prst="rect">
                <a:avLst/>
              </a:prstGeom>
              <a:noFill/>
              <a:ln cap="flat">
                <a:noFill/>
              </a:ln>
            </p:spPr>
            <p:txBody>
              <a:bodyPr vert="horz" wrap="square" lIns="0" tIns="0" rIns="0" bIns="0" anchor="b" anchorCtr="1" compatLnSpc="1">
                <a:spAutoFit/>
              </a:bodyPr>
              <a:lstStyle/>
              <a:p>
                <a:pPr marL="0" marR="0" lvl="0" indent="0" algn="ctr" defTabSz="914400" rtl="0" fontAlgn="auto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US" sz="1000" b="1" i="0" u="none" strike="noStrike" kern="1200" cap="none" spc="0" baseline="0">
                    <a:solidFill>
                      <a:srgbClr val="1F2E18"/>
                    </a:solidFill>
                    <a:uFillTx/>
                    <a:latin typeface="72 Condensed"/>
                  </a:rPr>
                  <a:t>Inducción</a:t>
                </a:r>
              </a:p>
            </p:txBody>
          </p:sp>
          <p:sp>
            <p:nvSpPr>
              <p:cNvPr id="13" name="Oval 154">
                <a:extLst>
                  <a:ext uri="{FF2B5EF4-FFF2-40B4-BE49-F238E27FC236}">
                    <a16:creationId xmlns:a16="http://schemas.microsoft.com/office/drawing/2014/main" id="{C218FCD4-0690-DA7A-B972-FB1D2C2ADE5C}"/>
                  </a:ext>
                </a:extLst>
              </p:cNvPr>
              <p:cNvSpPr/>
              <p:nvPr/>
            </p:nvSpPr>
            <p:spPr>
              <a:xfrm>
                <a:off x="1727374" y="2786762"/>
                <a:ext cx="483699" cy="483699"/>
              </a:xfrm>
              <a:custGeom>
                <a:avLst/>
                <a:gdLst>
                  <a:gd name="f0" fmla="val 21600000"/>
                  <a:gd name="f1" fmla="val 10800000"/>
                  <a:gd name="f2" fmla="val 5400000"/>
                  <a:gd name="f3" fmla="val 180"/>
                  <a:gd name="f4" fmla="val w"/>
                  <a:gd name="f5" fmla="val h"/>
                  <a:gd name="f6" fmla="val ss"/>
                  <a:gd name="f7" fmla="val 0"/>
                  <a:gd name="f8" fmla="*/ 5419351 1 1725033"/>
                  <a:gd name="f9" fmla="+- 0 0 -360"/>
                  <a:gd name="f10" fmla="+- 0 0 -180"/>
                  <a:gd name="f11" fmla="abs f4"/>
                  <a:gd name="f12" fmla="abs f5"/>
                  <a:gd name="f13" fmla="abs f6"/>
                  <a:gd name="f14" fmla="val f7"/>
                  <a:gd name="f15" fmla="+- 2700000 f2 0"/>
                  <a:gd name="f16" fmla="*/ f9 f1 1"/>
                  <a:gd name="f17" fmla="*/ f10 f1 1"/>
                  <a:gd name="f18" fmla="?: f11 f4 1"/>
                  <a:gd name="f19" fmla="?: f12 f5 1"/>
                  <a:gd name="f20" fmla="?: f13 f6 1"/>
                  <a:gd name="f21" fmla="*/ f15 f8 1"/>
                  <a:gd name="f22" fmla="*/ f16 1 f3"/>
                  <a:gd name="f23" fmla="*/ f17 1 f3"/>
                  <a:gd name="f24" fmla="*/ f18 1 21600"/>
                  <a:gd name="f25" fmla="*/ f19 1 21600"/>
                  <a:gd name="f26" fmla="*/ 21600 f18 1"/>
                  <a:gd name="f27" fmla="*/ 21600 f19 1"/>
                  <a:gd name="f28" fmla="*/ f21 1 f1"/>
                  <a:gd name="f29" fmla="+- f22 0 f2"/>
                  <a:gd name="f30" fmla="+- f23 0 f2"/>
                  <a:gd name="f31" fmla="min f25 f24"/>
                  <a:gd name="f32" fmla="*/ f26 1 f20"/>
                  <a:gd name="f33" fmla="*/ f27 1 f20"/>
                  <a:gd name="f34" fmla="+- 0 0 f28"/>
                  <a:gd name="f35" fmla="val f32"/>
                  <a:gd name="f36" fmla="val f33"/>
                  <a:gd name="f37" fmla="+- 0 0 f34"/>
                  <a:gd name="f38" fmla="*/ f14 f31 1"/>
                  <a:gd name="f39" fmla="+- f36 0 f14"/>
                  <a:gd name="f40" fmla="+- f35 0 f14"/>
                  <a:gd name="f41" fmla="*/ f37 f1 1"/>
                  <a:gd name="f42" fmla="*/ f39 1 2"/>
                  <a:gd name="f43" fmla="*/ f40 1 2"/>
                  <a:gd name="f44" fmla="*/ f41 1 f8"/>
                  <a:gd name="f45" fmla="+- f14 f42 0"/>
                  <a:gd name="f46" fmla="+- f14 f43 0"/>
                  <a:gd name="f47" fmla="+- f44 0 f2"/>
                  <a:gd name="f48" fmla="*/ f43 f31 1"/>
                  <a:gd name="f49" fmla="*/ f42 f31 1"/>
                  <a:gd name="f50" fmla="cos 1 f47"/>
                  <a:gd name="f51" fmla="sin 1 f47"/>
                  <a:gd name="f52" fmla="*/ f45 f31 1"/>
                  <a:gd name="f53" fmla="+- 0 0 f50"/>
                  <a:gd name="f54" fmla="+- 0 0 f51"/>
                  <a:gd name="f55" fmla="+- 0 0 f53"/>
                  <a:gd name="f56" fmla="+- 0 0 f54"/>
                  <a:gd name="f57" fmla="*/ f55 f43 1"/>
                  <a:gd name="f58" fmla="*/ f56 f42 1"/>
                  <a:gd name="f59" fmla="+- f46 0 f57"/>
                  <a:gd name="f60" fmla="+- f46 f57 0"/>
                  <a:gd name="f61" fmla="+- f45 0 f58"/>
                  <a:gd name="f62" fmla="+- f45 f58 0"/>
                  <a:gd name="f63" fmla="*/ f59 f31 1"/>
                  <a:gd name="f64" fmla="*/ f61 f31 1"/>
                  <a:gd name="f65" fmla="*/ f60 f31 1"/>
                  <a:gd name="f66" fmla="*/ f62 f31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  <a:cxn ang="f29">
                    <a:pos x="f63" y="f64"/>
                  </a:cxn>
                  <a:cxn ang="f30">
                    <a:pos x="f63" y="f66"/>
                  </a:cxn>
                  <a:cxn ang="f30">
                    <a:pos x="f65" y="f66"/>
                  </a:cxn>
                  <a:cxn ang="f29">
                    <a:pos x="f65" y="f64"/>
                  </a:cxn>
                </a:cxnLst>
                <a:rect l="f63" t="f64" r="f65" b="f66"/>
                <a:pathLst>
                  <a:path>
                    <a:moveTo>
                      <a:pt x="f38" y="f52"/>
                    </a:moveTo>
                    <a:arcTo wR="f48" hR="f49" stAng="f1" swAng="f0"/>
                    <a:close/>
                  </a:path>
                </a:pathLst>
              </a:custGeom>
              <a:solidFill>
                <a:srgbClr val="4C6A35"/>
              </a:solidFill>
              <a:ln w="19046" cap="flat">
                <a:solidFill>
                  <a:srgbClr val="FFFFFF"/>
                </a:solidFill>
                <a:prstDash val="solid"/>
                <a:miter/>
              </a:ln>
            </p:spPr>
            <p:txBody>
              <a:bodyPr vert="horz" wrap="square" lIns="0" tIns="0" rIns="0" bIns="0" anchor="ctr" anchorCtr="1" compatLnSpc="1">
                <a:noAutofit/>
              </a:bodyPr>
              <a:lstStyle/>
              <a:p>
                <a:pPr marL="0" marR="0" lvl="0" indent="0" algn="ctr" defTabSz="914400" rtl="0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US" sz="900" b="1" i="0" u="none" strike="noStrike" kern="1200" cap="none" spc="0" baseline="0">
                    <a:solidFill>
                      <a:srgbClr val="FFFFFF"/>
                    </a:solidFill>
                    <a:uFillTx/>
                    <a:latin typeface="72 Condensed"/>
                  </a:rPr>
                  <a:t>5h</a:t>
                </a:r>
              </a:p>
            </p:txBody>
          </p:sp>
          <p:sp>
            <p:nvSpPr>
              <p:cNvPr id="14" name="TextBox 155">
                <a:extLst>
                  <a:ext uri="{FF2B5EF4-FFF2-40B4-BE49-F238E27FC236}">
                    <a16:creationId xmlns:a16="http://schemas.microsoft.com/office/drawing/2014/main" id="{B05FF8E4-8544-7E78-2AE3-76816B4D7ECA}"/>
                  </a:ext>
                </a:extLst>
              </p:cNvPr>
              <p:cNvSpPr txBox="1"/>
              <p:nvPr/>
            </p:nvSpPr>
            <p:spPr>
              <a:xfrm>
                <a:off x="1402296" y="3440091"/>
                <a:ext cx="1133856" cy="457200"/>
              </a:xfrm>
              <a:prstGeom prst="rect">
                <a:avLst/>
              </a:prstGeom>
              <a:noFill/>
              <a:ln cap="flat">
                <a:noFill/>
              </a:ln>
            </p:spPr>
            <p:txBody>
              <a:bodyPr vert="horz" wrap="square" lIns="0" tIns="0" rIns="0" bIns="0" anchor="t" anchorCtr="1" compatLnSpc="1">
                <a:spAutoFit/>
              </a:bodyPr>
              <a:lstStyle/>
              <a:p>
                <a:pPr marL="0" marR="0" lvl="0" indent="0" algn="ctr" defTabSz="914400" rtl="0" fontAlgn="auto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US" sz="1000" b="1" i="0" u="none" strike="noStrike" kern="1200" cap="none" spc="0" baseline="0">
                    <a:solidFill>
                      <a:srgbClr val="1F2E18"/>
                    </a:solidFill>
                    <a:uFillTx/>
                    <a:latin typeface="72 Condensed"/>
                  </a:rPr>
                  <a:t>Procesos</a:t>
                </a:r>
              </a:p>
            </p:txBody>
          </p:sp>
          <p:sp>
            <p:nvSpPr>
              <p:cNvPr id="15" name="Oval 156">
                <a:extLst>
                  <a:ext uri="{FF2B5EF4-FFF2-40B4-BE49-F238E27FC236}">
                    <a16:creationId xmlns:a16="http://schemas.microsoft.com/office/drawing/2014/main" id="{C43942E2-5CA7-3CD7-EEF6-13004BE6D4D9}"/>
                  </a:ext>
                </a:extLst>
              </p:cNvPr>
              <p:cNvSpPr/>
              <p:nvPr/>
            </p:nvSpPr>
            <p:spPr>
              <a:xfrm>
                <a:off x="2462131" y="2763874"/>
                <a:ext cx="529483" cy="529483"/>
              </a:xfrm>
              <a:custGeom>
                <a:avLst/>
                <a:gdLst>
                  <a:gd name="f0" fmla="val 21600000"/>
                  <a:gd name="f1" fmla="val 10800000"/>
                  <a:gd name="f2" fmla="val 5400000"/>
                  <a:gd name="f3" fmla="val 180"/>
                  <a:gd name="f4" fmla="val w"/>
                  <a:gd name="f5" fmla="val h"/>
                  <a:gd name="f6" fmla="val ss"/>
                  <a:gd name="f7" fmla="val 0"/>
                  <a:gd name="f8" fmla="*/ 5419351 1 1725033"/>
                  <a:gd name="f9" fmla="+- 0 0 -360"/>
                  <a:gd name="f10" fmla="+- 0 0 -180"/>
                  <a:gd name="f11" fmla="abs f4"/>
                  <a:gd name="f12" fmla="abs f5"/>
                  <a:gd name="f13" fmla="abs f6"/>
                  <a:gd name="f14" fmla="val f7"/>
                  <a:gd name="f15" fmla="+- 2700000 f2 0"/>
                  <a:gd name="f16" fmla="*/ f9 f1 1"/>
                  <a:gd name="f17" fmla="*/ f10 f1 1"/>
                  <a:gd name="f18" fmla="?: f11 f4 1"/>
                  <a:gd name="f19" fmla="?: f12 f5 1"/>
                  <a:gd name="f20" fmla="?: f13 f6 1"/>
                  <a:gd name="f21" fmla="*/ f15 f8 1"/>
                  <a:gd name="f22" fmla="*/ f16 1 f3"/>
                  <a:gd name="f23" fmla="*/ f17 1 f3"/>
                  <a:gd name="f24" fmla="*/ f18 1 21600"/>
                  <a:gd name="f25" fmla="*/ f19 1 21600"/>
                  <a:gd name="f26" fmla="*/ 21600 f18 1"/>
                  <a:gd name="f27" fmla="*/ 21600 f19 1"/>
                  <a:gd name="f28" fmla="*/ f21 1 f1"/>
                  <a:gd name="f29" fmla="+- f22 0 f2"/>
                  <a:gd name="f30" fmla="+- f23 0 f2"/>
                  <a:gd name="f31" fmla="min f25 f24"/>
                  <a:gd name="f32" fmla="*/ f26 1 f20"/>
                  <a:gd name="f33" fmla="*/ f27 1 f20"/>
                  <a:gd name="f34" fmla="+- 0 0 f28"/>
                  <a:gd name="f35" fmla="val f32"/>
                  <a:gd name="f36" fmla="val f33"/>
                  <a:gd name="f37" fmla="+- 0 0 f34"/>
                  <a:gd name="f38" fmla="*/ f14 f31 1"/>
                  <a:gd name="f39" fmla="+- f36 0 f14"/>
                  <a:gd name="f40" fmla="+- f35 0 f14"/>
                  <a:gd name="f41" fmla="*/ f37 f1 1"/>
                  <a:gd name="f42" fmla="*/ f39 1 2"/>
                  <a:gd name="f43" fmla="*/ f40 1 2"/>
                  <a:gd name="f44" fmla="*/ f41 1 f8"/>
                  <a:gd name="f45" fmla="+- f14 f42 0"/>
                  <a:gd name="f46" fmla="+- f14 f43 0"/>
                  <a:gd name="f47" fmla="+- f44 0 f2"/>
                  <a:gd name="f48" fmla="*/ f43 f31 1"/>
                  <a:gd name="f49" fmla="*/ f42 f31 1"/>
                  <a:gd name="f50" fmla="cos 1 f47"/>
                  <a:gd name="f51" fmla="sin 1 f47"/>
                  <a:gd name="f52" fmla="*/ f45 f31 1"/>
                  <a:gd name="f53" fmla="+- 0 0 f50"/>
                  <a:gd name="f54" fmla="+- 0 0 f51"/>
                  <a:gd name="f55" fmla="+- 0 0 f53"/>
                  <a:gd name="f56" fmla="+- 0 0 f54"/>
                  <a:gd name="f57" fmla="*/ f55 f43 1"/>
                  <a:gd name="f58" fmla="*/ f56 f42 1"/>
                  <a:gd name="f59" fmla="+- f46 0 f57"/>
                  <a:gd name="f60" fmla="+- f46 f57 0"/>
                  <a:gd name="f61" fmla="+- f45 0 f58"/>
                  <a:gd name="f62" fmla="+- f45 f58 0"/>
                  <a:gd name="f63" fmla="*/ f59 f31 1"/>
                  <a:gd name="f64" fmla="*/ f61 f31 1"/>
                  <a:gd name="f65" fmla="*/ f60 f31 1"/>
                  <a:gd name="f66" fmla="*/ f62 f31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  <a:cxn ang="f29">
                    <a:pos x="f63" y="f64"/>
                  </a:cxn>
                  <a:cxn ang="f30">
                    <a:pos x="f63" y="f66"/>
                  </a:cxn>
                  <a:cxn ang="f30">
                    <a:pos x="f65" y="f66"/>
                  </a:cxn>
                  <a:cxn ang="f29">
                    <a:pos x="f65" y="f64"/>
                  </a:cxn>
                </a:cxnLst>
                <a:rect l="f63" t="f64" r="f65" b="f66"/>
                <a:pathLst>
                  <a:path>
                    <a:moveTo>
                      <a:pt x="f38" y="f52"/>
                    </a:moveTo>
                    <a:arcTo wR="f48" hR="f49" stAng="f1" swAng="f0"/>
                    <a:close/>
                  </a:path>
                </a:pathLst>
              </a:custGeom>
              <a:solidFill>
                <a:srgbClr val="4C6A35"/>
              </a:solidFill>
              <a:ln w="19046" cap="flat">
                <a:solidFill>
                  <a:srgbClr val="FFFFFF"/>
                </a:solidFill>
                <a:prstDash val="solid"/>
                <a:miter/>
              </a:ln>
            </p:spPr>
            <p:txBody>
              <a:bodyPr vert="horz" wrap="square" lIns="0" tIns="0" rIns="0" bIns="0" anchor="ctr" anchorCtr="1" compatLnSpc="1">
                <a:noAutofit/>
              </a:bodyPr>
              <a:lstStyle/>
              <a:p>
                <a:pPr marL="0" marR="0" lvl="0" indent="0" algn="ctr" defTabSz="914400" rtl="0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US" sz="1200" b="1" i="0" u="none" strike="noStrike" kern="1200" cap="none" spc="0" baseline="0">
                    <a:solidFill>
                      <a:srgbClr val="FFFFFF"/>
                    </a:solidFill>
                    <a:uFillTx/>
                    <a:latin typeface="72 Condensed"/>
                  </a:rPr>
                  <a:t>8h</a:t>
                </a:r>
              </a:p>
            </p:txBody>
          </p:sp>
          <p:sp>
            <p:nvSpPr>
              <p:cNvPr id="16" name="TextBox 157">
                <a:extLst>
                  <a:ext uri="{FF2B5EF4-FFF2-40B4-BE49-F238E27FC236}">
                    <a16:creationId xmlns:a16="http://schemas.microsoft.com/office/drawing/2014/main" id="{A05DA837-7409-3B0E-99D9-DA8F3A9EA9CD}"/>
                  </a:ext>
                </a:extLst>
              </p:cNvPr>
              <p:cNvSpPr txBox="1"/>
              <p:nvPr/>
            </p:nvSpPr>
            <p:spPr>
              <a:xfrm>
                <a:off x="2159940" y="2159931"/>
                <a:ext cx="1133856" cy="457200"/>
              </a:xfrm>
              <a:prstGeom prst="rect">
                <a:avLst/>
              </a:prstGeom>
              <a:noFill/>
              <a:ln cap="flat">
                <a:noFill/>
              </a:ln>
            </p:spPr>
            <p:txBody>
              <a:bodyPr vert="horz" wrap="square" lIns="0" tIns="0" rIns="0" bIns="0" anchor="b" anchorCtr="1" compatLnSpc="1">
                <a:spAutoFit/>
              </a:bodyPr>
              <a:lstStyle/>
              <a:p>
                <a:pPr marL="0" marR="0" lvl="0" indent="0" algn="ctr" defTabSz="914400" rtl="0" fontAlgn="auto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US" sz="1000" b="1" i="0" u="none" strike="noStrike" kern="1200" cap="none" spc="0" baseline="0">
                    <a:solidFill>
                      <a:srgbClr val="1F2E18"/>
                    </a:solidFill>
                    <a:uFillTx/>
                    <a:latin typeface="72 Condensed"/>
                  </a:rPr>
                  <a:t>Procesos</a:t>
                </a:r>
              </a:p>
            </p:txBody>
          </p:sp>
          <p:sp>
            <p:nvSpPr>
              <p:cNvPr id="17" name="Oval 158">
                <a:extLst>
                  <a:ext uri="{FF2B5EF4-FFF2-40B4-BE49-F238E27FC236}">
                    <a16:creationId xmlns:a16="http://schemas.microsoft.com/office/drawing/2014/main" id="{8E8F672D-5D50-0C81-4639-187E365F33A0}"/>
                  </a:ext>
                </a:extLst>
              </p:cNvPr>
              <p:cNvSpPr/>
              <p:nvPr/>
            </p:nvSpPr>
            <p:spPr>
              <a:xfrm>
                <a:off x="3274420" y="2818519"/>
                <a:ext cx="420185" cy="420185"/>
              </a:xfrm>
              <a:custGeom>
                <a:avLst/>
                <a:gdLst>
                  <a:gd name="f0" fmla="val 21600000"/>
                  <a:gd name="f1" fmla="val 10800000"/>
                  <a:gd name="f2" fmla="val 5400000"/>
                  <a:gd name="f3" fmla="val 180"/>
                  <a:gd name="f4" fmla="val w"/>
                  <a:gd name="f5" fmla="val h"/>
                  <a:gd name="f6" fmla="val ss"/>
                  <a:gd name="f7" fmla="val 0"/>
                  <a:gd name="f8" fmla="*/ 5419351 1 1725033"/>
                  <a:gd name="f9" fmla="+- 0 0 -360"/>
                  <a:gd name="f10" fmla="+- 0 0 -180"/>
                  <a:gd name="f11" fmla="abs f4"/>
                  <a:gd name="f12" fmla="abs f5"/>
                  <a:gd name="f13" fmla="abs f6"/>
                  <a:gd name="f14" fmla="val f7"/>
                  <a:gd name="f15" fmla="+- 2700000 f2 0"/>
                  <a:gd name="f16" fmla="*/ f9 f1 1"/>
                  <a:gd name="f17" fmla="*/ f10 f1 1"/>
                  <a:gd name="f18" fmla="?: f11 f4 1"/>
                  <a:gd name="f19" fmla="?: f12 f5 1"/>
                  <a:gd name="f20" fmla="?: f13 f6 1"/>
                  <a:gd name="f21" fmla="*/ f15 f8 1"/>
                  <a:gd name="f22" fmla="*/ f16 1 f3"/>
                  <a:gd name="f23" fmla="*/ f17 1 f3"/>
                  <a:gd name="f24" fmla="*/ f18 1 21600"/>
                  <a:gd name="f25" fmla="*/ f19 1 21600"/>
                  <a:gd name="f26" fmla="*/ 21600 f18 1"/>
                  <a:gd name="f27" fmla="*/ 21600 f19 1"/>
                  <a:gd name="f28" fmla="*/ f21 1 f1"/>
                  <a:gd name="f29" fmla="+- f22 0 f2"/>
                  <a:gd name="f30" fmla="+- f23 0 f2"/>
                  <a:gd name="f31" fmla="min f25 f24"/>
                  <a:gd name="f32" fmla="*/ f26 1 f20"/>
                  <a:gd name="f33" fmla="*/ f27 1 f20"/>
                  <a:gd name="f34" fmla="+- 0 0 f28"/>
                  <a:gd name="f35" fmla="val f32"/>
                  <a:gd name="f36" fmla="val f33"/>
                  <a:gd name="f37" fmla="+- 0 0 f34"/>
                  <a:gd name="f38" fmla="*/ f14 f31 1"/>
                  <a:gd name="f39" fmla="+- f36 0 f14"/>
                  <a:gd name="f40" fmla="+- f35 0 f14"/>
                  <a:gd name="f41" fmla="*/ f37 f1 1"/>
                  <a:gd name="f42" fmla="*/ f39 1 2"/>
                  <a:gd name="f43" fmla="*/ f40 1 2"/>
                  <a:gd name="f44" fmla="*/ f41 1 f8"/>
                  <a:gd name="f45" fmla="+- f14 f42 0"/>
                  <a:gd name="f46" fmla="+- f14 f43 0"/>
                  <a:gd name="f47" fmla="+- f44 0 f2"/>
                  <a:gd name="f48" fmla="*/ f43 f31 1"/>
                  <a:gd name="f49" fmla="*/ f42 f31 1"/>
                  <a:gd name="f50" fmla="cos 1 f47"/>
                  <a:gd name="f51" fmla="sin 1 f47"/>
                  <a:gd name="f52" fmla="*/ f45 f31 1"/>
                  <a:gd name="f53" fmla="+- 0 0 f50"/>
                  <a:gd name="f54" fmla="+- 0 0 f51"/>
                  <a:gd name="f55" fmla="+- 0 0 f53"/>
                  <a:gd name="f56" fmla="+- 0 0 f54"/>
                  <a:gd name="f57" fmla="*/ f55 f43 1"/>
                  <a:gd name="f58" fmla="*/ f56 f42 1"/>
                  <a:gd name="f59" fmla="+- f46 0 f57"/>
                  <a:gd name="f60" fmla="+- f46 f57 0"/>
                  <a:gd name="f61" fmla="+- f45 0 f58"/>
                  <a:gd name="f62" fmla="+- f45 f58 0"/>
                  <a:gd name="f63" fmla="*/ f59 f31 1"/>
                  <a:gd name="f64" fmla="*/ f61 f31 1"/>
                  <a:gd name="f65" fmla="*/ f60 f31 1"/>
                  <a:gd name="f66" fmla="*/ f62 f31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  <a:cxn ang="f29">
                    <a:pos x="f63" y="f64"/>
                  </a:cxn>
                  <a:cxn ang="f30">
                    <a:pos x="f63" y="f66"/>
                  </a:cxn>
                  <a:cxn ang="f30">
                    <a:pos x="f65" y="f66"/>
                  </a:cxn>
                  <a:cxn ang="f29">
                    <a:pos x="f65" y="f64"/>
                  </a:cxn>
                </a:cxnLst>
                <a:rect l="f63" t="f64" r="f65" b="f66"/>
                <a:pathLst>
                  <a:path>
                    <a:moveTo>
                      <a:pt x="f38" y="f52"/>
                    </a:moveTo>
                    <a:arcTo wR="f48" hR="f49" stAng="f1" swAng="f0"/>
                    <a:close/>
                  </a:path>
                </a:pathLst>
              </a:custGeom>
              <a:solidFill>
                <a:srgbClr val="4C6A35"/>
              </a:solidFill>
              <a:ln w="19046" cap="flat">
                <a:solidFill>
                  <a:srgbClr val="FFFFFF"/>
                </a:solidFill>
                <a:prstDash val="solid"/>
                <a:miter/>
              </a:ln>
            </p:spPr>
            <p:txBody>
              <a:bodyPr vert="horz" wrap="square" lIns="0" tIns="0" rIns="0" bIns="0" anchor="ctr" anchorCtr="1" compatLnSpc="1">
                <a:noAutofit/>
              </a:bodyPr>
              <a:lstStyle/>
              <a:p>
                <a:pPr marL="0" marR="0" lvl="0" indent="0" algn="ctr" defTabSz="914400" rtl="0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US" sz="900" b="1" i="0" u="none" strike="noStrike" kern="1200" cap="none" spc="0" baseline="0">
                    <a:solidFill>
                      <a:srgbClr val="FFFFFF"/>
                    </a:solidFill>
                    <a:uFillTx/>
                    <a:latin typeface="72 Condensed"/>
                  </a:rPr>
                  <a:t>2h</a:t>
                </a:r>
              </a:p>
            </p:txBody>
          </p:sp>
          <p:sp>
            <p:nvSpPr>
              <p:cNvPr id="18" name="TextBox 159">
                <a:extLst>
                  <a:ext uri="{FF2B5EF4-FFF2-40B4-BE49-F238E27FC236}">
                    <a16:creationId xmlns:a16="http://schemas.microsoft.com/office/drawing/2014/main" id="{D15D83FB-8CFE-F06F-BFC8-E3E93652E22D}"/>
                  </a:ext>
                </a:extLst>
              </p:cNvPr>
              <p:cNvSpPr txBox="1"/>
              <p:nvPr/>
            </p:nvSpPr>
            <p:spPr>
              <a:xfrm>
                <a:off x="2917585" y="3440091"/>
                <a:ext cx="1133856" cy="457200"/>
              </a:xfrm>
              <a:prstGeom prst="rect">
                <a:avLst/>
              </a:prstGeom>
              <a:noFill/>
              <a:ln cap="flat">
                <a:noFill/>
              </a:ln>
            </p:spPr>
            <p:txBody>
              <a:bodyPr vert="horz" wrap="square" lIns="0" tIns="0" rIns="0" bIns="0" anchor="t" anchorCtr="1" compatLnSpc="1">
                <a:spAutoFit/>
              </a:bodyPr>
              <a:lstStyle/>
              <a:p>
                <a:pPr marL="0" marR="0" lvl="0" indent="0" algn="ctr" defTabSz="914400" rtl="0" fontAlgn="auto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US" sz="1000" b="1" i="0" u="none" strike="noStrike" kern="1200" cap="none" spc="0" baseline="0">
                    <a:solidFill>
                      <a:srgbClr val="1F2E18"/>
                    </a:solidFill>
                    <a:uFillTx/>
                    <a:latin typeface="72 Condensed"/>
                  </a:rPr>
                  <a:t>Liderazgo</a:t>
                </a:r>
              </a:p>
            </p:txBody>
          </p:sp>
          <p:sp>
            <p:nvSpPr>
              <p:cNvPr id="19" name="Oval 160">
                <a:extLst>
                  <a:ext uri="{FF2B5EF4-FFF2-40B4-BE49-F238E27FC236}">
                    <a16:creationId xmlns:a16="http://schemas.microsoft.com/office/drawing/2014/main" id="{279D4FD4-4686-D9B3-DF17-D9FCAF323D16}"/>
                  </a:ext>
                </a:extLst>
              </p:cNvPr>
              <p:cNvSpPr/>
              <p:nvPr/>
            </p:nvSpPr>
            <p:spPr>
              <a:xfrm>
                <a:off x="3977420" y="2763874"/>
                <a:ext cx="529483" cy="529483"/>
              </a:xfrm>
              <a:custGeom>
                <a:avLst/>
                <a:gdLst>
                  <a:gd name="f0" fmla="val 21600000"/>
                  <a:gd name="f1" fmla="val 10800000"/>
                  <a:gd name="f2" fmla="val 5400000"/>
                  <a:gd name="f3" fmla="val 180"/>
                  <a:gd name="f4" fmla="val w"/>
                  <a:gd name="f5" fmla="val h"/>
                  <a:gd name="f6" fmla="val ss"/>
                  <a:gd name="f7" fmla="val 0"/>
                  <a:gd name="f8" fmla="*/ 5419351 1 1725033"/>
                  <a:gd name="f9" fmla="+- 0 0 -360"/>
                  <a:gd name="f10" fmla="+- 0 0 -180"/>
                  <a:gd name="f11" fmla="abs f4"/>
                  <a:gd name="f12" fmla="abs f5"/>
                  <a:gd name="f13" fmla="abs f6"/>
                  <a:gd name="f14" fmla="val f7"/>
                  <a:gd name="f15" fmla="+- 2700000 f2 0"/>
                  <a:gd name="f16" fmla="*/ f9 f1 1"/>
                  <a:gd name="f17" fmla="*/ f10 f1 1"/>
                  <a:gd name="f18" fmla="?: f11 f4 1"/>
                  <a:gd name="f19" fmla="?: f12 f5 1"/>
                  <a:gd name="f20" fmla="?: f13 f6 1"/>
                  <a:gd name="f21" fmla="*/ f15 f8 1"/>
                  <a:gd name="f22" fmla="*/ f16 1 f3"/>
                  <a:gd name="f23" fmla="*/ f17 1 f3"/>
                  <a:gd name="f24" fmla="*/ f18 1 21600"/>
                  <a:gd name="f25" fmla="*/ f19 1 21600"/>
                  <a:gd name="f26" fmla="*/ 21600 f18 1"/>
                  <a:gd name="f27" fmla="*/ 21600 f19 1"/>
                  <a:gd name="f28" fmla="*/ f21 1 f1"/>
                  <a:gd name="f29" fmla="+- f22 0 f2"/>
                  <a:gd name="f30" fmla="+- f23 0 f2"/>
                  <a:gd name="f31" fmla="min f25 f24"/>
                  <a:gd name="f32" fmla="*/ f26 1 f20"/>
                  <a:gd name="f33" fmla="*/ f27 1 f20"/>
                  <a:gd name="f34" fmla="+- 0 0 f28"/>
                  <a:gd name="f35" fmla="val f32"/>
                  <a:gd name="f36" fmla="val f33"/>
                  <a:gd name="f37" fmla="+- 0 0 f34"/>
                  <a:gd name="f38" fmla="*/ f14 f31 1"/>
                  <a:gd name="f39" fmla="+- f36 0 f14"/>
                  <a:gd name="f40" fmla="+- f35 0 f14"/>
                  <a:gd name="f41" fmla="*/ f37 f1 1"/>
                  <a:gd name="f42" fmla="*/ f39 1 2"/>
                  <a:gd name="f43" fmla="*/ f40 1 2"/>
                  <a:gd name="f44" fmla="*/ f41 1 f8"/>
                  <a:gd name="f45" fmla="+- f14 f42 0"/>
                  <a:gd name="f46" fmla="+- f14 f43 0"/>
                  <a:gd name="f47" fmla="+- f44 0 f2"/>
                  <a:gd name="f48" fmla="*/ f43 f31 1"/>
                  <a:gd name="f49" fmla="*/ f42 f31 1"/>
                  <a:gd name="f50" fmla="cos 1 f47"/>
                  <a:gd name="f51" fmla="sin 1 f47"/>
                  <a:gd name="f52" fmla="*/ f45 f31 1"/>
                  <a:gd name="f53" fmla="+- 0 0 f50"/>
                  <a:gd name="f54" fmla="+- 0 0 f51"/>
                  <a:gd name="f55" fmla="+- 0 0 f53"/>
                  <a:gd name="f56" fmla="+- 0 0 f54"/>
                  <a:gd name="f57" fmla="*/ f55 f43 1"/>
                  <a:gd name="f58" fmla="*/ f56 f42 1"/>
                  <a:gd name="f59" fmla="+- f46 0 f57"/>
                  <a:gd name="f60" fmla="+- f46 f57 0"/>
                  <a:gd name="f61" fmla="+- f45 0 f58"/>
                  <a:gd name="f62" fmla="+- f45 f58 0"/>
                  <a:gd name="f63" fmla="*/ f59 f31 1"/>
                  <a:gd name="f64" fmla="*/ f61 f31 1"/>
                  <a:gd name="f65" fmla="*/ f60 f31 1"/>
                  <a:gd name="f66" fmla="*/ f62 f31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  <a:cxn ang="f29">
                    <a:pos x="f63" y="f64"/>
                  </a:cxn>
                  <a:cxn ang="f30">
                    <a:pos x="f63" y="f66"/>
                  </a:cxn>
                  <a:cxn ang="f30">
                    <a:pos x="f65" y="f66"/>
                  </a:cxn>
                  <a:cxn ang="f29">
                    <a:pos x="f65" y="f64"/>
                  </a:cxn>
                </a:cxnLst>
                <a:rect l="f63" t="f64" r="f65" b="f66"/>
                <a:pathLst>
                  <a:path>
                    <a:moveTo>
                      <a:pt x="f38" y="f52"/>
                    </a:moveTo>
                    <a:arcTo wR="f48" hR="f49" stAng="f1" swAng="f0"/>
                    <a:close/>
                  </a:path>
                </a:pathLst>
              </a:custGeom>
              <a:solidFill>
                <a:srgbClr val="4C6A35"/>
              </a:solidFill>
              <a:ln w="19046" cap="flat">
                <a:solidFill>
                  <a:srgbClr val="FFFFFF"/>
                </a:solidFill>
                <a:prstDash val="solid"/>
                <a:miter/>
              </a:ln>
            </p:spPr>
            <p:txBody>
              <a:bodyPr vert="horz" wrap="square" lIns="0" tIns="0" rIns="0" bIns="0" anchor="ctr" anchorCtr="1" compatLnSpc="1">
                <a:noAutofit/>
              </a:bodyPr>
              <a:lstStyle/>
              <a:p>
                <a:pPr marL="0" marR="0" lvl="0" indent="0" algn="ctr" defTabSz="914400" rtl="0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US" sz="1200" b="1" i="0" u="none" strike="noStrike" kern="1200" cap="none" spc="0" baseline="0">
                    <a:solidFill>
                      <a:srgbClr val="FFFFFF"/>
                    </a:solidFill>
                    <a:uFillTx/>
                    <a:latin typeface="72 Condensed"/>
                  </a:rPr>
                  <a:t>8h</a:t>
                </a:r>
              </a:p>
            </p:txBody>
          </p:sp>
          <p:sp>
            <p:nvSpPr>
              <p:cNvPr id="20" name="TextBox 161">
                <a:extLst>
                  <a:ext uri="{FF2B5EF4-FFF2-40B4-BE49-F238E27FC236}">
                    <a16:creationId xmlns:a16="http://schemas.microsoft.com/office/drawing/2014/main" id="{25E77080-0582-A556-9073-4E5C01F9BB3D}"/>
                  </a:ext>
                </a:extLst>
              </p:cNvPr>
              <p:cNvSpPr txBox="1"/>
              <p:nvPr/>
            </p:nvSpPr>
            <p:spPr>
              <a:xfrm>
                <a:off x="3675229" y="2159931"/>
                <a:ext cx="1133856" cy="457200"/>
              </a:xfrm>
              <a:prstGeom prst="rect">
                <a:avLst/>
              </a:prstGeom>
              <a:noFill/>
              <a:ln cap="flat">
                <a:noFill/>
              </a:ln>
            </p:spPr>
            <p:txBody>
              <a:bodyPr vert="horz" wrap="square" lIns="0" tIns="0" rIns="0" bIns="0" anchor="b" anchorCtr="1" compatLnSpc="1">
                <a:spAutoFit/>
              </a:bodyPr>
              <a:lstStyle/>
              <a:p>
                <a:pPr marL="0" marR="0" lvl="0" indent="0" algn="ctr" defTabSz="914400" rtl="0" fontAlgn="auto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US" sz="1000" b="1" i="0" u="none" strike="noStrike" kern="1200" cap="none" spc="0" baseline="0">
                    <a:solidFill>
                      <a:srgbClr val="1F2E18"/>
                    </a:solidFill>
                    <a:uFillTx/>
                    <a:latin typeface="72 Condensed"/>
                  </a:rPr>
                  <a:t>Refuerzo agronómico</a:t>
                </a:r>
              </a:p>
            </p:txBody>
          </p:sp>
          <p:sp>
            <p:nvSpPr>
              <p:cNvPr id="21" name="Oval 164">
                <a:extLst>
                  <a:ext uri="{FF2B5EF4-FFF2-40B4-BE49-F238E27FC236}">
                    <a16:creationId xmlns:a16="http://schemas.microsoft.com/office/drawing/2014/main" id="{0B01BA06-35A5-7226-7589-3753BAFC331B}"/>
                  </a:ext>
                </a:extLst>
              </p:cNvPr>
              <p:cNvSpPr/>
              <p:nvPr/>
            </p:nvSpPr>
            <p:spPr>
              <a:xfrm>
                <a:off x="5055873" y="2829949"/>
                <a:ext cx="420185" cy="420185"/>
              </a:xfrm>
              <a:custGeom>
                <a:avLst/>
                <a:gdLst>
                  <a:gd name="f0" fmla="val 21600000"/>
                  <a:gd name="f1" fmla="val 10800000"/>
                  <a:gd name="f2" fmla="val 5400000"/>
                  <a:gd name="f3" fmla="val 180"/>
                  <a:gd name="f4" fmla="val w"/>
                  <a:gd name="f5" fmla="val h"/>
                  <a:gd name="f6" fmla="val ss"/>
                  <a:gd name="f7" fmla="val 0"/>
                  <a:gd name="f8" fmla="*/ 5419351 1 1725033"/>
                  <a:gd name="f9" fmla="+- 0 0 -360"/>
                  <a:gd name="f10" fmla="+- 0 0 -180"/>
                  <a:gd name="f11" fmla="abs f4"/>
                  <a:gd name="f12" fmla="abs f5"/>
                  <a:gd name="f13" fmla="abs f6"/>
                  <a:gd name="f14" fmla="val f7"/>
                  <a:gd name="f15" fmla="+- 2700000 f2 0"/>
                  <a:gd name="f16" fmla="*/ f9 f1 1"/>
                  <a:gd name="f17" fmla="*/ f10 f1 1"/>
                  <a:gd name="f18" fmla="?: f11 f4 1"/>
                  <a:gd name="f19" fmla="?: f12 f5 1"/>
                  <a:gd name="f20" fmla="?: f13 f6 1"/>
                  <a:gd name="f21" fmla="*/ f15 f8 1"/>
                  <a:gd name="f22" fmla="*/ f16 1 f3"/>
                  <a:gd name="f23" fmla="*/ f17 1 f3"/>
                  <a:gd name="f24" fmla="*/ f18 1 21600"/>
                  <a:gd name="f25" fmla="*/ f19 1 21600"/>
                  <a:gd name="f26" fmla="*/ 21600 f18 1"/>
                  <a:gd name="f27" fmla="*/ 21600 f19 1"/>
                  <a:gd name="f28" fmla="*/ f21 1 f1"/>
                  <a:gd name="f29" fmla="+- f22 0 f2"/>
                  <a:gd name="f30" fmla="+- f23 0 f2"/>
                  <a:gd name="f31" fmla="min f25 f24"/>
                  <a:gd name="f32" fmla="*/ f26 1 f20"/>
                  <a:gd name="f33" fmla="*/ f27 1 f20"/>
                  <a:gd name="f34" fmla="+- 0 0 f28"/>
                  <a:gd name="f35" fmla="val f32"/>
                  <a:gd name="f36" fmla="val f33"/>
                  <a:gd name="f37" fmla="+- 0 0 f34"/>
                  <a:gd name="f38" fmla="*/ f14 f31 1"/>
                  <a:gd name="f39" fmla="+- f36 0 f14"/>
                  <a:gd name="f40" fmla="+- f35 0 f14"/>
                  <a:gd name="f41" fmla="*/ f37 f1 1"/>
                  <a:gd name="f42" fmla="*/ f39 1 2"/>
                  <a:gd name="f43" fmla="*/ f40 1 2"/>
                  <a:gd name="f44" fmla="*/ f41 1 f8"/>
                  <a:gd name="f45" fmla="+- f14 f42 0"/>
                  <a:gd name="f46" fmla="+- f14 f43 0"/>
                  <a:gd name="f47" fmla="+- f44 0 f2"/>
                  <a:gd name="f48" fmla="*/ f43 f31 1"/>
                  <a:gd name="f49" fmla="*/ f42 f31 1"/>
                  <a:gd name="f50" fmla="cos 1 f47"/>
                  <a:gd name="f51" fmla="sin 1 f47"/>
                  <a:gd name="f52" fmla="*/ f45 f31 1"/>
                  <a:gd name="f53" fmla="+- 0 0 f50"/>
                  <a:gd name="f54" fmla="+- 0 0 f51"/>
                  <a:gd name="f55" fmla="+- 0 0 f53"/>
                  <a:gd name="f56" fmla="+- 0 0 f54"/>
                  <a:gd name="f57" fmla="*/ f55 f43 1"/>
                  <a:gd name="f58" fmla="*/ f56 f42 1"/>
                  <a:gd name="f59" fmla="+- f46 0 f57"/>
                  <a:gd name="f60" fmla="+- f46 f57 0"/>
                  <a:gd name="f61" fmla="+- f45 0 f58"/>
                  <a:gd name="f62" fmla="+- f45 f58 0"/>
                  <a:gd name="f63" fmla="*/ f59 f31 1"/>
                  <a:gd name="f64" fmla="*/ f61 f31 1"/>
                  <a:gd name="f65" fmla="*/ f60 f31 1"/>
                  <a:gd name="f66" fmla="*/ f62 f31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  <a:cxn ang="f29">
                    <a:pos x="f63" y="f64"/>
                  </a:cxn>
                  <a:cxn ang="f30">
                    <a:pos x="f63" y="f66"/>
                  </a:cxn>
                  <a:cxn ang="f30">
                    <a:pos x="f65" y="f66"/>
                  </a:cxn>
                  <a:cxn ang="f29">
                    <a:pos x="f65" y="f64"/>
                  </a:cxn>
                </a:cxnLst>
                <a:rect l="f63" t="f64" r="f65" b="f66"/>
                <a:pathLst>
                  <a:path>
                    <a:moveTo>
                      <a:pt x="f38" y="f52"/>
                    </a:moveTo>
                    <a:arcTo wR="f48" hR="f49" stAng="f1" swAng="f0"/>
                    <a:close/>
                  </a:path>
                </a:pathLst>
              </a:custGeom>
              <a:solidFill>
                <a:srgbClr val="4C6A35"/>
              </a:solidFill>
              <a:ln w="19046" cap="flat">
                <a:solidFill>
                  <a:srgbClr val="FFFFFF"/>
                </a:solidFill>
                <a:prstDash val="solid"/>
                <a:miter/>
              </a:ln>
            </p:spPr>
            <p:txBody>
              <a:bodyPr vert="horz" wrap="square" lIns="0" tIns="0" rIns="0" bIns="0" anchor="ctr" anchorCtr="1" compatLnSpc="1">
                <a:noAutofit/>
              </a:bodyPr>
              <a:lstStyle/>
              <a:p>
                <a:pPr marL="0" marR="0" lvl="0" indent="0" algn="ctr" defTabSz="914400" rtl="0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US" sz="900" b="1" i="0" u="none" strike="noStrike" kern="1200" cap="none" spc="0" baseline="0">
                    <a:solidFill>
                      <a:srgbClr val="FFFFFF"/>
                    </a:solidFill>
                    <a:uFillTx/>
                    <a:latin typeface="72 Condensed"/>
                  </a:rPr>
                  <a:t>2h</a:t>
                </a:r>
              </a:p>
            </p:txBody>
          </p:sp>
          <p:sp>
            <p:nvSpPr>
              <p:cNvPr id="22" name="TextBox 165">
                <a:extLst>
                  <a:ext uri="{FF2B5EF4-FFF2-40B4-BE49-F238E27FC236}">
                    <a16:creationId xmlns:a16="http://schemas.microsoft.com/office/drawing/2014/main" id="{2D79C7BB-9CCF-91F1-4C1F-CB67B76DF310}"/>
                  </a:ext>
                </a:extLst>
              </p:cNvPr>
              <p:cNvSpPr txBox="1"/>
              <p:nvPr/>
            </p:nvSpPr>
            <p:spPr>
              <a:xfrm>
                <a:off x="4699037" y="2171361"/>
                <a:ext cx="1133856" cy="457200"/>
              </a:xfrm>
              <a:prstGeom prst="rect">
                <a:avLst/>
              </a:prstGeom>
              <a:noFill/>
              <a:ln cap="flat">
                <a:noFill/>
              </a:ln>
            </p:spPr>
            <p:txBody>
              <a:bodyPr vert="horz" wrap="square" lIns="0" tIns="0" rIns="0" bIns="0" anchor="b" anchorCtr="1" compatLnSpc="1">
                <a:spAutoFit/>
              </a:bodyPr>
              <a:lstStyle/>
              <a:p>
                <a:pPr marL="0" marR="0" lvl="0" indent="0" algn="ctr" defTabSz="914400" rtl="0" fontAlgn="auto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n-US" sz="1000" b="1" i="0" u="none" strike="noStrike" kern="1200" cap="none" spc="0" baseline="0">
                    <a:solidFill>
                      <a:srgbClr val="1F2E18"/>
                    </a:solidFill>
                    <a:uFillTx/>
                    <a:latin typeface="72 Condensed"/>
                  </a:rPr>
                  <a:t>Procesos</a:t>
                </a:r>
              </a:p>
            </p:txBody>
          </p:sp>
        </p:grpSp>
      </p:grpSp>
      <p:grpSp>
        <p:nvGrpSpPr>
          <p:cNvPr id="23" name="Grupo 44">
            <a:extLst>
              <a:ext uri="{FF2B5EF4-FFF2-40B4-BE49-F238E27FC236}">
                <a16:creationId xmlns:a16="http://schemas.microsoft.com/office/drawing/2014/main" id="{1CF2998E-4455-80C7-CDAD-8F53610B794A}"/>
              </a:ext>
            </a:extLst>
          </p:cNvPr>
          <p:cNvGrpSpPr/>
          <p:nvPr/>
        </p:nvGrpSpPr>
        <p:grpSpPr>
          <a:xfrm>
            <a:off x="6244803" y="836611"/>
            <a:ext cx="5825277" cy="3046378"/>
            <a:chOff x="6244803" y="836611"/>
            <a:chExt cx="5825277" cy="3046378"/>
          </a:xfrm>
        </p:grpSpPr>
        <p:pic>
          <p:nvPicPr>
            <p:cNvPr id="24" name="WhatsApp Video 2026-08-14 at 8.49.35 AM">
              <a:extLst>
                <a:ext uri="{FF2B5EF4-FFF2-40B4-BE49-F238E27FC236}">
                  <a16:creationId xmlns:a16="http://schemas.microsoft.com/office/drawing/2014/main" id="{48BFDF32-079C-AEF5-82FC-125C0FFB06E7}"/>
                </a:ext>
              </a:extLst>
            </p:cNvPr>
            <p:cNvPicPr>
              <a:picLocks noChangeAspect="1"/>
            </p:cNvPicPr>
            <p:nvPr>
              <a:videoFile r:link="rId2"/>
              <p:extLst>
                <p:ext uri="{DAA4B4D4-6D71-4841-9C94-3DE7FCFB9230}">
                  <p14:media xmlns:p14="http://schemas.microsoft.com/office/powerpoint/2010/main" r:embed="rId1"/>
                </p:ext>
              </p:extLst>
            </p:nvPr>
          </p:nvPicPr>
          <p:blipFill>
            <a:blip r:embed="rId6"/>
            <a:stretch>
              <a:fillRect/>
            </a:stretch>
          </p:blipFill>
          <p:spPr>
            <a:xfrm>
              <a:off x="6244803" y="836611"/>
              <a:ext cx="1713585" cy="3046378"/>
            </a:xfrm>
            <a:prstGeom prst="rect">
              <a:avLst/>
            </a:prstGeom>
            <a:noFill/>
            <a:ln cap="flat">
              <a:noFill/>
            </a:ln>
          </p:spPr>
        </p:pic>
        <p:pic>
          <p:nvPicPr>
            <p:cNvPr id="25" name="Imagen 40">
              <a:extLst>
                <a:ext uri="{FF2B5EF4-FFF2-40B4-BE49-F238E27FC236}">
                  <a16:creationId xmlns:a16="http://schemas.microsoft.com/office/drawing/2014/main" id="{A77F5545-0E8D-C663-73E3-FD8EE8A13C1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l="13151" t="34567" r="14047"/>
            <a:stretch>
              <a:fillRect/>
            </a:stretch>
          </p:blipFill>
          <p:spPr>
            <a:xfrm>
              <a:off x="8074773" y="848398"/>
              <a:ext cx="2099910" cy="1415509"/>
            </a:xfrm>
            <a:prstGeom prst="rect">
              <a:avLst/>
            </a:prstGeom>
            <a:noFill/>
            <a:ln cap="flat">
              <a:noFill/>
            </a:ln>
          </p:spPr>
        </p:pic>
        <p:pic>
          <p:nvPicPr>
            <p:cNvPr id="26" name="Imagen 41">
              <a:extLst>
                <a:ext uri="{FF2B5EF4-FFF2-40B4-BE49-F238E27FC236}">
                  <a16:creationId xmlns:a16="http://schemas.microsoft.com/office/drawing/2014/main" id="{6F92A5BD-7FC6-5C3D-7B06-1C120307B69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 l="11129" t="10564" r="14047"/>
            <a:stretch>
              <a:fillRect/>
            </a:stretch>
          </p:blipFill>
          <p:spPr>
            <a:xfrm>
              <a:off x="8062292" y="2412470"/>
              <a:ext cx="2097487" cy="1452652"/>
            </a:xfrm>
            <a:prstGeom prst="rect">
              <a:avLst/>
            </a:prstGeom>
            <a:noFill/>
            <a:ln cap="flat">
              <a:noFill/>
            </a:ln>
          </p:spPr>
        </p:pic>
        <p:grpSp>
          <p:nvGrpSpPr>
            <p:cNvPr id="27" name="Grupo 43">
              <a:extLst>
                <a:ext uri="{FF2B5EF4-FFF2-40B4-BE49-F238E27FC236}">
                  <a16:creationId xmlns:a16="http://schemas.microsoft.com/office/drawing/2014/main" id="{E386AB49-4F3B-F8D8-040C-117E1B15BF2E}"/>
                </a:ext>
              </a:extLst>
            </p:cNvPr>
            <p:cNvGrpSpPr/>
            <p:nvPr/>
          </p:nvGrpSpPr>
          <p:grpSpPr>
            <a:xfrm>
              <a:off x="10287000" y="845820"/>
              <a:ext cx="1783080" cy="2990088"/>
              <a:chOff x="10287000" y="845820"/>
              <a:chExt cx="1783080" cy="2990088"/>
            </a:xfrm>
          </p:grpSpPr>
          <p:sp>
            <p:nvSpPr>
              <p:cNvPr id="28" name="Rounded Rectangle 168">
                <a:extLst>
                  <a:ext uri="{FF2B5EF4-FFF2-40B4-BE49-F238E27FC236}">
                    <a16:creationId xmlns:a16="http://schemas.microsoft.com/office/drawing/2014/main" id="{4160C821-A0FD-679D-56FD-570EBAD3CBE9}"/>
                  </a:ext>
                </a:extLst>
              </p:cNvPr>
              <p:cNvSpPr/>
              <p:nvPr/>
            </p:nvSpPr>
            <p:spPr>
              <a:xfrm>
                <a:off x="10287000" y="845820"/>
                <a:ext cx="1783080" cy="2990088"/>
              </a:xfrm>
              <a:custGeom>
                <a:avLst>
                  <a:gd name="f0" fmla="val 1728"/>
                </a:avLst>
                <a:gdLst>
                  <a:gd name="f1" fmla="val 10800000"/>
                  <a:gd name="f2" fmla="val 5400000"/>
                  <a:gd name="f3" fmla="val 16200000"/>
                  <a:gd name="f4" fmla="val w"/>
                  <a:gd name="f5" fmla="val h"/>
                  <a:gd name="f6" fmla="val ss"/>
                  <a:gd name="f7" fmla="val 0"/>
                  <a:gd name="f8" fmla="*/ 5419351 1 1725033"/>
                  <a:gd name="f9" fmla="val 45"/>
                  <a:gd name="f10" fmla="val 10800"/>
                  <a:gd name="f11" fmla="val -2147483647"/>
                  <a:gd name="f12" fmla="val 2147483647"/>
                  <a:gd name="f13" fmla="abs f4"/>
                  <a:gd name="f14" fmla="abs f5"/>
                  <a:gd name="f15" fmla="abs f6"/>
                  <a:gd name="f16" fmla="*/ f8 1 180"/>
                  <a:gd name="f17" fmla="pin 0 f0 10800"/>
                  <a:gd name="f18" fmla="+- 0 0 f2"/>
                  <a:gd name="f19" fmla="?: f13 f4 1"/>
                  <a:gd name="f20" fmla="?: f14 f5 1"/>
                  <a:gd name="f21" fmla="?: f15 f6 1"/>
                  <a:gd name="f22" fmla="*/ f9 f16 1"/>
                  <a:gd name="f23" fmla="+- f7 f17 0"/>
                  <a:gd name="f24" fmla="*/ f19 1 21600"/>
                  <a:gd name="f25" fmla="*/ f20 1 21600"/>
                  <a:gd name="f26" fmla="*/ 21600 f19 1"/>
                  <a:gd name="f27" fmla="*/ 21600 f20 1"/>
                  <a:gd name="f28" fmla="+- 0 0 f22"/>
                  <a:gd name="f29" fmla="min f25 f24"/>
                  <a:gd name="f30" fmla="*/ f26 1 f21"/>
                  <a:gd name="f31" fmla="*/ f27 1 f21"/>
                  <a:gd name="f32" fmla="*/ f28 f1 1"/>
                  <a:gd name="f33" fmla="*/ f32 1 f8"/>
                  <a:gd name="f34" fmla="+- f31 0 f17"/>
                  <a:gd name="f35" fmla="+- f30 0 f17"/>
                  <a:gd name="f36" fmla="*/ f17 f29 1"/>
                  <a:gd name="f37" fmla="*/ f7 f29 1"/>
                  <a:gd name="f38" fmla="*/ f23 f29 1"/>
                  <a:gd name="f39" fmla="*/ f31 f29 1"/>
                  <a:gd name="f40" fmla="*/ f30 f29 1"/>
                  <a:gd name="f41" fmla="+- f33 0 f2"/>
                  <a:gd name="f42" fmla="+- f37 0 f38"/>
                  <a:gd name="f43" fmla="+- f38 0 f37"/>
                  <a:gd name="f44" fmla="*/ f34 f29 1"/>
                  <a:gd name="f45" fmla="*/ f35 f29 1"/>
                  <a:gd name="f46" fmla="cos 1 f41"/>
                  <a:gd name="f47" fmla="abs f42"/>
                  <a:gd name="f48" fmla="abs f43"/>
                  <a:gd name="f49" fmla="?: f42 f18 f2"/>
                  <a:gd name="f50" fmla="?: f42 f2 f18"/>
                  <a:gd name="f51" fmla="?: f42 f3 f2"/>
                  <a:gd name="f52" fmla="?: f42 f2 f3"/>
                  <a:gd name="f53" fmla="+- f39 0 f44"/>
                  <a:gd name="f54" fmla="?: f43 f18 f2"/>
                  <a:gd name="f55" fmla="?: f43 f2 f18"/>
                  <a:gd name="f56" fmla="+- f40 0 f45"/>
                  <a:gd name="f57" fmla="+- f44 0 f39"/>
                  <a:gd name="f58" fmla="+- f45 0 f40"/>
                  <a:gd name="f59" fmla="?: f42 0 f1"/>
                  <a:gd name="f60" fmla="?: f42 f1 0"/>
                  <a:gd name="f61" fmla="+- 0 0 f46"/>
                  <a:gd name="f62" fmla="?: f42 f52 f51"/>
                  <a:gd name="f63" fmla="?: f42 f51 f52"/>
                  <a:gd name="f64" fmla="?: f43 f50 f49"/>
                  <a:gd name="f65" fmla="abs f53"/>
                  <a:gd name="f66" fmla="?: f53 0 f1"/>
                  <a:gd name="f67" fmla="?: f53 f1 0"/>
                  <a:gd name="f68" fmla="?: f53 f54 f55"/>
                  <a:gd name="f69" fmla="abs f56"/>
                  <a:gd name="f70" fmla="abs f57"/>
                  <a:gd name="f71" fmla="?: f56 f18 f2"/>
                  <a:gd name="f72" fmla="?: f56 f2 f18"/>
                  <a:gd name="f73" fmla="?: f56 f3 f2"/>
                  <a:gd name="f74" fmla="?: f56 f2 f3"/>
                  <a:gd name="f75" fmla="abs f58"/>
                  <a:gd name="f76" fmla="?: f58 f18 f2"/>
                  <a:gd name="f77" fmla="?: f58 f2 f18"/>
                  <a:gd name="f78" fmla="?: f58 f60 f59"/>
                  <a:gd name="f79" fmla="?: f58 f59 f60"/>
                  <a:gd name="f80" fmla="*/ f17 f61 1"/>
                  <a:gd name="f81" fmla="?: f43 f63 f62"/>
                  <a:gd name="f82" fmla="?: f43 f67 f66"/>
                  <a:gd name="f83" fmla="?: f43 f66 f67"/>
                  <a:gd name="f84" fmla="?: f56 f74 f73"/>
                  <a:gd name="f85" fmla="?: f56 f73 f74"/>
                  <a:gd name="f86" fmla="?: f57 f72 f71"/>
                  <a:gd name="f87" fmla="?: f42 f78 f79"/>
                  <a:gd name="f88" fmla="?: f42 f76 f77"/>
                  <a:gd name="f89" fmla="*/ f80 3163 1"/>
                  <a:gd name="f90" fmla="?: f53 f82 f83"/>
                  <a:gd name="f91" fmla="?: f57 f85 f84"/>
                  <a:gd name="f92" fmla="*/ f89 1 7636"/>
                  <a:gd name="f93" fmla="+- f7 f92 0"/>
                  <a:gd name="f94" fmla="+- f30 0 f92"/>
                  <a:gd name="f95" fmla="+- f31 0 f92"/>
                  <a:gd name="f96" fmla="*/ f93 f29 1"/>
                  <a:gd name="f97" fmla="*/ f94 f29 1"/>
                  <a:gd name="f98" fmla="*/ f95 f29 1"/>
                </a:gdLst>
                <a:ahLst>
                  <a:ahXY gdRefX="f0" minX="f7" maxX="f10">
                    <a:pos x="f36" y="f37"/>
                  </a:ahXY>
                </a:ahLst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96" t="f96" r="f97" b="f98"/>
                <a:pathLst>
                  <a:path>
                    <a:moveTo>
                      <a:pt x="f38" y="f37"/>
                    </a:moveTo>
                    <a:arcTo wR="f47" hR="f48" stAng="f81" swAng="f64"/>
                    <a:lnTo>
                      <a:pt x="f37" y="f44"/>
                    </a:lnTo>
                    <a:arcTo wR="f48" hR="f65" stAng="f90" swAng="f68"/>
                    <a:lnTo>
                      <a:pt x="f45" y="f39"/>
                    </a:lnTo>
                    <a:arcTo wR="f69" hR="f70" stAng="f91" swAng="f86"/>
                    <a:lnTo>
                      <a:pt x="f40" y="f38"/>
                    </a:lnTo>
                    <a:arcTo wR="f75" hR="f47" stAng="f87" swAng="f88"/>
                    <a:close/>
                  </a:path>
                </a:pathLst>
              </a:custGeom>
              <a:solidFill>
                <a:srgbClr val="C9962E"/>
              </a:solidFill>
              <a:ln cap="flat">
                <a:noFill/>
                <a:prstDash val="solid"/>
              </a:ln>
            </p:spPr>
            <p:txBody>
              <a:bodyPr vert="horz" wrap="square" lIns="0" tIns="0" rIns="0" bIns="0" anchor="ctr" anchorCtr="1" compatLnSpc="1">
                <a:noAutofit/>
              </a:bodyPr>
              <a:lstStyle/>
              <a:p>
                <a:pPr marL="0" marR="0" lvl="0" indent="0" algn="ctr" defTabSz="914400" rtl="0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endParaRPr lang="en-US" sz="1800" b="0" i="0" u="none" strike="noStrike" kern="1200" cap="none" spc="0" baseline="0">
                  <a:solidFill>
                    <a:srgbClr val="FFFFFF"/>
                  </a:solidFill>
                  <a:uFillTx/>
                  <a:latin typeface="Aptos"/>
                </a:endParaRPr>
              </a:p>
            </p:txBody>
          </p:sp>
          <p:sp>
            <p:nvSpPr>
              <p:cNvPr id="29" name="TextBox 169">
                <a:extLst>
                  <a:ext uri="{FF2B5EF4-FFF2-40B4-BE49-F238E27FC236}">
                    <a16:creationId xmlns:a16="http://schemas.microsoft.com/office/drawing/2014/main" id="{CA38CB4F-CE01-B44B-E379-38FCAF6EA500}"/>
                  </a:ext>
                </a:extLst>
              </p:cNvPr>
              <p:cNvSpPr txBox="1"/>
              <p:nvPr/>
            </p:nvSpPr>
            <p:spPr>
              <a:xfrm>
                <a:off x="10424160" y="1028700"/>
                <a:ext cx="1508760" cy="1737360"/>
              </a:xfrm>
              <a:prstGeom prst="rect">
                <a:avLst/>
              </a:prstGeom>
              <a:noFill/>
              <a:ln cap="flat">
                <a:noFill/>
              </a:ln>
            </p:spPr>
            <p:txBody>
              <a:bodyPr vert="horz" wrap="square" lIns="0" tIns="0" rIns="0" bIns="0" anchor="t" anchorCtr="0" compatLnSpc="1">
                <a:spAutoFit/>
              </a:bodyPr>
              <a:lstStyle/>
              <a:p>
                <a:pPr marL="0" marR="0" lvl="0" indent="0" algn="l" defTabSz="914400" rtl="0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s-ES" sz="1300" b="1" i="0" u="none" strike="noStrike" kern="1200" cap="none" spc="0" baseline="0">
                    <a:solidFill>
                      <a:srgbClr val="1F2E18"/>
                    </a:solidFill>
                    <a:uFillTx/>
                    <a:latin typeface="72 Condensed"/>
                  </a:rPr>
                  <a:t>ROBUSTECIMOS LAS CAPACIDADES TÉCNICAS, DE PROCESOS Y DE LIDERAZGO</a:t>
                </a:r>
              </a:p>
            </p:txBody>
          </p:sp>
          <p:sp>
            <p:nvSpPr>
              <p:cNvPr id="30" name="TextBox 170">
                <a:extLst>
                  <a:ext uri="{FF2B5EF4-FFF2-40B4-BE49-F238E27FC236}">
                    <a16:creationId xmlns:a16="http://schemas.microsoft.com/office/drawing/2014/main" id="{A4C3B7BE-BA53-53D3-40D4-7EABAC738DF7}"/>
                  </a:ext>
                </a:extLst>
              </p:cNvPr>
              <p:cNvSpPr txBox="1"/>
              <p:nvPr/>
            </p:nvSpPr>
            <p:spPr>
              <a:xfrm>
                <a:off x="10424160" y="2720339"/>
                <a:ext cx="1508760" cy="1005840"/>
              </a:xfrm>
              <a:prstGeom prst="rect">
                <a:avLst/>
              </a:prstGeom>
              <a:noFill/>
              <a:ln cap="flat">
                <a:noFill/>
              </a:ln>
            </p:spPr>
            <p:txBody>
              <a:bodyPr vert="horz" wrap="square" lIns="0" tIns="0" rIns="0" bIns="0" anchor="t" anchorCtr="0" compatLnSpc="1">
                <a:spAutoFit/>
              </a:bodyPr>
              <a:lstStyle/>
              <a:p>
                <a:pPr marL="0" marR="0" lvl="0" indent="0" algn="l" defTabSz="914400" rtl="0" fontAlgn="auto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:r>
                  <a:rPr lang="es-ES" sz="1000" b="0" i="0" u="none" strike="noStrike" kern="1200" cap="none" spc="0" baseline="0">
                    <a:solidFill>
                      <a:srgbClr val="1F2E18"/>
                    </a:solidFill>
                    <a:uFillTx/>
                    <a:latin typeface="72 Condensed"/>
                  </a:rPr>
                  <a:t>Cápsulas online + formaciones presenciales con fechas definidas</a:t>
                </a:r>
              </a:p>
            </p:txBody>
          </p:sp>
        </p:grpSp>
      </p:grpSp>
      <p:cxnSp>
        <p:nvCxnSpPr>
          <p:cNvPr id="31" name="Connector 149">
            <a:extLst>
              <a:ext uri="{FF2B5EF4-FFF2-40B4-BE49-F238E27FC236}">
                <a16:creationId xmlns:a16="http://schemas.microsoft.com/office/drawing/2014/main" id="{8C5BF022-922A-FB37-E37A-A04BE7A76B32}"/>
              </a:ext>
            </a:extLst>
          </p:cNvPr>
          <p:cNvCxnSpPr>
            <a:stCxn id="36" idx="3"/>
          </p:cNvCxnSpPr>
          <p:nvPr/>
        </p:nvCxnSpPr>
        <p:spPr>
          <a:xfrm>
            <a:off x="1148010" y="5720765"/>
            <a:ext cx="2735794" cy="21548"/>
          </a:xfrm>
          <a:prstGeom prst="straightConnector1">
            <a:avLst/>
          </a:prstGeom>
          <a:noFill/>
          <a:ln w="25402" cap="flat">
            <a:solidFill>
              <a:srgbClr val="A9B09C"/>
            </a:solidFill>
            <a:prstDash val="solid"/>
            <a:miter/>
          </a:ln>
        </p:spPr>
      </p:cxnSp>
      <p:grpSp>
        <p:nvGrpSpPr>
          <p:cNvPr id="32" name="Grupo 13">
            <a:extLst>
              <a:ext uri="{FF2B5EF4-FFF2-40B4-BE49-F238E27FC236}">
                <a16:creationId xmlns:a16="http://schemas.microsoft.com/office/drawing/2014/main" id="{A9E754CC-8E54-30FC-99C7-E5140E94AF78}"/>
              </a:ext>
            </a:extLst>
          </p:cNvPr>
          <p:cNvGrpSpPr/>
          <p:nvPr/>
        </p:nvGrpSpPr>
        <p:grpSpPr>
          <a:xfrm>
            <a:off x="297180" y="4685641"/>
            <a:ext cx="3154680" cy="274320"/>
            <a:chOff x="297180" y="4685641"/>
            <a:chExt cx="3154680" cy="274320"/>
          </a:xfrm>
        </p:grpSpPr>
        <p:sp>
          <p:nvSpPr>
            <p:cNvPr id="33" name="Oval 147">
              <a:extLst>
                <a:ext uri="{FF2B5EF4-FFF2-40B4-BE49-F238E27FC236}">
                  <a16:creationId xmlns:a16="http://schemas.microsoft.com/office/drawing/2014/main" id="{45436E03-1166-BCB6-DBD9-9D55791D863B}"/>
                </a:ext>
              </a:extLst>
            </p:cNvPr>
            <p:cNvSpPr/>
            <p:nvPr/>
          </p:nvSpPr>
          <p:spPr>
            <a:xfrm>
              <a:off x="297180" y="4740505"/>
              <a:ext cx="164592" cy="164592"/>
            </a:xfrm>
            <a:custGeom>
              <a:avLst/>
              <a:gdLst>
                <a:gd name="f0" fmla="val 21600000"/>
                <a:gd name="f1" fmla="val 10800000"/>
                <a:gd name="f2" fmla="val 5400000"/>
                <a:gd name="f3" fmla="val 18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+- 0 0 -360"/>
                <a:gd name="f10" fmla="+- 0 0 -180"/>
                <a:gd name="f11" fmla="abs f4"/>
                <a:gd name="f12" fmla="abs f5"/>
                <a:gd name="f13" fmla="abs f6"/>
                <a:gd name="f14" fmla="val f7"/>
                <a:gd name="f15" fmla="+- 2700000 f2 0"/>
                <a:gd name="f16" fmla="*/ f9 f1 1"/>
                <a:gd name="f17" fmla="*/ f10 f1 1"/>
                <a:gd name="f18" fmla="?: f11 f4 1"/>
                <a:gd name="f19" fmla="?: f12 f5 1"/>
                <a:gd name="f20" fmla="?: f13 f6 1"/>
                <a:gd name="f21" fmla="*/ f15 f8 1"/>
                <a:gd name="f22" fmla="*/ f16 1 f3"/>
                <a:gd name="f23" fmla="*/ f17 1 f3"/>
                <a:gd name="f24" fmla="*/ f18 1 21600"/>
                <a:gd name="f25" fmla="*/ f19 1 21600"/>
                <a:gd name="f26" fmla="*/ 21600 f18 1"/>
                <a:gd name="f27" fmla="*/ 21600 f19 1"/>
                <a:gd name="f28" fmla="*/ f21 1 f1"/>
                <a:gd name="f29" fmla="+- f22 0 f2"/>
                <a:gd name="f30" fmla="+- f23 0 f2"/>
                <a:gd name="f31" fmla="min f25 f24"/>
                <a:gd name="f32" fmla="*/ f26 1 f20"/>
                <a:gd name="f33" fmla="*/ f27 1 f20"/>
                <a:gd name="f34" fmla="+- 0 0 f28"/>
                <a:gd name="f35" fmla="val f32"/>
                <a:gd name="f36" fmla="val f33"/>
                <a:gd name="f37" fmla="+- 0 0 f34"/>
                <a:gd name="f38" fmla="*/ f14 f31 1"/>
                <a:gd name="f39" fmla="+- f36 0 f14"/>
                <a:gd name="f40" fmla="+- f35 0 f14"/>
                <a:gd name="f41" fmla="*/ f37 f1 1"/>
                <a:gd name="f42" fmla="*/ f39 1 2"/>
                <a:gd name="f43" fmla="*/ f40 1 2"/>
                <a:gd name="f44" fmla="*/ f41 1 f8"/>
                <a:gd name="f45" fmla="+- f14 f42 0"/>
                <a:gd name="f46" fmla="+- f14 f43 0"/>
                <a:gd name="f47" fmla="+- f44 0 f2"/>
                <a:gd name="f48" fmla="*/ f43 f31 1"/>
                <a:gd name="f49" fmla="*/ f42 f31 1"/>
                <a:gd name="f50" fmla="cos 1 f47"/>
                <a:gd name="f51" fmla="sin 1 f47"/>
                <a:gd name="f52" fmla="*/ f45 f31 1"/>
                <a:gd name="f53" fmla="+- 0 0 f50"/>
                <a:gd name="f54" fmla="+- 0 0 f51"/>
                <a:gd name="f55" fmla="+- 0 0 f53"/>
                <a:gd name="f56" fmla="+- 0 0 f54"/>
                <a:gd name="f57" fmla="*/ f55 f43 1"/>
                <a:gd name="f58" fmla="*/ f56 f42 1"/>
                <a:gd name="f59" fmla="+- f46 0 f57"/>
                <a:gd name="f60" fmla="+- f46 f57 0"/>
                <a:gd name="f61" fmla="+- f45 0 f58"/>
                <a:gd name="f62" fmla="+- f45 f58 0"/>
                <a:gd name="f63" fmla="*/ f59 f31 1"/>
                <a:gd name="f64" fmla="*/ f61 f31 1"/>
                <a:gd name="f65" fmla="*/ f60 f31 1"/>
                <a:gd name="f66" fmla="*/ f62 f31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29">
                  <a:pos x="f63" y="f64"/>
                </a:cxn>
                <a:cxn ang="f30">
                  <a:pos x="f63" y="f66"/>
                </a:cxn>
                <a:cxn ang="f30">
                  <a:pos x="f65" y="f66"/>
                </a:cxn>
                <a:cxn ang="f29">
                  <a:pos x="f65" y="f64"/>
                </a:cxn>
              </a:cxnLst>
              <a:rect l="f63" t="f64" r="f65" b="f66"/>
              <a:pathLst>
                <a:path>
                  <a:moveTo>
                    <a:pt x="f38" y="f52"/>
                  </a:moveTo>
                  <a:arcTo wR="f48" hR="f49" stAng="f1" swAng="f0"/>
                  <a:close/>
                </a:path>
              </a:pathLst>
            </a:custGeom>
            <a:solidFill>
              <a:srgbClr val="C9962E"/>
            </a:solidFill>
            <a:ln cap="flat">
              <a:noFill/>
              <a:prstDash val="solid"/>
            </a:ln>
          </p:spPr>
          <p:txBody>
            <a:bodyPr vert="horz" wrap="square" lIns="0" tIns="0" rIns="0" bIns="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1800" b="0" i="0" u="none" strike="noStrike" kern="1200" cap="none" spc="0" baseline="0">
                <a:solidFill>
                  <a:srgbClr val="FFFFFF"/>
                </a:solidFill>
                <a:uFillTx/>
                <a:latin typeface="Aptos"/>
              </a:endParaRPr>
            </a:p>
          </p:txBody>
        </p:sp>
        <p:sp>
          <p:nvSpPr>
            <p:cNvPr id="34" name="TextBox 148">
              <a:extLst>
                <a:ext uri="{FF2B5EF4-FFF2-40B4-BE49-F238E27FC236}">
                  <a16:creationId xmlns:a16="http://schemas.microsoft.com/office/drawing/2014/main" id="{2711E10E-3342-2D69-AA17-3B7AFC02E9E7}"/>
                </a:ext>
              </a:extLst>
            </p:cNvPr>
            <p:cNvSpPr txBox="1"/>
            <p:nvPr/>
          </p:nvSpPr>
          <p:spPr>
            <a:xfrm>
              <a:off x="525780" y="4685641"/>
              <a:ext cx="2926080" cy="27432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ctr" anchorCtr="0" compatLnSpc="1">
              <a:sp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s-ES" sz="1100" b="0" i="0" u="none" strike="noStrike" kern="1200" cap="none" spc="0" baseline="0">
                  <a:solidFill>
                    <a:srgbClr val="1F2E18"/>
                  </a:solidFill>
                  <a:uFillTx/>
                  <a:latin typeface="72 Condensed"/>
                </a:rPr>
                <a:t>Operadores de finca</a:t>
              </a:r>
            </a:p>
          </p:txBody>
        </p:sp>
      </p:grpSp>
      <p:grpSp>
        <p:nvGrpSpPr>
          <p:cNvPr id="35" name="Grupo 16">
            <a:extLst>
              <a:ext uri="{FF2B5EF4-FFF2-40B4-BE49-F238E27FC236}">
                <a16:creationId xmlns:a16="http://schemas.microsoft.com/office/drawing/2014/main" id="{3E568BC8-DD5C-62EB-EB7D-639A5D76B333}"/>
              </a:ext>
            </a:extLst>
          </p:cNvPr>
          <p:cNvGrpSpPr/>
          <p:nvPr/>
        </p:nvGrpSpPr>
        <p:grpSpPr>
          <a:xfrm>
            <a:off x="845820" y="4852089"/>
            <a:ext cx="3406789" cy="1737360"/>
            <a:chOff x="845820" y="4852089"/>
            <a:chExt cx="3406789" cy="1737360"/>
          </a:xfrm>
        </p:grpSpPr>
        <p:sp>
          <p:nvSpPr>
            <p:cNvPr id="36" name="Oval 160">
              <a:extLst>
                <a:ext uri="{FF2B5EF4-FFF2-40B4-BE49-F238E27FC236}">
                  <a16:creationId xmlns:a16="http://schemas.microsoft.com/office/drawing/2014/main" id="{7D78A2A6-47BA-C3A6-3881-ED5C44D86968}"/>
                </a:ext>
              </a:extLst>
            </p:cNvPr>
            <p:cNvSpPr/>
            <p:nvPr/>
          </p:nvSpPr>
          <p:spPr>
            <a:xfrm>
              <a:off x="1148010" y="5456023"/>
              <a:ext cx="529483" cy="529483"/>
            </a:xfrm>
            <a:custGeom>
              <a:avLst/>
              <a:gdLst>
                <a:gd name="f0" fmla="val 21600000"/>
                <a:gd name="f1" fmla="val 10800000"/>
                <a:gd name="f2" fmla="val 5400000"/>
                <a:gd name="f3" fmla="val 18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+- 0 0 -360"/>
                <a:gd name="f10" fmla="+- 0 0 -180"/>
                <a:gd name="f11" fmla="abs f4"/>
                <a:gd name="f12" fmla="abs f5"/>
                <a:gd name="f13" fmla="abs f6"/>
                <a:gd name="f14" fmla="val f7"/>
                <a:gd name="f15" fmla="+- 2700000 f2 0"/>
                <a:gd name="f16" fmla="*/ f9 f1 1"/>
                <a:gd name="f17" fmla="*/ f10 f1 1"/>
                <a:gd name="f18" fmla="?: f11 f4 1"/>
                <a:gd name="f19" fmla="?: f12 f5 1"/>
                <a:gd name="f20" fmla="?: f13 f6 1"/>
                <a:gd name="f21" fmla="*/ f15 f8 1"/>
                <a:gd name="f22" fmla="*/ f16 1 f3"/>
                <a:gd name="f23" fmla="*/ f17 1 f3"/>
                <a:gd name="f24" fmla="*/ f18 1 21600"/>
                <a:gd name="f25" fmla="*/ f19 1 21600"/>
                <a:gd name="f26" fmla="*/ 21600 f18 1"/>
                <a:gd name="f27" fmla="*/ 21600 f19 1"/>
                <a:gd name="f28" fmla="*/ f21 1 f1"/>
                <a:gd name="f29" fmla="+- f22 0 f2"/>
                <a:gd name="f30" fmla="+- f23 0 f2"/>
                <a:gd name="f31" fmla="min f25 f24"/>
                <a:gd name="f32" fmla="*/ f26 1 f20"/>
                <a:gd name="f33" fmla="*/ f27 1 f20"/>
                <a:gd name="f34" fmla="+- 0 0 f28"/>
                <a:gd name="f35" fmla="val f32"/>
                <a:gd name="f36" fmla="val f33"/>
                <a:gd name="f37" fmla="+- 0 0 f34"/>
                <a:gd name="f38" fmla="*/ f14 f31 1"/>
                <a:gd name="f39" fmla="+- f36 0 f14"/>
                <a:gd name="f40" fmla="+- f35 0 f14"/>
                <a:gd name="f41" fmla="*/ f37 f1 1"/>
                <a:gd name="f42" fmla="*/ f39 1 2"/>
                <a:gd name="f43" fmla="*/ f40 1 2"/>
                <a:gd name="f44" fmla="*/ f41 1 f8"/>
                <a:gd name="f45" fmla="+- f14 f42 0"/>
                <a:gd name="f46" fmla="+- f14 f43 0"/>
                <a:gd name="f47" fmla="+- f44 0 f2"/>
                <a:gd name="f48" fmla="*/ f43 f31 1"/>
                <a:gd name="f49" fmla="*/ f42 f31 1"/>
                <a:gd name="f50" fmla="cos 1 f47"/>
                <a:gd name="f51" fmla="sin 1 f47"/>
                <a:gd name="f52" fmla="*/ f45 f31 1"/>
                <a:gd name="f53" fmla="+- 0 0 f50"/>
                <a:gd name="f54" fmla="+- 0 0 f51"/>
                <a:gd name="f55" fmla="+- 0 0 f53"/>
                <a:gd name="f56" fmla="+- 0 0 f54"/>
                <a:gd name="f57" fmla="*/ f55 f43 1"/>
                <a:gd name="f58" fmla="*/ f56 f42 1"/>
                <a:gd name="f59" fmla="+- f46 0 f57"/>
                <a:gd name="f60" fmla="+- f46 f57 0"/>
                <a:gd name="f61" fmla="+- f45 0 f58"/>
                <a:gd name="f62" fmla="+- f45 f58 0"/>
                <a:gd name="f63" fmla="*/ f59 f31 1"/>
                <a:gd name="f64" fmla="*/ f61 f31 1"/>
                <a:gd name="f65" fmla="*/ f60 f31 1"/>
                <a:gd name="f66" fmla="*/ f62 f31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29">
                  <a:pos x="f63" y="f64"/>
                </a:cxn>
                <a:cxn ang="f30">
                  <a:pos x="f63" y="f66"/>
                </a:cxn>
                <a:cxn ang="f30">
                  <a:pos x="f65" y="f66"/>
                </a:cxn>
                <a:cxn ang="f29">
                  <a:pos x="f65" y="f64"/>
                </a:cxn>
              </a:cxnLst>
              <a:rect l="f63" t="f64" r="f65" b="f66"/>
              <a:pathLst>
                <a:path>
                  <a:moveTo>
                    <a:pt x="f38" y="f52"/>
                  </a:moveTo>
                  <a:arcTo wR="f48" hR="f49" stAng="f1" swAng="f0"/>
                  <a:close/>
                </a:path>
              </a:pathLst>
            </a:custGeom>
            <a:solidFill>
              <a:srgbClr val="4C6A35"/>
            </a:solidFill>
            <a:ln w="19046" cap="flat">
              <a:solidFill>
                <a:srgbClr val="FFFFFF"/>
              </a:solidFill>
              <a:prstDash val="solid"/>
              <a:miter/>
            </a:ln>
          </p:spPr>
          <p:txBody>
            <a:bodyPr vert="horz" wrap="square" lIns="0" tIns="0" rIns="0" bIns="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200" b="1" i="0" u="none" strike="noStrike" kern="1200" cap="none" spc="0" baseline="0">
                  <a:solidFill>
                    <a:srgbClr val="FFFFFF"/>
                  </a:solidFill>
                  <a:uFillTx/>
                  <a:latin typeface="72 Condensed"/>
                </a:rPr>
                <a:t>8h</a:t>
              </a:r>
            </a:p>
          </p:txBody>
        </p:sp>
        <p:sp>
          <p:nvSpPr>
            <p:cNvPr id="37" name="TextBox 161">
              <a:extLst>
                <a:ext uri="{FF2B5EF4-FFF2-40B4-BE49-F238E27FC236}">
                  <a16:creationId xmlns:a16="http://schemas.microsoft.com/office/drawing/2014/main" id="{E943F008-00CD-14A0-CA0A-AAA2367431C0}"/>
                </a:ext>
              </a:extLst>
            </p:cNvPr>
            <p:cNvSpPr txBox="1"/>
            <p:nvPr/>
          </p:nvSpPr>
          <p:spPr>
            <a:xfrm>
              <a:off x="845820" y="4852089"/>
              <a:ext cx="1133856" cy="45720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b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000" b="1" i="0" u="none" strike="noStrike" kern="1200" cap="none" spc="0" baseline="0">
                  <a:solidFill>
                    <a:srgbClr val="1F2E18"/>
                  </a:solidFill>
                  <a:uFillTx/>
                  <a:latin typeface="72 Condensed"/>
                </a:rPr>
                <a:t>Refuerzo agronómico</a:t>
              </a:r>
            </a:p>
          </p:txBody>
        </p:sp>
        <p:sp>
          <p:nvSpPr>
            <p:cNvPr id="38" name="Oval 162">
              <a:extLst>
                <a:ext uri="{FF2B5EF4-FFF2-40B4-BE49-F238E27FC236}">
                  <a16:creationId xmlns:a16="http://schemas.microsoft.com/office/drawing/2014/main" id="{B9F87959-3043-F42A-6802-BF64B5AC2853}"/>
                </a:ext>
              </a:extLst>
            </p:cNvPr>
            <p:cNvSpPr/>
            <p:nvPr/>
          </p:nvSpPr>
          <p:spPr>
            <a:xfrm>
              <a:off x="1905655" y="5456023"/>
              <a:ext cx="529483" cy="529483"/>
            </a:xfrm>
            <a:custGeom>
              <a:avLst/>
              <a:gdLst>
                <a:gd name="f0" fmla="val 21600000"/>
                <a:gd name="f1" fmla="val 10800000"/>
                <a:gd name="f2" fmla="val 5400000"/>
                <a:gd name="f3" fmla="val 18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+- 0 0 -360"/>
                <a:gd name="f10" fmla="+- 0 0 -180"/>
                <a:gd name="f11" fmla="abs f4"/>
                <a:gd name="f12" fmla="abs f5"/>
                <a:gd name="f13" fmla="abs f6"/>
                <a:gd name="f14" fmla="val f7"/>
                <a:gd name="f15" fmla="+- 2700000 f2 0"/>
                <a:gd name="f16" fmla="*/ f9 f1 1"/>
                <a:gd name="f17" fmla="*/ f10 f1 1"/>
                <a:gd name="f18" fmla="?: f11 f4 1"/>
                <a:gd name="f19" fmla="?: f12 f5 1"/>
                <a:gd name="f20" fmla="?: f13 f6 1"/>
                <a:gd name="f21" fmla="*/ f15 f8 1"/>
                <a:gd name="f22" fmla="*/ f16 1 f3"/>
                <a:gd name="f23" fmla="*/ f17 1 f3"/>
                <a:gd name="f24" fmla="*/ f18 1 21600"/>
                <a:gd name="f25" fmla="*/ f19 1 21600"/>
                <a:gd name="f26" fmla="*/ 21600 f18 1"/>
                <a:gd name="f27" fmla="*/ 21600 f19 1"/>
                <a:gd name="f28" fmla="*/ f21 1 f1"/>
                <a:gd name="f29" fmla="+- f22 0 f2"/>
                <a:gd name="f30" fmla="+- f23 0 f2"/>
                <a:gd name="f31" fmla="min f25 f24"/>
                <a:gd name="f32" fmla="*/ f26 1 f20"/>
                <a:gd name="f33" fmla="*/ f27 1 f20"/>
                <a:gd name="f34" fmla="+- 0 0 f28"/>
                <a:gd name="f35" fmla="val f32"/>
                <a:gd name="f36" fmla="val f33"/>
                <a:gd name="f37" fmla="+- 0 0 f34"/>
                <a:gd name="f38" fmla="*/ f14 f31 1"/>
                <a:gd name="f39" fmla="+- f36 0 f14"/>
                <a:gd name="f40" fmla="+- f35 0 f14"/>
                <a:gd name="f41" fmla="*/ f37 f1 1"/>
                <a:gd name="f42" fmla="*/ f39 1 2"/>
                <a:gd name="f43" fmla="*/ f40 1 2"/>
                <a:gd name="f44" fmla="*/ f41 1 f8"/>
                <a:gd name="f45" fmla="+- f14 f42 0"/>
                <a:gd name="f46" fmla="+- f14 f43 0"/>
                <a:gd name="f47" fmla="+- f44 0 f2"/>
                <a:gd name="f48" fmla="*/ f43 f31 1"/>
                <a:gd name="f49" fmla="*/ f42 f31 1"/>
                <a:gd name="f50" fmla="cos 1 f47"/>
                <a:gd name="f51" fmla="sin 1 f47"/>
                <a:gd name="f52" fmla="*/ f45 f31 1"/>
                <a:gd name="f53" fmla="+- 0 0 f50"/>
                <a:gd name="f54" fmla="+- 0 0 f51"/>
                <a:gd name="f55" fmla="+- 0 0 f53"/>
                <a:gd name="f56" fmla="+- 0 0 f54"/>
                <a:gd name="f57" fmla="*/ f55 f43 1"/>
                <a:gd name="f58" fmla="*/ f56 f42 1"/>
                <a:gd name="f59" fmla="+- f46 0 f57"/>
                <a:gd name="f60" fmla="+- f46 f57 0"/>
                <a:gd name="f61" fmla="+- f45 0 f58"/>
                <a:gd name="f62" fmla="+- f45 f58 0"/>
                <a:gd name="f63" fmla="*/ f59 f31 1"/>
                <a:gd name="f64" fmla="*/ f61 f31 1"/>
                <a:gd name="f65" fmla="*/ f60 f31 1"/>
                <a:gd name="f66" fmla="*/ f62 f31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29">
                  <a:pos x="f63" y="f64"/>
                </a:cxn>
                <a:cxn ang="f30">
                  <a:pos x="f63" y="f66"/>
                </a:cxn>
                <a:cxn ang="f30">
                  <a:pos x="f65" y="f66"/>
                </a:cxn>
                <a:cxn ang="f29">
                  <a:pos x="f65" y="f64"/>
                </a:cxn>
              </a:cxnLst>
              <a:rect l="f63" t="f64" r="f65" b="f66"/>
              <a:pathLst>
                <a:path>
                  <a:moveTo>
                    <a:pt x="f38" y="f52"/>
                  </a:moveTo>
                  <a:arcTo wR="f48" hR="f49" stAng="f1" swAng="f0"/>
                  <a:close/>
                </a:path>
              </a:pathLst>
            </a:custGeom>
            <a:solidFill>
              <a:srgbClr val="C9962E"/>
            </a:solidFill>
            <a:ln w="19046" cap="flat">
              <a:solidFill>
                <a:srgbClr val="FFFFFF"/>
              </a:solidFill>
              <a:prstDash val="solid"/>
              <a:miter/>
            </a:ln>
          </p:spPr>
          <p:txBody>
            <a:bodyPr vert="horz" wrap="square" lIns="0" tIns="0" rIns="0" bIns="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200" b="1" i="0" u="none" strike="noStrike" kern="1200" cap="none" spc="0" baseline="0">
                  <a:solidFill>
                    <a:srgbClr val="1F2E18"/>
                  </a:solidFill>
                  <a:uFillTx/>
                  <a:latin typeface="72 Condensed"/>
                </a:rPr>
                <a:t>8h</a:t>
              </a:r>
            </a:p>
          </p:txBody>
        </p:sp>
        <p:sp>
          <p:nvSpPr>
            <p:cNvPr id="39" name="TextBox 163">
              <a:extLst>
                <a:ext uri="{FF2B5EF4-FFF2-40B4-BE49-F238E27FC236}">
                  <a16:creationId xmlns:a16="http://schemas.microsoft.com/office/drawing/2014/main" id="{7C37703A-7BEC-DBDE-B2A2-DB76619A4C0E}"/>
                </a:ext>
              </a:extLst>
            </p:cNvPr>
            <p:cNvSpPr txBox="1"/>
            <p:nvPr/>
          </p:nvSpPr>
          <p:spPr>
            <a:xfrm>
              <a:off x="1603464" y="6132249"/>
              <a:ext cx="1133856" cy="45720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000" b="1" i="0" u="none" strike="noStrike" kern="1200" cap="none" spc="0" baseline="0">
                  <a:solidFill>
                    <a:srgbClr val="1F2E18"/>
                  </a:solidFill>
                  <a:uFillTx/>
                  <a:latin typeface="72 Condensed"/>
                </a:rPr>
                <a:t>Calibración de sembradoras</a:t>
              </a:r>
            </a:p>
          </p:txBody>
        </p:sp>
        <p:sp>
          <p:nvSpPr>
            <p:cNvPr id="40" name="Oval 164">
              <a:extLst>
                <a:ext uri="{FF2B5EF4-FFF2-40B4-BE49-F238E27FC236}">
                  <a16:creationId xmlns:a16="http://schemas.microsoft.com/office/drawing/2014/main" id="{C2D5D4A6-680C-DBB1-405E-8552E17A8DC6}"/>
                </a:ext>
              </a:extLst>
            </p:cNvPr>
            <p:cNvSpPr/>
            <p:nvPr/>
          </p:nvSpPr>
          <p:spPr>
            <a:xfrm>
              <a:off x="2717944" y="5510668"/>
              <a:ext cx="420185" cy="420185"/>
            </a:xfrm>
            <a:custGeom>
              <a:avLst/>
              <a:gdLst>
                <a:gd name="f0" fmla="val 21600000"/>
                <a:gd name="f1" fmla="val 10800000"/>
                <a:gd name="f2" fmla="val 5400000"/>
                <a:gd name="f3" fmla="val 18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+- 0 0 -360"/>
                <a:gd name="f10" fmla="+- 0 0 -180"/>
                <a:gd name="f11" fmla="abs f4"/>
                <a:gd name="f12" fmla="abs f5"/>
                <a:gd name="f13" fmla="abs f6"/>
                <a:gd name="f14" fmla="val f7"/>
                <a:gd name="f15" fmla="+- 2700000 f2 0"/>
                <a:gd name="f16" fmla="*/ f9 f1 1"/>
                <a:gd name="f17" fmla="*/ f10 f1 1"/>
                <a:gd name="f18" fmla="?: f11 f4 1"/>
                <a:gd name="f19" fmla="?: f12 f5 1"/>
                <a:gd name="f20" fmla="?: f13 f6 1"/>
                <a:gd name="f21" fmla="*/ f15 f8 1"/>
                <a:gd name="f22" fmla="*/ f16 1 f3"/>
                <a:gd name="f23" fmla="*/ f17 1 f3"/>
                <a:gd name="f24" fmla="*/ f18 1 21600"/>
                <a:gd name="f25" fmla="*/ f19 1 21600"/>
                <a:gd name="f26" fmla="*/ 21600 f18 1"/>
                <a:gd name="f27" fmla="*/ 21600 f19 1"/>
                <a:gd name="f28" fmla="*/ f21 1 f1"/>
                <a:gd name="f29" fmla="+- f22 0 f2"/>
                <a:gd name="f30" fmla="+- f23 0 f2"/>
                <a:gd name="f31" fmla="min f25 f24"/>
                <a:gd name="f32" fmla="*/ f26 1 f20"/>
                <a:gd name="f33" fmla="*/ f27 1 f20"/>
                <a:gd name="f34" fmla="+- 0 0 f28"/>
                <a:gd name="f35" fmla="val f32"/>
                <a:gd name="f36" fmla="val f33"/>
                <a:gd name="f37" fmla="+- 0 0 f34"/>
                <a:gd name="f38" fmla="*/ f14 f31 1"/>
                <a:gd name="f39" fmla="+- f36 0 f14"/>
                <a:gd name="f40" fmla="+- f35 0 f14"/>
                <a:gd name="f41" fmla="*/ f37 f1 1"/>
                <a:gd name="f42" fmla="*/ f39 1 2"/>
                <a:gd name="f43" fmla="*/ f40 1 2"/>
                <a:gd name="f44" fmla="*/ f41 1 f8"/>
                <a:gd name="f45" fmla="+- f14 f42 0"/>
                <a:gd name="f46" fmla="+- f14 f43 0"/>
                <a:gd name="f47" fmla="+- f44 0 f2"/>
                <a:gd name="f48" fmla="*/ f43 f31 1"/>
                <a:gd name="f49" fmla="*/ f42 f31 1"/>
                <a:gd name="f50" fmla="cos 1 f47"/>
                <a:gd name="f51" fmla="sin 1 f47"/>
                <a:gd name="f52" fmla="*/ f45 f31 1"/>
                <a:gd name="f53" fmla="+- 0 0 f50"/>
                <a:gd name="f54" fmla="+- 0 0 f51"/>
                <a:gd name="f55" fmla="+- 0 0 f53"/>
                <a:gd name="f56" fmla="+- 0 0 f54"/>
                <a:gd name="f57" fmla="*/ f55 f43 1"/>
                <a:gd name="f58" fmla="*/ f56 f42 1"/>
                <a:gd name="f59" fmla="+- f46 0 f57"/>
                <a:gd name="f60" fmla="+- f46 f57 0"/>
                <a:gd name="f61" fmla="+- f45 0 f58"/>
                <a:gd name="f62" fmla="+- f45 f58 0"/>
                <a:gd name="f63" fmla="*/ f59 f31 1"/>
                <a:gd name="f64" fmla="*/ f61 f31 1"/>
                <a:gd name="f65" fmla="*/ f60 f31 1"/>
                <a:gd name="f66" fmla="*/ f62 f31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29">
                  <a:pos x="f63" y="f64"/>
                </a:cxn>
                <a:cxn ang="f30">
                  <a:pos x="f63" y="f66"/>
                </a:cxn>
                <a:cxn ang="f30">
                  <a:pos x="f65" y="f66"/>
                </a:cxn>
                <a:cxn ang="f29">
                  <a:pos x="f65" y="f64"/>
                </a:cxn>
              </a:cxnLst>
              <a:rect l="f63" t="f64" r="f65" b="f66"/>
              <a:pathLst>
                <a:path>
                  <a:moveTo>
                    <a:pt x="f38" y="f52"/>
                  </a:moveTo>
                  <a:arcTo wR="f48" hR="f49" stAng="f1" swAng="f0"/>
                  <a:close/>
                </a:path>
              </a:pathLst>
            </a:custGeom>
            <a:solidFill>
              <a:srgbClr val="4C6A35"/>
            </a:solidFill>
            <a:ln w="19046" cap="flat">
              <a:solidFill>
                <a:srgbClr val="FFFFFF"/>
              </a:solidFill>
              <a:prstDash val="solid"/>
              <a:miter/>
            </a:ln>
          </p:spPr>
          <p:txBody>
            <a:bodyPr vert="horz" wrap="square" lIns="0" tIns="0" rIns="0" bIns="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900" b="1" i="0" u="none" strike="noStrike" kern="1200" cap="none" spc="0" baseline="0">
                  <a:solidFill>
                    <a:srgbClr val="FFFFFF"/>
                  </a:solidFill>
                  <a:uFillTx/>
                  <a:latin typeface="72 Condensed"/>
                </a:rPr>
                <a:t>2h</a:t>
              </a:r>
            </a:p>
          </p:txBody>
        </p:sp>
        <p:sp>
          <p:nvSpPr>
            <p:cNvPr id="41" name="TextBox 165">
              <a:extLst>
                <a:ext uri="{FF2B5EF4-FFF2-40B4-BE49-F238E27FC236}">
                  <a16:creationId xmlns:a16="http://schemas.microsoft.com/office/drawing/2014/main" id="{438B5117-57D7-1CD5-80C5-13C59A30D3D6}"/>
                </a:ext>
              </a:extLst>
            </p:cNvPr>
            <p:cNvSpPr txBox="1"/>
            <p:nvPr/>
          </p:nvSpPr>
          <p:spPr>
            <a:xfrm>
              <a:off x="2361108" y="4852089"/>
              <a:ext cx="1133856" cy="45720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b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000" b="1" i="0" u="none" strike="noStrike" kern="1200" cap="none" spc="0" baseline="0">
                  <a:solidFill>
                    <a:srgbClr val="1F2E18"/>
                  </a:solidFill>
                  <a:uFillTx/>
                  <a:latin typeface="72 Condensed"/>
                </a:rPr>
                <a:t>Procesos</a:t>
              </a:r>
            </a:p>
          </p:txBody>
        </p:sp>
        <p:sp>
          <p:nvSpPr>
            <p:cNvPr id="42" name="TextBox 167">
              <a:extLst>
                <a:ext uri="{FF2B5EF4-FFF2-40B4-BE49-F238E27FC236}">
                  <a16:creationId xmlns:a16="http://schemas.microsoft.com/office/drawing/2014/main" id="{C0B50115-C4BB-9A6B-6780-C7DF2A8FC835}"/>
                </a:ext>
              </a:extLst>
            </p:cNvPr>
            <p:cNvSpPr txBox="1"/>
            <p:nvPr/>
          </p:nvSpPr>
          <p:spPr>
            <a:xfrm>
              <a:off x="3118753" y="6132249"/>
              <a:ext cx="1133856" cy="45720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000" b="1" i="0" u="none" strike="noStrike" kern="1200" cap="none" spc="0" baseline="0">
                  <a:solidFill>
                    <a:srgbClr val="1F2E18"/>
                  </a:solidFill>
                  <a:uFillTx/>
                  <a:latin typeface="72 Condensed"/>
                </a:rPr>
                <a:t>Calibración de cosechadoras</a:t>
              </a:r>
            </a:p>
          </p:txBody>
        </p:sp>
        <p:sp>
          <p:nvSpPr>
            <p:cNvPr id="43" name="Oval 166">
              <a:extLst>
                <a:ext uri="{FF2B5EF4-FFF2-40B4-BE49-F238E27FC236}">
                  <a16:creationId xmlns:a16="http://schemas.microsoft.com/office/drawing/2014/main" id="{B960E4CE-B282-247E-9740-813238667C65}"/>
                </a:ext>
              </a:extLst>
            </p:cNvPr>
            <p:cNvSpPr/>
            <p:nvPr/>
          </p:nvSpPr>
          <p:spPr>
            <a:xfrm>
              <a:off x="3420944" y="5456023"/>
              <a:ext cx="529483" cy="529483"/>
            </a:xfrm>
            <a:custGeom>
              <a:avLst/>
              <a:gdLst>
                <a:gd name="f0" fmla="val 21600000"/>
                <a:gd name="f1" fmla="val 10800000"/>
                <a:gd name="f2" fmla="val 5400000"/>
                <a:gd name="f3" fmla="val 18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+- 0 0 -360"/>
                <a:gd name="f10" fmla="+- 0 0 -180"/>
                <a:gd name="f11" fmla="abs f4"/>
                <a:gd name="f12" fmla="abs f5"/>
                <a:gd name="f13" fmla="abs f6"/>
                <a:gd name="f14" fmla="val f7"/>
                <a:gd name="f15" fmla="+- 2700000 f2 0"/>
                <a:gd name="f16" fmla="*/ f9 f1 1"/>
                <a:gd name="f17" fmla="*/ f10 f1 1"/>
                <a:gd name="f18" fmla="?: f11 f4 1"/>
                <a:gd name="f19" fmla="?: f12 f5 1"/>
                <a:gd name="f20" fmla="?: f13 f6 1"/>
                <a:gd name="f21" fmla="*/ f15 f8 1"/>
                <a:gd name="f22" fmla="*/ f16 1 f3"/>
                <a:gd name="f23" fmla="*/ f17 1 f3"/>
                <a:gd name="f24" fmla="*/ f18 1 21600"/>
                <a:gd name="f25" fmla="*/ f19 1 21600"/>
                <a:gd name="f26" fmla="*/ 21600 f18 1"/>
                <a:gd name="f27" fmla="*/ 21600 f19 1"/>
                <a:gd name="f28" fmla="*/ f21 1 f1"/>
                <a:gd name="f29" fmla="+- f22 0 f2"/>
                <a:gd name="f30" fmla="+- f23 0 f2"/>
                <a:gd name="f31" fmla="min f25 f24"/>
                <a:gd name="f32" fmla="*/ f26 1 f20"/>
                <a:gd name="f33" fmla="*/ f27 1 f20"/>
                <a:gd name="f34" fmla="+- 0 0 f28"/>
                <a:gd name="f35" fmla="val f32"/>
                <a:gd name="f36" fmla="val f33"/>
                <a:gd name="f37" fmla="+- 0 0 f34"/>
                <a:gd name="f38" fmla="*/ f14 f31 1"/>
                <a:gd name="f39" fmla="+- f36 0 f14"/>
                <a:gd name="f40" fmla="+- f35 0 f14"/>
                <a:gd name="f41" fmla="*/ f37 f1 1"/>
                <a:gd name="f42" fmla="*/ f39 1 2"/>
                <a:gd name="f43" fmla="*/ f40 1 2"/>
                <a:gd name="f44" fmla="*/ f41 1 f8"/>
                <a:gd name="f45" fmla="+- f14 f42 0"/>
                <a:gd name="f46" fmla="+- f14 f43 0"/>
                <a:gd name="f47" fmla="+- f44 0 f2"/>
                <a:gd name="f48" fmla="*/ f43 f31 1"/>
                <a:gd name="f49" fmla="*/ f42 f31 1"/>
                <a:gd name="f50" fmla="cos 1 f47"/>
                <a:gd name="f51" fmla="sin 1 f47"/>
                <a:gd name="f52" fmla="*/ f45 f31 1"/>
                <a:gd name="f53" fmla="+- 0 0 f50"/>
                <a:gd name="f54" fmla="+- 0 0 f51"/>
                <a:gd name="f55" fmla="+- 0 0 f53"/>
                <a:gd name="f56" fmla="+- 0 0 f54"/>
                <a:gd name="f57" fmla="*/ f55 f43 1"/>
                <a:gd name="f58" fmla="*/ f56 f42 1"/>
                <a:gd name="f59" fmla="+- f46 0 f57"/>
                <a:gd name="f60" fmla="+- f46 f57 0"/>
                <a:gd name="f61" fmla="+- f45 0 f58"/>
                <a:gd name="f62" fmla="+- f45 f58 0"/>
                <a:gd name="f63" fmla="*/ f59 f31 1"/>
                <a:gd name="f64" fmla="*/ f61 f31 1"/>
                <a:gd name="f65" fmla="*/ f60 f31 1"/>
                <a:gd name="f66" fmla="*/ f62 f31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29">
                  <a:pos x="f63" y="f64"/>
                </a:cxn>
                <a:cxn ang="f30">
                  <a:pos x="f63" y="f66"/>
                </a:cxn>
                <a:cxn ang="f30">
                  <a:pos x="f65" y="f66"/>
                </a:cxn>
                <a:cxn ang="f29">
                  <a:pos x="f65" y="f64"/>
                </a:cxn>
              </a:cxnLst>
              <a:rect l="f63" t="f64" r="f65" b="f66"/>
              <a:pathLst>
                <a:path>
                  <a:moveTo>
                    <a:pt x="f38" y="f52"/>
                  </a:moveTo>
                  <a:arcTo wR="f48" hR="f49" stAng="f1" swAng="f0"/>
                  <a:close/>
                </a:path>
              </a:pathLst>
            </a:custGeom>
            <a:solidFill>
              <a:srgbClr val="C9962E"/>
            </a:solidFill>
            <a:ln w="19046" cap="flat">
              <a:solidFill>
                <a:srgbClr val="FFFFFF"/>
              </a:solidFill>
              <a:prstDash val="solid"/>
              <a:miter/>
            </a:ln>
          </p:spPr>
          <p:txBody>
            <a:bodyPr vert="horz" wrap="square" lIns="0" tIns="0" rIns="0" bIns="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200" b="1" i="0" u="none" strike="noStrike" kern="1200" cap="none" spc="0" baseline="0">
                  <a:solidFill>
                    <a:srgbClr val="1F2E18"/>
                  </a:solidFill>
                  <a:uFillTx/>
                  <a:latin typeface="72 Condensed"/>
                </a:rPr>
                <a:t>8h</a:t>
              </a:r>
            </a:p>
          </p:txBody>
        </p:sp>
      </p:grpSp>
      <p:grpSp>
        <p:nvGrpSpPr>
          <p:cNvPr id="44" name="Grupo 55">
            <a:extLst>
              <a:ext uri="{FF2B5EF4-FFF2-40B4-BE49-F238E27FC236}">
                <a16:creationId xmlns:a16="http://schemas.microsoft.com/office/drawing/2014/main" id="{F32C089F-1BA7-19E5-3E22-000EB631A80B}"/>
              </a:ext>
            </a:extLst>
          </p:cNvPr>
          <p:cNvGrpSpPr/>
          <p:nvPr/>
        </p:nvGrpSpPr>
        <p:grpSpPr>
          <a:xfrm>
            <a:off x="307485" y="1172964"/>
            <a:ext cx="5499137" cy="851653"/>
            <a:chOff x="307485" y="1172964"/>
            <a:chExt cx="5499137" cy="851653"/>
          </a:xfrm>
        </p:grpSpPr>
        <p:sp>
          <p:nvSpPr>
            <p:cNvPr id="45" name="Rounded Rectangle 168">
              <a:extLst>
                <a:ext uri="{FF2B5EF4-FFF2-40B4-BE49-F238E27FC236}">
                  <a16:creationId xmlns:a16="http://schemas.microsoft.com/office/drawing/2014/main" id="{A50A3A84-EED1-FF77-2778-5DF25FFB4665}"/>
                </a:ext>
              </a:extLst>
            </p:cNvPr>
            <p:cNvSpPr/>
            <p:nvPr/>
          </p:nvSpPr>
          <p:spPr>
            <a:xfrm>
              <a:off x="307485" y="1172964"/>
              <a:ext cx="5499137" cy="851653"/>
            </a:xfrm>
            <a:custGeom>
              <a:avLst>
                <a:gd name="f0" fmla="val 1728"/>
              </a:avLst>
              <a:gdLst>
                <a:gd name="f1" fmla="val 10800000"/>
                <a:gd name="f2" fmla="val 5400000"/>
                <a:gd name="f3" fmla="val 1620000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val 45"/>
                <a:gd name="f10" fmla="val 10800"/>
                <a:gd name="f11" fmla="val -2147483647"/>
                <a:gd name="f12" fmla="val 2147483647"/>
                <a:gd name="f13" fmla="abs f4"/>
                <a:gd name="f14" fmla="abs f5"/>
                <a:gd name="f15" fmla="abs f6"/>
                <a:gd name="f16" fmla="*/ f8 1 180"/>
                <a:gd name="f17" fmla="pin 0 f0 10800"/>
                <a:gd name="f18" fmla="+- 0 0 f2"/>
                <a:gd name="f19" fmla="?: f13 f4 1"/>
                <a:gd name="f20" fmla="?: f14 f5 1"/>
                <a:gd name="f21" fmla="?: f15 f6 1"/>
                <a:gd name="f22" fmla="*/ f9 f16 1"/>
                <a:gd name="f23" fmla="+- f7 f17 0"/>
                <a:gd name="f24" fmla="*/ f19 1 21600"/>
                <a:gd name="f25" fmla="*/ f20 1 21600"/>
                <a:gd name="f26" fmla="*/ 21600 f19 1"/>
                <a:gd name="f27" fmla="*/ 21600 f20 1"/>
                <a:gd name="f28" fmla="+- 0 0 f22"/>
                <a:gd name="f29" fmla="min f25 f24"/>
                <a:gd name="f30" fmla="*/ f26 1 f21"/>
                <a:gd name="f31" fmla="*/ f27 1 f21"/>
                <a:gd name="f32" fmla="*/ f28 f1 1"/>
                <a:gd name="f33" fmla="*/ f32 1 f8"/>
                <a:gd name="f34" fmla="+- f31 0 f17"/>
                <a:gd name="f35" fmla="+- f30 0 f17"/>
                <a:gd name="f36" fmla="*/ f17 f29 1"/>
                <a:gd name="f37" fmla="*/ f7 f29 1"/>
                <a:gd name="f38" fmla="*/ f23 f29 1"/>
                <a:gd name="f39" fmla="*/ f31 f29 1"/>
                <a:gd name="f40" fmla="*/ f30 f29 1"/>
                <a:gd name="f41" fmla="+- f33 0 f2"/>
                <a:gd name="f42" fmla="+- f37 0 f38"/>
                <a:gd name="f43" fmla="+- f38 0 f37"/>
                <a:gd name="f44" fmla="*/ f34 f29 1"/>
                <a:gd name="f45" fmla="*/ f35 f29 1"/>
                <a:gd name="f46" fmla="cos 1 f41"/>
                <a:gd name="f47" fmla="abs f42"/>
                <a:gd name="f48" fmla="abs f43"/>
                <a:gd name="f49" fmla="?: f42 f18 f2"/>
                <a:gd name="f50" fmla="?: f42 f2 f18"/>
                <a:gd name="f51" fmla="?: f42 f3 f2"/>
                <a:gd name="f52" fmla="?: f42 f2 f3"/>
                <a:gd name="f53" fmla="+- f39 0 f44"/>
                <a:gd name="f54" fmla="?: f43 f18 f2"/>
                <a:gd name="f55" fmla="?: f43 f2 f18"/>
                <a:gd name="f56" fmla="+- f40 0 f45"/>
                <a:gd name="f57" fmla="+- f44 0 f39"/>
                <a:gd name="f58" fmla="+- f45 0 f40"/>
                <a:gd name="f59" fmla="?: f42 0 f1"/>
                <a:gd name="f60" fmla="?: f42 f1 0"/>
                <a:gd name="f61" fmla="+- 0 0 f46"/>
                <a:gd name="f62" fmla="?: f42 f52 f51"/>
                <a:gd name="f63" fmla="?: f42 f51 f52"/>
                <a:gd name="f64" fmla="?: f43 f50 f49"/>
                <a:gd name="f65" fmla="abs f53"/>
                <a:gd name="f66" fmla="?: f53 0 f1"/>
                <a:gd name="f67" fmla="?: f53 f1 0"/>
                <a:gd name="f68" fmla="?: f53 f54 f55"/>
                <a:gd name="f69" fmla="abs f56"/>
                <a:gd name="f70" fmla="abs f57"/>
                <a:gd name="f71" fmla="?: f56 f18 f2"/>
                <a:gd name="f72" fmla="?: f56 f2 f18"/>
                <a:gd name="f73" fmla="?: f56 f3 f2"/>
                <a:gd name="f74" fmla="?: f56 f2 f3"/>
                <a:gd name="f75" fmla="abs f58"/>
                <a:gd name="f76" fmla="?: f58 f18 f2"/>
                <a:gd name="f77" fmla="?: f58 f2 f18"/>
                <a:gd name="f78" fmla="?: f58 f60 f59"/>
                <a:gd name="f79" fmla="?: f58 f59 f60"/>
                <a:gd name="f80" fmla="*/ f17 f61 1"/>
                <a:gd name="f81" fmla="?: f43 f63 f62"/>
                <a:gd name="f82" fmla="?: f43 f67 f66"/>
                <a:gd name="f83" fmla="?: f43 f66 f67"/>
                <a:gd name="f84" fmla="?: f56 f74 f73"/>
                <a:gd name="f85" fmla="?: f56 f73 f74"/>
                <a:gd name="f86" fmla="?: f57 f72 f71"/>
                <a:gd name="f87" fmla="?: f42 f78 f79"/>
                <a:gd name="f88" fmla="?: f42 f76 f77"/>
                <a:gd name="f89" fmla="*/ f80 3163 1"/>
                <a:gd name="f90" fmla="?: f53 f82 f83"/>
                <a:gd name="f91" fmla="?: f57 f85 f84"/>
                <a:gd name="f92" fmla="*/ f89 1 7636"/>
                <a:gd name="f93" fmla="+- f7 f92 0"/>
                <a:gd name="f94" fmla="+- f30 0 f92"/>
                <a:gd name="f95" fmla="+- f31 0 f92"/>
                <a:gd name="f96" fmla="*/ f93 f29 1"/>
                <a:gd name="f97" fmla="*/ f94 f29 1"/>
                <a:gd name="f98" fmla="*/ f95 f29 1"/>
              </a:gdLst>
              <a:ahLst>
                <a:ahXY gdRefX="f0" minX="f7" maxX="f10">
                  <a:pos x="f36" y="f37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96" t="f96" r="f97" b="f98"/>
              <a:pathLst>
                <a:path>
                  <a:moveTo>
                    <a:pt x="f38" y="f37"/>
                  </a:moveTo>
                  <a:arcTo wR="f47" hR="f48" stAng="f81" swAng="f64"/>
                  <a:lnTo>
                    <a:pt x="f37" y="f44"/>
                  </a:lnTo>
                  <a:arcTo wR="f48" hR="f65" stAng="f90" swAng="f68"/>
                  <a:lnTo>
                    <a:pt x="f45" y="f39"/>
                  </a:lnTo>
                  <a:arcTo wR="f69" hR="f70" stAng="f91" swAng="f86"/>
                  <a:lnTo>
                    <a:pt x="f40" y="f38"/>
                  </a:lnTo>
                  <a:arcTo wR="f75" hR="f47" stAng="f87" swAng="f88"/>
                  <a:close/>
                </a:path>
              </a:pathLst>
            </a:custGeom>
            <a:solidFill>
              <a:srgbClr val="BFD5A9"/>
            </a:solidFill>
            <a:ln cap="flat">
              <a:noFill/>
              <a:prstDash val="solid"/>
            </a:ln>
          </p:spPr>
          <p:txBody>
            <a:bodyPr vert="horz" wrap="square" lIns="0" tIns="0" rIns="0" bIns="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1800" b="0" i="0" u="none" strike="noStrike" kern="1200" cap="none" spc="0" baseline="0">
                <a:solidFill>
                  <a:srgbClr val="FFFFFF"/>
                </a:solidFill>
                <a:uFillTx/>
                <a:latin typeface="Aptos"/>
              </a:endParaRPr>
            </a:p>
          </p:txBody>
        </p:sp>
        <p:sp>
          <p:nvSpPr>
            <p:cNvPr id="46" name="TextBox 169">
              <a:extLst>
                <a:ext uri="{FF2B5EF4-FFF2-40B4-BE49-F238E27FC236}">
                  <a16:creationId xmlns:a16="http://schemas.microsoft.com/office/drawing/2014/main" id="{CBE469D3-5A70-A9C7-2F0C-BCBCA33CD722}"/>
                </a:ext>
              </a:extLst>
            </p:cNvPr>
            <p:cNvSpPr txBox="1"/>
            <p:nvPr/>
          </p:nvSpPr>
          <p:spPr>
            <a:xfrm>
              <a:off x="412641" y="1290520"/>
              <a:ext cx="5393981" cy="200052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0" compatLnSpc="1">
              <a:sp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s-ES" sz="1300" b="1" i="0" u="none" strike="noStrike" kern="1200" cap="none" spc="0" baseline="0">
                  <a:solidFill>
                    <a:srgbClr val="1F2E18"/>
                  </a:solidFill>
                  <a:uFillTx/>
                  <a:latin typeface="72 Condensed"/>
                </a:rPr>
                <a:t>FORMAMOS A TU TÉCNICO PARA BRINDARTE LA MEJOR ASESORÍA</a:t>
              </a:r>
            </a:p>
          </p:txBody>
        </p:sp>
        <p:sp>
          <p:nvSpPr>
            <p:cNvPr id="47" name="TextBox 170">
              <a:extLst>
                <a:ext uri="{FF2B5EF4-FFF2-40B4-BE49-F238E27FC236}">
                  <a16:creationId xmlns:a16="http://schemas.microsoft.com/office/drawing/2014/main" id="{FF7F6A30-C93B-BB4A-86E5-66DE515CA8F5}"/>
                </a:ext>
              </a:extLst>
            </p:cNvPr>
            <p:cNvSpPr txBox="1"/>
            <p:nvPr/>
          </p:nvSpPr>
          <p:spPr>
            <a:xfrm>
              <a:off x="434193" y="1510415"/>
              <a:ext cx="3733540" cy="315157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0" compatLnSpc="1">
              <a:spAutoFit/>
            </a:bodyPr>
            <a:lstStyle/>
            <a:p>
              <a:pPr marL="0" marR="0" lvl="0" indent="0" algn="just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s-ES" sz="1000" b="0" i="0" u="none" strike="noStrike" kern="1200" cap="none" spc="0" baseline="0">
                  <a:solidFill>
                    <a:srgbClr val="1F2E18"/>
                  </a:solidFill>
                  <a:uFillTx/>
                  <a:latin typeface="72 Condensed"/>
                </a:rPr>
                <a:t>Empleamos 60 horas de formación para poderte acompañar en cada uno de los incidentes a lo largo del ciclo</a:t>
              </a:r>
            </a:p>
          </p:txBody>
        </p:sp>
      </p:grpSp>
      <p:grpSp>
        <p:nvGrpSpPr>
          <p:cNvPr id="48" name="Grupo 56">
            <a:extLst>
              <a:ext uri="{FF2B5EF4-FFF2-40B4-BE49-F238E27FC236}">
                <a16:creationId xmlns:a16="http://schemas.microsoft.com/office/drawing/2014/main" id="{50358644-D167-2D3E-D62B-AE7607B59123}"/>
              </a:ext>
            </a:extLst>
          </p:cNvPr>
          <p:cNvGrpSpPr/>
          <p:nvPr/>
        </p:nvGrpSpPr>
        <p:grpSpPr>
          <a:xfrm>
            <a:off x="307485" y="3646124"/>
            <a:ext cx="5499137" cy="851653"/>
            <a:chOff x="307485" y="3646124"/>
            <a:chExt cx="5499137" cy="851653"/>
          </a:xfrm>
        </p:grpSpPr>
        <p:sp>
          <p:nvSpPr>
            <p:cNvPr id="49" name="Rounded Rectangle 168">
              <a:extLst>
                <a:ext uri="{FF2B5EF4-FFF2-40B4-BE49-F238E27FC236}">
                  <a16:creationId xmlns:a16="http://schemas.microsoft.com/office/drawing/2014/main" id="{4F1248B1-FDE4-2B1B-9604-EDCE7DA23838}"/>
                </a:ext>
              </a:extLst>
            </p:cNvPr>
            <p:cNvSpPr/>
            <p:nvPr/>
          </p:nvSpPr>
          <p:spPr>
            <a:xfrm>
              <a:off x="307485" y="3646124"/>
              <a:ext cx="5499137" cy="851653"/>
            </a:xfrm>
            <a:custGeom>
              <a:avLst>
                <a:gd name="f0" fmla="val 1728"/>
              </a:avLst>
              <a:gdLst>
                <a:gd name="f1" fmla="val 10800000"/>
                <a:gd name="f2" fmla="val 5400000"/>
                <a:gd name="f3" fmla="val 1620000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val 45"/>
                <a:gd name="f10" fmla="val 10800"/>
                <a:gd name="f11" fmla="val -2147483647"/>
                <a:gd name="f12" fmla="val 2147483647"/>
                <a:gd name="f13" fmla="abs f4"/>
                <a:gd name="f14" fmla="abs f5"/>
                <a:gd name="f15" fmla="abs f6"/>
                <a:gd name="f16" fmla="*/ f8 1 180"/>
                <a:gd name="f17" fmla="pin 0 f0 10800"/>
                <a:gd name="f18" fmla="+- 0 0 f2"/>
                <a:gd name="f19" fmla="?: f13 f4 1"/>
                <a:gd name="f20" fmla="?: f14 f5 1"/>
                <a:gd name="f21" fmla="?: f15 f6 1"/>
                <a:gd name="f22" fmla="*/ f9 f16 1"/>
                <a:gd name="f23" fmla="+- f7 f17 0"/>
                <a:gd name="f24" fmla="*/ f19 1 21600"/>
                <a:gd name="f25" fmla="*/ f20 1 21600"/>
                <a:gd name="f26" fmla="*/ 21600 f19 1"/>
                <a:gd name="f27" fmla="*/ 21600 f20 1"/>
                <a:gd name="f28" fmla="+- 0 0 f22"/>
                <a:gd name="f29" fmla="min f25 f24"/>
                <a:gd name="f30" fmla="*/ f26 1 f21"/>
                <a:gd name="f31" fmla="*/ f27 1 f21"/>
                <a:gd name="f32" fmla="*/ f28 f1 1"/>
                <a:gd name="f33" fmla="*/ f32 1 f8"/>
                <a:gd name="f34" fmla="+- f31 0 f17"/>
                <a:gd name="f35" fmla="+- f30 0 f17"/>
                <a:gd name="f36" fmla="*/ f17 f29 1"/>
                <a:gd name="f37" fmla="*/ f7 f29 1"/>
                <a:gd name="f38" fmla="*/ f23 f29 1"/>
                <a:gd name="f39" fmla="*/ f31 f29 1"/>
                <a:gd name="f40" fmla="*/ f30 f29 1"/>
                <a:gd name="f41" fmla="+- f33 0 f2"/>
                <a:gd name="f42" fmla="+- f37 0 f38"/>
                <a:gd name="f43" fmla="+- f38 0 f37"/>
                <a:gd name="f44" fmla="*/ f34 f29 1"/>
                <a:gd name="f45" fmla="*/ f35 f29 1"/>
                <a:gd name="f46" fmla="cos 1 f41"/>
                <a:gd name="f47" fmla="abs f42"/>
                <a:gd name="f48" fmla="abs f43"/>
                <a:gd name="f49" fmla="?: f42 f18 f2"/>
                <a:gd name="f50" fmla="?: f42 f2 f18"/>
                <a:gd name="f51" fmla="?: f42 f3 f2"/>
                <a:gd name="f52" fmla="?: f42 f2 f3"/>
                <a:gd name="f53" fmla="+- f39 0 f44"/>
                <a:gd name="f54" fmla="?: f43 f18 f2"/>
                <a:gd name="f55" fmla="?: f43 f2 f18"/>
                <a:gd name="f56" fmla="+- f40 0 f45"/>
                <a:gd name="f57" fmla="+- f44 0 f39"/>
                <a:gd name="f58" fmla="+- f45 0 f40"/>
                <a:gd name="f59" fmla="?: f42 0 f1"/>
                <a:gd name="f60" fmla="?: f42 f1 0"/>
                <a:gd name="f61" fmla="+- 0 0 f46"/>
                <a:gd name="f62" fmla="?: f42 f52 f51"/>
                <a:gd name="f63" fmla="?: f42 f51 f52"/>
                <a:gd name="f64" fmla="?: f43 f50 f49"/>
                <a:gd name="f65" fmla="abs f53"/>
                <a:gd name="f66" fmla="?: f53 0 f1"/>
                <a:gd name="f67" fmla="?: f53 f1 0"/>
                <a:gd name="f68" fmla="?: f53 f54 f55"/>
                <a:gd name="f69" fmla="abs f56"/>
                <a:gd name="f70" fmla="abs f57"/>
                <a:gd name="f71" fmla="?: f56 f18 f2"/>
                <a:gd name="f72" fmla="?: f56 f2 f18"/>
                <a:gd name="f73" fmla="?: f56 f3 f2"/>
                <a:gd name="f74" fmla="?: f56 f2 f3"/>
                <a:gd name="f75" fmla="abs f58"/>
                <a:gd name="f76" fmla="?: f58 f18 f2"/>
                <a:gd name="f77" fmla="?: f58 f2 f18"/>
                <a:gd name="f78" fmla="?: f58 f60 f59"/>
                <a:gd name="f79" fmla="?: f58 f59 f60"/>
                <a:gd name="f80" fmla="*/ f17 f61 1"/>
                <a:gd name="f81" fmla="?: f43 f63 f62"/>
                <a:gd name="f82" fmla="?: f43 f67 f66"/>
                <a:gd name="f83" fmla="?: f43 f66 f67"/>
                <a:gd name="f84" fmla="?: f56 f74 f73"/>
                <a:gd name="f85" fmla="?: f56 f73 f74"/>
                <a:gd name="f86" fmla="?: f57 f72 f71"/>
                <a:gd name="f87" fmla="?: f42 f78 f79"/>
                <a:gd name="f88" fmla="?: f42 f76 f77"/>
                <a:gd name="f89" fmla="*/ f80 3163 1"/>
                <a:gd name="f90" fmla="?: f53 f82 f83"/>
                <a:gd name="f91" fmla="?: f57 f85 f84"/>
                <a:gd name="f92" fmla="*/ f89 1 7636"/>
                <a:gd name="f93" fmla="+- f7 f92 0"/>
                <a:gd name="f94" fmla="+- f30 0 f92"/>
                <a:gd name="f95" fmla="+- f31 0 f92"/>
                <a:gd name="f96" fmla="*/ f93 f29 1"/>
                <a:gd name="f97" fmla="*/ f94 f29 1"/>
                <a:gd name="f98" fmla="*/ f95 f29 1"/>
              </a:gdLst>
              <a:ahLst>
                <a:ahXY gdRefX="f0" minX="f7" maxX="f10">
                  <a:pos x="f36" y="f37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96" t="f96" r="f97" b="f98"/>
              <a:pathLst>
                <a:path>
                  <a:moveTo>
                    <a:pt x="f38" y="f37"/>
                  </a:moveTo>
                  <a:arcTo wR="f47" hR="f48" stAng="f81" swAng="f64"/>
                  <a:lnTo>
                    <a:pt x="f37" y="f44"/>
                  </a:lnTo>
                  <a:arcTo wR="f48" hR="f65" stAng="f90" swAng="f68"/>
                  <a:lnTo>
                    <a:pt x="f45" y="f39"/>
                  </a:lnTo>
                  <a:arcTo wR="f69" hR="f70" stAng="f91" swAng="f86"/>
                  <a:lnTo>
                    <a:pt x="f40" y="f38"/>
                  </a:lnTo>
                  <a:arcTo wR="f75" hR="f47" stAng="f87" swAng="f88"/>
                  <a:close/>
                </a:path>
              </a:pathLst>
            </a:custGeom>
            <a:solidFill>
              <a:srgbClr val="F5EAD4"/>
            </a:solidFill>
            <a:ln cap="flat">
              <a:noFill/>
              <a:prstDash val="solid"/>
            </a:ln>
          </p:spPr>
          <p:txBody>
            <a:bodyPr vert="horz" wrap="square" lIns="0" tIns="0" rIns="0" bIns="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1800" b="0" i="0" u="none" strike="noStrike" kern="1200" cap="none" spc="0" baseline="0">
                <a:solidFill>
                  <a:srgbClr val="FFFFFF"/>
                </a:solidFill>
                <a:uFillTx/>
                <a:latin typeface="Aptos"/>
              </a:endParaRPr>
            </a:p>
          </p:txBody>
        </p:sp>
        <p:sp>
          <p:nvSpPr>
            <p:cNvPr id="50" name="TextBox 169">
              <a:extLst>
                <a:ext uri="{FF2B5EF4-FFF2-40B4-BE49-F238E27FC236}">
                  <a16:creationId xmlns:a16="http://schemas.microsoft.com/office/drawing/2014/main" id="{F1A315E3-C80C-543F-5D17-50EABFD4192E}"/>
                </a:ext>
              </a:extLst>
            </p:cNvPr>
            <p:cNvSpPr txBox="1"/>
            <p:nvPr/>
          </p:nvSpPr>
          <p:spPr>
            <a:xfrm>
              <a:off x="412641" y="3763679"/>
              <a:ext cx="5393981" cy="200052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0" compatLnSpc="1">
              <a:sp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s-ES" sz="1300" b="1" i="0" u="none" strike="noStrike" kern="1200" cap="none" spc="0" baseline="0">
                  <a:solidFill>
                    <a:srgbClr val="1F2E18"/>
                  </a:solidFill>
                  <a:uFillTx/>
                  <a:latin typeface="72 Condensed"/>
                </a:rPr>
                <a:t>HABILITAMOS ESPACIOS DE FORMACIÓN PARA TU OPERADOR</a:t>
              </a:r>
            </a:p>
          </p:txBody>
        </p:sp>
        <p:sp>
          <p:nvSpPr>
            <p:cNvPr id="51" name="TextBox 170">
              <a:extLst>
                <a:ext uri="{FF2B5EF4-FFF2-40B4-BE49-F238E27FC236}">
                  <a16:creationId xmlns:a16="http://schemas.microsoft.com/office/drawing/2014/main" id="{A16B5F19-5954-823B-8C31-56A0E037B947}"/>
                </a:ext>
              </a:extLst>
            </p:cNvPr>
            <p:cNvSpPr txBox="1"/>
            <p:nvPr/>
          </p:nvSpPr>
          <p:spPr>
            <a:xfrm>
              <a:off x="434193" y="3990962"/>
              <a:ext cx="3818415" cy="307777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0" compatLnSpc="1">
              <a:spAutoFit/>
            </a:bodyPr>
            <a:lstStyle/>
            <a:p>
              <a:pPr marL="0" marR="0" lvl="0" indent="0" algn="just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s-ES" sz="1000" b="0" i="0" u="none" strike="noStrike" kern="1200" cap="none" spc="0" baseline="0">
                  <a:solidFill>
                    <a:srgbClr val="1F2E18"/>
                  </a:solidFill>
                  <a:uFillTx/>
                  <a:latin typeface="72 Condensed"/>
                </a:rPr>
                <a:t>Empleamos 16 horas de formación a tus operadores para brindarles el conocimiento de mejores prácticas con tu equipo</a:t>
              </a:r>
            </a:p>
          </p:txBody>
        </p:sp>
      </p:grpSp>
      <p:grpSp>
        <p:nvGrpSpPr>
          <p:cNvPr id="52" name="Grupo 91">
            <a:extLst>
              <a:ext uri="{FF2B5EF4-FFF2-40B4-BE49-F238E27FC236}">
                <a16:creationId xmlns:a16="http://schemas.microsoft.com/office/drawing/2014/main" id="{61F73AC6-3D4E-047F-8C0C-2CF293D3627D}"/>
              </a:ext>
            </a:extLst>
          </p:cNvPr>
          <p:cNvGrpSpPr/>
          <p:nvPr/>
        </p:nvGrpSpPr>
        <p:grpSpPr>
          <a:xfrm>
            <a:off x="6596426" y="4143429"/>
            <a:ext cx="5029200" cy="2331720"/>
            <a:chOff x="6596426" y="4143429"/>
            <a:chExt cx="5029200" cy="2331720"/>
          </a:xfrm>
        </p:grpSpPr>
        <p:sp>
          <p:nvSpPr>
            <p:cNvPr id="53" name="TextBox 125">
              <a:extLst>
                <a:ext uri="{FF2B5EF4-FFF2-40B4-BE49-F238E27FC236}">
                  <a16:creationId xmlns:a16="http://schemas.microsoft.com/office/drawing/2014/main" id="{79967E13-212C-2BEA-D815-AFBC54CE5F58}"/>
                </a:ext>
              </a:extLst>
            </p:cNvPr>
            <p:cNvSpPr txBox="1"/>
            <p:nvPr/>
          </p:nvSpPr>
          <p:spPr>
            <a:xfrm>
              <a:off x="6596426" y="4143429"/>
              <a:ext cx="2103120" cy="91440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ctr" anchorCtr="0" compatLnSpc="1">
              <a:sp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6000" b="1" i="0" u="none" strike="noStrike" kern="1200" cap="none" spc="0" baseline="0">
                  <a:solidFill>
                    <a:srgbClr val="C9962E"/>
                  </a:solidFill>
                  <a:uFillTx/>
                  <a:latin typeface="72 Condensed"/>
                </a:rPr>
                <a:t>100%</a:t>
              </a:r>
            </a:p>
          </p:txBody>
        </p:sp>
        <p:sp>
          <p:nvSpPr>
            <p:cNvPr id="54" name="TextBox 126">
              <a:extLst>
                <a:ext uri="{FF2B5EF4-FFF2-40B4-BE49-F238E27FC236}">
                  <a16:creationId xmlns:a16="http://schemas.microsoft.com/office/drawing/2014/main" id="{A446D567-AE48-B054-5BDF-C3D783CEA414}"/>
                </a:ext>
              </a:extLst>
            </p:cNvPr>
            <p:cNvSpPr txBox="1"/>
            <p:nvPr/>
          </p:nvSpPr>
          <p:spPr>
            <a:xfrm>
              <a:off x="8379506" y="4382060"/>
              <a:ext cx="2926080" cy="446272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ctr" anchorCtr="0" compatLnSpc="1">
              <a:sp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700" b="1" i="0" u="none" strike="noStrike" kern="1200" cap="none" spc="0" baseline="0">
                  <a:solidFill>
                    <a:srgbClr val="000000"/>
                  </a:solidFill>
                  <a:uFillTx/>
                  <a:latin typeface="72 Condensed"/>
                </a:rPr>
                <a:t>del pensum ejecutado</a:t>
              </a:r>
            </a:p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200" b="0" i="0" u="none" strike="noStrike" kern="1200" cap="none" spc="0" baseline="0">
                  <a:solidFill>
                    <a:srgbClr val="000000"/>
                  </a:solidFill>
                  <a:uFillTx/>
                  <a:latin typeface="72 Condensed"/>
                </a:rPr>
                <a:t>Acumulado a agosto 2026</a:t>
              </a:r>
            </a:p>
          </p:txBody>
        </p:sp>
        <p:sp>
          <p:nvSpPr>
            <p:cNvPr id="55" name="Rounded Rectangle 127">
              <a:extLst>
                <a:ext uri="{FF2B5EF4-FFF2-40B4-BE49-F238E27FC236}">
                  <a16:creationId xmlns:a16="http://schemas.microsoft.com/office/drawing/2014/main" id="{5630B316-F048-3571-3772-FF513F6BD589}"/>
                </a:ext>
              </a:extLst>
            </p:cNvPr>
            <p:cNvSpPr/>
            <p:nvPr/>
          </p:nvSpPr>
          <p:spPr>
            <a:xfrm>
              <a:off x="6596426" y="5240709"/>
              <a:ext cx="1188720" cy="1234440"/>
            </a:xfrm>
            <a:custGeom>
              <a:avLst>
                <a:gd name="f0" fmla="val 2592"/>
              </a:avLst>
              <a:gdLst>
                <a:gd name="f1" fmla="val 10800000"/>
                <a:gd name="f2" fmla="val 5400000"/>
                <a:gd name="f3" fmla="val 1620000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val 45"/>
                <a:gd name="f10" fmla="val 10800"/>
                <a:gd name="f11" fmla="val -2147483647"/>
                <a:gd name="f12" fmla="val 2147483647"/>
                <a:gd name="f13" fmla="abs f4"/>
                <a:gd name="f14" fmla="abs f5"/>
                <a:gd name="f15" fmla="abs f6"/>
                <a:gd name="f16" fmla="*/ f8 1 180"/>
                <a:gd name="f17" fmla="pin 0 f0 10800"/>
                <a:gd name="f18" fmla="+- 0 0 f2"/>
                <a:gd name="f19" fmla="?: f13 f4 1"/>
                <a:gd name="f20" fmla="?: f14 f5 1"/>
                <a:gd name="f21" fmla="?: f15 f6 1"/>
                <a:gd name="f22" fmla="*/ f9 f16 1"/>
                <a:gd name="f23" fmla="+- f7 f17 0"/>
                <a:gd name="f24" fmla="*/ f19 1 21600"/>
                <a:gd name="f25" fmla="*/ f20 1 21600"/>
                <a:gd name="f26" fmla="*/ 21600 f19 1"/>
                <a:gd name="f27" fmla="*/ 21600 f20 1"/>
                <a:gd name="f28" fmla="+- 0 0 f22"/>
                <a:gd name="f29" fmla="min f25 f24"/>
                <a:gd name="f30" fmla="*/ f26 1 f21"/>
                <a:gd name="f31" fmla="*/ f27 1 f21"/>
                <a:gd name="f32" fmla="*/ f28 f1 1"/>
                <a:gd name="f33" fmla="*/ f32 1 f8"/>
                <a:gd name="f34" fmla="+- f31 0 f17"/>
                <a:gd name="f35" fmla="+- f30 0 f17"/>
                <a:gd name="f36" fmla="*/ f17 f29 1"/>
                <a:gd name="f37" fmla="*/ f7 f29 1"/>
                <a:gd name="f38" fmla="*/ f23 f29 1"/>
                <a:gd name="f39" fmla="*/ f31 f29 1"/>
                <a:gd name="f40" fmla="*/ f30 f29 1"/>
                <a:gd name="f41" fmla="+- f33 0 f2"/>
                <a:gd name="f42" fmla="+- f37 0 f38"/>
                <a:gd name="f43" fmla="+- f38 0 f37"/>
                <a:gd name="f44" fmla="*/ f34 f29 1"/>
                <a:gd name="f45" fmla="*/ f35 f29 1"/>
                <a:gd name="f46" fmla="cos 1 f41"/>
                <a:gd name="f47" fmla="abs f42"/>
                <a:gd name="f48" fmla="abs f43"/>
                <a:gd name="f49" fmla="?: f42 f18 f2"/>
                <a:gd name="f50" fmla="?: f42 f2 f18"/>
                <a:gd name="f51" fmla="?: f42 f3 f2"/>
                <a:gd name="f52" fmla="?: f42 f2 f3"/>
                <a:gd name="f53" fmla="+- f39 0 f44"/>
                <a:gd name="f54" fmla="?: f43 f18 f2"/>
                <a:gd name="f55" fmla="?: f43 f2 f18"/>
                <a:gd name="f56" fmla="+- f40 0 f45"/>
                <a:gd name="f57" fmla="+- f44 0 f39"/>
                <a:gd name="f58" fmla="+- f45 0 f40"/>
                <a:gd name="f59" fmla="?: f42 0 f1"/>
                <a:gd name="f60" fmla="?: f42 f1 0"/>
                <a:gd name="f61" fmla="+- 0 0 f46"/>
                <a:gd name="f62" fmla="?: f42 f52 f51"/>
                <a:gd name="f63" fmla="?: f42 f51 f52"/>
                <a:gd name="f64" fmla="?: f43 f50 f49"/>
                <a:gd name="f65" fmla="abs f53"/>
                <a:gd name="f66" fmla="?: f53 0 f1"/>
                <a:gd name="f67" fmla="?: f53 f1 0"/>
                <a:gd name="f68" fmla="?: f53 f54 f55"/>
                <a:gd name="f69" fmla="abs f56"/>
                <a:gd name="f70" fmla="abs f57"/>
                <a:gd name="f71" fmla="?: f56 f18 f2"/>
                <a:gd name="f72" fmla="?: f56 f2 f18"/>
                <a:gd name="f73" fmla="?: f56 f3 f2"/>
                <a:gd name="f74" fmla="?: f56 f2 f3"/>
                <a:gd name="f75" fmla="abs f58"/>
                <a:gd name="f76" fmla="?: f58 f18 f2"/>
                <a:gd name="f77" fmla="?: f58 f2 f18"/>
                <a:gd name="f78" fmla="?: f58 f60 f59"/>
                <a:gd name="f79" fmla="?: f58 f59 f60"/>
                <a:gd name="f80" fmla="*/ f17 f61 1"/>
                <a:gd name="f81" fmla="?: f43 f63 f62"/>
                <a:gd name="f82" fmla="?: f43 f67 f66"/>
                <a:gd name="f83" fmla="?: f43 f66 f67"/>
                <a:gd name="f84" fmla="?: f56 f74 f73"/>
                <a:gd name="f85" fmla="?: f56 f73 f74"/>
                <a:gd name="f86" fmla="?: f57 f72 f71"/>
                <a:gd name="f87" fmla="?: f42 f78 f79"/>
                <a:gd name="f88" fmla="?: f42 f76 f77"/>
                <a:gd name="f89" fmla="*/ f80 3163 1"/>
                <a:gd name="f90" fmla="?: f53 f82 f83"/>
                <a:gd name="f91" fmla="?: f57 f85 f84"/>
                <a:gd name="f92" fmla="*/ f89 1 7636"/>
                <a:gd name="f93" fmla="+- f7 f92 0"/>
                <a:gd name="f94" fmla="+- f30 0 f92"/>
                <a:gd name="f95" fmla="+- f31 0 f92"/>
                <a:gd name="f96" fmla="*/ f93 f29 1"/>
                <a:gd name="f97" fmla="*/ f94 f29 1"/>
                <a:gd name="f98" fmla="*/ f95 f29 1"/>
              </a:gdLst>
              <a:ahLst>
                <a:ahXY gdRefX="f0" minX="f7" maxX="f10">
                  <a:pos x="f36" y="f37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96" t="f96" r="f97" b="f98"/>
              <a:pathLst>
                <a:path>
                  <a:moveTo>
                    <a:pt x="f38" y="f37"/>
                  </a:moveTo>
                  <a:arcTo wR="f47" hR="f48" stAng="f81" swAng="f64"/>
                  <a:lnTo>
                    <a:pt x="f37" y="f44"/>
                  </a:lnTo>
                  <a:arcTo wR="f48" hR="f65" stAng="f90" swAng="f68"/>
                  <a:lnTo>
                    <a:pt x="f45" y="f39"/>
                  </a:lnTo>
                  <a:arcTo wR="f69" hR="f70" stAng="f91" swAng="f86"/>
                  <a:lnTo>
                    <a:pt x="f40" y="f38"/>
                  </a:lnTo>
                  <a:arcTo wR="f75" hR="f47" stAng="f87" swAng="f88"/>
                  <a:close/>
                </a:path>
              </a:pathLst>
            </a:custGeom>
            <a:solidFill>
              <a:srgbClr val="4C6A35"/>
            </a:solidFill>
            <a:ln cap="flat">
              <a:noFill/>
              <a:prstDash val="solid"/>
            </a:ln>
          </p:spPr>
          <p:txBody>
            <a:bodyPr vert="horz" wrap="square" lIns="0" tIns="0" rIns="0" bIns="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1800" b="0" i="0" u="none" strike="noStrike" kern="1200" cap="none" spc="0" baseline="0">
                <a:solidFill>
                  <a:srgbClr val="FFFFFF"/>
                </a:solidFill>
                <a:uFillTx/>
                <a:latin typeface="Aptos"/>
              </a:endParaRPr>
            </a:p>
          </p:txBody>
        </p:sp>
        <p:sp>
          <p:nvSpPr>
            <p:cNvPr id="56" name="TextBox 128">
              <a:extLst>
                <a:ext uri="{FF2B5EF4-FFF2-40B4-BE49-F238E27FC236}">
                  <a16:creationId xmlns:a16="http://schemas.microsoft.com/office/drawing/2014/main" id="{EB22A21C-98DF-B895-544A-930E876F65FE}"/>
                </a:ext>
              </a:extLst>
            </p:cNvPr>
            <p:cNvSpPr txBox="1"/>
            <p:nvPr/>
          </p:nvSpPr>
          <p:spPr>
            <a:xfrm>
              <a:off x="6596426" y="5383548"/>
              <a:ext cx="1188720" cy="400114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ctr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2600" b="1" i="0" u="none" strike="noStrike" kern="1200" cap="none" spc="0" baseline="0">
                  <a:solidFill>
                    <a:srgbClr val="FFFFFF"/>
                  </a:solidFill>
                  <a:uFillTx/>
                  <a:latin typeface="72 Condensed"/>
                </a:rPr>
                <a:t>9</a:t>
              </a:r>
            </a:p>
          </p:txBody>
        </p:sp>
        <p:sp>
          <p:nvSpPr>
            <p:cNvPr id="57" name="TextBox 129">
              <a:extLst>
                <a:ext uri="{FF2B5EF4-FFF2-40B4-BE49-F238E27FC236}">
                  <a16:creationId xmlns:a16="http://schemas.microsoft.com/office/drawing/2014/main" id="{7CBAF60F-1695-85B6-B569-88CC0E40805F}"/>
                </a:ext>
              </a:extLst>
            </p:cNvPr>
            <p:cNvSpPr txBox="1"/>
            <p:nvPr/>
          </p:nvSpPr>
          <p:spPr>
            <a:xfrm>
              <a:off x="6642146" y="5835069"/>
              <a:ext cx="1097280" cy="22860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100" b="1" i="0" u="none" strike="noStrike" kern="1200" cap="none" spc="0" baseline="0">
                  <a:solidFill>
                    <a:srgbClr val="C9962E"/>
                  </a:solidFill>
                  <a:uFillTx/>
                  <a:latin typeface="72 Condensed"/>
                </a:rPr>
                <a:t>formaciones</a:t>
              </a:r>
            </a:p>
          </p:txBody>
        </p:sp>
        <p:sp>
          <p:nvSpPr>
            <p:cNvPr id="58" name="TextBox 130">
              <a:extLst>
                <a:ext uri="{FF2B5EF4-FFF2-40B4-BE49-F238E27FC236}">
                  <a16:creationId xmlns:a16="http://schemas.microsoft.com/office/drawing/2014/main" id="{71DC079C-C633-2A2D-8A09-E284F6B53788}"/>
                </a:ext>
              </a:extLst>
            </p:cNvPr>
            <p:cNvSpPr txBox="1"/>
            <p:nvPr/>
          </p:nvSpPr>
          <p:spPr>
            <a:xfrm>
              <a:off x="6642146" y="6063669"/>
              <a:ext cx="1097280" cy="138495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900" b="0" i="0" u="none" strike="noStrike" kern="1200" cap="none" spc="0" baseline="0">
                  <a:solidFill>
                    <a:srgbClr val="EDF0E2"/>
                  </a:solidFill>
                  <a:uFillTx/>
                  <a:latin typeface="72 Condensed"/>
                </a:rPr>
                <a:t>8 presenciales · 1 virtual</a:t>
              </a:r>
            </a:p>
          </p:txBody>
        </p:sp>
        <p:sp>
          <p:nvSpPr>
            <p:cNvPr id="59" name="Rounded Rectangle 131">
              <a:extLst>
                <a:ext uri="{FF2B5EF4-FFF2-40B4-BE49-F238E27FC236}">
                  <a16:creationId xmlns:a16="http://schemas.microsoft.com/office/drawing/2014/main" id="{B67ED200-5DB6-D61E-A132-029DEB1AC44A}"/>
                </a:ext>
              </a:extLst>
            </p:cNvPr>
            <p:cNvSpPr/>
            <p:nvPr/>
          </p:nvSpPr>
          <p:spPr>
            <a:xfrm>
              <a:off x="7876586" y="5240709"/>
              <a:ext cx="1188720" cy="1234440"/>
            </a:xfrm>
            <a:custGeom>
              <a:avLst>
                <a:gd name="f0" fmla="val 2592"/>
              </a:avLst>
              <a:gdLst>
                <a:gd name="f1" fmla="val 10800000"/>
                <a:gd name="f2" fmla="val 5400000"/>
                <a:gd name="f3" fmla="val 1620000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val 45"/>
                <a:gd name="f10" fmla="val 10800"/>
                <a:gd name="f11" fmla="val -2147483647"/>
                <a:gd name="f12" fmla="val 2147483647"/>
                <a:gd name="f13" fmla="abs f4"/>
                <a:gd name="f14" fmla="abs f5"/>
                <a:gd name="f15" fmla="abs f6"/>
                <a:gd name="f16" fmla="*/ f8 1 180"/>
                <a:gd name="f17" fmla="pin 0 f0 10800"/>
                <a:gd name="f18" fmla="+- 0 0 f2"/>
                <a:gd name="f19" fmla="?: f13 f4 1"/>
                <a:gd name="f20" fmla="?: f14 f5 1"/>
                <a:gd name="f21" fmla="?: f15 f6 1"/>
                <a:gd name="f22" fmla="*/ f9 f16 1"/>
                <a:gd name="f23" fmla="+- f7 f17 0"/>
                <a:gd name="f24" fmla="*/ f19 1 21600"/>
                <a:gd name="f25" fmla="*/ f20 1 21600"/>
                <a:gd name="f26" fmla="*/ 21600 f19 1"/>
                <a:gd name="f27" fmla="*/ 21600 f20 1"/>
                <a:gd name="f28" fmla="+- 0 0 f22"/>
                <a:gd name="f29" fmla="min f25 f24"/>
                <a:gd name="f30" fmla="*/ f26 1 f21"/>
                <a:gd name="f31" fmla="*/ f27 1 f21"/>
                <a:gd name="f32" fmla="*/ f28 f1 1"/>
                <a:gd name="f33" fmla="*/ f32 1 f8"/>
                <a:gd name="f34" fmla="+- f31 0 f17"/>
                <a:gd name="f35" fmla="+- f30 0 f17"/>
                <a:gd name="f36" fmla="*/ f17 f29 1"/>
                <a:gd name="f37" fmla="*/ f7 f29 1"/>
                <a:gd name="f38" fmla="*/ f23 f29 1"/>
                <a:gd name="f39" fmla="*/ f31 f29 1"/>
                <a:gd name="f40" fmla="*/ f30 f29 1"/>
                <a:gd name="f41" fmla="+- f33 0 f2"/>
                <a:gd name="f42" fmla="+- f37 0 f38"/>
                <a:gd name="f43" fmla="+- f38 0 f37"/>
                <a:gd name="f44" fmla="*/ f34 f29 1"/>
                <a:gd name="f45" fmla="*/ f35 f29 1"/>
                <a:gd name="f46" fmla="cos 1 f41"/>
                <a:gd name="f47" fmla="abs f42"/>
                <a:gd name="f48" fmla="abs f43"/>
                <a:gd name="f49" fmla="?: f42 f18 f2"/>
                <a:gd name="f50" fmla="?: f42 f2 f18"/>
                <a:gd name="f51" fmla="?: f42 f3 f2"/>
                <a:gd name="f52" fmla="?: f42 f2 f3"/>
                <a:gd name="f53" fmla="+- f39 0 f44"/>
                <a:gd name="f54" fmla="?: f43 f18 f2"/>
                <a:gd name="f55" fmla="?: f43 f2 f18"/>
                <a:gd name="f56" fmla="+- f40 0 f45"/>
                <a:gd name="f57" fmla="+- f44 0 f39"/>
                <a:gd name="f58" fmla="+- f45 0 f40"/>
                <a:gd name="f59" fmla="?: f42 0 f1"/>
                <a:gd name="f60" fmla="?: f42 f1 0"/>
                <a:gd name="f61" fmla="+- 0 0 f46"/>
                <a:gd name="f62" fmla="?: f42 f52 f51"/>
                <a:gd name="f63" fmla="?: f42 f51 f52"/>
                <a:gd name="f64" fmla="?: f43 f50 f49"/>
                <a:gd name="f65" fmla="abs f53"/>
                <a:gd name="f66" fmla="?: f53 0 f1"/>
                <a:gd name="f67" fmla="?: f53 f1 0"/>
                <a:gd name="f68" fmla="?: f53 f54 f55"/>
                <a:gd name="f69" fmla="abs f56"/>
                <a:gd name="f70" fmla="abs f57"/>
                <a:gd name="f71" fmla="?: f56 f18 f2"/>
                <a:gd name="f72" fmla="?: f56 f2 f18"/>
                <a:gd name="f73" fmla="?: f56 f3 f2"/>
                <a:gd name="f74" fmla="?: f56 f2 f3"/>
                <a:gd name="f75" fmla="abs f58"/>
                <a:gd name="f76" fmla="?: f58 f18 f2"/>
                <a:gd name="f77" fmla="?: f58 f2 f18"/>
                <a:gd name="f78" fmla="?: f58 f60 f59"/>
                <a:gd name="f79" fmla="?: f58 f59 f60"/>
                <a:gd name="f80" fmla="*/ f17 f61 1"/>
                <a:gd name="f81" fmla="?: f43 f63 f62"/>
                <a:gd name="f82" fmla="?: f43 f67 f66"/>
                <a:gd name="f83" fmla="?: f43 f66 f67"/>
                <a:gd name="f84" fmla="?: f56 f74 f73"/>
                <a:gd name="f85" fmla="?: f56 f73 f74"/>
                <a:gd name="f86" fmla="?: f57 f72 f71"/>
                <a:gd name="f87" fmla="?: f42 f78 f79"/>
                <a:gd name="f88" fmla="?: f42 f76 f77"/>
                <a:gd name="f89" fmla="*/ f80 3163 1"/>
                <a:gd name="f90" fmla="?: f53 f82 f83"/>
                <a:gd name="f91" fmla="?: f57 f85 f84"/>
                <a:gd name="f92" fmla="*/ f89 1 7636"/>
                <a:gd name="f93" fmla="+- f7 f92 0"/>
                <a:gd name="f94" fmla="+- f30 0 f92"/>
                <a:gd name="f95" fmla="+- f31 0 f92"/>
                <a:gd name="f96" fmla="*/ f93 f29 1"/>
                <a:gd name="f97" fmla="*/ f94 f29 1"/>
                <a:gd name="f98" fmla="*/ f95 f29 1"/>
              </a:gdLst>
              <a:ahLst>
                <a:ahXY gdRefX="f0" minX="f7" maxX="f10">
                  <a:pos x="f36" y="f37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96" t="f96" r="f97" b="f98"/>
              <a:pathLst>
                <a:path>
                  <a:moveTo>
                    <a:pt x="f38" y="f37"/>
                  </a:moveTo>
                  <a:arcTo wR="f47" hR="f48" stAng="f81" swAng="f64"/>
                  <a:lnTo>
                    <a:pt x="f37" y="f44"/>
                  </a:lnTo>
                  <a:arcTo wR="f48" hR="f65" stAng="f90" swAng="f68"/>
                  <a:lnTo>
                    <a:pt x="f45" y="f39"/>
                  </a:lnTo>
                  <a:arcTo wR="f69" hR="f70" stAng="f91" swAng="f86"/>
                  <a:lnTo>
                    <a:pt x="f40" y="f38"/>
                  </a:lnTo>
                  <a:arcTo wR="f75" hR="f47" stAng="f87" swAng="f88"/>
                  <a:close/>
                </a:path>
              </a:pathLst>
            </a:custGeom>
            <a:solidFill>
              <a:srgbClr val="4C6A35"/>
            </a:solidFill>
            <a:ln cap="flat">
              <a:noFill/>
              <a:prstDash val="solid"/>
            </a:ln>
          </p:spPr>
          <p:txBody>
            <a:bodyPr vert="horz" wrap="square" lIns="0" tIns="0" rIns="0" bIns="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1800" b="0" i="0" u="none" strike="noStrike" kern="1200" cap="none" spc="0" baseline="0">
                <a:solidFill>
                  <a:srgbClr val="FFFFFF"/>
                </a:solidFill>
                <a:uFillTx/>
                <a:latin typeface="Aptos"/>
              </a:endParaRPr>
            </a:p>
          </p:txBody>
        </p:sp>
        <p:sp>
          <p:nvSpPr>
            <p:cNvPr id="60" name="TextBox 132">
              <a:extLst>
                <a:ext uri="{FF2B5EF4-FFF2-40B4-BE49-F238E27FC236}">
                  <a16:creationId xmlns:a16="http://schemas.microsoft.com/office/drawing/2014/main" id="{8FF58150-775A-883A-AF79-3A319E10012A}"/>
                </a:ext>
              </a:extLst>
            </p:cNvPr>
            <p:cNvSpPr txBox="1"/>
            <p:nvPr/>
          </p:nvSpPr>
          <p:spPr>
            <a:xfrm>
              <a:off x="7876586" y="5332149"/>
              <a:ext cx="1188720" cy="50292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ctr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2600" b="1" i="0" u="none" strike="noStrike" kern="1200" cap="none" spc="0" baseline="0">
                  <a:solidFill>
                    <a:srgbClr val="FFFFFF"/>
                  </a:solidFill>
                  <a:uFillTx/>
                  <a:latin typeface="72 Condensed"/>
                </a:rPr>
                <a:t>76 h</a:t>
              </a:r>
            </a:p>
          </p:txBody>
        </p:sp>
        <p:sp>
          <p:nvSpPr>
            <p:cNvPr id="61" name="TextBox 133">
              <a:extLst>
                <a:ext uri="{FF2B5EF4-FFF2-40B4-BE49-F238E27FC236}">
                  <a16:creationId xmlns:a16="http://schemas.microsoft.com/office/drawing/2014/main" id="{0506FD87-6896-54B2-8E24-2BECA2B5ED89}"/>
                </a:ext>
              </a:extLst>
            </p:cNvPr>
            <p:cNvSpPr txBox="1"/>
            <p:nvPr/>
          </p:nvSpPr>
          <p:spPr>
            <a:xfrm>
              <a:off x="7922306" y="5835069"/>
              <a:ext cx="1097280" cy="22860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100" b="1" i="0" u="none" strike="noStrike" kern="1200" cap="none" spc="0" baseline="0">
                  <a:solidFill>
                    <a:srgbClr val="C9962E"/>
                  </a:solidFill>
                  <a:uFillTx/>
                  <a:latin typeface="72 Condensed"/>
                </a:rPr>
                <a:t>teóricas</a:t>
              </a:r>
            </a:p>
          </p:txBody>
        </p:sp>
        <p:sp>
          <p:nvSpPr>
            <p:cNvPr id="62" name="TextBox 134">
              <a:extLst>
                <a:ext uri="{FF2B5EF4-FFF2-40B4-BE49-F238E27FC236}">
                  <a16:creationId xmlns:a16="http://schemas.microsoft.com/office/drawing/2014/main" id="{7DB18504-035B-125D-76A1-46B85F9B3F34}"/>
                </a:ext>
              </a:extLst>
            </p:cNvPr>
            <p:cNvSpPr txBox="1"/>
            <p:nvPr/>
          </p:nvSpPr>
          <p:spPr>
            <a:xfrm>
              <a:off x="7922306" y="6063669"/>
              <a:ext cx="1097280" cy="36576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900" b="0" i="0" u="none" strike="noStrike" kern="1200" cap="none" spc="0" baseline="0">
                  <a:solidFill>
                    <a:srgbClr val="EDF0E2"/>
                  </a:solidFill>
                  <a:uFillTx/>
                  <a:latin typeface="72 Condensed"/>
                </a:rPr>
                <a:t>a técnicos</a:t>
              </a:r>
            </a:p>
          </p:txBody>
        </p:sp>
        <p:sp>
          <p:nvSpPr>
            <p:cNvPr id="63" name="Rounded Rectangle 135">
              <a:extLst>
                <a:ext uri="{FF2B5EF4-FFF2-40B4-BE49-F238E27FC236}">
                  <a16:creationId xmlns:a16="http://schemas.microsoft.com/office/drawing/2014/main" id="{D71E78CF-42EB-C78E-D457-0878F49229A8}"/>
                </a:ext>
              </a:extLst>
            </p:cNvPr>
            <p:cNvSpPr/>
            <p:nvPr/>
          </p:nvSpPr>
          <p:spPr>
            <a:xfrm>
              <a:off x="9156746" y="5240709"/>
              <a:ext cx="1188720" cy="1234440"/>
            </a:xfrm>
            <a:custGeom>
              <a:avLst>
                <a:gd name="f0" fmla="val 2592"/>
              </a:avLst>
              <a:gdLst>
                <a:gd name="f1" fmla="val 10800000"/>
                <a:gd name="f2" fmla="val 5400000"/>
                <a:gd name="f3" fmla="val 1620000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val 45"/>
                <a:gd name="f10" fmla="val 10800"/>
                <a:gd name="f11" fmla="val -2147483647"/>
                <a:gd name="f12" fmla="val 2147483647"/>
                <a:gd name="f13" fmla="abs f4"/>
                <a:gd name="f14" fmla="abs f5"/>
                <a:gd name="f15" fmla="abs f6"/>
                <a:gd name="f16" fmla="*/ f8 1 180"/>
                <a:gd name="f17" fmla="pin 0 f0 10800"/>
                <a:gd name="f18" fmla="+- 0 0 f2"/>
                <a:gd name="f19" fmla="?: f13 f4 1"/>
                <a:gd name="f20" fmla="?: f14 f5 1"/>
                <a:gd name="f21" fmla="?: f15 f6 1"/>
                <a:gd name="f22" fmla="*/ f9 f16 1"/>
                <a:gd name="f23" fmla="+- f7 f17 0"/>
                <a:gd name="f24" fmla="*/ f19 1 21600"/>
                <a:gd name="f25" fmla="*/ f20 1 21600"/>
                <a:gd name="f26" fmla="*/ 21600 f19 1"/>
                <a:gd name="f27" fmla="*/ 21600 f20 1"/>
                <a:gd name="f28" fmla="+- 0 0 f22"/>
                <a:gd name="f29" fmla="min f25 f24"/>
                <a:gd name="f30" fmla="*/ f26 1 f21"/>
                <a:gd name="f31" fmla="*/ f27 1 f21"/>
                <a:gd name="f32" fmla="*/ f28 f1 1"/>
                <a:gd name="f33" fmla="*/ f32 1 f8"/>
                <a:gd name="f34" fmla="+- f31 0 f17"/>
                <a:gd name="f35" fmla="+- f30 0 f17"/>
                <a:gd name="f36" fmla="*/ f17 f29 1"/>
                <a:gd name="f37" fmla="*/ f7 f29 1"/>
                <a:gd name="f38" fmla="*/ f23 f29 1"/>
                <a:gd name="f39" fmla="*/ f31 f29 1"/>
                <a:gd name="f40" fmla="*/ f30 f29 1"/>
                <a:gd name="f41" fmla="+- f33 0 f2"/>
                <a:gd name="f42" fmla="+- f37 0 f38"/>
                <a:gd name="f43" fmla="+- f38 0 f37"/>
                <a:gd name="f44" fmla="*/ f34 f29 1"/>
                <a:gd name="f45" fmla="*/ f35 f29 1"/>
                <a:gd name="f46" fmla="cos 1 f41"/>
                <a:gd name="f47" fmla="abs f42"/>
                <a:gd name="f48" fmla="abs f43"/>
                <a:gd name="f49" fmla="?: f42 f18 f2"/>
                <a:gd name="f50" fmla="?: f42 f2 f18"/>
                <a:gd name="f51" fmla="?: f42 f3 f2"/>
                <a:gd name="f52" fmla="?: f42 f2 f3"/>
                <a:gd name="f53" fmla="+- f39 0 f44"/>
                <a:gd name="f54" fmla="?: f43 f18 f2"/>
                <a:gd name="f55" fmla="?: f43 f2 f18"/>
                <a:gd name="f56" fmla="+- f40 0 f45"/>
                <a:gd name="f57" fmla="+- f44 0 f39"/>
                <a:gd name="f58" fmla="+- f45 0 f40"/>
                <a:gd name="f59" fmla="?: f42 0 f1"/>
                <a:gd name="f60" fmla="?: f42 f1 0"/>
                <a:gd name="f61" fmla="+- 0 0 f46"/>
                <a:gd name="f62" fmla="?: f42 f52 f51"/>
                <a:gd name="f63" fmla="?: f42 f51 f52"/>
                <a:gd name="f64" fmla="?: f43 f50 f49"/>
                <a:gd name="f65" fmla="abs f53"/>
                <a:gd name="f66" fmla="?: f53 0 f1"/>
                <a:gd name="f67" fmla="?: f53 f1 0"/>
                <a:gd name="f68" fmla="?: f53 f54 f55"/>
                <a:gd name="f69" fmla="abs f56"/>
                <a:gd name="f70" fmla="abs f57"/>
                <a:gd name="f71" fmla="?: f56 f18 f2"/>
                <a:gd name="f72" fmla="?: f56 f2 f18"/>
                <a:gd name="f73" fmla="?: f56 f3 f2"/>
                <a:gd name="f74" fmla="?: f56 f2 f3"/>
                <a:gd name="f75" fmla="abs f58"/>
                <a:gd name="f76" fmla="?: f58 f18 f2"/>
                <a:gd name="f77" fmla="?: f58 f2 f18"/>
                <a:gd name="f78" fmla="?: f58 f60 f59"/>
                <a:gd name="f79" fmla="?: f58 f59 f60"/>
                <a:gd name="f80" fmla="*/ f17 f61 1"/>
                <a:gd name="f81" fmla="?: f43 f63 f62"/>
                <a:gd name="f82" fmla="?: f43 f67 f66"/>
                <a:gd name="f83" fmla="?: f43 f66 f67"/>
                <a:gd name="f84" fmla="?: f56 f74 f73"/>
                <a:gd name="f85" fmla="?: f56 f73 f74"/>
                <a:gd name="f86" fmla="?: f57 f72 f71"/>
                <a:gd name="f87" fmla="?: f42 f78 f79"/>
                <a:gd name="f88" fmla="?: f42 f76 f77"/>
                <a:gd name="f89" fmla="*/ f80 3163 1"/>
                <a:gd name="f90" fmla="?: f53 f82 f83"/>
                <a:gd name="f91" fmla="?: f57 f85 f84"/>
                <a:gd name="f92" fmla="*/ f89 1 7636"/>
                <a:gd name="f93" fmla="+- f7 f92 0"/>
                <a:gd name="f94" fmla="+- f30 0 f92"/>
                <a:gd name="f95" fmla="+- f31 0 f92"/>
                <a:gd name="f96" fmla="*/ f93 f29 1"/>
                <a:gd name="f97" fmla="*/ f94 f29 1"/>
                <a:gd name="f98" fmla="*/ f95 f29 1"/>
              </a:gdLst>
              <a:ahLst>
                <a:ahXY gdRefX="f0" minX="f7" maxX="f10">
                  <a:pos x="f36" y="f37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96" t="f96" r="f97" b="f98"/>
              <a:pathLst>
                <a:path>
                  <a:moveTo>
                    <a:pt x="f38" y="f37"/>
                  </a:moveTo>
                  <a:arcTo wR="f47" hR="f48" stAng="f81" swAng="f64"/>
                  <a:lnTo>
                    <a:pt x="f37" y="f44"/>
                  </a:lnTo>
                  <a:arcTo wR="f48" hR="f65" stAng="f90" swAng="f68"/>
                  <a:lnTo>
                    <a:pt x="f45" y="f39"/>
                  </a:lnTo>
                  <a:arcTo wR="f69" hR="f70" stAng="f91" swAng="f86"/>
                  <a:lnTo>
                    <a:pt x="f40" y="f38"/>
                  </a:lnTo>
                  <a:arcTo wR="f75" hR="f47" stAng="f87" swAng="f88"/>
                  <a:close/>
                </a:path>
              </a:pathLst>
            </a:custGeom>
            <a:solidFill>
              <a:srgbClr val="4C6A35"/>
            </a:solidFill>
            <a:ln cap="flat">
              <a:noFill/>
              <a:prstDash val="solid"/>
            </a:ln>
          </p:spPr>
          <p:txBody>
            <a:bodyPr vert="horz" wrap="square" lIns="0" tIns="0" rIns="0" bIns="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1800" b="0" i="0" u="none" strike="noStrike" kern="1200" cap="none" spc="0" baseline="0">
                <a:solidFill>
                  <a:srgbClr val="FFFFFF"/>
                </a:solidFill>
                <a:uFillTx/>
                <a:latin typeface="Aptos"/>
              </a:endParaRPr>
            </a:p>
          </p:txBody>
        </p:sp>
        <p:sp>
          <p:nvSpPr>
            <p:cNvPr id="64" name="TextBox 136">
              <a:extLst>
                <a:ext uri="{FF2B5EF4-FFF2-40B4-BE49-F238E27FC236}">
                  <a16:creationId xmlns:a16="http://schemas.microsoft.com/office/drawing/2014/main" id="{820A0853-908F-90BB-F0A8-831B18D1CD0E}"/>
                </a:ext>
              </a:extLst>
            </p:cNvPr>
            <p:cNvSpPr txBox="1"/>
            <p:nvPr/>
          </p:nvSpPr>
          <p:spPr>
            <a:xfrm>
              <a:off x="9156746" y="5332149"/>
              <a:ext cx="1188720" cy="50292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ctr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2600" b="1" i="0" u="none" strike="noStrike" kern="1200" cap="none" spc="0" baseline="0">
                  <a:solidFill>
                    <a:srgbClr val="FFFFFF"/>
                  </a:solidFill>
                  <a:uFillTx/>
                  <a:latin typeface="72 Condensed"/>
                </a:rPr>
                <a:t>36 h</a:t>
              </a:r>
            </a:p>
          </p:txBody>
        </p:sp>
        <p:sp>
          <p:nvSpPr>
            <p:cNvPr id="65" name="TextBox 137">
              <a:extLst>
                <a:ext uri="{FF2B5EF4-FFF2-40B4-BE49-F238E27FC236}">
                  <a16:creationId xmlns:a16="http://schemas.microsoft.com/office/drawing/2014/main" id="{E635AEDC-FEEF-9C29-6B03-9B97140C1942}"/>
                </a:ext>
              </a:extLst>
            </p:cNvPr>
            <p:cNvSpPr txBox="1"/>
            <p:nvPr/>
          </p:nvSpPr>
          <p:spPr>
            <a:xfrm>
              <a:off x="9202466" y="5835069"/>
              <a:ext cx="1097280" cy="22860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100" b="1" i="0" u="none" strike="noStrike" kern="1200" cap="none" spc="0" baseline="0">
                  <a:solidFill>
                    <a:srgbClr val="C9962E"/>
                  </a:solidFill>
                  <a:uFillTx/>
                  <a:latin typeface="72 Condensed"/>
                </a:rPr>
                <a:t>prácticas</a:t>
              </a:r>
            </a:p>
          </p:txBody>
        </p:sp>
        <p:sp>
          <p:nvSpPr>
            <p:cNvPr id="66" name="TextBox 138">
              <a:extLst>
                <a:ext uri="{FF2B5EF4-FFF2-40B4-BE49-F238E27FC236}">
                  <a16:creationId xmlns:a16="http://schemas.microsoft.com/office/drawing/2014/main" id="{945966F4-281B-5AB2-775C-723DDE784AD4}"/>
                </a:ext>
              </a:extLst>
            </p:cNvPr>
            <p:cNvSpPr txBox="1"/>
            <p:nvPr/>
          </p:nvSpPr>
          <p:spPr>
            <a:xfrm>
              <a:off x="9202466" y="6063669"/>
              <a:ext cx="1097280" cy="36576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900" b="0" i="0" u="none" strike="noStrike" kern="1200" cap="none" spc="0" baseline="0">
                  <a:solidFill>
                    <a:srgbClr val="EDF0E2"/>
                  </a:solidFill>
                  <a:uFillTx/>
                  <a:latin typeface="72 Condensed"/>
                </a:rPr>
                <a:t>en campo</a:t>
              </a:r>
            </a:p>
          </p:txBody>
        </p:sp>
        <p:sp>
          <p:nvSpPr>
            <p:cNvPr id="67" name="Rounded Rectangle 139">
              <a:extLst>
                <a:ext uri="{FF2B5EF4-FFF2-40B4-BE49-F238E27FC236}">
                  <a16:creationId xmlns:a16="http://schemas.microsoft.com/office/drawing/2014/main" id="{660D65E0-4480-5B5B-9278-3FC612211CD4}"/>
                </a:ext>
              </a:extLst>
            </p:cNvPr>
            <p:cNvSpPr/>
            <p:nvPr/>
          </p:nvSpPr>
          <p:spPr>
            <a:xfrm>
              <a:off x="10436906" y="5240709"/>
              <a:ext cx="1188720" cy="1234440"/>
            </a:xfrm>
            <a:custGeom>
              <a:avLst>
                <a:gd name="f0" fmla="val 2592"/>
              </a:avLst>
              <a:gdLst>
                <a:gd name="f1" fmla="val 10800000"/>
                <a:gd name="f2" fmla="val 5400000"/>
                <a:gd name="f3" fmla="val 1620000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val 45"/>
                <a:gd name="f10" fmla="val 10800"/>
                <a:gd name="f11" fmla="val -2147483647"/>
                <a:gd name="f12" fmla="val 2147483647"/>
                <a:gd name="f13" fmla="abs f4"/>
                <a:gd name="f14" fmla="abs f5"/>
                <a:gd name="f15" fmla="abs f6"/>
                <a:gd name="f16" fmla="*/ f8 1 180"/>
                <a:gd name="f17" fmla="pin 0 f0 10800"/>
                <a:gd name="f18" fmla="+- 0 0 f2"/>
                <a:gd name="f19" fmla="?: f13 f4 1"/>
                <a:gd name="f20" fmla="?: f14 f5 1"/>
                <a:gd name="f21" fmla="?: f15 f6 1"/>
                <a:gd name="f22" fmla="*/ f9 f16 1"/>
                <a:gd name="f23" fmla="+- f7 f17 0"/>
                <a:gd name="f24" fmla="*/ f19 1 21600"/>
                <a:gd name="f25" fmla="*/ f20 1 21600"/>
                <a:gd name="f26" fmla="*/ 21600 f19 1"/>
                <a:gd name="f27" fmla="*/ 21600 f20 1"/>
                <a:gd name="f28" fmla="+- 0 0 f22"/>
                <a:gd name="f29" fmla="min f25 f24"/>
                <a:gd name="f30" fmla="*/ f26 1 f21"/>
                <a:gd name="f31" fmla="*/ f27 1 f21"/>
                <a:gd name="f32" fmla="*/ f28 f1 1"/>
                <a:gd name="f33" fmla="*/ f32 1 f8"/>
                <a:gd name="f34" fmla="+- f31 0 f17"/>
                <a:gd name="f35" fmla="+- f30 0 f17"/>
                <a:gd name="f36" fmla="*/ f17 f29 1"/>
                <a:gd name="f37" fmla="*/ f7 f29 1"/>
                <a:gd name="f38" fmla="*/ f23 f29 1"/>
                <a:gd name="f39" fmla="*/ f31 f29 1"/>
                <a:gd name="f40" fmla="*/ f30 f29 1"/>
                <a:gd name="f41" fmla="+- f33 0 f2"/>
                <a:gd name="f42" fmla="+- f37 0 f38"/>
                <a:gd name="f43" fmla="+- f38 0 f37"/>
                <a:gd name="f44" fmla="*/ f34 f29 1"/>
                <a:gd name="f45" fmla="*/ f35 f29 1"/>
                <a:gd name="f46" fmla="cos 1 f41"/>
                <a:gd name="f47" fmla="abs f42"/>
                <a:gd name="f48" fmla="abs f43"/>
                <a:gd name="f49" fmla="?: f42 f18 f2"/>
                <a:gd name="f50" fmla="?: f42 f2 f18"/>
                <a:gd name="f51" fmla="?: f42 f3 f2"/>
                <a:gd name="f52" fmla="?: f42 f2 f3"/>
                <a:gd name="f53" fmla="+- f39 0 f44"/>
                <a:gd name="f54" fmla="?: f43 f18 f2"/>
                <a:gd name="f55" fmla="?: f43 f2 f18"/>
                <a:gd name="f56" fmla="+- f40 0 f45"/>
                <a:gd name="f57" fmla="+- f44 0 f39"/>
                <a:gd name="f58" fmla="+- f45 0 f40"/>
                <a:gd name="f59" fmla="?: f42 0 f1"/>
                <a:gd name="f60" fmla="?: f42 f1 0"/>
                <a:gd name="f61" fmla="+- 0 0 f46"/>
                <a:gd name="f62" fmla="?: f42 f52 f51"/>
                <a:gd name="f63" fmla="?: f42 f51 f52"/>
                <a:gd name="f64" fmla="?: f43 f50 f49"/>
                <a:gd name="f65" fmla="abs f53"/>
                <a:gd name="f66" fmla="?: f53 0 f1"/>
                <a:gd name="f67" fmla="?: f53 f1 0"/>
                <a:gd name="f68" fmla="?: f53 f54 f55"/>
                <a:gd name="f69" fmla="abs f56"/>
                <a:gd name="f70" fmla="abs f57"/>
                <a:gd name="f71" fmla="?: f56 f18 f2"/>
                <a:gd name="f72" fmla="?: f56 f2 f18"/>
                <a:gd name="f73" fmla="?: f56 f3 f2"/>
                <a:gd name="f74" fmla="?: f56 f2 f3"/>
                <a:gd name="f75" fmla="abs f58"/>
                <a:gd name="f76" fmla="?: f58 f18 f2"/>
                <a:gd name="f77" fmla="?: f58 f2 f18"/>
                <a:gd name="f78" fmla="?: f58 f60 f59"/>
                <a:gd name="f79" fmla="?: f58 f59 f60"/>
                <a:gd name="f80" fmla="*/ f17 f61 1"/>
                <a:gd name="f81" fmla="?: f43 f63 f62"/>
                <a:gd name="f82" fmla="?: f43 f67 f66"/>
                <a:gd name="f83" fmla="?: f43 f66 f67"/>
                <a:gd name="f84" fmla="?: f56 f74 f73"/>
                <a:gd name="f85" fmla="?: f56 f73 f74"/>
                <a:gd name="f86" fmla="?: f57 f72 f71"/>
                <a:gd name="f87" fmla="?: f42 f78 f79"/>
                <a:gd name="f88" fmla="?: f42 f76 f77"/>
                <a:gd name="f89" fmla="*/ f80 3163 1"/>
                <a:gd name="f90" fmla="?: f53 f82 f83"/>
                <a:gd name="f91" fmla="?: f57 f85 f84"/>
                <a:gd name="f92" fmla="*/ f89 1 7636"/>
                <a:gd name="f93" fmla="+- f7 f92 0"/>
                <a:gd name="f94" fmla="+- f30 0 f92"/>
                <a:gd name="f95" fmla="+- f31 0 f92"/>
                <a:gd name="f96" fmla="*/ f93 f29 1"/>
                <a:gd name="f97" fmla="*/ f94 f29 1"/>
                <a:gd name="f98" fmla="*/ f95 f29 1"/>
              </a:gdLst>
              <a:ahLst>
                <a:ahXY gdRefX="f0" minX="f7" maxX="f10">
                  <a:pos x="f36" y="f37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96" t="f96" r="f97" b="f98"/>
              <a:pathLst>
                <a:path>
                  <a:moveTo>
                    <a:pt x="f38" y="f37"/>
                  </a:moveTo>
                  <a:arcTo wR="f47" hR="f48" stAng="f81" swAng="f64"/>
                  <a:lnTo>
                    <a:pt x="f37" y="f44"/>
                  </a:lnTo>
                  <a:arcTo wR="f48" hR="f65" stAng="f90" swAng="f68"/>
                  <a:lnTo>
                    <a:pt x="f45" y="f39"/>
                  </a:lnTo>
                  <a:arcTo wR="f69" hR="f70" stAng="f91" swAng="f86"/>
                  <a:lnTo>
                    <a:pt x="f40" y="f38"/>
                  </a:lnTo>
                  <a:arcTo wR="f75" hR="f47" stAng="f87" swAng="f88"/>
                  <a:close/>
                </a:path>
              </a:pathLst>
            </a:custGeom>
            <a:solidFill>
              <a:srgbClr val="4C6A35"/>
            </a:solidFill>
            <a:ln cap="flat">
              <a:noFill/>
              <a:prstDash val="solid"/>
            </a:ln>
          </p:spPr>
          <p:txBody>
            <a:bodyPr vert="horz" wrap="square" lIns="0" tIns="0" rIns="0" bIns="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1800" b="0" i="0" u="none" strike="noStrike" kern="1200" cap="none" spc="0" baseline="0">
                <a:solidFill>
                  <a:srgbClr val="FFFFFF"/>
                </a:solidFill>
                <a:uFillTx/>
                <a:latin typeface="Aptos"/>
              </a:endParaRPr>
            </a:p>
          </p:txBody>
        </p:sp>
        <p:sp>
          <p:nvSpPr>
            <p:cNvPr id="68" name="TextBox 140">
              <a:extLst>
                <a:ext uri="{FF2B5EF4-FFF2-40B4-BE49-F238E27FC236}">
                  <a16:creationId xmlns:a16="http://schemas.microsoft.com/office/drawing/2014/main" id="{821B1AB2-C09B-E286-77A4-4A0307148D5B}"/>
                </a:ext>
              </a:extLst>
            </p:cNvPr>
            <p:cNvSpPr txBox="1"/>
            <p:nvPr/>
          </p:nvSpPr>
          <p:spPr>
            <a:xfrm>
              <a:off x="10436906" y="5344849"/>
              <a:ext cx="1188720" cy="50292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ctr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2600" b="1" i="0" u="none" strike="noStrike" kern="1200" cap="none" spc="0" baseline="0" dirty="0">
                  <a:solidFill>
                    <a:srgbClr val="FFFFFF"/>
                  </a:solidFill>
                  <a:uFillTx/>
                  <a:latin typeface="72 Condensed"/>
                </a:rPr>
                <a:t>15,5</a:t>
              </a:r>
            </a:p>
          </p:txBody>
        </p:sp>
        <p:sp>
          <p:nvSpPr>
            <p:cNvPr id="69" name="TextBox 141">
              <a:extLst>
                <a:ext uri="{FF2B5EF4-FFF2-40B4-BE49-F238E27FC236}">
                  <a16:creationId xmlns:a16="http://schemas.microsoft.com/office/drawing/2014/main" id="{0B4AF08A-BEA4-7ADE-3D1F-62A93E9C04AB}"/>
                </a:ext>
              </a:extLst>
            </p:cNvPr>
            <p:cNvSpPr txBox="1"/>
            <p:nvPr/>
          </p:nvSpPr>
          <p:spPr>
            <a:xfrm>
              <a:off x="10482626" y="5835069"/>
              <a:ext cx="1097280" cy="22860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100" b="1" i="0" u="none" strike="noStrike" kern="1200" cap="none" spc="0" baseline="0" dirty="0">
                  <a:solidFill>
                    <a:srgbClr val="C9962E"/>
                  </a:solidFill>
                  <a:uFillTx/>
                  <a:latin typeface="72 Condensed"/>
                </a:rPr>
                <a:t>nota</a:t>
              </a:r>
            </a:p>
          </p:txBody>
        </p:sp>
        <p:sp>
          <p:nvSpPr>
            <p:cNvPr id="70" name="TextBox 142">
              <a:extLst>
                <a:ext uri="{FF2B5EF4-FFF2-40B4-BE49-F238E27FC236}">
                  <a16:creationId xmlns:a16="http://schemas.microsoft.com/office/drawing/2014/main" id="{8C2DF611-75D2-F861-BA60-7C7B89C821A0}"/>
                </a:ext>
              </a:extLst>
            </p:cNvPr>
            <p:cNvSpPr txBox="1"/>
            <p:nvPr/>
          </p:nvSpPr>
          <p:spPr>
            <a:xfrm>
              <a:off x="10482626" y="6063669"/>
              <a:ext cx="1097280" cy="36576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900" b="0" i="0" u="none" strike="noStrike" kern="1200" cap="none" spc="0" baseline="0">
                  <a:solidFill>
                    <a:srgbClr val="EDF0E2"/>
                  </a:solidFill>
                  <a:uFillTx/>
                  <a:latin typeface="72 Condensed"/>
                </a:rPr>
                <a:t>promedio</a:t>
              </a:r>
            </a:p>
          </p:txBody>
        </p:sp>
      </p:grpSp>
      <p:sp>
        <p:nvSpPr>
          <p:cNvPr id="71" name="Leyenda tecnicos punto"/>
          <p:cNvSpPr/>
          <p:nvPr/>
        </p:nvSpPr>
        <p:spPr>
          <a:xfrm>
            <a:off x="1997180" y="4740505"/>
            <a:ext cx="164592" cy="164592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72" name="Leyenda tecnicos texto"/>
          <p:cNvSpPr txBox="1"/>
          <p:nvPr/>
        </p:nvSpPr>
        <p:spPr>
          <a:xfrm>
            <a:off x="2225780" y="4685641"/>
            <a:ext cx="292608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Técnicos</a:t>
            </a:r>
          </a:p>
        </p:txBody>
      </p:sp>
      <p:sp>
        <p:nvSpPr>
          <p:cNvPr id="73" name="Etiqueta tecnicos"/>
          <p:cNvSpPr/>
          <p:nvPr/>
        </p:nvSpPr>
        <p:spPr>
          <a:xfrm>
            <a:off x="4330000" y="1554480"/>
            <a:ext cx="1380000" cy="256032"/>
          </a:xfrm>
          <a:prstGeom prst="roundRect">
            <a:avLst>
              <a:gd name="adj" fmla="val 50000"/>
            </a:avLst>
          </a:prstGeom>
          <a:solidFill>
            <a:srgbClr val="2F4023"/>
          </a:solidFill>
          <a:ln>
            <a:noFill/>
          </a:ln>
        </p:spPr>
        <p:txBody>
          <a:bodyPr wrap="square" lIns="45720" tIns="0" rIns="45720" bIns="0" anchor="ctr">
            <a:noAutofit/>
          </a:bodyPr>
          <a:lstStyle/>
          <a:p>
            <a:pPr algn="ctr"/>
            <a:r>
              <a:rPr lang="es-ES" sz="1000" b="1" spc="40" dirty="0">
                <a:solidFill>
                  <a:srgbClr val="FFFFFF"/>
                </a:solidFill>
                <a:latin typeface="72 Condensed"/>
              </a:rPr>
              <a:t>TÉCNICOS · 60 H</a:t>
            </a:r>
          </a:p>
        </p:txBody>
      </p:sp>
      <p:sp>
        <p:nvSpPr>
          <p:cNvPr id="74" name="Etiqueta operadores"/>
          <p:cNvSpPr/>
          <p:nvPr/>
        </p:nvSpPr>
        <p:spPr>
          <a:xfrm>
            <a:off x="4330000" y="4032504"/>
            <a:ext cx="1380000" cy="256032"/>
          </a:xfrm>
          <a:prstGeom prst="roundRect">
            <a:avLst>
              <a:gd name="adj" fmla="val 50000"/>
            </a:avLst>
          </a:prstGeom>
          <a:solidFill>
            <a:srgbClr val="C9962E"/>
          </a:solidFill>
          <a:ln>
            <a:noFill/>
          </a:ln>
        </p:spPr>
        <p:txBody>
          <a:bodyPr wrap="square" lIns="45720" tIns="0" rIns="45720" bIns="0" anchor="ctr">
            <a:noAutofit/>
          </a:bodyPr>
          <a:lstStyle/>
          <a:p>
            <a:pPr algn="ctr"/>
            <a:r>
              <a:rPr lang="es-ES" sz="1000" b="1" spc="40" dirty="0">
                <a:solidFill>
                  <a:srgbClr val="1F2E18"/>
                </a:solidFill>
                <a:latin typeface="72 Condensed"/>
              </a:rPr>
              <a:t>OPERADORES · 16 H</a:t>
            </a:r>
          </a:p>
        </p:txBody>
      </p:sp>
      <p:sp>
        <p:nvSpPr>
          <p:cNvPr id="75" name="Pie foto operadores"/>
          <p:cNvSpPr/>
          <p:nvPr/>
        </p:nvSpPr>
        <p:spPr>
          <a:xfrm>
            <a:off x="8074773" y="2053595"/>
            <a:ext cx="2099910" cy="210312"/>
          </a:xfrm>
          <a:prstGeom prst="rect">
            <a:avLst/>
          </a:prstGeom>
          <a:solidFill>
            <a:srgbClr val="1F2E18">
              <a:alpha val="80000"/>
            </a:srgbClr>
          </a:solidFill>
          <a:ln>
            <a:noFill/>
          </a:ln>
        </p:spPr>
        <p:txBody>
          <a:bodyPr wrap="square" lIns="45720" tIns="0" rIns="45720" bIns="0" anchor="ctr">
            <a:noAutofit/>
          </a:bodyPr>
          <a:lstStyle/>
          <a:p>
            <a:pPr algn="ctr"/>
            <a:r>
              <a:rPr lang="es-ES" sz="750" b="1" spc="0" dirty="0">
                <a:solidFill>
                  <a:srgbClr val="FFFFFF"/>
                </a:solidFill>
                <a:latin typeface="72 Condensed"/>
              </a:rPr>
              <a:t>OPERADORES · CALIBRACIÓN DE COSECHADORAS</a:t>
            </a:r>
          </a:p>
        </p:txBody>
      </p:sp>
      <p:sp>
        <p:nvSpPr>
          <p:cNvPr id="76" name="Pie foto tecnicos"/>
          <p:cNvSpPr/>
          <p:nvPr/>
        </p:nvSpPr>
        <p:spPr>
          <a:xfrm>
            <a:off x="8062292" y="3654810"/>
            <a:ext cx="2097487" cy="210312"/>
          </a:xfrm>
          <a:prstGeom prst="rect">
            <a:avLst/>
          </a:prstGeom>
          <a:solidFill>
            <a:srgbClr val="1F2E18">
              <a:alpha val="80000"/>
            </a:srgbClr>
          </a:solidFill>
          <a:ln>
            <a:noFill/>
          </a:ln>
        </p:spPr>
        <p:txBody>
          <a:bodyPr wrap="square" lIns="45720" tIns="0" rIns="45720" bIns="0" anchor="ctr">
            <a:noAutofit/>
          </a:bodyPr>
          <a:lstStyle/>
          <a:p>
            <a:pPr algn="ctr"/>
            <a:r>
              <a:rPr lang="es-ES" sz="750" b="1" spc="0" dirty="0">
                <a:solidFill>
                  <a:srgbClr val="FFFFFF"/>
                </a:solidFill>
                <a:latin typeface="72 Condensed"/>
              </a:rPr>
              <a:t>TÉCNICOS · FORMACIÓN PRESENCIAL</a:t>
            </a:r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5"/>
    </p:ext>
  </p:extLs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21474833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21">
            <a:extLst>
              <a:ext uri="{FF2B5EF4-FFF2-40B4-BE49-F238E27FC236}">
                <a16:creationId xmlns:a16="http://schemas.microsoft.com/office/drawing/2014/main" id="{F4E4A4B8-8A4E-5940-971E-B69E98CAF0EE}"/>
              </a:ext>
            </a:extLst>
          </p:cNvPr>
          <p:cNvSpPr txBox="1"/>
          <p:nvPr/>
        </p:nvSpPr>
        <p:spPr>
          <a:xfrm>
            <a:off x="9347197" y="0"/>
            <a:ext cx="2844798" cy="369335"/>
          </a:xfrm>
          <a:prstGeom prst="rect">
            <a:avLst/>
          </a:prstGeom>
          <a:solidFill>
            <a:srgbClr val="324425"/>
          </a:solidFill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1" u="none" strike="noStrike" kern="1200" cap="none" spc="0" baseline="0">
                <a:solidFill>
                  <a:srgbClr val="FFFFFF"/>
                </a:solidFill>
                <a:uFillTx/>
                <a:latin typeface="72 Condensed" pitchFamily="34"/>
                <a:cs typeface="72 Condensed" pitchFamily="34"/>
              </a:rPr>
              <a:t>I+D 2026</a:t>
            </a:r>
          </a:p>
        </p:txBody>
      </p:sp>
      <p:sp>
        <p:nvSpPr>
          <p:cNvPr id="3" name="TextBox 22">
            <a:extLst>
              <a:ext uri="{FF2B5EF4-FFF2-40B4-BE49-F238E27FC236}">
                <a16:creationId xmlns:a16="http://schemas.microsoft.com/office/drawing/2014/main" id="{EC92B1A9-8901-FDF9-5DD4-23AE9C1632DB}"/>
              </a:ext>
            </a:extLst>
          </p:cNvPr>
          <p:cNvSpPr txBox="1"/>
          <p:nvPr/>
        </p:nvSpPr>
        <p:spPr>
          <a:xfrm>
            <a:off x="502920" y="502920"/>
            <a:ext cx="777240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300" b="1" i="0" u="none" strike="noStrike" kern="1200" cap="none" spc="250" baseline="0">
                <a:solidFill>
                  <a:srgbClr val="C9962E"/>
                </a:solidFill>
                <a:uFillTx/>
                <a:latin typeface="72 Condensed"/>
              </a:rPr>
              <a:t>I+D 2026 · ENSAYOS EN CAMPO PARA EL PRÓXIMO CICLO</a:t>
            </a:r>
          </a:p>
        </p:txBody>
      </p:sp>
      <p:sp>
        <p:nvSpPr>
          <p:cNvPr id="4" name="TextBox 23">
            <a:extLst>
              <a:ext uri="{FF2B5EF4-FFF2-40B4-BE49-F238E27FC236}">
                <a16:creationId xmlns:a16="http://schemas.microsoft.com/office/drawing/2014/main" id="{04F54F47-AAF9-CA1F-EE3D-D30B1F25319A}"/>
              </a:ext>
            </a:extLst>
          </p:cNvPr>
          <p:cNvSpPr txBox="1"/>
          <p:nvPr/>
        </p:nvSpPr>
        <p:spPr>
          <a:xfrm>
            <a:off x="502920" y="777240"/>
            <a:ext cx="8778240" cy="36933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24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3 preguntas que nos planteamos en campo</a:t>
            </a:r>
          </a:p>
        </p:txBody>
      </p:sp>
      <p:sp>
        <p:nvSpPr>
          <p:cNvPr id="5" name="TextBox 24">
            <a:extLst>
              <a:ext uri="{FF2B5EF4-FFF2-40B4-BE49-F238E27FC236}">
                <a16:creationId xmlns:a16="http://schemas.microsoft.com/office/drawing/2014/main" id="{DABFF521-D069-B9A2-E1D4-9D20BDF8908A}"/>
              </a:ext>
            </a:extLst>
          </p:cNvPr>
          <p:cNvSpPr txBox="1"/>
          <p:nvPr/>
        </p:nvSpPr>
        <p:spPr>
          <a:xfrm>
            <a:off x="502920" y="1298448"/>
            <a:ext cx="786384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3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Cada ensayo nace de una pregunta real de negocio del agricultor</a:t>
            </a:r>
          </a:p>
        </p:txBody>
      </p:sp>
      <p:sp>
        <p:nvSpPr>
          <p:cNvPr id="6" name="Rounded Rectangle 25">
            <a:extLst>
              <a:ext uri="{FF2B5EF4-FFF2-40B4-BE49-F238E27FC236}">
                <a16:creationId xmlns:a16="http://schemas.microsoft.com/office/drawing/2014/main" id="{37C38C46-0107-EB51-8E14-6334A0F53A8C}"/>
              </a:ext>
            </a:extLst>
          </p:cNvPr>
          <p:cNvSpPr/>
          <p:nvPr/>
        </p:nvSpPr>
        <p:spPr>
          <a:xfrm>
            <a:off x="502920" y="1783080"/>
            <a:ext cx="3596640" cy="4572000"/>
          </a:xfrm>
          <a:custGeom>
            <a:avLst>
              <a:gd name="f0" fmla="val 1296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7" name="TextBox 26">
            <a:extLst>
              <a:ext uri="{FF2B5EF4-FFF2-40B4-BE49-F238E27FC236}">
                <a16:creationId xmlns:a16="http://schemas.microsoft.com/office/drawing/2014/main" id="{99306228-1F63-6865-CDE9-83B728F6B121}"/>
              </a:ext>
            </a:extLst>
          </p:cNvPr>
          <p:cNvSpPr txBox="1"/>
          <p:nvPr/>
        </p:nvSpPr>
        <p:spPr>
          <a:xfrm>
            <a:off x="3230880" y="1737360"/>
            <a:ext cx="822960" cy="10972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0" b="1" i="0" u="none" strike="noStrike" kern="1200" cap="none" spc="0" baseline="0">
                <a:solidFill>
                  <a:srgbClr val="DCE2CC"/>
                </a:solidFill>
                <a:uFillTx/>
                <a:latin typeface="72 Condensed"/>
              </a:rPr>
              <a:t>?</a:t>
            </a:r>
          </a:p>
        </p:txBody>
      </p:sp>
      <p:sp>
        <p:nvSpPr>
          <p:cNvPr id="8" name="Oval 27">
            <a:extLst>
              <a:ext uri="{FF2B5EF4-FFF2-40B4-BE49-F238E27FC236}">
                <a16:creationId xmlns:a16="http://schemas.microsoft.com/office/drawing/2014/main" id="{9FAAAEF3-7133-C9C8-302E-398086CDA2F1}"/>
              </a:ext>
            </a:extLst>
          </p:cNvPr>
          <p:cNvSpPr/>
          <p:nvPr/>
        </p:nvSpPr>
        <p:spPr>
          <a:xfrm>
            <a:off x="704088" y="1984248"/>
            <a:ext cx="566928" cy="56692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9" name="Picture 28" descr="flask_w.png">
            <a:extLst>
              <a:ext uri="{FF2B5EF4-FFF2-40B4-BE49-F238E27FC236}">
                <a16:creationId xmlns:a16="http://schemas.microsoft.com/office/drawing/2014/main" id="{C64DD5E4-3225-3715-9EB1-6AC8FDC6E3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812" y="2108972"/>
            <a:ext cx="317479" cy="317479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0" name="TextBox 29">
            <a:extLst>
              <a:ext uri="{FF2B5EF4-FFF2-40B4-BE49-F238E27FC236}">
                <a16:creationId xmlns:a16="http://schemas.microsoft.com/office/drawing/2014/main" id="{E4429D2A-CB01-3ACE-136D-4CD335AD5D14}"/>
              </a:ext>
            </a:extLst>
          </p:cNvPr>
          <p:cNvSpPr txBox="1"/>
          <p:nvPr/>
        </p:nvSpPr>
        <p:spPr>
          <a:xfrm>
            <a:off x="1371600" y="2124640"/>
            <a:ext cx="2499360" cy="27699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80" baseline="0" dirty="0">
                <a:solidFill>
                  <a:srgbClr val="4C6A35"/>
                </a:solidFill>
                <a:uFillTx/>
                <a:latin typeface="72 Condensed"/>
              </a:rPr>
              <a:t>RDOE · GUÁRICO, PORTUGUESA Y YARACUY</a:t>
            </a:r>
          </a:p>
        </p:txBody>
      </p:sp>
      <p:sp>
        <p:nvSpPr>
          <p:cNvPr id="11" name="TextBox 30">
            <a:extLst>
              <a:ext uri="{FF2B5EF4-FFF2-40B4-BE49-F238E27FC236}">
                <a16:creationId xmlns:a16="http://schemas.microsoft.com/office/drawing/2014/main" id="{F3D8564E-88EE-D1B1-341F-1B9278ED5D03}"/>
              </a:ext>
            </a:extLst>
          </p:cNvPr>
          <p:cNvSpPr txBox="1"/>
          <p:nvPr/>
        </p:nvSpPr>
        <p:spPr>
          <a:xfrm>
            <a:off x="704088" y="2697479"/>
            <a:ext cx="3194304" cy="73866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¿Cómo potenciar el rendimiento y proteger mi cultivo?</a:t>
            </a:r>
          </a:p>
        </p:txBody>
      </p:sp>
      <p:sp>
        <p:nvSpPr>
          <p:cNvPr id="12" name="TextBox 31">
            <a:extLst>
              <a:ext uri="{FF2B5EF4-FFF2-40B4-BE49-F238E27FC236}">
                <a16:creationId xmlns:a16="http://schemas.microsoft.com/office/drawing/2014/main" id="{417FEDCA-DE8C-0ABE-37DC-6C6BB32300AB}"/>
              </a:ext>
            </a:extLst>
          </p:cNvPr>
          <p:cNvSpPr txBox="1"/>
          <p:nvPr/>
        </p:nvSpPr>
        <p:spPr>
          <a:xfrm>
            <a:off x="704088" y="3657600"/>
            <a:ext cx="3194304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LO QUE HICIMOS</a:t>
            </a:r>
          </a:p>
        </p:txBody>
      </p:sp>
      <p:sp>
        <p:nvSpPr>
          <p:cNvPr id="13" name="TextBox 32">
            <a:extLst>
              <a:ext uri="{FF2B5EF4-FFF2-40B4-BE49-F238E27FC236}">
                <a16:creationId xmlns:a16="http://schemas.microsoft.com/office/drawing/2014/main" id="{14D6805A-9ED9-2E44-36A1-FE25B5D12ACF}"/>
              </a:ext>
            </a:extLst>
          </p:cNvPr>
          <p:cNvSpPr txBox="1"/>
          <p:nvPr/>
        </p:nvSpPr>
        <p:spPr>
          <a:xfrm>
            <a:off x="704088" y="3886200"/>
            <a:ext cx="3194304" cy="67710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 dirty="0">
                <a:solidFill>
                  <a:srgbClr val="1F2E18"/>
                </a:solidFill>
                <a:uFillTx/>
                <a:latin typeface="72 Condensed"/>
              </a:rPr>
              <a:t>Modelo de experimentos estadísticos para probar 5 nuevos insumos biológicos en este 2026, y así evaluar su comportamiento y ROI para el plan agronómico 2027</a:t>
            </a:r>
          </a:p>
        </p:txBody>
      </p:sp>
      <p:sp>
        <p:nvSpPr>
          <p:cNvPr id="14" name="Rounded Rectangle 33">
            <a:extLst>
              <a:ext uri="{FF2B5EF4-FFF2-40B4-BE49-F238E27FC236}">
                <a16:creationId xmlns:a16="http://schemas.microsoft.com/office/drawing/2014/main" id="{B4143D38-456B-21B1-A548-ED3C6BB7B72F}"/>
              </a:ext>
            </a:extLst>
          </p:cNvPr>
          <p:cNvSpPr/>
          <p:nvPr/>
        </p:nvSpPr>
        <p:spPr>
          <a:xfrm>
            <a:off x="612648" y="4983480"/>
            <a:ext cx="3377184" cy="1261872"/>
          </a:xfrm>
          <a:custGeom>
            <a:avLst>
              <a:gd name="f0" fmla="val 21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15" name="TextBox 34">
            <a:extLst>
              <a:ext uri="{FF2B5EF4-FFF2-40B4-BE49-F238E27FC236}">
                <a16:creationId xmlns:a16="http://schemas.microsoft.com/office/drawing/2014/main" id="{78C682CD-3237-81B3-0B3C-AA8F330FB7B0}"/>
              </a:ext>
            </a:extLst>
          </p:cNvPr>
          <p:cNvSpPr txBox="1"/>
          <p:nvPr/>
        </p:nvSpPr>
        <p:spPr>
          <a:xfrm>
            <a:off x="777240" y="5093208"/>
            <a:ext cx="3048000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TU BENEFICIO</a:t>
            </a:r>
          </a:p>
        </p:txBody>
      </p:sp>
      <p:sp>
        <p:nvSpPr>
          <p:cNvPr id="16" name="TextBox 35">
            <a:extLst>
              <a:ext uri="{FF2B5EF4-FFF2-40B4-BE49-F238E27FC236}">
                <a16:creationId xmlns:a16="http://schemas.microsoft.com/office/drawing/2014/main" id="{82114166-7C33-20B4-6329-EFE5F6A075B3}"/>
              </a:ext>
            </a:extLst>
          </p:cNvPr>
          <p:cNvSpPr txBox="1"/>
          <p:nvPr/>
        </p:nvSpPr>
        <p:spPr>
          <a:xfrm>
            <a:off x="777240" y="5330952"/>
            <a:ext cx="304800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Inviertes solo en lo que funciona en tu localidad.</a:t>
            </a:r>
          </a:p>
        </p:txBody>
      </p:sp>
      <p:sp>
        <p:nvSpPr>
          <p:cNvPr id="17" name="Rounded Rectangle 36">
            <a:extLst>
              <a:ext uri="{FF2B5EF4-FFF2-40B4-BE49-F238E27FC236}">
                <a16:creationId xmlns:a16="http://schemas.microsoft.com/office/drawing/2014/main" id="{0841872C-77A6-316B-B70F-A5C463E555E1}"/>
              </a:ext>
            </a:extLst>
          </p:cNvPr>
          <p:cNvSpPr/>
          <p:nvPr/>
        </p:nvSpPr>
        <p:spPr>
          <a:xfrm>
            <a:off x="4282440" y="1783080"/>
            <a:ext cx="3596640" cy="4572000"/>
          </a:xfrm>
          <a:custGeom>
            <a:avLst>
              <a:gd name="f0" fmla="val 1296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18" name="TextBox 37">
            <a:extLst>
              <a:ext uri="{FF2B5EF4-FFF2-40B4-BE49-F238E27FC236}">
                <a16:creationId xmlns:a16="http://schemas.microsoft.com/office/drawing/2014/main" id="{DE2F39A5-78F4-3FF9-63C6-8CB4B63C30F2}"/>
              </a:ext>
            </a:extLst>
          </p:cNvPr>
          <p:cNvSpPr txBox="1"/>
          <p:nvPr/>
        </p:nvSpPr>
        <p:spPr>
          <a:xfrm>
            <a:off x="7010400" y="1737360"/>
            <a:ext cx="822960" cy="10972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0" b="1" i="0" u="none" strike="noStrike" kern="1200" cap="none" spc="0" baseline="0">
                <a:solidFill>
                  <a:srgbClr val="DCE2CC"/>
                </a:solidFill>
                <a:uFillTx/>
                <a:latin typeface="72 Condensed"/>
              </a:rPr>
              <a:t>?</a:t>
            </a:r>
          </a:p>
        </p:txBody>
      </p:sp>
      <p:sp>
        <p:nvSpPr>
          <p:cNvPr id="19" name="Oval 38">
            <a:extLst>
              <a:ext uri="{FF2B5EF4-FFF2-40B4-BE49-F238E27FC236}">
                <a16:creationId xmlns:a16="http://schemas.microsoft.com/office/drawing/2014/main" id="{D2F128E0-096B-1826-A8DC-88711AD9D144}"/>
              </a:ext>
            </a:extLst>
          </p:cNvPr>
          <p:cNvSpPr/>
          <p:nvPr/>
        </p:nvSpPr>
        <p:spPr>
          <a:xfrm>
            <a:off x="4483607" y="1984248"/>
            <a:ext cx="566928" cy="56692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20" name="Picture 39" descr="tint_w.png">
            <a:extLst>
              <a:ext uri="{FF2B5EF4-FFF2-40B4-BE49-F238E27FC236}">
                <a16:creationId xmlns:a16="http://schemas.microsoft.com/office/drawing/2014/main" id="{43356B61-E843-094C-0615-677955554D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8332" y="2108972"/>
            <a:ext cx="317479" cy="317479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21" name="TextBox 40">
            <a:extLst>
              <a:ext uri="{FF2B5EF4-FFF2-40B4-BE49-F238E27FC236}">
                <a16:creationId xmlns:a16="http://schemas.microsoft.com/office/drawing/2014/main" id="{9C2D3515-985B-B550-4532-54BBEDDCBA40}"/>
              </a:ext>
            </a:extLst>
          </p:cNvPr>
          <p:cNvSpPr txBox="1"/>
          <p:nvPr/>
        </p:nvSpPr>
        <p:spPr>
          <a:xfrm>
            <a:off x="5151120" y="2057400"/>
            <a:ext cx="2499360" cy="4114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900" b="1" i="0" u="none" strike="noStrike" kern="1200" cap="none" spc="80" baseline="0">
                <a:solidFill>
                  <a:srgbClr val="4C6A35"/>
                </a:solidFill>
                <a:uFillTx/>
                <a:latin typeface="72 Condensed"/>
              </a:rPr>
              <a:t>HIDROGEL · GUÁRICO Y SUR DE ARAGUA</a:t>
            </a:r>
          </a:p>
        </p:txBody>
      </p:sp>
      <p:sp>
        <p:nvSpPr>
          <p:cNvPr id="22" name="TextBox 41">
            <a:extLst>
              <a:ext uri="{FF2B5EF4-FFF2-40B4-BE49-F238E27FC236}">
                <a16:creationId xmlns:a16="http://schemas.microsoft.com/office/drawing/2014/main" id="{E336AF17-7893-692A-C5F8-C4C1559C5F95}"/>
              </a:ext>
            </a:extLst>
          </p:cNvPr>
          <p:cNvSpPr txBox="1"/>
          <p:nvPr/>
        </p:nvSpPr>
        <p:spPr>
          <a:xfrm>
            <a:off x="4483607" y="2697479"/>
            <a:ext cx="3194304" cy="4924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¿Cómo aprovecho cada gota de agua?</a:t>
            </a:r>
          </a:p>
        </p:txBody>
      </p:sp>
      <p:sp>
        <p:nvSpPr>
          <p:cNvPr id="23" name="TextBox 42">
            <a:extLst>
              <a:ext uri="{FF2B5EF4-FFF2-40B4-BE49-F238E27FC236}">
                <a16:creationId xmlns:a16="http://schemas.microsoft.com/office/drawing/2014/main" id="{81F8B5FB-A7D5-551C-641B-7E42CF970467}"/>
              </a:ext>
            </a:extLst>
          </p:cNvPr>
          <p:cNvSpPr txBox="1"/>
          <p:nvPr/>
        </p:nvSpPr>
        <p:spPr>
          <a:xfrm>
            <a:off x="4483607" y="3657600"/>
            <a:ext cx="3194304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LO QUE HICIMOS</a:t>
            </a:r>
          </a:p>
        </p:txBody>
      </p:sp>
      <p:sp>
        <p:nvSpPr>
          <p:cNvPr id="24" name="TextBox 43">
            <a:extLst>
              <a:ext uri="{FF2B5EF4-FFF2-40B4-BE49-F238E27FC236}">
                <a16:creationId xmlns:a16="http://schemas.microsoft.com/office/drawing/2014/main" id="{0423B348-FA21-46CC-3A8D-C280E789B281}"/>
              </a:ext>
            </a:extLst>
          </p:cNvPr>
          <p:cNvSpPr txBox="1"/>
          <p:nvPr/>
        </p:nvSpPr>
        <p:spPr>
          <a:xfrm>
            <a:off x="4483607" y="3886200"/>
            <a:ext cx="3194304" cy="67710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 dirty="0">
                <a:solidFill>
                  <a:srgbClr val="1F2E18"/>
                </a:solidFill>
                <a:uFillTx/>
                <a:latin typeface="72 Condensed"/>
              </a:rPr>
              <a:t>Se sembraron 50 ha con hidrogel en las zonas con mayor déficit hídrico: un biopolímero que retiene la humedad en el suelo.</a:t>
            </a:r>
          </a:p>
        </p:txBody>
      </p:sp>
      <p:sp>
        <p:nvSpPr>
          <p:cNvPr id="25" name="Rounded Rectangle 44">
            <a:extLst>
              <a:ext uri="{FF2B5EF4-FFF2-40B4-BE49-F238E27FC236}">
                <a16:creationId xmlns:a16="http://schemas.microsoft.com/office/drawing/2014/main" id="{5104141A-75A4-055D-1E73-F1A74A8ACB7B}"/>
              </a:ext>
            </a:extLst>
          </p:cNvPr>
          <p:cNvSpPr/>
          <p:nvPr/>
        </p:nvSpPr>
        <p:spPr>
          <a:xfrm>
            <a:off x="4392168" y="4983480"/>
            <a:ext cx="3377184" cy="1261872"/>
          </a:xfrm>
          <a:custGeom>
            <a:avLst>
              <a:gd name="f0" fmla="val 21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26" name="TextBox 45">
            <a:extLst>
              <a:ext uri="{FF2B5EF4-FFF2-40B4-BE49-F238E27FC236}">
                <a16:creationId xmlns:a16="http://schemas.microsoft.com/office/drawing/2014/main" id="{38978776-CE13-710F-EA24-13DBF3B5DB51}"/>
              </a:ext>
            </a:extLst>
          </p:cNvPr>
          <p:cNvSpPr txBox="1"/>
          <p:nvPr/>
        </p:nvSpPr>
        <p:spPr>
          <a:xfrm>
            <a:off x="4556759" y="5093208"/>
            <a:ext cx="3048000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TU BENEFICIO</a:t>
            </a:r>
          </a:p>
        </p:txBody>
      </p:sp>
      <p:sp>
        <p:nvSpPr>
          <p:cNvPr id="27" name="TextBox 46">
            <a:extLst>
              <a:ext uri="{FF2B5EF4-FFF2-40B4-BE49-F238E27FC236}">
                <a16:creationId xmlns:a16="http://schemas.microsoft.com/office/drawing/2014/main" id="{378A59F4-3ECD-A0A5-A20F-862C618D3D49}"/>
              </a:ext>
            </a:extLst>
          </p:cNvPr>
          <p:cNvSpPr txBox="1"/>
          <p:nvPr/>
        </p:nvSpPr>
        <p:spPr>
          <a:xfrm>
            <a:off x="4556759" y="5330952"/>
            <a:ext cx="304800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Un seguro de humedad ante sequía y años Niño.</a:t>
            </a:r>
          </a:p>
        </p:txBody>
      </p:sp>
      <p:sp>
        <p:nvSpPr>
          <p:cNvPr id="28" name="Rounded Rectangle 47">
            <a:extLst>
              <a:ext uri="{FF2B5EF4-FFF2-40B4-BE49-F238E27FC236}">
                <a16:creationId xmlns:a16="http://schemas.microsoft.com/office/drawing/2014/main" id="{F4377695-581E-8CF6-A977-A0A74D6CCFF8}"/>
              </a:ext>
            </a:extLst>
          </p:cNvPr>
          <p:cNvSpPr/>
          <p:nvPr/>
        </p:nvSpPr>
        <p:spPr>
          <a:xfrm>
            <a:off x="8061960" y="1783080"/>
            <a:ext cx="3596640" cy="4572000"/>
          </a:xfrm>
          <a:custGeom>
            <a:avLst>
              <a:gd name="f0" fmla="val 1296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29" name="TextBox 48">
            <a:extLst>
              <a:ext uri="{FF2B5EF4-FFF2-40B4-BE49-F238E27FC236}">
                <a16:creationId xmlns:a16="http://schemas.microsoft.com/office/drawing/2014/main" id="{00494B56-C0D8-9526-E8F8-AEA7D10BDF98}"/>
              </a:ext>
            </a:extLst>
          </p:cNvPr>
          <p:cNvSpPr txBox="1"/>
          <p:nvPr/>
        </p:nvSpPr>
        <p:spPr>
          <a:xfrm>
            <a:off x="10789919" y="1737360"/>
            <a:ext cx="822960" cy="10972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0" b="1" i="0" u="none" strike="noStrike" kern="1200" cap="none" spc="0" baseline="0">
                <a:solidFill>
                  <a:srgbClr val="DCE2CC"/>
                </a:solidFill>
                <a:uFillTx/>
                <a:latin typeface="72 Condensed"/>
              </a:rPr>
              <a:t>?</a:t>
            </a:r>
          </a:p>
        </p:txBody>
      </p:sp>
      <p:sp>
        <p:nvSpPr>
          <p:cNvPr id="30" name="Oval 49">
            <a:extLst>
              <a:ext uri="{FF2B5EF4-FFF2-40B4-BE49-F238E27FC236}">
                <a16:creationId xmlns:a16="http://schemas.microsoft.com/office/drawing/2014/main" id="{E86204A3-C035-4DD2-959F-ECDACA430C16}"/>
              </a:ext>
            </a:extLst>
          </p:cNvPr>
          <p:cNvSpPr/>
          <p:nvPr/>
        </p:nvSpPr>
        <p:spPr>
          <a:xfrm>
            <a:off x="8263128" y="1984248"/>
            <a:ext cx="566928" cy="56692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31" name="Picture 50" descr="drone_w.png">
            <a:extLst>
              <a:ext uri="{FF2B5EF4-FFF2-40B4-BE49-F238E27FC236}">
                <a16:creationId xmlns:a16="http://schemas.microsoft.com/office/drawing/2014/main" id="{26ECF81D-6410-3229-1D15-082BDA97AF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7852" y="2108972"/>
            <a:ext cx="317479" cy="317479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32" name="TextBox 51">
            <a:extLst>
              <a:ext uri="{FF2B5EF4-FFF2-40B4-BE49-F238E27FC236}">
                <a16:creationId xmlns:a16="http://schemas.microsoft.com/office/drawing/2014/main" id="{E87A6E0E-129C-D8EE-6983-FA0BB6C353FD}"/>
              </a:ext>
            </a:extLst>
          </p:cNvPr>
          <p:cNvSpPr txBox="1"/>
          <p:nvPr/>
        </p:nvSpPr>
        <p:spPr>
          <a:xfrm>
            <a:off x="8930640" y="2057400"/>
            <a:ext cx="2499360" cy="4114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80" baseline="0">
                <a:solidFill>
                  <a:srgbClr val="4C6A35"/>
                </a:solidFill>
                <a:uFillTx/>
                <a:latin typeface="72 Condensed"/>
              </a:rPr>
              <a:t>DRONES · GUÁRICO</a:t>
            </a:r>
          </a:p>
        </p:txBody>
      </p:sp>
      <p:sp>
        <p:nvSpPr>
          <p:cNvPr id="33" name="TextBox 52">
            <a:extLst>
              <a:ext uri="{FF2B5EF4-FFF2-40B4-BE49-F238E27FC236}">
                <a16:creationId xmlns:a16="http://schemas.microsoft.com/office/drawing/2014/main" id="{19E0F16D-3AB1-214F-19E2-40326F8B9D95}"/>
              </a:ext>
            </a:extLst>
          </p:cNvPr>
          <p:cNvSpPr txBox="1"/>
          <p:nvPr/>
        </p:nvSpPr>
        <p:spPr>
          <a:xfrm>
            <a:off x="8263128" y="2697479"/>
            <a:ext cx="3194304" cy="4924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¿Cómo aplicar más rápido y a menor costo?</a:t>
            </a:r>
          </a:p>
        </p:txBody>
      </p:sp>
      <p:sp>
        <p:nvSpPr>
          <p:cNvPr id="34" name="TextBox 53">
            <a:extLst>
              <a:ext uri="{FF2B5EF4-FFF2-40B4-BE49-F238E27FC236}">
                <a16:creationId xmlns:a16="http://schemas.microsoft.com/office/drawing/2014/main" id="{9E1BFAAE-8CD6-7C28-8C01-E2A9334E8981}"/>
              </a:ext>
            </a:extLst>
          </p:cNvPr>
          <p:cNvSpPr txBox="1"/>
          <p:nvPr/>
        </p:nvSpPr>
        <p:spPr>
          <a:xfrm>
            <a:off x="8263128" y="3657600"/>
            <a:ext cx="3194304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LO QUE HICIMOS</a:t>
            </a:r>
          </a:p>
        </p:txBody>
      </p:sp>
      <p:sp>
        <p:nvSpPr>
          <p:cNvPr id="35" name="TextBox 54">
            <a:extLst>
              <a:ext uri="{FF2B5EF4-FFF2-40B4-BE49-F238E27FC236}">
                <a16:creationId xmlns:a16="http://schemas.microsoft.com/office/drawing/2014/main" id="{88E92FC5-5873-2BE1-1992-A7DB6DADE07B}"/>
              </a:ext>
            </a:extLst>
          </p:cNvPr>
          <p:cNvSpPr txBox="1"/>
          <p:nvPr/>
        </p:nvSpPr>
        <p:spPr>
          <a:xfrm>
            <a:off x="8263128" y="3886200"/>
            <a:ext cx="3194304" cy="50783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Ensayo con drones para delimitar lotes, aplicar agroquímicos, estimar cosecha y comparar costos vs. maquinaria tradicional.</a:t>
            </a:r>
          </a:p>
        </p:txBody>
      </p:sp>
      <p:sp>
        <p:nvSpPr>
          <p:cNvPr id="36" name="Rounded Rectangle 55">
            <a:extLst>
              <a:ext uri="{FF2B5EF4-FFF2-40B4-BE49-F238E27FC236}">
                <a16:creationId xmlns:a16="http://schemas.microsoft.com/office/drawing/2014/main" id="{F13676E4-9F9B-0D24-96B9-D4CBE7E9DE39}"/>
              </a:ext>
            </a:extLst>
          </p:cNvPr>
          <p:cNvSpPr/>
          <p:nvPr/>
        </p:nvSpPr>
        <p:spPr>
          <a:xfrm>
            <a:off x="8171688" y="4983480"/>
            <a:ext cx="3377184" cy="1261872"/>
          </a:xfrm>
          <a:custGeom>
            <a:avLst>
              <a:gd name="f0" fmla="val 21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37" name="TextBox 56">
            <a:extLst>
              <a:ext uri="{FF2B5EF4-FFF2-40B4-BE49-F238E27FC236}">
                <a16:creationId xmlns:a16="http://schemas.microsoft.com/office/drawing/2014/main" id="{C56A7604-0160-7734-523D-683637362956}"/>
              </a:ext>
            </a:extLst>
          </p:cNvPr>
          <p:cNvSpPr txBox="1"/>
          <p:nvPr/>
        </p:nvSpPr>
        <p:spPr>
          <a:xfrm>
            <a:off x="8336280" y="5093208"/>
            <a:ext cx="3048000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TU BENEFICIO</a:t>
            </a:r>
          </a:p>
        </p:txBody>
      </p:sp>
      <p:sp>
        <p:nvSpPr>
          <p:cNvPr id="38" name="TextBox 57">
            <a:extLst>
              <a:ext uri="{FF2B5EF4-FFF2-40B4-BE49-F238E27FC236}">
                <a16:creationId xmlns:a16="http://schemas.microsoft.com/office/drawing/2014/main" id="{C29F22F2-DF3A-8CD9-353E-35E69C42EE3A}"/>
              </a:ext>
            </a:extLst>
          </p:cNvPr>
          <p:cNvSpPr txBox="1"/>
          <p:nvPr/>
        </p:nvSpPr>
        <p:spPr>
          <a:xfrm>
            <a:off x="8336280" y="5330952"/>
            <a:ext cx="304800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Datos reales para elegir la aplicación más rentable.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21474833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21">
            <a:extLst>
              <a:ext uri="{FF2B5EF4-FFF2-40B4-BE49-F238E27FC236}">
                <a16:creationId xmlns:a16="http://schemas.microsoft.com/office/drawing/2014/main" id="{4F0F5252-9CE5-D817-CCE4-60FF4878B173}"/>
              </a:ext>
            </a:extLst>
          </p:cNvPr>
          <p:cNvSpPr txBox="1"/>
          <p:nvPr/>
        </p:nvSpPr>
        <p:spPr>
          <a:xfrm>
            <a:off x="9347197" y="0"/>
            <a:ext cx="2844798" cy="369335"/>
          </a:xfrm>
          <a:prstGeom prst="rect">
            <a:avLst/>
          </a:prstGeom>
          <a:solidFill>
            <a:srgbClr val="324425"/>
          </a:solidFill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1" u="none" strike="noStrike" kern="1200" cap="none" spc="0" baseline="0">
                <a:solidFill>
                  <a:srgbClr val="FFFFFF"/>
                </a:solidFill>
                <a:uFillTx/>
                <a:latin typeface="72 Condensed" pitchFamily="34"/>
                <a:cs typeface="72 Condensed" pitchFamily="34"/>
              </a:rPr>
              <a:t>I+D 2026</a:t>
            </a:r>
          </a:p>
        </p:txBody>
      </p:sp>
      <p:sp>
        <p:nvSpPr>
          <p:cNvPr id="3" name="TextBox 22">
            <a:extLst>
              <a:ext uri="{FF2B5EF4-FFF2-40B4-BE49-F238E27FC236}">
                <a16:creationId xmlns:a16="http://schemas.microsoft.com/office/drawing/2014/main" id="{CBEC2FB9-5E87-D306-68AE-DA73487968B3}"/>
              </a:ext>
            </a:extLst>
          </p:cNvPr>
          <p:cNvSpPr txBox="1"/>
          <p:nvPr/>
        </p:nvSpPr>
        <p:spPr>
          <a:xfrm>
            <a:off x="502920" y="502920"/>
            <a:ext cx="777240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300" b="1" i="0" u="none" strike="noStrike" kern="1200" cap="none" spc="250" baseline="0">
                <a:solidFill>
                  <a:srgbClr val="C9962E"/>
                </a:solidFill>
                <a:uFillTx/>
                <a:latin typeface="72 Condensed"/>
              </a:rPr>
              <a:t>I+D 2026 · ENSAYOS EN LABORATORIO PARA EL PRÓXIMO CICLO</a:t>
            </a:r>
          </a:p>
        </p:txBody>
      </p:sp>
      <p:sp>
        <p:nvSpPr>
          <p:cNvPr id="4" name="TextBox 23">
            <a:extLst>
              <a:ext uri="{FF2B5EF4-FFF2-40B4-BE49-F238E27FC236}">
                <a16:creationId xmlns:a16="http://schemas.microsoft.com/office/drawing/2014/main" id="{5ECF54B3-0CEF-D7DB-D265-E183C82FF024}"/>
              </a:ext>
            </a:extLst>
          </p:cNvPr>
          <p:cNvSpPr txBox="1"/>
          <p:nvPr/>
        </p:nvSpPr>
        <p:spPr>
          <a:xfrm>
            <a:off x="502920" y="777240"/>
            <a:ext cx="8778240" cy="36933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24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3 situaciones que llevamos al laboratorio</a:t>
            </a:r>
          </a:p>
        </p:txBody>
      </p:sp>
      <p:sp>
        <p:nvSpPr>
          <p:cNvPr id="5" name="TextBox 24">
            <a:extLst>
              <a:ext uri="{FF2B5EF4-FFF2-40B4-BE49-F238E27FC236}">
                <a16:creationId xmlns:a16="http://schemas.microsoft.com/office/drawing/2014/main" id="{FF97D059-A17D-0A4A-C64B-7B9C6D164ECD}"/>
              </a:ext>
            </a:extLst>
          </p:cNvPr>
          <p:cNvSpPr txBox="1"/>
          <p:nvPr/>
        </p:nvSpPr>
        <p:spPr>
          <a:xfrm>
            <a:off x="502920" y="1298448"/>
            <a:ext cx="786384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0" i="0" u="none" strike="noStrike" kern="1200" cap="none" spc="0" baseline="0">
                <a:solidFill>
                  <a:srgbClr val="6B7560"/>
                </a:solidFill>
                <a:uFillTx/>
                <a:latin typeface="72 Condensed"/>
              </a:rPr>
              <a:t>Ciencia aplicada junto a la Universidad Central de Venezuela</a:t>
            </a:r>
          </a:p>
        </p:txBody>
      </p:sp>
      <p:sp>
        <p:nvSpPr>
          <p:cNvPr id="6" name="Rounded Rectangle 25">
            <a:extLst>
              <a:ext uri="{FF2B5EF4-FFF2-40B4-BE49-F238E27FC236}">
                <a16:creationId xmlns:a16="http://schemas.microsoft.com/office/drawing/2014/main" id="{E54A1AF4-81C5-0CB3-955A-5E56916E41A9}"/>
              </a:ext>
            </a:extLst>
          </p:cNvPr>
          <p:cNvSpPr/>
          <p:nvPr/>
        </p:nvSpPr>
        <p:spPr>
          <a:xfrm>
            <a:off x="9464040" y="914400"/>
            <a:ext cx="2240279" cy="365760"/>
          </a:xfrm>
          <a:custGeom>
            <a:avLst>
              <a:gd name="f0" fmla="val 108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200" b="1" i="0" u="none" strike="noStrike" kern="1200" cap="none" spc="0" baseline="0">
                <a:solidFill>
                  <a:srgbClr val="324425"/>
                </a:solidFill>
                <a:uFillTx/>
                <a:latin typeface="72 Condensed"/>
              </a:rPr>
              <a:t>ALIANZA UCV</a:t>
            </a:r>
          </a:p>
        </p:txBody>
      </p:sp>
      <p:sp>
        <p:nvSpPr>
          <p:cNvPr id="18" name="Rounded Rectangle 37">
            <a:extLst>
              <a:ext uri="{FF2B5EF4-FFF2-40B4-BE49-F238E27FC236}">
                <a16:creationId xmlns:a16="http://schemas.microsoft.com/office/drawing/2014/main" id="{D84F4555-BC5D-83EB-45E8-9CD6081C9252}"/>
              </a:ext>
            </a:extLst>
          </p:cNvPr>
          <p:cNvSpPr/>
          <p:nvPr/>
        </p:nvSpPr>
        <p:spPr>
          <a:xfrm>
            <a:off x="502920" y="1783080"/>
            <a:ext cx="3596640" cy="4572000"/>
          </a:xfrm>
          <a:custGeom>
            <a:avLst>
              <a:gd name="f0" fmla="val 1296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19" name="TextBox 38">
            <a:extLst>
              <a:ext uri="{FF2B5EF4-FFF2-40B4-BE49-F238E27FC236}">
                <a16:creationId xmlns:a16="http://schemas.microsoft.com/office/drawing/2014/main" id="{CAD80EC6-061B-DFC9-0B13-C2A5A2B99819}"/>
              </a:ext>
            </a:extLst>
          </p:cNvPr>
          <p:cNvSpPr txBox="1"/>
          <p:nvPr/>
        </p:nvSpPr>
        <p:spPr>
          <a:xfrm>
            <a:off x="3230880" y="1737360"/>
            <a:ext cx="822960" cy="10972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0" b="1" i="0" u="none" strike="noStrike" kern="1200" cap="none" spc="0" baseline="0">
                <a:solidFill>
                  <a:srgbClr val="DCE2CC"/>
                </a:solidFill>
                <a:uFillTx/>
                <a:latin typeface="72 Condensed"/>
              </a:rPr>
              <a:t>?</a:t>
            </a:r>
          </a:p>
        </p:txBody>
      </p:sp>
      <p:sp>
        <p:nvSpPr>
          <p:cNvPr id="20" name="Oval 39">
            <a:extLst>
              <a:ext uri="{FF2B5EF4-FFF2-40B4-BE49-F238E27FC236}">
                <a16:creationId xmlns:a16="http://schemas.microsoft.com/office/drawing/2014/main" id="{09336AC1-7692-5265-498D-EC575B6BCA97}"/>
              </a:ext>
            </a:extLst>
          </p:cNvPr>
          <p:cNvSpPr/>
          <p:nvPr/>
        </p:nvSpPr>
        <p:spPr>
          <a:xfrm>
            <a:off x="704087" y="1984248"/>
            <a:ext cx="566928" cy="56692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21" name="Picture 40" descr="grass_w.png">
            <a:extLst>
              <a:ext uri="{FF2B5EF4-FFF2-40B4-BE49-F238E27FC236}">
                <a16:creationId xmlns:a16="http://schemas.microsoft.com/office/drawing/2014/main" id="{06981A13-CF53-4F87-FF7E-EDD8B94963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812" y="2108972"/>
            <a:ext cx="317479" cy="317479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22" name="TextBox 41">
            <a:extLst>
              <a:ext uri="{FF2B5EF4-FFF2-40B4-BE49-F238E27FC236}">
                <a16:creationId xmlns:a16="http://schemas.microsoft.com/office/drawing/2014/main" id="{6E48CAA9-6D7F-5F3C-CC43-14EC86F60A86}"/>
              </a:ext>
            </a:extLst>
          </p:cNvPr>
          <p:cNvSpPr txBox="1"/>
          <p:nvPr/>
        </p:nvSpPr>
        <p:spPr>
          <a:xfrm>
            <a:off x="1371600" y="2057400"/>
            <a:ext cx="2499360" cy="4114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80" baseline="0">
                <a:solidFill>
                  <a:srgbClr val="4C6A35"/>
                </a:solidFill>
                <a:uFillTx/>
                <a:latin typeface="72 Condensed"/>
              </a:rPr>
              <a:t>CONTROL DE MALEZAS</a:t>
            </a:r>
          </a:p>
        </p:txBody>
      </p:sp>
      <p:sp>
        <p:nvSpPr>
          <p:cNvPr id="23" name="TextBox 42">
            <a:extLst>
              <a:ext uri="{FF2B5EF4-FFF2-40B4-BE49-F238E27FC236}">
                <a16:creationId xmlns:a16="http://schemas.microsoft.com/office/drawing/2014/main" id="{D627B25C-CBEA-AA77-30DA-E516DB4ED2CC}"/>
              </a:ext>
            </a:extLst>
          </p:cNvPr>
          <p:cNvSpPr txBox="1"/>
          <p:nvPr/>
        </p:nvSpPr>
        <p:spPr>
          <a:xfrm>
            <a:off x="704087" y="2697479"/>
            <a:ext cx="3194304" cy="4924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¿Cómo se controla mejor a las malezas?</a:t>
            </a:r>
          </a:p>
        </p:txBody>
      </p:sp>
      <p:sp>
        <p:nvSpPr>
          <p:cNvPr id="24" name="TextBox 43">
            <a:extLst>
              <a:ext uri="{FF2B5EF4-FFF2-40B4-BE49-F238E27FC236}">
                <a16:creationId xmlns:a16="http://schemas.microsoft.com/office/drawing/2014/main" id="{170551E9-6873-67CC-AE0E-4B799A17D845}"/>
              </a:ext>
            </a:extLst>
          </p:cNvPr>
          <p:cNvSpPr txBox="1"/>
          <p:nvPr/>
        </p:nvSpPr>
        <p:spPr>
          <a:xfrm>
            <a:off x="704087" y="3657600"/>
            <a:ext cx="3194304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LO QUE HICIMOS</a:t>
            </a:r>
          </a:p>
        </p:txBody>
      </p:sp>
      <p:sp>
        <p:nvSpPr>
          <p:cNvPr id="25" name="TextBox 44">
            <a:extLst>
              <a:ext uri="{FF2B5EF4-FFF2-40B4-BE49-F238E27FC236}">
                <a16:creationId xmlns:a16="http://schemas.microsoft.com/office/drawing/2014/main" id="{085EEF31-AFC2-780B-35C8-623BC1FE99D0}"/>
              </a:ext>
            </a:extLst>
          </p:cNvPr>
          <p:cNvSpPr txBox="1"/>
          <p:nvPr/>
        </p:nvSpPr>
        <p:spPr>
          <a:xfrm>
            <a:off x="704087" y="3886200"/>
            <a:ext cx="3194304" cy="67710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Se recogieron distintas muestras de semillas de malezas para hacer un análisis de resistencia a las distintas moléculas utilizadas en el plan agronómico.</a:t>
            </a:r>
          </a:p>
        </p:txBody>
      </p:sp>
      <p:sp>
        <p:nvSpPr>
          <p:cNvPr id="26" name="Rounded Rectangle 45">
            <a:extLst>
              <a:ext uri="{FF2B5EF4-FFF2-40B4-BE49-F238E27FC236}">
                <a16:creationId xmlns:a16="http://schemas.microsoft.com/office/drawing/2014/main" id="{0DBC1EFC-F1F4-17C1-C91A-EF1C4AF53342}"/>
              </a:ext>
            </a:extLst>
          </p:cNvPr>
          <p:cNvSpPr/>
          <p:nvPr/>
        </p:nvSpPr>
        <p:spPr>
          <a:xfrm>
            <a:off x="612648" y="4983480"/>
            <a:ext cx="3377184" cy="1261872"/>
          </a:xfrm>
          <a:custGeom>
            <a:avLst>
              <a:gd name="f0" fmla="val 21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27" name="TextBox 46">
            <a:extLst>
              <a:ext uri="{FF2B5EF4-FFF2-40B4-BE49-F238E27FC236}">
                <a16:creationId xmlns:a16="http://schemas.microsoft.com/office/drawing/2014/main" id="{CC06BCEF-D13E-C582-4957-5288657B8BED}"/>
              </a:ext>
            </a:extLst>
          </p:cNvPr>
          <p:cNvSpPr txBox="1"/>
          <p:nvPr/>
        </p:nvSpPr>
        <p:spPr>
          <a:xfrm>
            <a:off x="777239" y="5093208"/>
            <a:ext cx="3048000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TU BENEFICIO</a:t>
            </a:r>
          </a:p>
        </p:txBody>
      </p:sp>
      <p:sp>
        <p:nvSpPr>
          <p:cNvPr id="28" name="TextBox 47">
            <a:extLst>
              <a:ext uri="{FF2B5EF4-FFF2-40B4-BE49-F238E27FC236}">
                <a16:creationId xmlns:a16="http://schemas.microsoft.com/office/drawing/2014/main" id="{E5DC60E6-5C09-CDC2-1224-654FDEF39C1B}"/>
              </a:ext>
            </a:extLst>
          </p:cNvPr>
          <p:cNvSpPr txBox="1"/>
          <p:nvPr/>
        </p:nvSpPr>
        <p:spPr>
          <a:xfrm>
            <a:off x="777239" y="5330952"/>
            <a:ext cx="304800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Fórmulas de control más efectivas para tus lotes.</a:t>
            </a:r>
          </a:p>
        </p:txBody>
      </p:sp>
      <p:sp>
        <p:nvSpPr>
          <p:cNvPr id="29" name="Rounded Rectangle 48">
            <a:extLst>
              <a:ext uri="{FF2B5EF4-FFF2-40B4-BE49-F238E27FC236}">
                <a16:creationId xmlns:a16="http://schemas.microsoft.com/office/drawing/2014/main" id="{9836C479-FC61-1837-F085-2DB3246C509B}"/>
              </a:ext>
            </a:extLst>
          </p:cNvPr>
          <p:cNvSpPr/>
          <p:nvPr/>
        </p:nvSpPr>
        <p:spPr>
          <a:xfrm>
            <a:off x="4282440" y="1783080"/>
            <a:ext cx="3596640" cy="4572000"/>
          </a:xfrm>
          <a:custGeom>
            <a:avLst>
              <a:gd name="f0" fmla="val 1296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30" name="TextBox 49">
            <a:extLst>
              <a:ext uri="{FF2B5EF4-FFF2-40B4-BE49-F238E27FC236}">
                <a16:creationId xmlns:a16="http://schemas.microsoft.com/office/drawing/2014/main" id="{78B3746A-EEE2-5A54-4E97-0D020015D8F8}"/>
              </a:ext>
            </a:extLst>
          </p:cNvPr>
          <p:cNvSpPr txBox="1"/>
          <p:nvPr/>
        </p:nvSpPr>
        <p:spPr>
          <a:xfrm>
            <a:off x="7010399" y="1737360"/>
            <a:ext cx="822960" cy="10972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0" b="1" i="0" u="none" strike="noStrike" kern="1200" cap="none" spc="0" baseline="0">
                <a:solidFill>
                  <a:srgbClr val="DCE2CC"/>
                </a:solidFill>
                <a:uFillTx/>
                <a:latin typeface="72 Condensed"/>
              </a:rPr>
              <a:t>?</a:t>
            </a:r>
          </a:p>
        </p:txBody>
      </p:sp>
      <p:sp>
        <p:nvSpPr>
          <p:cNvPr id="31" name="Oval 50">
            <a:extLst>
              <a:ext uri="{FF2B5EF4-FFF2-40B4-BE49-F238E27FC236}">
                <a16:creationId xmlns:a16="http://schemas.microsoft.com/office/drawing/2014/main" id="{7AB98DA2-F91E-18F8-A19A-5758E48CDAE1}"/>
              </a:ext>
            </a:extLst>
          </p:cNvPr>
          <p:cNvSpPr/>
          <p:nvPr/>
        </p:nvSpPr>
        <p:spPr>
          <a:xfrm>
            <a:off x="4483608" y="1984248"/>
            <a:ext cx="566928" cy="56692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32" name="Picture 51" descr="micro_w.png">
            <a:extLst>
              <a:ext uri="{FF2B5EF4-FFF2-40B4-BE49-F238E27FC236}">
                <a16:creationId xmlns:a16="http://schemas.microsoft.com/office/drawing/2014/main" id="{CFECD085-5A99-5580-73D7-33E5F9D3EB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8332" y="2108972"/>
            <a:ext cx="317479" cy="317479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33" name="TextBox 52">
            <a:extLst>
              <a:ext uri="{FF2B5EF4-FFF2-40B4-BE49-F238E27FC236}">
                <a16:creationId xmlns:a16="http://schemas.microsoft.com/office/drawing/2014/main" id="{EA499BD2-295B-E878-B2DE-5B264208214F}"/>
              </a:ext>
            </a:extLst>
          </p:cNvPr>
          <p:cNvSpPr txBox="1"/>
          <p:nvPr/>
        </p:nvSpPr>
        <p:spPr>
          <a:xfrm>
            <a:off x="5151120" y="2057400"/>
            <a:ext cx="2499360" cy="4114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80" baseline="0">
                <a:solidFill>
                  <a:srgbClr val="4C6A35"/>
                </a:solidFill>
                <a:uFillTx/>
                <a:latin typeface="72 Condensed"/>
              </a:rPr>
              <a:t>DIAGNÓSTICO FITOPATOLÓGICO</a:t>
            </a:r>
          </a:p>
        </p:txBody>
      </p:sp>
      <p:sp>
        <p:nvSpPr>
          <p:cNvPr id="34" name="TextBox 53">
            <a:extLst>
              <a:ext uri="{FF2B5EF4-FFF2-40B4-BE49-F238E27FC236}">
                <a16:creationId xmlns:a16="http://schemas.microsoft.com/office/drawing/2014/main" id="{55CC09B9-BE6F-A8B1-0BD1-EDA6A7BC3C99}"/>
              </a:ext>
            </a:extLst>
          </p:cNvPr>
          <p:cNvSpPr txBox="1"/>
          <p:nvPr/>
        </p:nvSpPr>
        <p:spPr>
          <a:xfrm>
            <a:off x="4483608" y="2697479"/>
            <a:ext cx="3194304" cy="73866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¿Cómo han evolucionado los hongos y enfermedades?</a:t>
            </a:r>
          </a:p>
        </p:txBody>
      </p:sp>
      <p:sp>
        <p:nvSpPr>
          <p:cNvPr id="35" name="TextBox 54">
            <a:extLst>
              <a:ext uri="{FF2B5EF4-FFF2-40B4-BE49-F238E27FC236}">
                <a16:creationId xmlns:a16="http://schemas.microsoft.com/office/drawing/2014/main" id="{C6B00CD9-6EB2-E461-B9E6-E64AFD2843DE}"/>
              </a:ext>
            </a:extLst>
          </p:cNvPr>
          <p:cNvSpPr txBox="1"/>
          <p:nvPr/>
        </p:nvSpPr>
        <p:spPr>
          <a:xfrm>
            <a:off x="4483608" y="3657600"/>
            <a:ext cx="3194304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LO QUE HICIMOS</a:t>
            </a:r>
          </a:p>
        </p:txBody>
      </p:sp>
      <p:sp>
        <p:nvSpPr>
          <p:cNvPr id="36" name="TextBox 55">
            <a:extLst>
              <a:ext uri="{FF2B5EF4-FFF2-40B4-BE49-F238E27FC236}">
                <a16:creationId xmlns:a16="http://schemas.microsoft.com/office/drawing/2014/main" id="{155F0D1C-81DE-3958-2397-FF07A74A5445}"/>
              </a:ext>
            </a:extLst>
          </p:cNvPr>
          <p:cNvSpPr txBox="1"/>
          <p:nvPr/>
        </p:nvSpPr>
        <p:spPr>
          <a:xfrm>
            <a:off x="4483608" y="3886200"/>
            <a:ext cx="3194304" cy="50783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Tomamos muestras de algunas plantas para diagnosticar hongos y bacterias de productores del programa.</a:t>
            </a:r>
          </a:p>
        </p:txBody>
      </p:sp>
      <p:sp>
        <p:nvSpPr>
          <p:cNvPr id="37" name="Rounded Rectangle 56">
            <a:extLst>
              <a:ext uri="{FF2B5EF4-FFF2-40B4-BE49-F238E27FC236}">
                <a16:creationId xmlns:a16="http://schemas.microsoft.com/office/drawing/2014/main" id="{E5480A53-A66A-F79A-4B68-4D55316BF9A5}"/>
              </a:ext>
            </a:extLst>
          </p:cNvPr>
          <p:cNvSpPr/>
          <p:nvPr/>
        </p:nvSpPr>
        <p:spPr>
          <a:xfrm>
            <a:off x="4392168" y="4983480"/>
            <a:ext cx="3377184" cy="1261872"/>
          </a:xfrm>
          <a:custGeom>
            <a:avLst>
              <a:gd name="f0" fmla="val 21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38" name="TextBox 57">
            <a:extLst>
              <a:ext uri="{FF2B5EF4-FFF2-40B4-BE49-F238E27FC236}">
                <a16:creationId xmlns:a16="http://schemas.microsoft.com/office/drawing/2014/main" id="{B3AE0DC9-AD21-14E5-ACAB-F4DEF48CCCB7}"/>
              </a:ext>
            </a:extLst>
          </p:cNvPr>
          <p:cNvSpPr txBox="1"/>
          <p:nvPr/>
        </p:nvSpPr>
        <p:spPr>
          <a:xfrm>
            <a:off x="4556760" y="5093208"/>
            <a:ext cx="3048000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TU BENEFICIO</a:t>
            </a:r>
          </a:p>
        </p:txBody>
      </p:sp>
      <p:sp>
        <p:nvSpPr>
          <p:cNvPr id="39" name="TextBox 58">
            <a:extLst>
              <a:ext uri="{FF2B5EF4-FFF2-40B4-BE49-F238E27FC236}">
                <a16:creationId xmlns:a16="http://schemas.microsoft.com/office/drawing/2014/main" id="{AB0095B8-6010-6F26-BB51-B9F3809FE505}"/>
              </a:ext>
            </a:extLst>
          </p:cNvPr>
          <p:cNvSpPr txBox="1"/>
          <p:nvPr/>
        </p:nvSpPr>
        <p:spPr>
          <a:xfrm>
            <a:off x="4556760" y="5330952"/>
            <a:ext cx="304800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Tratas el patógeno exacto, sin aplicar a ciegas.</a:t>
            </a:r>
          </a:p>
        </p:txBody>
      </p:sp>
      <p:sp>
        <p:nvSpPr>
          <p:cNvPr id="40" name="Rounded Rectangle 59">
            <a:extLst>
              <a:ext uri="{FF2B5EF4-FFF2-40B4-BE49-F238E27FC236}">
                <a16:creationId xmlns:a16="http://schemas.microsoft.com/office/drawing/2014/main" id="{F7039837-C491-3F5C-F7F9-1D26B20704B8}"/>
              </a:ext>
            </a:extLst>
          </p:cNvPr>
          <p:cNvSpPr/>
          <p:nvPr/>
        </p:nvSpPr>
        <p:spPr>
          <a:xfrm>
            <a:off x="8061960" y="1783080"/>
            <a:ext cx="3596640" cy="4572000"/>
          </a:xfrm>
          <a:custGeom>
            <a:avLst>
              <a:gd name="f0" fmla="val 1296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41" name="TextBox 60">
            <a:extLst>
              <a:ext uri="{FF2B5EF4-FFF2-40B4-BE49-F238E27FC236}">
                <a16:creationId xmlns:a16="http://schemas.microsoft.com/office/drawing/2014/main" id="{2F707564-E013-3524-DEC8-539D7712A018}"/>
              </a:ext>
            </a:extLst>
          </p:cNvPr>
          <p:cNvSpPr txBox="1"/>
          <p:nvPr/>
        </p:nvSpPr>
        <p:spPr>
          <a:xfrm>
            <a:off x="10789920" y="1737360"/>
            <a:ext cx="822960" cy="10972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0" b="1" i="0" u="none" strike="noStrike" kern="1200" cap="none" spc="0" baseline="0">
                <a:solidFill>
                  <a:srgbClr val="DCE2CC"/>
                </a:solidFill>
                <a:uFillTx/>
                <a:latin typeface="72 Condensed"/>
              </a:rPr>
              <a:t>?</a:t>
            </a:r>
          </a:p>
        </p:txBody>
      </p:sp>
      <p:sp>
        <p:nvSpPr>
          <p:cNvPr id="42" name="Oval 61">
            <a:extLst>
              <a:ext uri="{FF2B5EF4-FFF2-40B4-BE49-F238E27FC236}">
                <a16:creationId xmlns:a16="http://schemas.microsoft.com/office/drawing/2014/main" id="{2317275F-3291-1D7B-532B-3228DF50831D}"/>
              </a:ext>
            </a:extLst>
          </p:cNvPr>
          <p:cNvSpPr/>
          <p:nvPr/>
        </p:nvSpPr>
        <p:spPr>
          <a:xfrm>
            <a:off x="8263128" y="1984248"/>
            <a:ext cx="566928" cy="56692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43" name="Picture 62" descr="bug_w.png">
            <a:extLst>
              <a:ext uri="{FF2B5EF4-FFF2-40B4-BE49-F238E27FC236}">
                <a16:creationId xmlns:a16="http://schemas.microsoft.com/office/drawing/2014/main" id="{4C3033E8-1596-D77A-314E-FA9549E106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7852" y="2108972"/>
            <a:ext cx="317479" cy="317479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44" name="TextBox 63">
            <a:extLst>
              <a:ext uri="{FF2B5EF4-FFF2-40B4-BE49-F238E27FC236}">
                <a16:creationId xmlns:a16="http://schemas.microsoft.com/office/drawing/2014/main" id="{742A0482-F8BB-2785-7D53-686A2D89C900}"/>
              </a:ext>
            </a:extLst>
          </p:cNvPr>
          <p:cNvSpPr txBox="1"/>
          <p:nvPr/>
        </p:nvSpPr>
        <p:spPr>
          <a:xfrm>
            <a:off x="8930640" y="2057400"/>
            <a:ext cx="2499360" cy="4114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80" baseline="0">
                <a:solidFill>
                  <a:srgbClr val="4C6A35"/>
                </a:solidFill>
                <a:uFillTx/>
                <a:latin typeface="72 Condensed"/>
              </a:rPr>
              <a:t>RESISTENCIA A INSECTICIDAS</a:t>
            </a:r>
          </a:p>
        </p:txBody>
      </p:sp>
      <p:sp>
        <p:nvSpPr>
          <p:cNvPr id="45" name="TextBox 64">
            <a:extLst>
              <a:ext uri="{FF2B5EF4-FFF2-40B4-BE49-F238E27FC236}">
                <a16:creationId xmlns:a16="http://schemas.microsoft.com/office/drawing/2014/main" id="{8E746D0A-617D-C8CF-D158-7488DB679007}"/>
              </a:ext>
            </a:extLst>
          </p:cNvPr>
          <p:cNvSpPr txBox="1"/>
          <p:nvPr/>
        </p:nvSpPr>
        <p:spPr>
          <a:xfrm>
            <a:off x="8263128" y="2697479"/>
            <a:ext cx="3194304" cy="4924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 dirty="0">
                <a:solidFill>
                  <a:srgbClr val="1F2E18"/>
                </a:solidFill>
                <a:uFillTx/>
                <a:latin typeface="72 Condensed"/>
              </a:rPr>
              <a:t>¿Cómo ganarle la batalla a los gusanos?</a:t>
            </a:r>
          </a:p>
        </p:txBody>
      </p:sp>
      <p:sp>
        <p:nvSpPr>
          <p:cNvPr id="46" name="TextBox 65">
            <a:extLst>
              <a:ext uri="{FF2B5EF4-FFF2-40B4-BE49-F238E27FC236}">
                <a16:creationId xmlns:a16="http://schemas.microsoft.com/office/drawing/2014/main" id="{25C84A91-BFF6-C930-DB15-75360A3766F9}"/>
              </a:ext>
            </a:extLst>
          </p:cNvPr>
          <p:cNvSpPr txBox="1"/>
          <p:nvPr/>
        </p:nvSpPr>
        <p:spPr>
          <a:xfrm>
            <a:off x="8263128" y="3657600"/>
            <a:ext cx="3194304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LO QUE HICIMOS</a:t>
            </a:r>
          </a:p>
        </p:txBody>
      </p:sp>
      <p:sp>
        <p:nvSpPr>
          <p:cNvPr id="47" name="TextBox 66">
            <a:extLst>
              <a:ext uri="{FF2B5EF4-FFF2-40B4-BE49-F238E27FC236}">
                <a16:creationId xmlns:a16="http://schemas.microsoft.com/office/drawing/2014/main" id="{E167D68A-68E9-6C88-BFFA-EC2E82E23B4A}"/>
              </a:ext>
            </a:extLst>
          </p:cNvPr>
          <p:cNvSpPr txBox="1"/>
          <p:nvPr/>
        </p:nvSpPr>
        <p:spPr>
          <a:xfrm>
            <a:off x="8263128" y="3886200"/>
            <a:ext cx="3194304" cy="50783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Recolectamos larvas para medir efecto letal y persistencia a la lluvia de 5 insecticidas.</a:t>
            </a:r>
          </a:p>
        </p:txBody>
      </p:sp>
      <p:sp>
        <p:nvSpPr>
          <p:cNvPr id="48" name="Rounded Rectangle 67">
            <a:extLst>
              <a:ext uri="{FF2B5EF4-FFF2-40B4-BE49-F238E27FC236}">
                <a16:creationId xmlns:a16="http://schemas.microsoft.com/office/drawing/2014/main" id="{EA23C56D-DFF5-0B76-7391-3CB3798D8981}"/>
              </a:ext>
            </a:extLst>
          </p:cNvPr>
          <p:cNvSpPr/>
          <p:nvPr/>
        </p:nvSpPr>
        <p:spPr>
          <a:xfrm>
            <a:off x="8171688" y="4983480"/>
            <a:ext cx="3377184" cy="1261872"/>
          </a:xfrm>
          <a:custGeom>
            <a:avLst>
              <a:gd name="f0" fmla="val 216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49" name="TextBox 68">
            <a:extLst>
              <a:ext uri="{FF2B5EF4-FFF2-40B4-BE49-F238E27FC236}">
                <a16:creationId xmlns:a16="http://schemas.microsoft.com/office/drawing/2014/main" id="{5D8C937B-D55F-A289-D658-C4C5E6C8EC15}"/>
              </a:ext>
            </a:extLst>
          </p:cNvPr>
          <p:cNvSpPr txBox="1"/>
          <p:nvPr/>
        </p:nvSpPr>
        <p:spPr>
          <a:xfrm>
            <a:off x="8336280" y="5093208"/>
            <a:ext cx="3048000" cy="2286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150" baseline="0">
                <a:solidFill>
                  <a:srgbClr val="C9962E"/>
                </a:solidFill>
                <a:uFillTx/>
                <a:latin typeface="72 Condensed"/>
              </a:rPr>
              <a:t>TU BENEFICIO</a:t>
            </a:r>
          </a:p>
        </p:txBody>
      </p:sp>
      <p:sp>
        <p:nvSpPr>
          <p:cNvPr id="50" name="TextBox 69">
            <a:extLst>
              <a:ext uri="{FF2B5EF4-FFF2-40B4-BE49-F238E27FC236}">
                <a16:creationId xmlns:a16="http://schemas.microsoft.com/office/drawing/2014/main" id="{49737A03-6ACA-6E32-A11E-B7FF6509AD84}"/>
              </a:ext>
            </a:extLst>
          </p:cNvPr>
          <p:cNvSpPr txBox="1"/>
          <p:nvPr/>
        </p:nvSpPr>
        <p:spPr>
          <a:xfrm>
            <a:off x="8336280" y="5330952"/>
            <a:ext cx="304800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2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Sabrás qué molécula funciona y cuánto dura tras la lluvia.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84;p13">
            <a:extLst>
              <a:ext uri="{FF2B5EF4-FFF2-40B4-BE49-F238E27FC236}">
                <a16:creationId xmlns:a16="http://schemas.microsoft.com/office/drawing/2014/main" id="{348FD494-CA82-7DA2-13FE-EA9BB5231A39}"/>
              </a:ext>
            </a:extLst>
          </p:cNvPr>
          <p:cNvSpPr/>
          <p:nvPr/>
        </p:nvSpPr>
        <p:spPr>
          <a:xfrm>
            <a:off x="533396" y="2152589"/>
            <a:ext cx="4887367" cy="3836730"/>
          </a:xfrm>
          <a:custGeom>
            <a:avLst>
              <a:gd name="f0" fmla="val 68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DAE8D0"/>
          </a:solidFill>
          <a:ln w="9528" cap="flat">
            <a:solidFill>
              <a:srgbClr val="E2E8F0"/>
            </a:solidFill>
            <a:prstDash val="solid"/>
            <a:round/>
          </a:ln>
        </p:spPr>
        <p:txBody>
          <a:bodyPr vert="horz" wrap="square" lIns="91421" tIns="45701" rIns="91421" bIns="45701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2400" b="0" i="0" u="none" strike="noStrike" kern="1200" cap="none" spc="0" baseline="0">
              <a:solidFill>
                <a:srgbClr val="000000"/>
              </a:solidFill>
              <a:uFillTx/>
              <a:latin typeface="72 Condensed" pitchFamily="34"/>
              <a:ea typeface="Calibri"/>
              <a:cs typeface="72 Condensed" pitchFamily="34"/>
            </a:endParaRPr>
          </a:p>
        </p:txBody>
      </p:sp>
      <p:sp>
        <p:nvSpPr>
          <p:cNvPr id="3" name="Google Shape;85;p13">
            <a:extLst>
              <a:ext uri="{FF2B5EF4-FFF2-40B4-BE49-F238E27FC236}">
                <a16:creationId xmlns:a16="http://schemas.microsoft.com/office/drawing/2014/main" id="{469B9764-985F-B4EF-FD21-DCE541572271}"/>
              </a:ext>
            </a:extLst>
          </p:cNvPr>
          <p:cNvSpPr/>
          <p:nvPr/>
        </p:nvSpPr>
        <p:spPr>
          <a:xfrm>
            <a:off x="5649364" y="2152589"/>
            <a:ext cx="6009235" cy="3836730"/>
          </a:xfrm>
          <a:custGeom>
            <a:avLst>
              <a:gd name="f0" fmla="val 682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DAE8D0"/>
          </a:solidFill>
          <a:ln w="9528" cap="flat">
            <a:solidFill>
              <a:srgbClr val="E2E8F0"/>
            </a:solidFill>
            <a:prstDash val="solid"/>
            <a:round/>
          </a:ln>
        </p:spPr>
        <p:txBody>
          <a:bodyPr vert="horz" wrap="square" lIns="91421" tIns="45701" rIns="91421" bIns="45701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2400" b="0" i="0" u="none" strike="noStrike" kern="1200" cap="none" spc="0" baseline="0">
              <a:solidFill>
                <a:srgbClr val="000000"/>
              </a:solidFill>
              <a:uFillTx/>
              <a:latin typeface="72 Condensed" pitchFamily="34"/>
              <a:ea typeface="Calibri"/>
              <a:cs typeface="72 Condensed" pitchFamily="34"/>
            </a:endParaRPr>
          </a:p>
        </p:txBody>
      </p:sp>
      <p:sp>
        <p:nvSpPr>
          <p:cNvPr id="4" name="Google Shape;90;p13">
            <a:extLst>
              <a:ext uri="{FF2B5EF4-FFF2-40B4-BE49-F238E27FC236}">
                <a16:creationId xmlns:a16="http://schemas.microsoft.com/office/drawing/2014/main" id="{96854625-ABC9-90FC-18C8-7B11AB8ABAAE}"/>
              </a:ext>
            </a:extLst>
          </p:cNvPr>
          <p:cNvSpPr/>
          <p:nvPr/>
        </p:nvSpPr>
        <p:spPr>
          <a:xfrm>
            <a:off x="5849389" y="5619692"/>
            <a:ext cx="5609185" cy="295278"/>
          </a:xfrm>
          <a:custGeom>
            <a:avLst>
              <a:gd name="f0" fmla="val 418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2F2F2"/>
          </a:solidFill>
          <a:ln cap="flat">
            <a:noFill/>
            <a:prstDash val="solid"/>
          </a:ln>
        </p:spPr>
        <p:txBody>
          <a:bodyPr vert="horz" wrap="square" lIns="91421" tIns="45701" rIns="91421" bIns="45701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2400" b="0" i="0" u="none" strike="noStrike" kern="1200" cap="none" spc="0" baseline="0">
              <a:solidFill>
                <a:srgbClr val="644B17"/>
              </a:solidFill>
              <a:uFillTx/>
              <a:latin typeface="72 Condensed" pitchFamily="34"/>
              <a:ea typeface="Calibri"/>
              <a:cs typeface="72 Condensed" pitchFamily="34"/>
            </a:endParaRPr>
          </a:p>
        </p:txBody>
      </p:sp>
      <p:sp>
        <p:nvSpPr>
          <p:cNvPr id="5" name="Google Shape;90;p13">
            <a:extLst>
              <a:ext uri="{FF2B5EF4-FFF2-40B4-BE49-F238E27FC236}">
                <a16:creationId xmlns:a16="http://schemas.microsoft.com/office/drawing/2014/main" id="{B01DC020-BB31-80CE-B083-513CE406D2D3}"/>
              </a:ext>
            </a:extLst>
          </p:cNvPr>
          <p:cNvSpPr/>
          <p:nvPr/>
        </p:nvSpPr>
        <p:spPr>
          <a:xfrm>
            <a:off x="790571" y="5334371"/>
            <a:ext cx="4401592" cy="295278"/>
          </a:xfrm>
          <a:custGeom>
            <a:avLst>
              <a:gd name="f0" fmla="val 418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2F2F2"/>
          </a:solidFill>
          <a:ln cap="flat">
            <a:noFill/>
            <a:prstDash val="solid"/>
          </a:ln>
        </p:spPr>
        <p:txBody>
          <a:bodyPr vert="horz" wrap="square" lIns="91421" tIns="45701" rIns="91421" bIns="45701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2400" b="0" i="0" u="none" strike="noStrike" kern="1200" cap="none" spc="0" baseline="0">
              <a:solidFill>
                <a:srgbClr val="644B17"/>
              </a:solidFill>
              <a:uFillTx/>
              <a:latin typeface="72 Condensed" pitchFamily="34"/>
              <a:ea typeface="Calibri"/>
              <a:cs typeface="72 Condensed" pitchFamily="34"/>
            </a:endParaRPr>
          </a:p>
        </p:txBody>
      </p:sp>
      <p:sp>
        <p:nvSpPr>
          <p:cNvPr id="6" name="Google Shape;94;p13">
            <a:extLst>
              <a:ext uri="{FF2B5EF4-FFF2-40B4-BE49-F238E27FC236}">
                <a16:creationId xmlns:a16="http://schemas.microsoft.com/office/drawing/2014/main" id="{614160CC-29A1-5473-2C5A-2BA7FD65966A}"/>
              </a:ext>
            </a:extLst>
          </p:cNvPr>
          <p:cNvSpPr/>
          <p:nvPr/>
        </p:nvSpPr>
        <p:spPr>
          <a:xfrm>
            <a:off x="3858667" y="2414528"/>
            <a:ext cx="1381118" cy="153884"/>
          </a:xfrm>
          <a:custGeom>
            <a:avLst>
              <a:gd name="f0" fmla="val 4114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0F9FF"/>
          </a:solidFill>
          <a:ln w="9528" cap="flat">
            <a:solidFill>
              <a:srgbClr val="BAE6FD"/>
            </a:solidFill>
            <a:prstDash val="solid"/>
            <a:round/>
          </a:ln>
        </p:spPr>
        <p:txBody>
          <a:bodyPr vert="horz" wrap="square" lIns="91421" tIns="45701" rIns="91421" bIns="45701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2400" b="0" i="0" u="none" strike="noStrike" kern="1200" cap="none" spc="0" baseline="0">
              <a:solidFill>
                <a:srgbClr val="000000"/>
              </a:solidFill>
              <a:uFillTx/>
              <a:latin typeface="72 Condensed" pitchFamily="34"/>
              <a:ea typeface="Calibri"/>
              <a:cs typeface="72 Condensed" pitchFamily="34"/>
            </a:endParaRPr>
          </a:p>
        </p:txBody>
      </p:sp>
      <p:sp>
        <p:nvSpPr>
          <p:cNvPr id="7" name="Google Shape;95;p13">
            <a:extLst>
              <a:ext uri="{FF2B5EF4-FFF2-40B4-BE49-F238E27FC236}">
                <a16:creationId xmlns:a16="http://schemas.microsoft.com/office/drawing/2014/main" id="{DA7F4CBB-77C9-FA63-4862-77995DE62C1A}"/>
              </a:ext>
            </a:extLst>
          </p:cNvPr>
          <p:cNvSpPr/>
          <p:nvPr/>
        </p:nvSpPr>
        <p:spPr>
          <a:xfrm>
            <a:off x="9896478" y="2385953"/>
            <a:ext cx="1562096" cy="200025"/>
          </a:xfrm>
          <a:custGeom>
            <a:avLst>
              <a:gd name="f0" fmla="val 4114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CFDF5"/>
          </a:solidFill>
          <a:ln cap="flat">
            <a:noFill/>
            <a:prstDash val="solid"/>
          </a:ln>
        </p:spPr>
        <p:txBody>
          <a:bodyPr vert="horz" wrap="square" lIns="91421" tIns="45701" rIns="91421" bIns="45701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2400" b="0" i="0" u="none" strike="noStrike" kern="1200" cap="none" spc="0" baseline="0">
              <a:solidFill>
                <a:srgbClr val="000000"/>
              </a:solidFill>
              <a:uFillTx/>
              <a:latin typeface="72 Condensed" pitchFamily="34"/>
              <a:ea typeface="Calibri"/>
              <a:cs typeface="72 Condensed" pitchFamily="34"/>
            </a:endParaRPr>
          </a:p>
        </p:txBody>
      </p:sp>
      <p:pic>
        <p:nvPicPr>
          <p:cNvPr id="8" name="Google Shape;100;p13" descr="image.png">
            <a:extLst>
              <a:ext uri="{FF2B5EF4-FFF2-40B4-BE49-F238E27FC236}">
                <a16:creationId xmlns:a16="http://schemas.microsoft.com/office/drawing/2014/main" id="{E6258AAB-FEEC-0ABF-1B25-DB13C05C441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/>
          <a:stretch>
            <a:fillRect/>
          </a:stretch>
        </p:blipFill>
        <p:spPr>
          <a:xfrm>
            <a:off x="9949750" y="404814"/>
            <a:ext cx="133346" cy="133346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9" name="Google Shape;102;p13" descr="image.png">
            <a:extLst>
              <a:ext uri="{FF2B5EF4-FFF2-40B4-BE49-F238E27FC236}">
                <a16:creationId xmlns:a16="http://schemas.microsoft.com/office/drawing/2014/main" id="{CD2B9E50-4B5F-05E1-31DE-5E2C46990B83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</a:blip>
          <a:srcRect/>
          <a:stretch>
            <a:fillRect/>
          </a:stretch>
        </p:blipFill>
        <p:spPr>
          <a:xfrm>
            <a:off x="857250" y="5397117"/>
            <a:ext cx="142875" cy="142875"/>
          </a:xfrm>
          <a:prstGeom prst="rect">
            <a:avLst/>
          </a:prstGeom>
          <a:solidFill>
            <a:srgbClr val="F2F2F2"/>
          </a:solidFill>
          <a:ln cap="flat">
            <a:noFill/>
          </a:ln>
        </p:spPr>
      </p:pic>
      <p:pic>
        <p:nvPicPr>
          <p:cNvPr id="10" name="Google Shape;103;p13" descr="image.png">
            <a:extLst>
              <a:ext uri="{FF2B5EF4-FFF2-40B4-BE49-F238E27FC236}">
                <a16:creationId xmlns:a16="http://schemas.microsoft.com/office/drawing/2014/main" id="{FB9EC801-BFB5-DBF0-66F8-109584C962D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/>
          </a:blip>
          <a:srcRect/>
          <a:stretch>
            <a:fillRect/>
          </a:stretch>
        </p:blipFill>
        <p:spPr>
          <a:xfrm>
            <a:off x="5963689" y="5730819"/>
            <a:ext cx="142875" cy="123828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11" name="Google Shape;105;p13" descr="image.png">
            <a:extLst>
              <a:ext uri="{FF2B5EF4-FFF2-40B4-BE49-F238E27FC236}">
                <a16:creationId xmlns:a16="http://schemas.microsoft.com/office/drawing/2014/main" id="{5D4AABEA-BE93-D308-9475-F0B2C4011A21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/>
          </a:blip>
          <a:srcRect/>
          <a:stretch>
            <a:fillRect/>
          </a:stretch>
        </p:blipFill>
        <p:spPr>
          <a:xfrm>
            <a:off x="733421" y="2352614"/>
            <a:ext cx="266703" cy="266703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12" name="Google Shape;106;p13" descr="image.png">
            <a:extLst>
              <a:ext uri="{FF2B5EF4-FFF2-40B4-BE49-F238E27FC236}">
                <a16:creationId xmlns:a16="http://schemas.microsoft.com/office/drawing/2014/main" id="{5CD4B524-12D2-788B-B65C-766C329B6CE5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/>
          </a:blip>
          <a:srcRect/>
          <a:stretch>
            <a:fillRect/>
          </a:stretch>
        </p:blipFill>
        <p:spPr>
          <a:xfrm>
            <a:off x="5849389" y="2352614"/>
            <a:ext cx="266703" cy="266703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13" name="Google Shape;108;p13" descr="image.png">
            <a:extLst>
              <a:ext uri="{FF2B5EF4-FFF2-40B4-BE49-F238E27FC236}">
                <a16:creationId xmlns:a16="http://schemas.microsoft.com/office/drawing/2014/main" id="{F5166EF9-E9FE-87B9-A8AA-A48CE85D0DD8}"/>
              </a:ext>
            </a:extLst>
          </p:cNvPr>
          <p:cNvPicPr>
            <a:picLocks noChangeAspect="1"/>
          </p:cNvPicPr>
          <p:nvPr/>
        </p:nvPicPr>
        <p:blipFill>
          <a:blip r:embed="rId8">
            <a:alphaModFix/>
          </a:blip>
          <a:srcRect/>
          <a:stretch>
            <a:fillRect/>
          </a:stretch>
        </p:blipFill>
        <p:spPr>
          <a:xfrm>
            <a:off x="790571" y="2424056"/>
            <a:ext cx="152403" cy="123828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14" name="Google Shape;109;p13" descr="image.png">
            <a:extLst>
              <a:ext uri="{FF2B5EF4-FFF2-40B4-BE49-F238E27FC236}">
                <a16:creationId xmlns:a16="http://schemas.microsoft.com/office/drawing/2014/main" id="{526E1D3A-B0D7-D845-7196-47C067E776DE}"/>
              </a:ext>
            </a:extLst>
          </p:cNvPr>
          <p:cNvPicPr>
            <a:picLocks noChangeAspect="1"/>
          </p:cNvPicPr>
          <p:nvPr/>
        </p:nvPicPr>
        <p:blipFill>
          <a:blip r:embed="rId9">
            <a:alphaModFix/>
          </a:blip>
          <a:srcRect/>
          <a:stretch>
            <a:fillRect/>
          </a:stretch>
        </p:blipFill>
        <p:spPr>
          <a:xfrm>
            <a:off x="5930350" y="2424056"/>
            <a:ext cx="104771" cy="123828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5" name="Google Shape;113;p13">
            <a:extLst>
              <a:ext uri="{FF2B5EF4-FFF2-40B4-BE49-F238E27FC236}">
                <a16:creationId xmlns:a16="http://schemas.microsoft.com/office/drawing/2014/main" id="{B2EC25AA-4783-F4CD-CDBF-5358831ADAEE}"/>
              </a:ext>
            </a:extLst>
          </p:cNvPr>
          <p:cNvSpPr txBox="1"/>
          <p:nvPr/>
        </p:nvSpPr>
        <p:spPr>
          <a:xfrm>
            <a:off x="533396" y="1312429"/>
            <a:ext cx="10969060" cy="346246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25" b="0" i="0" u="none" strike="noStrike" kern="1200" cap="none" spc="0" baseline="0" dirty="0">
                <a:solidFill>
                  <a:srgbClr val="475569"/>
                </a:solidFill>
                <a:uFillTx/>
                <a:latin typeface="72 Condensed" pitchFamily="34"/>
                <a:ea typeface="Plus Jakarta Sans"/>
                <a:cs typeface="72 Condensed" pitchFamily="34"/>
              </a:rPr>
              <a:t>Alianza con expertos internacionales para superar la compactación y liberar el potencial radicular. Se hizo el diagnóstico en 6 fincas en Portuguesa y 3 fincas en Guárico para entender el contexto actual e implementar progresivamente prácticas regenerativas.</a:t>
            </a:r>
            <a:endParaRPr lang="es-ES" sz="1800" b="0" i="0" u="none" strike="noStrike" kern="1200" cap="none" spc="0" baseline="0" dirty="0">
              <a:solidFill>
                <a:srgbClr val="000000"/>
              </a:solidFill>
              <a:uFillTx/>
              <a:latin typeface="72 Condensed" pitchFamily="34"/>
              <a:cs typeface="72 Condensed" pitchFamily="34"/>
            </a:endParaRPr>
          </a:p>
        </p:txBody>
      </p:sp>
      <p:sp>
        <p:nvSpPr>
          <p:cNvPr id="16" name="Google Shape;119;p13">
            <a:extLst>
              <a:ext uri="{FF2B5EF4-FFF2-40B4-BE49-F238E27FC236}">
                <a16:creationId xmlns:a16="http://schemas.microsoft.com/office/drawing/2014/main" id="{CF3BB13F-7C76-A26B-D69C-636396B9DAC9}"/>
              </a:ext>
            </a:extLst>
          </p:cNvPr>
          <p:cNvSpPr txBox="1"/>
          <p:nvPr/>
        </p:nvSpPr>
        <p:spPr>
          <a:xfrm>
            <a:off x="10159304" y="400050"/>
            <a:ext cx="1282125" cy="13849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900" b="1" i="0" u="none" strike="noStrike" kern="1200" cap="none" spc="0" baseline="0">
                <a:solidFill>
                  <a:srgbClr val="FFFFFF"/>
                </a:solidFill>
                <a:uFillTx/>
                <a:latin typeface="72 Condensed" pitchFamily="34"/>
                <a:ea typeface="Plus Jakarta Sans"/>
                <a:cs typeface="72 Condensed" pitchFamily="34"/>
              </a:rPr>
              <a:t>AGRI. REGENERATIVA</a:t>
            </a:r>
            <a:endParaRPr lang="en-US" sz="1800" b="0" i="0" u="none" strike="noStrike" kern="1200" cap="none" spc="0" baseline="0">
              <a:solidFill>
                <a:srgbClr val="000000"/>
              </a:solidFill>
              <a:uFillTx/>
              <a:latin typeface="72 Condensed" pitchFamily="34"/>
              <a:cs typeface="72 Condensed" pitchFamily="34"/>
            </a:endParaRPr>
          </a:p>
        </p:txBody>
      </p:sp>
      <p:sp>
        <p:nvSpPr>
          <p:cNvPr id="17" name="Google Shape;120;p13">
            <a:extLst>
              <a:ext uri="{FF2B5EF4-FFF2-40B4-BE49-F238E27FC236}">
                <a16:creationId xmlns:a16="http://schemas.microsoft.com/office/drawing/2014/main" id="{4884036E-7A50-7F47-B899-8C885C17EF09}"/>
              </a:ext>
            </a:extLst>
          </p:cNvPr>
          <p:cNvSpPr txBox="1"/>
          <p:nvPr/>
        </p:nvSpPr>
        <p:spPr>
          <a:xfrm>
            <a:off x="733421" y="2733617"/>
            <a:ext cx="4582570" cy="45243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39897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050" b="0" i="0" u="none" strike="noStrike" kern="1200" cap="none" spc="0" baseline="0">
                <a:solidFill>
                  <a:srgbClr val="64748B"/>
                </a:solidFill>
                <a:uFillTx/>
                <a:latin typeface="72 Condensed" pitchFamily="34"/>
                <a:ea typeface="Plus Jakarta Sans"/>
                <a:cs typeface="72 Condensed" pitchFamily="34"/>
              </a:rPr>
              <a:t>Ingeniero Agrónomo y asesor internacional (Brasil) con experiencia directa en geografías tropicales homólogas.</a:t>
            </a:r>
            <a:endParaRPr lang="es-ES" sz="2400" b="0" i="0" u="none" strike="noStrike" kern="1200" cap="none" spc="0" baseline="0">
              <a:solidFill>
                <a:srgbClr val="000000"/>
              </a:solidFill>
              <a:uFillTx/>
              <a:latin typeface="72 Condensed" pitchFamily="34"/>
              <a:cs typeface="72 Condensed" pitchFamily="34"/>
            </a:endParaRPr>
          </a:p>
        </p:txBody>
      </p:sp>
      <p:sp>
        <p:nvSpPr>
          <p:cNvPr id="18" name="Google Shape;121;p13">
            <a:extLst>
              <a:ext uri="{FF2B5EF4-FFF2-40B4-BE49-F238E27FC236}">
                <a16:creationId xmlns:a16="http://schemas.microsoft.com/office/drawing/2014/main" id="{3981AEC3-F0F0-5B6F-1C68-FDB2561874A2}"/>
              </a:ext>
            </a:extLst>
          </p:cNvPr>
          <p:cNvSpPr txBox="1"/>
          <p:nvPr/>
        </p:nvSpPr>
        <p:spPr>
          <a:xfrm>
            <a:off x="1095378" y="5402787"/>
            <a:ext cx="4096795" cy="161583"/>
          </a:xfrm>
          <a:prstGeom prst="rect">
            <a:avLst/>
          </a:prstGeom>
          <a:solidFill>
            <a:srgbClr val="F2F2F2"/>
          </a:solidFill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050" b="1" i="0" u="none" strike="noStrike" kern="1200" cap="none" spc="0" baseline="0" dirty="0">
                <a:solidFill>
                  <a:srgbClr val="644B17"/>
                </a:solidFill>
                <a:uFillTx/>
                <a:latin typeface="72 Condensed" pitchFamily="34"/>
                <a:ea typeface="Plus Jakarta Sans"/>
                <a:cs typeface="72 Condensed" pitchFamily="34"/>
              </a:rPr>
              <a:t>Foco técnico: Asociación de cultivos y descompactación biológica.</a:t>
            </a:r>
            <a:endParaRPr lang="es-ES" sz="2400" b="0" i="0" u="none" strike="noStrike" kern="1200" cap="none" spc="0" baseline="0" dirty="0">
              <a:solidFill>
                <a:srgbClr val="644B17"/>
              </a:solidFill>
              <a:uFillTx/>
              <a:latin typeface="72 Condensed" pitchFamily="34"/>
              <a:cs typeface="72 Condensed" pitchFamily="34"/>
            </a:endParaRPr>
          </a:p>
        </p:txBody>
      </p:sp>
      <p:sp>
        <p:nvSpPr>
          <p:cNvPr id="19" name="Google Shape;122;p13">
            <a:extLst>
              <a:ext uri="{FF2B5EF4-FFF2-40B4-BE49-F238E27FC236}">
                <a16:creationId xmlns:a16="http://schemas.microsoft.com/office/drawing/2014/main" id="{1F19F8AC-451E-B0BA-AD7D-028AEC398C49}"/>
              </a:ext>
            </a:extLst>
          </p:cNvPr>
          <p:cNvSpPr txBox="1"/>
          <p:nvPr/>
        </p:nvSpPr>
        <p:spPr>
          <a:xfrm>
            <a:off x="6157368" y="5702244"/>
            <a:ext cx="5310185" cy="161583"/>
          </a:xfrm>
          <a:prstGeom prst="rect">
            <a:avLst/>
          </a:prstGeom>
          <a:solidFill>
            <a:srgbClr val="F2F2F2"/>
          </a:solidFill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050" b="1" i="0" u="none" strike="noStrike" kern="1200" cap="none" spc="0" baseline="0">
                <a:solidFill>
                  <a:srgbClr val="644B17"/>
                </a:solidFill>
                <a:uFillTx/>
                <a:latin typeface="72 Condensed" pitchFamily="34"/>
                <a:ea typeface="Plus Jakarta Sans"/>
                <a:cs typeface="72 Condensed" pitchFamily="34"/>
              </a:rPr>
              <a:t>Impacto directo: Resiliencia ante rachas secas y mayor retención de humedad.</a:t>
            </a:r>
            <a:endParaRPr lang="es-ES" sz="2400" b="0" i="0" u="none" strike="noStrike" kern="1200" cap="none" spc="0" baseline="0">
              <a:solidFill>
                <a:srgbClr val="644B17"/>
              </a:solidFill>
              <a:uFillTx/>
              <a:latin typeface="72 Condensed" pitchFamily="34"/>
              <a:cs typeface="72 Condensed" pitchFamily="34"/>
            </a:endParaRPr>
          </a:p>
        </p:txBody>
      </p:sp>
      <p:sp>
        <p:nvSpPr>
          <p:cNvPr id="20" name="Google Shape;127;p13">
            <a:extLst>
              <a:ext uri="{FF2B5EF4-FFF2-40B4-BE49-F238E27FC236}">
                <a16:creationId xmlns:a16="http://schemas.microsoft.com/office/drawing/2014/main" id="{DCB29375-470E-3921-CCE3-B494B8DAEF5D}"/>
              </a:ext>
            </a:extLst>
          </p:cNvPr>
          <p:cNvSpPr txBox="1"/>
          <p:nvPr/>
        </p:nvSpPr>
        <p:spPr>
          <a:xfrm>
            <a:off x="3934864" y="2414528"/>
            <a:ext cx="1304921" cy="15388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b="1" i="0" u="none" strike="noStrike" kern="1200" cap="none" spc="0" baseline="0">
                <a:solidFill>
                  <a:srgbClr val="0284C7"/>
                </a:solidFill>
                <a:uFillTx/>
                <a:latin typeface="72 Condensed" pitchFamily="34"/>
                <a:ea typeface="Plus Jakarta Sans"/>
                <a:cs typeface="72 Condensed" pitchFamily="34"/>
              </a:rPr>
              <a:t>EMBRAPA / BIOMATRIX</a:t>
            </a:r>
            <a:endParaRPr lang="en-US" sz="2400" b="0" i="0" u="none" strike="noStrike" kern="1200" cap="none" spc="0" baseline="0">
              <a:solidFill>
                <a:srgbClr val="000000"/>
              </a:solidFill>
              <a:uFillTx/>
              <a:latin typeface="72 Condensed" pitchFamily="34"/>
              <a:cs typeface="72 Condensed" pitchFamily="34"/>
            </a:endParaRPr>
          </a:p>
        </p:txBody>
      </p:sp>
      <p:sp>
        <p:nvSpPr>
          <p:cNvPr id="21" name="Google Shape;128;p13">
            <a:extLst>
              <a:ext uri="{FF2B5EF4-FFF2-40B4-BE49-F238E27FC236}">
                <a16:creationId xmlns:a16="http://schemas.microsoft.com/office/drawing/2014/main" id="{3406809B-D03A-D3DE-DE83-CA6078AFF1FB}"/>
              </a:ext>
            </a:extLst>
          </p:cNvPr>
          <p:cNvSpPr txBox="1"/>
          <p:nvPr/>
        </p:nvSpPr>
        <p:spPr>
          <a:xfrm>
            <a:off x="9991721" y="2414528"/>
            <a:ext cx="1466853" cy="161583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E5E3A"/>
                </a:solidFill>
                <a:uFillTx/>
                <a:latin typeface="72 Condensed" pitchFamily="34"/>
                <a:ea typeface="Plus Jakarta Sans"/>
                <a:cs typeface="72 Condensed" pitchFamily="34"/>
              </a:rPr>
              <a:t>Oportunidad: +67% Raíz</a:t>
            </a:r>
            <a:endParaRPr lang="en-US" sz="2400" b="0" i="0" u="none" strike="noStrike" kern="1200" cap="none" spc="0" baseline="0">
              <a:solidFill>
                <a:srgbClr val="000000"/>
              </a:solidFill>
              <a:uFillTx/>
              <a:latin typeface="72 Condensed" pitchFamily="34"/>
              <a:cs typeface="72 Condensed" pitchFamily="34"/>
            </a:endParaRPr>
          </a:p>
        </p:txBody>
      </p:sp>
      <p:sp>
        <p:nvSpPr>
          <p:cNvPr id="22" name="Google Shape;129;p13">
            <a:extLst>
              <a:ext uri="{FF2B5EF4-FFF2-40B4-BE49-F238E27FC236}">
                <a16:creationId xmlns:a16="http://schemas.microsoft.com/office/drawing/2014/main" id="{BD3F7371-AC5B-EA3E-75A5-74FE061B43EB}"/>
              </a:ext>
            </a:extLst>
          </p:cNvPr>
          <p:cNvSpPr txBox="1"/>
          <p:nvPr/>
        </p:nvSpPr>
        <p:spPr>
          <a:xfrm>
            <a:off x="5832244" y="5134840"/>
            <a:ext cx="5609185" cy="43626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34888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050" b="1" i="0" u="none" strike="noStrike" kern="1200" cap="none" spc="0" baseline="0">
                <a:solidFill>
                  <a:srgbClr val="475569"/>
                </a:solidFill>
                <a:uFillTx/>
                <a:latin typeface="72 Condensed" pitchFamily="34"/>
                <a:ea typeface="Plus Jakarta Sans"/>
                <a:cs typeface="72 Condensed" pitchFamily="34"/>
              </a:rPr>
              <a:t>Evidencia física en calicata:</a:t>
            </a:r>
            <a:r>
              <a:rPr lang="es-ES" sz="1050" b="0" i="0" u="none" strike="noStrike" kern="1200" cap="none" spc="0" baseline="0">
                <a:solidFill>
                  <a:srgbClr val="475569"/>
                </a:solidFill>
                <a:uFillTx/>
                <a:latin typeface="72 Condensed" pitchFamily="34"/>
                <a:ea typeface="Plus Jakarta Sans"/>
                <a:cs typeface="72 Condensed" pitchFamily="34"/>
              </a:rPr>
              <a:t> La descompactación permite duplicar el volumen de suelo explorado sin costo adicional de fertilizante.</a:t>
            </a:r>
            <a:endParaRPr lang="es-ES" sz="2400" b="0" i="0" u="none" strike="noStrike" kern="1200" cap="none" spc="0" baseline="0">
              <a:solidFill>
                <a:srgbClr val="000000"/>
              </a:solidFill>
              <a:uFillTx/>
              <a:latin typeface="72 Condensed" pitchFamily="34"/>
              <a:cs typeface="72 Condensed" pitchFamily="34"/>
            </a:endParaRPr>
          </a:p>
        </p:txBody>
      </p:sp>
      <p:sp>
        <p:nvSpPr>
          <p:cNvPr id="23" name="Google Shape;130;p13">
            <a:extLst>
              <a:ext uri="{FF2B5EF4-FFF2-40B4-BE49-F238E27FC236}">
                <a16:creationId xmlns:a16="http://schemas.microsoft.com/office/drawing/2014/main" id="{5CB87B06-DB6F-1654-24B8-9CCB29F92814}"/>
              </a:ext>
            </a:extLst>
          </p:cNvPr>
          <p:cNvSpPr txBox="1"/>
          <p:nvPr/>
        </p:nvSpPr>
        <p:spPr>
          <a:xfrm>
            <a:off x="1076321" y="2381189"/>
            <a:ext cx="3375425" cy="2462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0F172A"/>
                </a:solidFill>
                <a:uFillTx/>
                <a:latin typeface="72 Condensed" pitchFamily="34"/>
                <a:ea typeface="Plus Jakarta Sans"/>
                <a:cs typeface="72 Condensed" pitchFamily="34"/>
              </a:rPr>
              <a:t>Validación en Campo: Joao Celso</a:t>
            </a:r>
            <a:endParaRPr lang="es-ES" sz="2400" b="0" i="0" u="none" strike="noStrike" kern="1200" cap="none" spc="0" baseline="0">
              <a:solidFill>
                <a:srgbClr val="000000"/>
              </a:solidFill>
              <a:uFillTx/>
              <a:latin typeface="72 Condensed" pitchFamily="34"/>
              <a:cs typeface="72 Condensed" pitchFamily="34"/>
            </a:endParaRPr>
          </a:p>
        </p:txBody>
      </p:sp>
      <p:sp>
        <p:nvSpPr>
          <p:cNvPr id="24" name="Google Shape;131;p13">
            <a:extLst>
              <a:ext uri="{FF2B5EF4-FFF2-40B4-BE49-F238E27FC236}">
                <a16:creationId xmlns:a16="http://schemas.microsoft.com/office/drawing/2014/main" id="{9831DFBF-D933-D470-E333-CA8BB1192170}"/>
              </a:ext>
            </a:extLst>
          </p:cNvPr>
          <p:cNvSpPr txBox="1"/>
          <p:nvPr/>
        </p:nvSpPr>
        <p:spPr>
          <a:xfrm>
            <a:off x="6192289" y="2381189"/>
            <a:ext cx="3350416" cy="2462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600" b="1" i="0" u="none" strike="noStrike" kern="1200" cap="none" spc="0" baseline="0">
                <a:solidFill>
                  <a:srgbClr val="0F172A"/>
                </a:solidFill>
                <a:uFillTx/>
                <a:latin typeface="72 Condensed" pitchFamily="34"/>
                <a:ea typeface="Plus Jakarta Sans"/>
                <a:cs typeface="72 Condensed" pitchFamily="34"/>
              </a:rPr>
              <a:t>Diagnóstico Radicular: La Brecha</a:t>
            </a:r>
            <a:endParaRPr lang="en-US" sz="2400" b="0" i="0" u="none" strike="noStrike" kern="1200" cap="none" spc="0" baseline="0">
              <a:solidFill>
                <a:srgbClr val="000000"/>
              </a:solidFill>
              <a:uFillTx/>
              <a:latin typeface="72 Condensed" pitchFamily="34"/>
              <a:cs typeface="72 Condensed" pitchFamily="34"/>
            </a:endParaRPr>
          </a:p>
        </p:txBody>
      </p:sp>
      <p:grpSp>
        <p:nvGrpSpPr>
          <p:cNvPr id="25" name="Grupo 3">
            <a:extLst>
              <a:ext uri="{FF2B5EF4-FFF2-40B4-BE49-F238E27FC236}">
                <a16:creationId xmlns:a16="http://schemas.microsoft.com/office/drawing/2014/main" id="{D08623CE-CB0F-EE2A-C645-A2B1D2F02D34}"/>
              </a:ext>
            </a:extLst>
          </p:cNvPr>
          <p:cNvGrpSpPr/>
          <p:nvPr/>
        </p:nvGrpSpPr>
        <p:grpSpPr>
          <a:xfrm>
            <a:off x="5849389" y="2733617"/>
            <a:ext cx="5809201" cy="1051569"/>
            <a:chOff x="5849389" y="2733617"/>
            <a:chExt cx="5809201" cy="1051569"/>
          </a:xfrm>
        </p:grpSpPr>
        <p:sp>
          <p:nvSpPr>
            <p:cNvPr id="26" name="Google Shape;96;p13">
              <a:extLst>
                <a:ext uri="{FF2B5EF4-FFF2-40B4-BE49-F238E27FC236}">
                  <a16:creationId xmlns:a16="http://schemas.microsoft.com/office/drawing/2014/main" id="{C6368782-70DC-5CE2-8680-352A7231A13D}"/>
                </a:ext>
              </a:extLst>
            </p:cNvPr>
            <p:cNvSpPr/>
            <p:nvPr/>
          </p:nvSpPr>
          <p:spPr>
            <a:xfrm>
              <a:off x="5849389" y="2733617"/>
              <a:ext cx="2759339" cy="1051569"/>
            </a:xfrm>
            <a:custGeom>
              <a:avLst>
                <a:gd name="f0" fmla="val 1290"/>
              </a:avLst>
              <a:gdLst>
                <a:gd name="f1" fmla="val 10800000"/>
                <a:gd name="f2" fmla="val 5400000"/>
                <a:gd name="f3" fmla="val 1620000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val 45"/>
                <a:gd name="f10" fmla="val 10800"/>
                <a:gd name="f11" fmla="val -2147483647"/>
                <a:gd name="f12" fmla="val 2147483647"/>
                <a:gd name="f13" fmla="abs f4"/>
                <a:gd name="f14" fmla="abs f5"/>
                <a:gd name="f15" fmla="abs f6"/>
                <a:gd name="f16" fmla="*/ f8 1 180"/>
                <a:gd name="f17" fmla="pin 0 f0 10800"/>
                <a:gd name="f18" fmla="+- 0 0 f2"/>
                <a:gd name="f19" fmla="?: f13 f4 1"/>
                <a:gd name="f20" fmla="?: f14 f5 1"/>
                <a:gd name="f21" fmla="?: f15 f6 1"/>
                <a:gd name="f22" fmla="*/ f9 f16 1"/>
                <a:gd name="f23" fmla="+- f7 f17 0"/>
                <a:gd name="f24" fmla="*/ f19 1 21600"/>
                <a:gd name="f25" fmla="*/ f20 1 21600"/>
                <a:gd name="f26" fmla="*/ 21600 f19 1"/>
                <a:gd name="f27" fmla="*/ 21600 f20 1"/>
                <a:gd name="f28" fmla="+- 0 0 f22"/>
                <a:gd name="f29" fmla="min f25 f24"/>
                <a:gd name="f30" fmla="*/ f26 1 f21"/>
                <a:gd name="f31" fmla="*/ f27 1 f21"/>
                <a:gd name="f32" fmla="*/ f28 f1 1"/>
                <a:gd name="f33" fmla="*/ f32 1 f8"/>
                <a:gd name="f34" fmla="+- f31 0 f17"/>
                <a:gd name="f35" fmla="+- f30 0 f17"/>
                <a:gd name="f36" fmla="*/ f17 f29 1"/>
                <a:gd name="f37" fmla="*/ f7 f29 1"/>
                <a:gd name="f38" fmla="*/ f23 f29 1"/>
                <a:gd name="f39" fmla="*/ f31 f29 1"/>
                <a:gd name="f40" fmla="*/ f30 f29 1"/>
                <a:gd name="f41" fmla="+- f33 0 f2"/>
                <a:gd name="f42" fmla="+- f37 0 f38"/>
                <a:gd name="f43" fmla="+- f38 0 f37"/>
                <a:gd name="f44" fmla="*/ f34 f29 1"/>
                <a:gd name="f45" fmla="*/ f35 f29 1"/>
                <a:gd name="f46" fmla="cos 1 f41"/>
                <a:gd name="f47" fmla="abs f42"/>
                <a:gd name="f48" fmla="abs f43"/>
                <a:gd name="f49" fmla="?: f42 f18 f2"/>
                <a:gd name="f50" fmla="?: f42 f2 f18"/>
                <a:gd name="f51" fmla="?: f42 f3 f2"/>
                <a:gd name="f52" fmla="?: f42 f2 f3"/>
                <a:gd name="f53" fmla="+- f39 0 f44"/>
                <a:gd name="f54" fmla="?: f43 f18 f2"/>
                <a:gd name="f55" fmla="?: f43 f2 f18"/>
                <a:gd name="f56" fmla="+- f40 0 f45"/>
                <a:gd name="f57" fmla="+- f44 0 f39"/>
                <a:gd name="f58" fmla="+- f45 0 f40"/>
                <a:gd name="f59" fmla="?: f42 0 f1"/>
                <a:gd name="f60" fmla="?: f42 f1 0"/>
                <a:gd name="f61" fmla="+- 0 0 f46"/>
                <a:gd name="f62" fmla="?: f42 f52 f51"/>
                <a:gd name="f63" fmla="?: f42 f51 f52"/>
                <a:gd name="f64" fmla="?: f43 f50 f49"/>
                <a:gd name="f65" fmla="abs f53"/>
                <a:gd name="f66" fmla="?: f53 0 f1"/>
                <a:gd name="f67" fmla="?: f53 f1 0"/>
                <a:gd name="f68" fmla="?: f53 f54 f55"/>
                <a:gd name="f69" fmla="abs f56"/>
                <a:gd name="f70" fmla="abs f57"/>
                <a:gd name="f71" fmla="?: f56 f18 f2"/>
                <a:gd name="f72" fmla="?: f56 f2 f18"/>
                <a:gd name="f73" fmla="?: f56 f3 f2"/>
                <a:gd name="f74" fmla="?: f56 f2 f3"/>
                <a:gd name="f75" fmla="abs f58"/>
                <a:gd name="f76" fmla="?: f58 f18 f2"/>
                <a:gd name="f77" fmla="?: f58 f2 f18"/>
                <a:gd name="f78" fmla="?: f58 f60 f59"/>
                <a:gd name="f79" fmla="?: f58 f59 f60"/>
                <a:gd name="f80" fmla="*/ f17 f61 1"/>
                <a:gd name="f81" fmla="?: f43 f63 f62"/>
                <a:gd name="f82" fmla="?: f43 f67 f66"/>
                <a:gd name="f83" fmla="?: f43 f66 f67"/>
                <a:gd name="f84" fmla="?: f56 f74 f73"/>
                <a:gd name="f85" fmla="?: f56 f73 f74"/>
                <a:gd name="f86" fmla="?: f57 f72 f71"/>
                <a:gd name="f87" fmla="?: f42 f78 f79"/>
                <a:gd name="f88" fmla="?: f42 f76 f77"/>
                <a:gd name="f89" fmla="*/ f80 3163 1"/>
                <a:gd name="f90" fmla="?: f53 f82 f83"/>
                <a:gd name="f91" fmla="?: f57 f85 f84"/>
                <a:gd name="f92" fmla="*/ f89 1 7636"/>
                <a:gd name="f93" fmla="+- f7 f92 0"/>
                <a:gd name="f94" fmla="+- f30 0 f92"/>
                <a:gd name="f95" fmla="+- f31 0 f92"/>
                <a:gd name="f96" fmla="*/ f93 f29 1"/>
                <a:gd name="f97" fmla="*/ f94 f29 1"/>
                <a:gd name="f98" fmla="*/ f95 f29 1"/>
              </a:gdLst>
              <a:ahLst>
                <a:ahXY gdRefX="f0" minX="f7" maxX="f10">
                  <a:pos x="f36" y="f37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96" t="f96" r="f97" b="f98"/>
              <a:pathLst>
                <a:path>
                  <a:moveTo>
                    <a:pt x="f38" y="f37"/>
                  </a:moveTo>
                  <a:arcTo wR="f47" hR="f48" stAng="f81" swAng="f64"/>
                  <a:lnTo>
                    <a:pt x="f37" y="f44"/>
                  </a:lnTo>
                  <a:arcTo wR="f48" hR="f65" stAng="f90" swAng="f68"/>
                  <a:lnTo>
                    <a:pt x="f45" y="f39"/>
                  </a:lnTo>
                  <a:arcTo wR="f69" hR="f70" stAng="f91" swAng="f86"/>
                  <a:lnTo>
                    <a:pt x="f40" y="f38"/>
                  </a:lnTo>
                  <a:arcTo wR="f75" hR="f47" stAng="f87" swAng="f88"/>
                  <a:close/>
                </a:path>
              </a:pathLst>
            </a:custGeom>
            <a:solidFill>
              <a:srgbClr val="FFFFFF"/>
            </a:solidFill>
            <a:ln w="9528" cap="flat">
              <a:solidFill>
                <a:srgbClr val="FECACA"/>
              </a:solidFill>
              <a:prstDash val="solid"/>
              <a:round/>
            </a:ln>
          </p:spPr>
          <p:txBody>
            <a:bodyPr vert="horz" wrap="square" lIns="91421" tIns="45701" rIns="91421" bIns="45701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2400" b="0" i="0" u="none" strike="noStrike" kern="1200" cap="none" spc="0" baseline="0">
                <a:solidFill>
                  <a:srgbClr val="000000"/>
                </a:solidFill>
                <a:uFillTx/>
                <a:latin typeface="72 Condensed" pitchFamily="34"/>
                <a:ea typeface="Calibri"/>
                <a:cs typeface="72 Condensed" pitchFamily="34"/>
              </a:endParaRPr>
            </a:p>
          </p:txBody>
        </p:sp>
        <p:sp>
          <p:nvSpPr>
            <p:cNvPr id="27" name="Google Shape;97;p13">
              <a:extLst>
                <a:ext uri="{FF2B5EF4-FFF2-40B4-BE49-F238E27FC236}">
                  <a16:creationId xmlns:a16="http://schemas.microsoft.com/office/drawing/2014/main" id="{A2FA90BE-8672-9CBD-7087-C1CB8BDE9C7E}"/>
                </a:ext>
              </a:extLst>
            </p:cNvPr>
            <p:cNvSpPr/>
            <p:nvPr/>
          </p:nvSpPr>
          <p:spPr>
            <a:xfrm>
              <a:off x="8743117" y="2733617"/>
              <a:ext cx="2759339" cy="1051569"/>
            </a:xfrm>
            <a:custGeom>
              <a:avLst>
                <a:gd name="f0" fmla="val 1290"/>
              </a:avLst>
              <a:gdLst>
                <a:gd name="f1" fmla="val 10800000"/>
                <a:gd name="f2" fmla="val 5400000"/>
                <a:gd name="f3" fmla="val 1620000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val 45"/>
                <a:gd name="f10" fmla="val 10800"/>
                <a:gd name="f11" fmla="val -2147483647"/>
                <a:gd name="f12" fmla="val 2147483647"/>
                <a:gd name="f13" fmla="abs f4"/>
                <a:gd name="f14" fmla="abs f5"/>
                <a:gd name="f15" fmla="abs f6"/>
                <a:gd name="f16" fmla="*/ f8 1 180"/>
                <a:gd name="f17" fmla="pin 0 f0 10800"/>
                <a:gd name="f18" fmla="+- 0 0 f2"/>
                <a:gd name="f19" fmla="?: f13 f4 1"/>
                <a:gd name="f20" fmla="?: f14 f5 1"/>
                <a:gd name="f21" fmla="?: f15 f6 1"/>
                <a:gd name="f22" fmla="*/ f9 f16 1"/>
                <a:gd name="f23" fmla="+- f7 f17 0"/>
                <a:gd name="f24" fmla="*/ f19 1 21600"/>
                <a:gd name="f25" fmla="*/ f20 1 21600"/>
                <a:gd name="f26" fmla="*/ 21600 f19 1"/>
                <a:gd name="f27" fmla="*/ 21600 f20 1"/>
                <a:gd name="f28" fmla="+- 0 0 f22"/>
                <a:gd name="f29" fmla="min f25 f24"/>
                <a:gd name="f30" fmla="*/ f26 1 f21"/>
                <a:gd name="f31" fmla="*/ f27 1 f21"/>
                <a:gd name="f32" fmla="*/ f28 f1 1"/>
                <a:gd name="f33" fmla="*/ f32 1 f8"/>
                <a:gd name="f34" fmla="+- f31 0 f17"/>
                <a:gd name="f35" fmla="+- f30 0 f17"/>
                <a:gd name="f36" fmla="*/ f17 f29 1"/>
                <a:gd name="f37" fmla="*/ f7 f29 1"/>
                <a:gd name="f38" fmla="*/ f23 f29 1"/>
                <a:gd name="f39" fmla="*/ f31 f29 1"/>
                <a:gd name="f40" fmla="*/ f30 f29 1"/>
                <a:gd name="f41" fmla="+- f33 0 f2"/>
                <a:gd name="f42" fmla="+- f37 0 f38"/>
                <a:gd name="f43" fmla="+- f38 0 f37"/>
                <a:gd name="f44" fmla="*/ f34 f29 1"/>
                <a:gd name="f45" fmla="*/ f35 f29 1"/>
                <a:gd name="f46" fmla="cos 1 f41"/>
                <a:gd name="f47" fmla="abs f42"/>
                <a:gd name="f48" fmla="abs f43"/>
                <a:gd name="f49" fmla="?: f42 f18 f2"/>
                <a:gd name="f50" fmla="?: f42 f2 f18"/>
                <a:gd name="f51" fmla="?: f42 f3 f2"/>
                <a:gd name="f52" fmla="?: f42 f2 f3"/>
                <a:gd name="f53" fmla="+- f39 0 f44"/>
                <a:gd name="f54" fmla="?: f43 f18 f2"/>
                <a:gd name="f55" fmla="?: f43 f2 f18"/>
                <a:gd name="f56" fmla="+- f40 0 f45"/>
                <a:gd name="f57" fmla="+- f44 0 f39"/>
                <a:gd name="f58" fmla="+- f45 0 f40"/>
                <a:gd name="f59" fmla="?: f42 0 f1"/>
                <a:gd name="f60" fmla="?: f42 f1 0"/>
                <a:gd name="f61" fmla="+- 0 0 f46"/>
                <a:gd name="f62" fmla="?: f42 f52 f51"/>
                <a:gd name="f63" fmla="?: f42 f51 f52"/>
                <a:gd name="f64" fmla="?: f43 f50 f49"/>
                <a:gd name="f65" fmla="abs f53"/>
                <a:gd name="f66" fmla="?: f53 0 f1"/>
                <a:gd name="f67" fmla="?: f53 f1 0"/>
                <a:gd name="f68" fmla="?: f53 f54 f55"/>
                <a:gd name="f69" fmla="abs f56"/>
                <a:gd name="f70" fmla="abs f57"/>
                <a:gd name="f71" fmla="?: f56 f18 f2"/>
                <a:gd name="f72" fmla="?: f56 f2 f18"/>
                <a:gd name="f73" fmla="?: f56 f3 f2"/>
                <a:gd name="f74" fmla="?: f56 f2 f3"/>
                <a:gd name="f75" fmla="abs f58"/>
                <a:gd name="f76" fmla="?: f58 f18 f2"/>
                <a:gd name="f77" fmla="?: f58 f2 f18"/>
                <a:gd name="f78" fmla="?: f58 f60 f59"/>
                <a:gd name="f79" fmla="?: f58 f59 f60"/>
                <a:gd name="f80" fmla="*/ f17 f61 1"/>
                <a:gd name="f81" fmla="?: f43 f63 f62"/>
                <a:gd name="f82" fmla="?: f43 f67 f66"/>
                <a:gd name="f83" fmla="?: f43 f66 f67"/>
                <a:gd name="f84" fmla="?: f56 f74 f73"/>
                <a:gd name="f85" fmla="?: f56 f73 f74"/>
                <a:gd name="f86" fmla="?: f57 f72 f71"/>
                <a:gd name="f87" fmla="?: f42 f78 f79"/>
                <a:gd name="f88" fmla="?: f42 f76 f77"/>
                <a:gd name="f89" fmla="*/ f80 3163 1"/>
                <a:gd name="f90" fmla="?: f53 f82 f83"/>
                <a:gd name="f91" fmla="?: f57 f85 f84"/>
                <a:gd name="f92" fmla="*/ f89 1 7636"/>
                <a:gd name="f93" fmla="+- f7 f92 0"/>
                <a:gd name="f94" fmla="+- f30 0 f92"/>
                <a:gd name="f95" fmla="+- f31 0 f92"/>
                <a:gd name="f96" fmla="*/ f93 f29 1"/>
                <a:gd name="f97" fmla="*/ f94 f29 1"/>
                <a:gd name="f98" fmla="*/ f95 f29 1"/>
              </a:gdLst>
              <a:ahLst>
                <a:ahXY gdRefX="f0" minX="f7" maxX="f10">
                  <a:pos x="f36" y="f37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96" t="f96" r="f97" b="f98"/>
              <a:pathLst>
                <a:path>
                  <a:moveTo>
                    <a:pt x="f38" y="f37"/>
                  </a:moveTo>
                  <a:arcTo wR="f47" hR="f48" stAng="f81" swAng="f64"/>
                  <a:lnTo>
                    <a:pt x="f37" y="f44"/>
                  </a:lnTo>
                  <a:arcTo wR="f48" hR="f65" stAng="f90" swAng="f68"/>
                  <a:lnTo>
                    <a:pt x="f45" y="f39"/>
                  </a:lnTo>
                  <a:arcTo wR="f69" hR="f70" stAng="f91" swAng="f86"/>
                  <a:lnTo>
                    <a:pt x="f40" y="f38"/>
                  </a:lnTo>
                  <a:arcTo wR="f75" hR="f47" stAng="f87" swAng="f88"/>
                  <a:close/>
                </a:path>
              </a:pathLst>
            </a:custGeom>
            <a:solidFill>
              <a:srgbClr val="FFFFFF"/>
            </a:solidFill>
            <a:ln w="9528" cap="flat">
              <a:solidFill>
                <a:srgbClr val="BBF7D0"/>
              </a:solidFill>
              <a:prstDash val="solid"/>
              <a:round/>
            </a:ln>
          </p:spPr>
          <p:txBody>
            <a:bodyPr vert="horz" wrap="square" lIns="91421" tIns="45701" rIns="91421" bIns="45701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2400" b="0" i="0" u="none" strike="noStrike" kern="1200" cap="none" spc="0" baseline="0">
                <a:solidFill>
                  <a:srgbClr val="000000"/>
                </a:solidFill>
                <a:uFillTx/>
                <a:latin typeface="72 Condensed" pitchFamily="34"/>
                <a:ea typeface="Calibri"/>
                <a:cs typeface="72 Condensed" pitchFamily="34"/>
              </a:endParaRPr>
            </a:p>
          </p:txBody>
        </p:sp>
        <p:sp>
          <p:nvSpPr>
            <p:cNvPr id="28" name="Google Shape;98;p13">
              <a:extLst>
                <a:ext uri="{FF2B5EF4-FFF2-40B4-BE49-F238E27FC236}">
                  <a16:creationId xmlns:a16="http://schemas.microsoft.com/office/drawing/2014/main" id="{9071A5F2-5BD1-ED15-4F48-A1F38B2A46B5}"/>
                </a:ext>
              </a:extLst>
            </p:cNvPr>
            <p:cNvSpPr/>
            <p:nvPr/>
          </p:nvSpPr>
          <p:spPr>
            <a:xfrm>
              <a:off x="6609831" y="3369262"/>
              <a:ext cx="1238307" cy="149102"/>
            </a:xfrm>
            <a:custGeom>
              <a:avLst>
                <a:gd name="f0" fmla="val 4547"/>
              </a:avLst>
              <a:gdLst>
                <a:gd name="f1" fmla="val 10800000"/>
                <a:gd name="f2" fmla="val 5400000"/>
                <a:gd name="f3" fmla="val 1620000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val 45"/>
                <a:gd name="f10" fmla="val 10800"/>
                <a:gd name="f11" fmla="val -2147483647"/>
                <a:gd name="f12" fmla="val 2147483647"/>
                <a:gd name="f13" fmla="abs f4"/>
                <a:gd name="f14" fmla="abs f5"/>
                <a:gd name="f15" fmla="abs f6"/>
                <a:gd name="f16" fmla="*/ f8 1 180"/>
                <a:gd name="f17" fmla="pin 0 f0 10800"/>
                <a:gd name="f18" fmla="+- 0 0 f2"/>
                <a:gd name="f19" fmla="?: f13 f4 1"/>
                <a:gd name="f20" fmla="?: f14 f5 1"/>
                <a:gd name="f21" fmla="?: f15 f6 1"/>
                <a:gd name="f22" fmla="*/ f9 f16 1"/>
                <a:gd name="f23" fmla="+- f7 f17 0"/>
                <a:gd name="f24" fmla="*/ f19 1 21600"/>
                <a:gd name="f25" fmla="*/ f20 1 21600"/>
                <a:gd name="f26" fmla="*/ 21600 f19 1"/>
                <a:gd name="f27" fmla="*/ 21600 f20 1"/>
                <a:gd name="f28" fmla="+- 0 0 f22"/>
                <a:gd name="f29" fmla="min f25 f24"/>
                <a:gd name="f30" fmla="*/ f26 1 f21"/>
                <a:gd name="f31" fmla="*/ f27 1 f21"/>
                <a:gd name="f32" fmla="*/ f28 f1 1"/>
                <a:gd name="f33" fmla="*/ f32 1 f8"/>
                <a:gd name="f34" fmla="+- f31 0 f17"/>
                <a:gd name="f35" fmla="+- f30 0 f17"/>
                <a:gd name="f36" fmla="*/ f17 f29 1"/>
                <a:gd name="f37" fmla="*/ f7 f29 1"/>
                <a:gd name="f38" fmla="*/ f23 f29 1"/>
                <a:gd name="f39" fmla="*/ f31 f29 1"/>
                <a:gd name="f40" fmla="*/ f30 f29 1"/>
                <a:gd name="f41" fmla="+- f33 0 f2"/>
                <a:gd name="f42" fmla="+- f37 0 f38"/>
                <a:gd name="f43" fmla="+- f38 0 f37"/>
                <a:gd name="f44" fmla="*/ f34 f29 1"/>
                <a:gd name="f45" fmla="*/ f35 f29 1"/>
                <a:gd name="f46" fmla="cos 1 f41"/>
                <a:gd name="f47" fmla="abs f42"/>
                <a:gd name="f48" fmla="abs f43"/>
                <a:gd name="f49" fmla="?: f42 f18 f2"/>
                <a:gd name="f50" fmla="?: f42 f2 f18"/>
                <a:gd name="f51" fmla="?: f42 f3 f2"/>
                <a:gd name="f52" fmla="?: f42 f2 f3"/>
                <a:gd name="f53" fmla="+- f39 0 f44"/>
                <a:gd name="f54" fmla="?: f43 f18 f2"/>
                <a:gd name="f55" fmla="?: f43 f2 f18"/>
                <a:gd name="f56" fmla="+- f40 0 f45"/>
                <a:gd name="f57" fmla="+- f44 0 f39"/>
                <a:gd name="f58" fmla="+- f45 0 f40"/>
                <a:gd name="f59" fmla="?: f42 0 f1"/>
                <a:gd name="f60" fmla="?: f42 f1 0"/>
                <a:gd name="f61" fmla="+- 0 0 f46"/>
                <a:gd name="f62" fmla="?: f42 f52 f51"/>
                <a:gd name="f63" fmla="?: f42 f51 f52"/>
                <a:gd name="f64" fmla="?: f43 f50 f49"/>
                <a:gd name="f65" fmla="abs f53"/>
                <a:gd name="f66" fmla="?: f53 0 f1"/>
                <a:gd name="f67" fmla="?: f53 f1 0"/>
                <a:gd name="f68" fmla="?: f53 f54 f55"/>
                <a:gd name="f69" fmla="abs f56"/>
                <a:gd name="f70" fmla="abs f57"/>
                <a:gd name="f71" fmla="?: f56 f18 f2"/>
                <a:gd name="f72" fmla="?: f56 f2 f18"/>
                <a:gd name="f73" fmla="?: f56 f3 f2"/>
                <a:gd name="f74" fmla="?: f56 f2 f3"/>
                <a:gd name="f75" fmla="abs f58"/>
                <a:gd name="f76" fmla="?: f58 f18 f2"/>
                <a:gd name="f77" fmla="?: f58 f2 f18"/>
                <a:gd name="f78" fmla="?: f58 f60 f59"/>
                <a:gd name="f79" fmla="?: f58 f59 f60"/>
                <a:gd name="f80" fmla="*/ f17 f61 1"/>
                <a:gd name="f81" fmla="?: f43 f63 f62"/>
                <a:gd name="f82" fmla="?: f43 f67 f66"/>
                <a:gd name="f83" fmla="?: f43 f66 f67"/>
                <a:gd name="f84" fmla="?: f56 f74 f73"/>
                <a:gd name="f85" fmla="?: f56 f73 f74"/>
                <a:gd name="f86" fmla="?: f57 f72 f71"/>
                <a:gd name="f87" fmla="?: f42 f78 f79"/>
                <a:gd name="f88" fmla="?: f42 f76 f77"/>
                <a:gd name="f89" fmla="*/ f80 3163 1"/>
                <a:gd name="f90" fmla="?: f53 f82 f83"/>
                <a:gd name="f91" fmla="?: f57 f85 f84"/>
                <a:gd name="f92" fmla="*/ f89 1 7636"/>
                <a:gd name="f93" fmla="+- f7 f92 0"/>
                <a:gd name="f94" fmla="+- f30 0 f92"/>
                <a:gd name="f95" fmla="+- f31 0 f92"/>
                <a:gd name="f96" fmla="*/ f93 f29 1"/>
                <a:gd name="f97" fmla="*/ f94 f29 1"/>
                <a:gd name="f98" fmla="*/ f95 f29 1"/>
              </a:gdLst>
              <a:ahLst>
                <a:ahXY gdRefX="f0" minX="f7" maxX="f10">
                  <a:pos x="f36" y="f37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96" t="f96" r="f97" b="f98"/>
              <a:pathLst>
                <a:path>
                  <a:moveTo>
                    <a:pt x="f38" y="f37"/>
                  </a:moveTo>
                  <a:arcTo wR="f47" hR="f48" stAng="f81" swAng="f64"/>
                  <a:lnTo>
                    <a:pt x="f37" y="f44"/>
                  </a:lnTo>
                  <a:arcTo wR="f48" hR="f65" stAng="f90" swAng="f68"/>
                  <a:lnTo>
                    <a:pt x="f45" y="f39"/>
                  </a:lnTo>
                  <a:arcTo wR="f69" hR="f70" stAng="f91" swAng="f86"/>
                  <a:lnTo>
                    <a:pt x="f40" y="f38"/>
                  </a:lnTo>
                  <a:arcTo wR="f75" hR="f47" stAng="f87" swAng="f88"/>
                  <a:close/>
                </a:path>
              </a:pathLst>
            </a:custGeom>
            <a:solidFill>
              <a:srgbClr val="FEF2F2"/>
            </a:solidFill>
            <a:ln cap="flat">
              <a:noFill/>
              <a:prstDash val="solid"/>
            </a:ln>
          </p:spPr>
          <p:txBody>
            <a:bodyPr vert="horz" wrap="square" lIns="91421" tIns="45701" rIns="91421" bIns="45701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2400" b="0" i="0" u="none" strike="noStrike" kern="1200" cap="none" spc="0" baseline="0">
                <a:solidFill>
                  <a:srgbClr val="000000"/>
                </a:solidFill>
                <a:uFillTx/>
                <a:latin typeface="72 Condensed" pitchFamily="34"/>
                <a:ea typeface="Calibri"/>
                <a:cs typeface="72 Condensed" pitchFamily="34"/>
              </a:endParaRPr>
            </a:p>
          </p:txBody>
        </p:sp>
        <p:sp>
          <p:nvSpPr>
            <p:cNvPr id="29" name="Google Shape;99;p13">
              <a:extLst>
                <a:ext uri="{FF2B5EF4-FFF2-40B4-BE49-F238E27FC236}">
                  <a16:creationId xmlns:a16="http://schemas.microsoft.com/office/drawing/2014/main" id="{9A5F7942-8C19-4AF1-AE06-0E458F9EDDF2}"/>
                </a:ext>
              </a:extLst>
            </p:cNvPr>
            <p:cNvSpPr/>
            <p:nvPr/>
          </p:nvSpPr>
          <p:spPr>
            <a:xfrm>
              <a:off x="9407566" y="3369262"/>
              <a:ext cx="1430295" cy="149102"/>
            </a:xfrm>
            <a:custGeom>
              <a:avLst>
                <a:gd name="f0" fmla="val 4547"/>
              </a:avLst>
              <a:gdLst>
                <a:gd name="f1" fmla="val 10800000"/>
                <a:gd name="f2" fmla="val 5400000"/>
                <a:gd name="f3" fmla="val 16200000"/>
                <a:gd name="f4" fmla="val w"/>
                <a:gd name="f5" fmla="val h"/>
                <a:gd name="f6" fmla="val ss"/>
                <a:gd name="f7" fmla="val 0"/>
                <a:gd name="f8" fmla="*/ 5419351 1 1725033"/>
                <a:gd name="f9" fmla="val 45"/>
                <a:gd name="f10" fmla="val 10800"/>
                <a:gd name="f11" fmla="val -2147483647"/>
                <a:gd name="f12" fmla="val 2147483647"/>
                <a:gd name="f13" fmla="abs f4"/>
                <a:gd name="f14" fmla="abs f5"/>
                <a:gd name="f15" fmla="abs f6"/>
                <a:gd name="f16" fmla="*/ f8 1 180"/>
                <a:gd name="f17" fmla="pin 0 f0 10800"/>
                <a:gd name="f18" fmla="+- 0 0 f2"/>
                <a:gd name="f19" fmla="?: f13 f4 1"/>
                <a:gd name="f20" fmla="?: f14 f5 1"/>
                <a:gd name="f21" fmla="?: f15 f6 1"/>
                <a:gd name="f22" fmla="*/ f9 f16 1"/>
                <a:gd name="f23" fmla="+- f7 f17 0"/>
                <a:gd name="f24" fmla="*/ f19 1 21600"/>
                <a:gd name="f25" fmla="*/ f20 1 21600"/>
                <a:gd name="f26" fmla="*/ 21600 f19 1"/>
                <a:gd name="f27" fmla="*/ 21600 f20 1"/>
                <a:gd name="f28" fmla="+- 0 0 f22"/>
                <a:gd name="f29" fmla="min f25 f24"/>
                <a:gd name="f30" fmla="*/ f26 1 f21"/>
                <a:gd name="f31" fmla="*/ f27 1 f21"/>
                <a:gd name="f32" fmla="*/ f28 f1 1"/>
                <a:gd name="f33" fmla="*/ f32 1 f8"/>
                <a:gd name="f34" fmla="+- f31 0 f17"/>
                <a:gd name="f35" fmla="+- f30 0 f17"/>
                <a:gd name="f36" fmla="*/ f17 f29 1"/>
                <a:gd name="f37" fmla="*/ f7 f29 1"/>
                <a:gd name="f38" fmla="*/ f23 f29 1"/>
                <a:gd name="f39" fmla="*/ f31 f29 1"/>
                <a:gd name="f40" fmla="*/ f30 f29 1"/>
                <a:gd name="f41" fmla="+- f33 0 f2"/>
                <a:gd name="f42" fmla="+- f37 0 f38"/>
                <a:gd name="f43" fmla="+- f38 0 f37"/>
                <a:gd name="f44" fmla="*/ f34 f29 1"/>
                <a:gd name="f45" fmla="*/ f35 f29 1"/>
                <a:gd name="f46" fmla="cos 1 f41"/>
                <a:gd name="f47" fmla="abs f42"/>
                <a:gd name="f48" fmla="abs f43"/>
                <a:gd name="f49" fmla="?: f42 f18 f2"/>
                <a:gd name="f50" fmla="?: f42 f2 f18"/>
                <a:gd name="f51" fmla="?: f42 f3 f2"/>
                <a:gd name="f52" fmla="?: f42 f2 f3"/>
                <a:gd name="f53" fmla="+- f39 0 f44"/>
                <a:gd name="f54" fmla="?: f43 f18 f2"/>
                <a:gd name="f55" fmla="?: f43 f2 f18"/>
                <a:gd name="f56" fmla="+- f40 0 f45"/>
                <a:gd name="f57" fmla="+- f44 0 f39"/>
                <a:gd name="f58" fmla="+- f45 0 f40"/>
                <a:gd name="f59" fmla="?: f42 0 f1"/>
                <a:gd name="f60" fmla="?: f42 f1 0"/>
                <a:gd name="f61" fmla="+- 0 0 f46"/>
                <a:gd name="f62" fmla="?: f42 f52 f51"/>
                <a:gd name="f63" fmla="?: f42 f51 f52"/>
                <a:gd name="f64" fmla="?: f43 f50 f49"/>
                <a:gd name="f65" fmla="abs f53"/>
                <a:gd name="f66" fmla="?: f53 0 f1"/>
                <a:gd name="f67" fmla="?: f53 f1 0"/>
                <a:gd name="f68" fmla="?: f53 f54 f55"/>
                <a:gd name="f69" fmla="abs f56"/>
                <a:gd name="f70" fmla="abs f57"/>
                <a:gd name="f71" fmla="?: f56 f18 f2"/>
                <a:gd name="f72" fmla="?: f56 f2 f18"/>
                <a:gd name="f73" fmla="?: f56 f3 f2"/>
                <a:gd name="f74" fmla="?: f56 f2 f3"/>
                <a:gd name="f75" fmla="abs f58"/>
                <a:gd name="f76" fmla="?: f58 f18 f2"/>
                <a:gd name="f77" fmla="?: f58 f2 f18"/>
                <a:gd name="f78" fmla="?: f58 f60 f59"/>
                <a:gd name="f79" fmla="?: f58 f59 f60"/>
                <a:gd name="f80" fmla="*/ f17 f61 1"/>
                <a:gd name="f81" fmla="?: f43 f63 f62"/>
                <a:gd name="f82" fmla="?: f43 f67 f66"/>
                <a:gd name="f83" fmla="?: f43 f66 f67"/>
                <a:gd name="f84" fmla="?: f56 f74 f73"/>
                <a:gd name="f85" fmla="?: f56 f73 f74"/>
                <a:gd name="f86" fmla="?: f57 f72 f71"/>
                <a:gd name="f87" fmla="?: f42 f78 f79"/>
                <a:gd name="f88" fmla="?: f42 f76 f77"/>
                <a:gd name="f89" fmla="*/ f80 3163 1"/>
                <a:gd name="f90" fmla="?: f53 f82 f83"/>
                <a:gd name="f91" fmla="?: f57 f85 f84"/>
                <a:gd name="f92" fmla="*/ f89 1 7636"/>
                <a:gd name="f93" fmla="+- f7 f92 0"/>
                <a:gd name="f94" fmla="+- f30 0 f92"/>
                <a:gd name="f95" fmla="+- f31 0 f92"/>
                <a:gd name="f96" fmla="*/ f93 f29 1"/>
                <a:gd name="f97" fmla="*/ f94 f29 1"/>
                <a:gd name="f98" fmla="*/ f95 f29 1"/>
              </a:gdLst>
              <a:ahLst>
                <a:ahXY gdRefX="f0" minX="f7" maxX="f10">
                  <a:pos x="f36" y="f37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96" t="f96" r="f97" b="f98"/>
              <a:pathLst>
                <a:path>
                  <a:moveTo>
                    <a:pt x="f38" y="f37"/>
                  </a:moveTo>
                  <a:arcTo wR="f47" hR="f48" stAng="f81" swAng="f64"/>
                  <a:lnTo>
                    <a:pt x="f37" y="f44"/>
                  </a:lnTo>
                  <a:arcTo wR="f48" hR="f65" stAng="f90" swAng="f68"/>
                  <a:lnTo>
                    <a:pt x="f45" y="f39"/>
                  </a:lnTo>
                  <a:arcTo wR="f69" hR="f70" stAng="f91" swAng="f86"/>
                  <a:lnTo>
                    <a:pt x="f40" y="f38"/>
                  </a:lnTo>
                  <a:arcTo wR="f75" hR="f47" stAng="f87" swAng="f88"/>
                  <a:close/>
                </a:path>
              </a:pathLst>
            </a:custGeom>
            <a:solidFill>
              <a:srgbClr val="F0FDF4"/>
            </a:solidFill>
            <a:ln cap="flat">
              <a:noFill/>
              <a:prstDash val="solid"/>
            </a:ln>
          </p:spPr>
          <p:txBody>
            <a:bodyPr vert="horz" wrap="square" lIns="91421" tIns="45701" rIns="91421" bIns="45701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2400" b="0" i="0" u="none" strike="noStrike" kern="1200" cap="none" spc="0" baseline="0">
                <a:solidFill>
                  <a:srgbClr val="000000"/>
                </a:solidFill>
                <a:uFillTx/>
                <a:latin typeface="72 Condensed" pitchFamily="34"/>
                <a:ea typeface="Calibri"/>
                <a:cs typeface="72 Condensed" pitchFamily="34"/>
              </a:endParaRPr>
            </a:p>
          </p:txBody>
        </p:sp>
        <p:pic>
          <p:nvPicPr>
            <p:cNvPr id="30" name="Google Shape;110;p13" descr="image.png">
              <a:extLst>
                <a:ext uri="{FF2B5EF4-FFF2-40B4-BE49-F238E27FC236}">
                  <a16:creationId xmlns:a16="http://schemas.microsoft.com/office/drawing/2014/main" id="{BE1AA60C-8AD1-C7F5-C269-29F21B2337D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alphaModFix/>
            </a:blip>
            <a:srcRect/>
            <a:stretch>
              <a:fillRect/>
            </a:stretch>
          </p:blipFill>
          <p:spPr>
            <a:xfrm>
              <a:off x="6845015" y="2867018"/>
              <a:ext cx="86392" cy="94174"/>
            </a:xfrm>
            <a:prstGeom prst="rect">
              <a:avLst/>
            </a:prstGeom>
            <a:noFill/>
            <a:ln cap="flat">
              <a:noFill/>
            </a:ln>
          </p:spPr>
        </p:pic>
        <p:pic>
          <p:nvPicPr>
            <p:cNvPr id="31" name="Google Shape;111;p13" descr="image.png">
              <a:extLst>
                <a:ext uri="{FF2B5EF4-FFF2-40B4-BE49-F238E27FC236}">
                  <a16:creationId xmlns:a16="http://schemas.microsoft.com/office/drawing/2014/main" id="{9F2CF2A5-E9A7-781A-E4C6-79C6435D1A65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alphaModFix/>
            </a:blip>
            <a:srcRect/>
            <a:stretch>
              <a:fillRect/>
            </a:stretch>
          </p:blipFill>
          <p:spPr>
            <a:xfrm>
              <a:off x="9426769" y="2867018"/>
              <a:ext cx="115186" cy="94174"/>
            </a:xfrm>
            <a:prstGeom prst="rect">
              <a:avLst/>
            </a:prstGeom>
            <a:noFill/>
            <a:ln cap="flat">
              <a:noFill/>
            </a:ln>
          </p:spPr>
        </p:pic>
        <p:sp>
          <p:nvSpPr>
            <p:cNvPr id="32" name="Google Shape;132;p13">
              <a:extLst>
                <a:ext uri="{FF2B5EF4-FFF2-40B4-BE49-F238E27FC236}">
                  <a16:creationId xmlns:a16="http://schemas.microsoft.com/office/drawing/2014/main" id="{BA1761FD-B567-91A7-96D9-096C14B61300}"/>
                </a:ext>
              </a:extLst>
            </p:cNvPr>
            <p:cNvSpPr txBox="1"/>
            <p:nvPr/>
          </p:nvSpPr>
          <p:spPr>
            <a:xfrm>
              <a:off x="6633834" y="2924132"/>
              <a:ext cx="1190311" cy="49244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3200" b="1" i="0" u="none" strike="noStrike" kern="1200" cap="none" spc="0" baseline="0">
                  <a:solidFill>
                    <a:srgbClr val="991B1B"/>
                  </a:solidFill>
                  <a:uFillTx/>
                  <a:latin typeface="72 Condensed" pitchFamily="34"/>
                  <a:ea typeface="Space Grotesk"/>
                  <a:cs typeface="72 Condensed" pitchFamily="34"/>
                </a:rPr>
                <a:t>30 cm</a:t>
              </a:r>
              <a:endParaRPr lang="en-US" sz="2400" b="0" i="0" u="none" strike="noStrike" kern="1200" cap="none" spc="0" baseline="0">
                <a:solidFill>
                  <a:srgbClr val="000000"/>
                </a:solidFill>
                <a:uFillTx/>
                <a:latin typeface="72 Condensed" pitchFamily="34"/>
                <a:cs typeface="72 Condensed" pitchFamily="34"/>
              </a:endParaRPr>
            </a:p>
          </p:txBody>
        </p:sp>
        <p:sp>
          <p:nvSpPr>
            <p:cNvPr id="33" name="Google Shape;133;p13">
              <a:extLst>
                <a:ext uri="{FF2B5EF4-FFF2-40B4-BE49-F238E27FC236}">
                  <a16:creationId xmlns:a16="http://schemas.microsoft.com/office/drawing/2014/main" id="{D45E8FB6-0238-5F89-8731-5111681C9F28}"/>
                </a:ext>
              </a:extLst>
            </p:cNvPr>
            <p:cNvSpPr txBox="1"/>
            <p:nvPr/>
          </p:nvSpPr>
          <p:spPr>
            <a:xfrm>
              <a:off x="6531842" y="3384962"/>
              <a:ext cx="1394295" cy="161583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050" b="1" i="0" u="none" strike="noStrike" kern="1200" cap="none" spc="0" baseline="0">
                  <a:solidFill>
                    <a:srgbClr val="B91C1C"/>
                  </a:solidFill>
                  <a:uFillTx/>
                  <a:latin typeface="72 Condensed" pitchFamily="34"/>
                  <a:ea typeface="Plus Jakarta Sans"/>
                  <a:cs typeface="72 Condensed" pitchFamily="34"/>
                </a:rPr>
                <a:t>Suelo Compactado</a:t>
              </a:r>
              <a:endParaRPr lang="en-US" sz="2400" b="0" i="0" u="none" strike="noStrike" kern="1200" cap="none" spc="0" baseline="0">
                <a:solidFill>
                  <a:srgbClr val="000000"/>
                </a:solidFill>
                <a:uFillTx/>
                <a:latin typeface="72 Condensed" pitchFamily="34"/>
                <a:cs typeface="72 Condensed" pitchFamily="34"/>
              </a:endParaRPr>
            </a:p>
          </p:txBody>
        </p:sp>
        <p:sp>
          <p:nvSpPr>
            <p:cNvPr id="34" name="Google Shape;135;p13">
              <a:extLst>
                <a:ext uri="{FF2B5EF4-FFF2-40B4-BE49-F238E27FC236}">
                  <a16:creationId xmlns:a16="http://schemas.microsoft.com/office/drawing/2014/main" id="{A9AC9987-8827-E964-0AE9-142FBAC31FC9}"/>
                </a:ext>
              </a:extLst>
            </p:cNvPr>
            <p:cNvSpPr txBox="1"/>
            <p:nvPr/>
          </p:nvSpPr>
          <p:spPr>
            <a:xfrm>
              <a:off x="9527563" y="2924132"/>
              <a:ext cx="1190311" cy="492440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3200" b="1" i="0" u="none" strike="noStrike" kern="1200" cap="none" spc="0" baseline="0">
                  <a:solidFill>
                    <a:srgbClr val="166534"/>
                  </a:solidFill>
                  <a:uFillTx/>
                  <a:latin typeface="72 Condensed" pitchFamily="34"/>
                  <a:ea typeface="Space Grotesk"/>
                  <a:cs typeface="72 Condensed" pitchFamily="34"/>
                </a:rPr>
                <a:t>50 cm</a:t>
              </a:r>
              <a:endParaRPr lang="en-US" sz="2400" b="0" i="0" u="none" strike="noStrike" kern="1200" cap="none" spc="0" baseline="0">
                <a:solidFill>
                  <a:srgbClr val="000000"/>
                </a:solidFill>
                <a:uFillTx/>
                <a:latin typeface="72 Condensed" pitchFamily="34"/>
                <a:cs typeface="72 Condensed" pitchFamily="34"/>
              </a:endParaRPr>
            </a:p>
          </p:txBody>
        </p:sp>
        <p:sp>
          <p:nvSpPr>
            <p:cNvPr id="35" name="Google Shape;136;p13">
              <a:extLst>
                <a:ext uri="{FF2B5EF4-FFF2-40B4-BE49-F238E27FC236}">
                  <a16:creationId xmlns:a16="http://schemas.microsoft.com/office/drawing/2014/main" id="{047FBD91-576C-8B27-FACE-381E8ADDEE0F}"/>
                </a:ext>
              </a:extLst>
            </p:cNvPr>
            <p:cNvSpPr txBox="1"/>
            <p:nvPr/>
          </p:nvSpPr>
          <p:spPr>
            <a:xfrm>
              <a:off x="9305574" y="3384962"/>
              <a:ext cx="1634270" cy="161583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050" b="1" i="0" u="none" strike="noStrike" kern="1200" cap="none" spc="0" baseline="0">
                  <a:solidFill>
                    <a:srgbClr val="15803D"/>
                  </a:solidFill>
                  <a:uFillTx/>
                  <a:latin typeface="72 Condensed" pitchFamily="34"/>
                  <a:ea typeface="Plus Jakarta Sans"/>
                  <a:cs typeface="72 Condensed" pitchFamily="34"/>
                </a:rPr>
                <a:t>Suelo Descompactado</a:t>
              </a:r>
              <a:endParaRPr lang="en-US" sz="2400" b="0" i="0" u="none" strike="noStrike" kern="1200" cap="none" spc="0" baseline="0">
                <a:solidFill>
                  <a:srgbClr val="000000"/>
                </a:solidFill>
                <a:uFillTx/>
                <a:latin typeface="72 Condensed" pitchFamily="34"/>
                <a:cs typeface="72 Condensed" pitchFamily="34"/>
              </a:endParaRPr>
            </a:p>
          </p:txBody>
        </p:sp>
        <p:sp>
          <p:nvSpPr>
            <p:cNvPr id="36" name="Google Shape;137;p13">
              <a:extLst>
                <a:ext uri="{FF2B5EF4-FFF2-40B4-BE49-F238E27FC236}">
                  <a16:creationId xmlns:a16="http://schemas.microsoft.com/office/drawing/2014/main" id="{1F2D013E-2D6D-EA63-4AEF-C8EFFDE230EB}"/>
                </a:ext>
              </a:extLst>
            </p:cNvPr>
            <p:cNvSpPr txBox="1"/>
            <p:nvPr/>
          </p:nvSpPr>
          <p:spPr>
            <a:xfrm>
              <a:off x="8586828" y="3565455"/>
              <a:ext cx="3071762" cy="153884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s-ES" sz="1000" b="0" i="0" u="none" strike="noStrike" kern="1200" cap="none" spc="0" baseline="0">
                  <a:solidFill>
                    <a:srgbClr val="14532D"/>
                  </a:solidFill>
                  <a:uFillTx/>
                  <a:latin typeface="72 Condensed" pitchFamily="34"/>
                  <a:ea typeface="Plus Jakarta Sans"/>
                  <a:cs typeface="72 Condensed" pitchFamily="34"/>
                </a:rPr>
                <a:t>Mayor exploración hídrica y absorción nutricional.</a:t>
              </a:r>
              <a:endParaRPr lang="es-ES" sz="2400" b="0" i="0" u="none" strike="noStrike" kern="1200" cap="none" spc="0" baseline="0">
                <a:solidFill>
                  <a:srgbClr val="000000"/>
                </a:solidFill>
                <a:uFillTx/>
                <a:latin typeface="72 Condensed" pitchFamily="34"/>
                <a:cs typeface="72 Condensed" pitchFamily="34"/>
              </a:endParaRPr>
            </a:p>
          </p:txBody>
        </p:sp>
        <p:sp>
          <p:nvSpPr>
            <p:cNvPr id="37" name="Google Shape;138;p13">
              <a:extLst>
                <a:ext uri="{FF2B5EF4-FFF2-40B4-BE49-F238E27FC236}">
                  <a16:creationId xmlns:a16="http://schemas.microsoft.com/office/drawing/2014/main" id="{5589D993-35EF-6927-019B-FC1917DB5BF8}"/>
                </a:ext>
              </a:extLst>
            </p:cNvPr>
            <p:cNvSpPr txBox="1"/>
            <p:nvPr/>
          </p:nvSpPr>
          <p:spPr>
            <a:xfrm>
              <a:off x="6845015" y="2851327"/>
              <a:ext cx="911931" cy="161583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050" b="1" i="0" u="none" strike="noStrike" kern="1200" cap="none" spc="0" baseline="0">
                  <a:solidFill>
                    <a:srgbClr val="991B1B"/>
                  </a:solidFill>
                  <a:uFillTx/>
                  <a:latin typeface="72 Condensed" pitchFamily="34"/>
                  <a:ea typeface="Plus Jakarta Sans"/>
                  <a:cs typeface="72 Condensed" pitchFamily="34"/>
                </a:rPr>
                <a:t>Venezuela</a:t>
              </a:r>
              <a:endParaRPr lang="en-US" sz="2400" b="0" i="0" u="none" strike="noStrike" kern="1200" cap="none" spc="0" baseline="0">
                <a:solidFill>
                  <a:srgbClr val="000000"/>
                </a:solidFill>
                <a:uFillTx/>
                <a:latin typeface="72 Condensed" pitchFamily="34"/>
                <a:cs typeface="72 Condensed" pitchFamily="34"/>
              </a:endParaRPr>
            </a:p>
          </p:txBody>
        </p:sp>
        <p:sp>
          <p:nvSpPr>
            <p:cNvPr id="38" name="Google Shape;139;p13">
              <a:extLst>
                <a:ext uri="{FF2B5EF4-FFF2-40B4-BE49-F238E27FC236}">
                  <a16:creationId xmlns:a16="http://schemas.microsoft.com/office/drawing/2014/main" id="{A798D231-949C-155D-A917-A6E4E0C931EE}"/>
                </a:ext>
              </a:extLst>
            </p:cNvPr>
            <p:cNvSpPr txBox="1"/>
            <p:nvPr/>
          </p:nvSpPr>
          <p:spPr>
            <a:xfrm>
              <a:off x="9447169" y="2851327"/>
              <a:ext cx="1523884" cy="161583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050" b="1" i="0" u="none" strike="noStrike" kern="1200" cap="none" spc="0" baseline="0">
                  <a:solidFill>
                    <a:srgbClr val="166534"/>
                  </a:solidFill>
                  <a:uFillTx/>
                  <a:latin typeface="72 Condensed" pitchFamily="34"/>
                  <a:ea typeface="Plus Jakarta Sans"/>
                  <a:cs typeface="72 Condensed" pitchFamily="34"/>
                </a:rPr>
                <a:t>Referencia Regional</a:t>
              </a:r>
              <a:endParaRPr lang="en-US" sz="2400" b="0" i="0" u="none" strike="noStrike" kern="1200" cap="none" spc="0" baseline="0">
                <a:solidFill>
                  <a:srgbClr val="000000"/>
                </a:solidFill>
                <a:uFillTx/>
                <a:latin typeface="72 Condensed" pitchFamily="34"/>
                <a:cs typeface="72 Condensed" pitchFamily="34"/>
              </a:endParaRPr>
            </a:p>
          </p:txBody>
        </p:sp>
      </p:grpSp>
      <p:sp>
        <p:nvSpPr>
          <p:cNvPr id="39" name="Freeform 7">
            <a:extLst>
              <a:ext uri="{FF2B5EF4-FFF2-40B4-BE49-F238E27FC236}">
                <a16:creationId xmlns:a16="http://schemas.microsoft.com/office/drawing/2014/main" id="{961952FE-2005-3669-997E-F9B429AEBC46}"/>
              </a:ext>
            </a:extLst>
          </p:cNvPr>
          <p:cNvSpPr/>
          <p:nvPr/>
        </p:nvSpPr>
        <p:spPr>
          <a:xfrm>
            <a:off x="1611781" y="3248918"/>
            <a:ext cx="2730580" cy="1820387"/>
          </a:xfrm>
          <a:custGeom>
            <a:avLst/>
            <a:gdLst>
              <a:gd name="f0" fmla="val w"/>
              <a:gd name="f1" fmla="val h"/>
              <a:gd name="f2" fmla="val 0"/>
              <a:gd name="f3" fmla="val 9661906"/>
              <a:gd name="f4" fmla="val 4818158"/>
              <a:gd name="f5" fmla="val 258700"/>
              <a:gd name="f6" fmla="val 115855"/>
              <a:gd name="f7" fmla="val 186436"/>
              <a:gd name="f8" fmla="val 416306"/>
              <a:gd name="f9" fmla="val 9245600"/>
              <a:gd name="f10" fmla="val 9475597"/>
              <a:gd name="f11" fmla="val 4559457"/>
              <a:gd name="f12" fmla="val 4702382"/>
              <a:gd name="f13" fmla="val 9475470"/>
              <a:gd name="f14" fmla="*/ f0 1 9661906"/>
              <a:gd name="f15" fmla="*/ f1 1 4818158"/>
              <a:gd name="f16" fmla="val f2"/>
              <a:gd name="f17" fmla="val f3"/>
              <a:gd name="f18" fmla="val f4"/>
              <a:gd name="f19" fmla="+- f18 0 f16"/>
              <a:gd name="f20" fmla="+- f17 0 f16"/>
              <a:gd name="f21" fmla="*/ f20 1 9661906"/>
              <a:gd name="f22" fmla="*/ f19 1 4818158"/>
              <a:gd name="f23" fmla="*/ f16 1 f21"/>
              <a:gd name="f24" fmla="*/ f17 1 f21"/>
              <a:gd name="f25" fmla="*/ f16 1 f22"/>
              <a:gd name="f26" fmla="*/ f18 1 f22"/>
              <a:gd name="f27" fmla="*/ f23 f14 1"/>
              <a:gd name="f28" fmla="*/ f24 f14 1"/>
              <a:gd name="f29" fmla="*/ f26 f15 1"/>
              <a:gd name="f30" fmla="*/ f25 f15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27" t="f30" r="f28" b="f29"/>
            <a:pathLst>
              <a:path w="9661906" h="4818158">
                <a:moveTo>
                  <a:pt x="f2" y="f5"/>
                </a:moveTo>
                <a:cubicBezTo>
                  <a:pt x="f2" y="f6"/>
                  <a:pt x="f7" y="f2"/>
                  <a:pt x="f8" y="f2"/>
                </a:cubicBezTo>
                <a:lnTo>
                  <a:pt x="f9" y="f2"/>
                </a:lnTo>
                <a:cubicBezTo>
                  <a:pt x="f10" y="f2"/>
                  <a:pt x="f3" y="f6"/>
                  <a:pt x="f3" y="f5"/>
                </a:cubicBezTo>
                <a:lnTo>
                  <a:pt x="f3" y="f11"/>
                </a:lnTo>
                <a:cubicBezTo>
                  <a:pt x="f3" y="f12"/>
                  <a:pt x="f13" y="f4"/>
                  <a:pt x="f9" y="f4"/>
                </a:cubicBezTo>
                <a:lnTo>
                  <a:pt x="f8" y="f4"/>
                </a:lnTo>
                <a:cubicBezTo>
                  <a:pt x="f7" y="f4"/>
                  <a:pt x="f2" y="f12"/>
                  <a:pt x="f2" y="f11"/>
                </a:cubicBezTo>
                <a:close/>
              </a:path>
            </a:pathLst>
          </a:custGeom>
          <a:blipFill>
            <a:blip r:embed="rId12">
              <a:alphaModFix/>
            </a:blip>
            <a:srcRect t="44000" b="6000"/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GB" sz="1600" b="0" i="0" u="none" strike="noStrike" kern="1200" cap="none" spc="0" baseline="0">
              <a:solidFill>
                <a:srgbClr val="000000"/>
              </a:solidFill>
              <a:uFillTx/>
              <a:latin typeface="72 Condensed" pitchFamily="34"/>
              <a:cs typeface="72 Condensed" pitchFamily="34"/>
            </a:endParaRPr>
          </a:p>
        </p:txBody>
      </p:sp>
      <p:sp>
        <p:nvSpPr>
          <p:cNvPr id="40" name="Google Shape;134;p13">
            <a:extLst>
              <a:ext uri="{FF2B5EF4-FFF2-40B4-BE49-F238E27FC236}">
                <a16:creationId xmlns:a16="http://schemas.microsoft.com/office/drawing/2014/main" id="{3A7B9ED8-076D-5254-CC91-61BDD8B56CC1}"/>
              </a:ext>
            </a:extLst>
          </p:cNvPr>
          <p:cNvSpPr txBox="1"/>
          <p:nvPr/>
        </p:nvSpPr>
        <p:spPr>
          <a:xfrm>
            <a:off x="5765749" y="3583240"/>
            <a:ext cx="2905121" cy="15388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b="0" i="0" u="none" strike="noStrike" kern="1200" cap="none" spc="0" baseline="0">
                <a:solidFill>
                  <a:srgbClr val="7F1D1D"/>
                </a:solidFill>
                <a:uFillTx/>
                <a:latin typeface="72 Condensed" pitchFamily="34"/>
                <a:ea typeface="Plus Jakarta Sans"/>
                <a:cs typeface="72 Condensed" pitchFamily="34"/>
              </a:rPr>
              <a:t>Desarrollo radicular limitado por piso de arado.</a:t>
            </a:r>
            <a:endParaRPr lang="en-US" sz="2400" b="0" i="0" u="none" strike="noStrike" kern="1200" cap="none" spc="0" baseline="0">
              <a:solidFill>
                <a:srgbClr val="000000"/>
              </a:solidFill>
              <a:uFillTx/>
              <a:latin typeface="72 Condensed" pitchFamily="34"/>
              <a:cs typeface="72 Condensed" pitchFamily="34"/>
            </a:endParaRPr>
          </a:p>
        </p:txBody>
      </p:sp>
      <p:sp>
        <p:nvSpPr>
          <p:cNvPr id="41" name="Freeform 15">
            <a:extLst>
              <a:ext uri="{FF2B5EF4-FFF2-40B4-BE49-F238E27FC236}">
                <a16:creationId xmlns:a16="http://schemas.microsoft.com/office/drawing/2014/main" id="{BA1A3AA9-7AAE-87E6-CDDB-B91752517814}"/>
              </a:ext>
            </a:extLst>
          </p:cNvPr>
          <p:cNvSpPr/>
          <p:nvPr/>
        </p:nvSpPr>
        <p:spPr>
          <a:xfrm>
            <a:off x="6559914" y="3910705"/>
            <a:ext cx="1378165" cy="1110611"/>
          </a:xfrm>
          <a:custGeom>
            <a:avLst/>
            <a:gdLst>
              <a:gd name="f0" fmla="val w"/>
              <a:gd name="f1" fmla="val h"/>
              <a:gd name="f2" fmla="val 0"/>
              <a:gd name="f3" fmla="val 2442973"/>
              <a:gd name="f4" fmla="val 3257298"/>
              <a:gd name="f5" fmla="val 2442974"/>
              <a:gd name="f6" fmla="*/ f0 1 2442973"/>
              <a:gd name="f7" fmla="*/ f1 1 3257298"/>
              <a:gd name="f8" fmla="val f2"/>
              <a:gd name="f9" fmla="val f3"/>
              <a:gd name="f10" fmla="val f4"/>
              <a:gd name="f11" fmla="+- f10 0 f8"/>
              <a:gd name="f12" fmla="+- f9 0 f8"/>
              <a:gd name="f13" fmla="*/ f12 1 2442973"/>
              <a:gd name="f14" fmla="*/ f11 1 3257298"/>
              <a:gd name="f15" fmla="*/ f8 1 f13"/>
              <a:gd name="f16" fmla="*/ f9 1 f13"/>
              <a:gd name="f17" fmla="*/ f8 1 f14"/>
              <a:gd name="f18" fmla="*/ f10 1 f14"/>
              <a:gd name="f19" fmla="*/ f15 f6 1"/>
              <a:gd name="f20" fmla="*/ f16 f6 1"/>
              <a:gd name="f21" fmla="*/ f18 f7 1"/>
              <a:gd name="f22" fmla="*/ f17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9" t="f22" r="f20" b="f21"/>
            <a:pathLst>
              <a:path w="2442973" h="3257298">
                <a:moveTo>
                  <a:pt x="f2" y="f2"/>
                </a:moveTo>
                <a:lnTo>
                  <a:pt x="f5" y="f2"/>
                </a:lnTo>
                <a:lnTo>
                  <a:pt x="f5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13">
              <a:alphaModFix/>
            </a:blip>
            <a:srcRect t="20000" b="19560"/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GB" sz="16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42" name="Freeform 14">
            <a:extLst>
              <a:ext uri="{FF2B5EF4-FFF2-40B4-BE49-F238E27FC236}">
                <a16:creationId xmlns:a16="http://schemas.microsoft.com/office/drawing/2014/main" id="{F8F4D587-0607-C38F-4758-2943F88AE9FE}"/>
              </a:ext>
            </a:extLst>
          </p:cNvPr>
          <p:cNvSpPr/>
          <p:nvPr/>
        </p:nvSpPr>
        <p:spPr>
          <a:xfrm>
            <a:off x="9422233" y="3933565"/>
            <a:ext cx="1378165" cy="1063118"/>
          </a:xfrm>
          <a:custGeom>
            <a:avLst/>
            <a:gdLst>
              <a:gd name="f0" fmla="val w"/>
              <a:gd name="f1" fmla="val h"/>
              <a:gd name="f2" fmla="val 0"/>
              <a:gd name="f3" fmla="val 4403036"/>
              <a:gd name="f4" fmla="val 3249565"/>
              <a:gd name="f5" fmla="*/ f0 1 4403036"/>
              <a:gd name="f6" fmla="*/ f1 1 3249565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4403036"/>
              <a:gd name="f13" fmla="*/ f10 1 3249565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4403036" h="3249565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14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GB" sz="16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43" name="TextBox 22">
            <a:extLst>
              <a:ext uri="{FF2B5EF4-FFF2-40B4-BE49-F238E27FC236}">
                <a16:creationId xmlns:a16="http://schemas.microsoft.com/office/drawing/2014/main" id="{9F65CD7A-B2F4-36E0-B3E2-5A47834A3F99}"/>
              </a:ext>
            </a:extLst>
          </p:cNvPr>
          <p:cNvSpPr txBox="1"/>
          <p:nvPr/>
        </p:nvSpPr>
        <p:spPr>
          <a:xfrm>
            <a:off x="502920" y="502920"/>
            <a:ext cx="777240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300" b="1" i="0" u="none" strike="noStrike" kern="1200" cap="none" spc="250" baseline="0">
                <a:solidFill>
                  <a:srgbClr val="C9962E"/>
                </a:solidFill>
                <a:uFillTx/>
                <a:latin typeface="72 Condensed"/>
              </a:rPr>
              <a:t>I+D 2026 · LO QUE HICIMOS EN CAMPO</a:t>
            </a:r>
          </a:p>
        </p:txBody>
      </p:sp>
      <p:sp>
        <p:nvSpPr>
          <p:cNvPr id="44" name="TextBox 23">
            <a:extLst>
              <a:ext uri="{FF2B5EF4-FFF2-40B4-BE49-F238E27FC236}">
                <a16:creationId xmlns:a16="http://schemas.microsoft.com/office/drawing/2014/main" id="{84532F79-E731-498E-2B70-71B4746C85D3}"/>
              </a:ext>
            </a:extLst>
          </p:cNvPr>
          <p:cNvSpPr txBox="1"/>
          <p:nvPr/>
        </p:nvSpPr>
        <p:spPr>
          <a:xfrm>
            <a:off x="502920" y="777240"/>
            <a:ext cx="8778240" cy="36933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VE" sz="2400" b="1" i="0" u="none" strike="noStrike" kern="1200" cap="none" spc="0" baseline="0">
                <a:solidFill>
                  <a:srgbClr val="34506B"/>
                </a:solidFill>
                <a:uFillTx/>
                <a:latin typeface="72 Condensed"/>
              </a:rPr>
              <a:t>El futuro: La agricultura regenerativa</a:t>
            </a:r>
          </a:p>
        </p:txBody>
      </p:sp>
      <p:sp>
        <p:nvSpPr>
          <p:cNvPr id="45" name="CuadroTexto 17">
            <a:extLst>
              <a:ext uri="{FF2B5EF4-FFF2-40B4-BE49-F238E27FC236}">
                <a16:creationId xmlns:a16="http://schemas.microsoft.com/office/drawing/2014/main" id="{CE13EC41-E4B5-8E39-7126-3BB2D7DCD972}"/>
              </a:ext>
            </a:extLst>
          </p:cNvPr>
          <p:cNvSpPr txBox="1"/>
          <p:nvPr/>
        </p:nvSpPr>
        <p:spPr>
          <a:xfrm>
            <a:off x="9347197" y="0"/>
            <a:ext cx="2844798" cy="369335"/>
          </a:xfrm>
          <a:prstGeom prst="rect">
            <a:avLst/>
          </a:prstGeom>
          <a:solidFill>
            <a:srgbClr val="324425"/>
          </a:solidFill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1" u="none" strike="noStrike" kern="1200" cap="none" spc="0" baseline="0">
                <a:solidFill>
                  <a:srgbClr val="FFFFFF"/>
                </a:solidFill>
                <a:uFillTx/>
                <a:latin typeface="72 Condensed" pitchFamily="34"/>
                <a:cs typeface="72 Condensed" pitchFamily="34"/>
              </a:rPr>
              <a:t>AGRICULTURA REG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21474833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49860B98-185E-DD0A-9066-FABF1376B94E}"/>
              </a:ext>
            </a:extLst>
          </p:cNvPr>
          <p:cNvSpPr/>
          <p:nvPr/>
        </p:nvSpPr>
        <p:spPr>
          <a:xfrm>
            <a:off x="0" y="-360950"/>
            <a:ext cx="12191996" cy="7218950"/>
          </a:xfrm>
          <a:custGeom>
            <a:avLst/>
            <a:gdLst>
              <a:gd name="f0" fmla="val w"/>
              <a:gd name="f1" fmla="val h"/>
              <a:gd name="f2" fmla="val 0"/>
              <a:gd name="f3" fmla="val 18288000"/>
              <a:gd name="f4" fmla="val 10287000"/>
              <a:gd name="f5" fmla="*/ f0 1 18288000"/>
              <a:gd name="f6" fmla="*/ f1 1 10287000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8288000"/>
              <a:gd name="f13" fmla="*/ f10 1 10287000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8288000" h="10287000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2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000000"/>
              </a:solidFill>
              <a:uFillTx/>
              <a:latin typeface="72 Condensed"/>
            </a:endParaRPr>
          </a:p>
        </p:txBody>
      </p:sp>
      <p:sp>
        <p:nvSpPr>
          <p:cNvPr id="3" name="Rectángulo 5">
            <a:extLst>
              <a:ext uri="{FF2B5EF4-FFF2-40B4-BE49-F238E27FC236}">
                <a16:creationId xmlns:a16="http://schemas.microsoft.com/office/drawing/2014/main" id="{82D1FA32-1914-9F0E-D6D2-3985E5FEE78F}"/>
              </a:ext>
            </a:extLst>
          </p:cNvPr>
          <p:cNvSpPr/>
          <p:nvPr/>
        </p:nvSpPr>
        <p:spPr>
          <a:xfrm>
            <a:off x="-74432" y="-383810"/>
            <a:ext cx="12493895" cy="7233388"/>
          </a:xfrm>
          <a:prstGeom prst="rect">
            <a:avLst/>
          </a:prstGeom>
          <a:solidFill>
            <a:srgbClr val="0D0D0D">
              <a:alpha val="62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FFFFFF"/>
              </a:solidFill>
              <a:uFillTx/>
              <a:latin typeface="72 Condensed"/>
            </a:endParaRPr>
          </a:p>
        </p:txBody>
      </p:sp>
      <p:sp>
        <p:nvSpPr>
          <p:cNvPr id="4" name="CuadroTexto 21">
            <a:extLst>
              <a:ext uri="{FF2B5EF4-FFF2-40B4-BE49-F238E27FC236}">
                <a16:creationId xmlns:a16="http://schemas.microsoft.com/office/drawing/2014/main" id="{3728CB66-FF72-6FAD-E1C4-22ECF2509ADE}"/>
              </a:ext>
            </a:extLst>
          </p:cNvPr>
          <p:cNvSpPr txBox="1"/>
          <p:nvPr/>
        </p:nvSpPr>
        <p:spPr>
          <a:xfrm>
            <a:off x="9347197" y="0"/>
            <a:ext cx="2844798" cy="369335"/>
          </a:xfrm>
          <a:prstGeom prst="rect">
            <a:avLst/>
          </a:prstGeom>
          <a:solidFill>
            <a:srgbClr val="C9962E"/>
          </a:solidFill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1" u="none" strike="noStrike" kern="1200" cap="none" spc="0" baseline="0">
                <a:solidFill>
                  <a:srgbClr val="1F2E18"/>
                </a:solidFill>
                <a:uFillTx/>
                <a:latin typeface="72 Condensed" pitchFamily="34"/>
                <a:cs typeface="72 Condensed" pitchFamily="34"/>
              </a:rPr>
              <a:t>I+D 2027</a:t>
            </a:r>
          </a:p>
        </p:txBody>
      </p:sp>
      <p:sp>
        <p:nvSpPr>
          <p:cNvPr id="5" name="TextBox 22">
            <a:extLst>
              <a:ext uri="{FF2B5EF4-FFF2-40B4-BE49-F238E27FC236}">
                <a16:creationId xmlns:a16="http://schemas.microsoft.com/office/drawing/2014/main" id="{EEBE7CFE-BF03-8ECC-C456-0B5663FC419F}"/>
              </a:ext>
            </a:extLst>
          </p:cNvPr>
          <p:cNvSpPr txBox="1"/>
          <p:nvPr/>
        </p:nvSpPr>
        <p:spPr>
          <a:xfrm>
            <a:off x="548640" y="685800"/>
            <a:ext cx="420624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it-IT" sz="1300" b="1" i="0" u="none" strike="noStrike" kern="1200" cap="none" spc="250" baseline="0">
                <a:solidFill>
                  <a:srgbClr val="C9962E"/>
                </a:solidFill>
                <a:uFillTx/>
                <a:latin typeface="72 Condensed"/>
              </a:rPr>
              <a:t>I+D · LO QUE VIENE</a:t>
            </a:r>
          </a:p>
        </p:txBody>
      </p:sp>
      <p:sp>
        <p:nvSpPr>
          <p:cNvPr id="6" name="TextBox 23">
            <a:extLst>
              <a:ext uri="{FF2B5EF4-FFF2-40B4-BE49-F238E27FC236}">
                <a16:creationId xmlns:a16="http://schemas.microsoft.com/office/drawing/2014/main" id="{E9C1A92A-01E9-27F7-3F56-6AF4D1751989}"/>
              </a:ext>
            </a:extLst>
          </p:cNvPr>
          <p:cNvSpPr txBox="1"/>
          <p:nvPr/>
        </p:nvSpPr>
        <p:spPr>
          <a:xfrm>
            <a:off x="411480" y="960120"/>
            <a:ext cx="4206240" cy="17373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0" b="1" i="0" u="none" strike="noStrike" kern="1200" cap="none" spc="0" baseline="0">
                <a:solidFill>
                  <a:srgbClr val="C9962E"/>
                </a:solidFill>
                <a:uFillTx/>
                <a:latin typeface="72 Condensed"/>
              </a:rPr>
              <a:t>2027</a:t>
            </a:r>
          </a:p>
        </p:txBody>
      </p:sp>
      <p:sp>
        <p:nvSpPr>
          <p:cNvPr id="7" name="TextBox 24">
            <a:extLst>
              <a:ext uri="{FF2B5EF4-FFF2-40B4-BE49-F238E27FC236}">
                <a16:creationId xmlns:a16="http://schemas.microsoft.com/office/drawing/2014/main" id="{2F5BE600-EEA0-CB6E-6518-46162E872814}"/>
              </a:ext>
            </a:extLst>
          </p:cNvPr>
          <p:cNvSpPr txBox="1"/>
          <p:nvPr/>
        </p:nvSpPr>
        <p:spPr>
          <a:xfrm>
            <a:off x="548640" y="2606039"/>
            <a:ext cx="3840480" cy="99411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3400" b="0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Investigaciones que</a:t>
            </a:r>
            <a:r>
              <a:rPr lang="es-ES" sz="34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 cuidan tu inversión</a:t>
            </a:r>
          </a:p>
        </p:txBody>
      </p:sp>
      <p:sp>
        <p:nvSpPr>
          <p:cNvPr id="8" name="TextBox 25">
            <a:extLst>
              <a:ext uri="{FF2B5EF4-FFF2-40B4-BE49-F238E27FC236}">
                <a16:creationId xmlns:a16="http://schemas.microsoft.com/office/drawing/2014/main" id="{C963B98A-CAD8-56DC-3882-5F3CB1AD0366}"/>
              </a:ext>
            </a:extLst>
          </p:cNvPr>
          <p:cNvSpPr txBox="1"/>
          <p:nvPr/>
        </p:nvSpPr>
        <p:spPr>
          <a:xfrm>
            <a:off x="548640" y="3794759"/>
            <a:ext cx="3273963" cy="430883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400" b="0" i="0" u="none" strike="noStrike" kern="1200" cap="none" spc="0" baseline="0">
                <a:solidFill>
                  <a:srgbClr val="EDF0E2"/>
                </a:solidFill>
                <a:uFillTx/>
                <a:latin typeface="72 Condensed"/>
              </a:rPr>
              <a:t>No te pierdas lo que el programa Saturno trae para ti el próximo año</a:t>
            </a:r>
          </a:p>
        </p:txBody>
      </p:sp>
      <p:sp>
        <p:nvSpPr>
          <p:cNvPr id="9" name="Rounded Rectangle 26">
            <a:extLst>
              <a:ext uri="{FF2B5EF4-FFF2-40B4-BE49-F238E27FC236}">
                <a16:creationId xmlns:a16="http://schemas.microsoft.com/office/drawing/2014/main" id="{7FCBB387-A452-2C00-32E7-C7221D03F41D}"/>
              </a:ext>
            </a:extLst>
          </p:cNvPr>
          <p:cNvSpPr/>
          <p:nvPr/>
        </p:nvSpPr>
        <p:spPr>
          <a:xfrm>
            <a:off x="487680" y="5246076"/>
            <a:ext cx="1231391" cy="377484"/>
          </a:xfrm>
          <a:custGeom>
            <a:avLst>
              <a:gd name="f0" fmla="val 108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8BAA5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VE" sz="1100" b="1" i="0" u="none" strike="noStrike" kern="1200" cap="none" spc="0" baseline="0" dirty="0">
                <a:solidFill>
                  <a:srgbClr val="1F2E18"/>
                </a:solidFill>
                <a:uFillTx/>
                <a:latin typeface="72 Condensed"/>
              </a:rPr>
              <a:t>EN INVESTIGACIÓN</a:t>
            </a:r>
          </a:p>
        </p:txBody>
      </p:sp>
      <p:sp>
        <p:nvSpPr>
          <p:cNvPr id="10" name="Rounded Rectangle 27">
            <a:extLst>
              <a:ext uri="{FF2B5EF4-FFF2-40B4-BE49-F238E27FC236}">
                <a16:creationId xmlns:a16="http://schemas.microsoft.com/office/drawing/2014/main" id="{3D2121FF-09CD-620A-5F51-D98501B576E9}"/>
              </a:ext>
            </a:extLst>
          </p:cNvPr>
          <p:cNvSpPr/>
          <p:nvPr/>
        </p:nvSpPr>
        <p:spPr>
          <a:xfrm>
            <a:off x="1810512" y="5257800"/>
            <a:ext cx="1170432" cy="365760"/>
          </a:xfrm>
          <a:custGeom>
            <a:avLst>
              <a:gd name="f0" fmla="val 108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C9962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VE" sz="11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A IMPLEMENTAR</a:t>
            </a:r>
          </a:p>
        </p:txBody>
      </p:sp>
      <p:sp>
        <p:nvSpPr>
          <p:cNvPr id="11" name="Rounded Rectangle 28">
            <a:extLst>
              <a:ext uri="{FF2B5EF4-FFF2-40B4-BE49-F238E27FC236}">
                <a16:creationId xmlns:a16="http://schemas.microsoft.com/office/drawing/2014/main" id="{846EB7B9-4786-5F37-171A-B2098F3941E2}"/>
              </a:ext>
            </a:extLst>
          </p:cNvPr>
          <p:cNvSpPr/>
          <p:nvPr/>
        </p:nvSpPr>
        <p:spPr>
          <a:xfrm>
            <a:off x="3072384" y="5257800"/>
            <a:ext cx="1170432" cy="365760"/>
          </a:xfrm>
          <a:custGeom>
            <a:avLst>
              <a:gd name="f0" fmla="val 108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EDF0E2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VE" sz="11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EN EJECUCIÓN</a:t>
            </a:r>
          </a:p>
        </p:txBody>
      </p:sp>
      <p:sp>
        <p:nvSpPr>
          <p:cNvPr id="12" name="TextBox 29">
            <a:extLst>
              <a:ext uri="{FF2B5EF4-FFF2-40B4-BE49-F238E27FC236}">
                <a16:creationId xmlns:a16="http://schemas.microsoft.com/office/drawing/2014/main" id="{58F1D226-3DA9-B655-6ABA-46AF256B6C74}"/>
              </a:ext>
            </a:extLst>
          </p:cNvPr>
          <p:cNvSpPr txBox="1"/>
          <p:nvPr/>
        </p:nvSpPr>
        <p:spPr>
          <a:xfrm>
            <a:off x="548640" y="5760720"/>
            <a:ext cx="3749039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>
                <a:solidFill>
                  <a:srgbClr val="8BAA5E"/>
                </a:solidFill>
                <a:uFillTx/>
                <a:latin typeface="72 Condensed"/>
              </a:rPr>
              <a:t>Tres pilares de la próxima etapa del programa</a:t>
            </a:r>
          </a:p>
        </p:txBody>
      </p:sp>
      <p:sp>
        <p:nvSpPr>
          <p:cNvPr id="13" name="Rounded Rectangle 30">
            <a:extLst>
              <a:ext uri="{FF2B5EF4-FFF2-40B4-BE49-F238E27FC236}">
                <a16:creationId xmlns:a16="http://schemas.microsoft.com/office/drawing/2014/main" id="{5520B9C9-B032-6385-AF4F-A9D148C6961E}"/>
              </a:ext>
            </a:extLst>
          </p:cNvPr>
          <p:cNvSpPr/>
          <p:nvPr/>
        </p:nvSpPr>
        <p:spPr>
          <a:xfrm>
            <a:off x="4846320" y="658368"/>
            <a:ext cx="6858000" cy="960120"/>
          </a:xfrm>
          <a:custGeom>
            <a:avLst>
              <a:gd name="f0" fmla="val 3024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14" name="Oval 31">
            <a:extLst>
              <a:ext uri="{FF2B5EF4-FFF2-40B4-BE49-F238E27FC236}">
                <a16:creationId xmlns:a16="http://schemas.microsoft.com/office/drawing/2014/main" id="{B03E9CA1-5700-98CC-CD9C-C622D030EFDF}"/>
              </a:ext>
            </a:extLst>
          </p:cNvPr>
          <p:cNvSpPr/>
          <p:nvPr/>
        </p:nvSpPr>
        <p:spPr>
          <a:xfrm>
            <a:off x="5029200" y="832104"/>
            <a:ext cx="612648" cy="61264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15" name="Picture 32" descr="sat_g.png">
            <a:extLst>
              <a:ext uri="{FF2B5EF4-FFF2-40B4-BE49-F238E27FC236}">
                <a16:creationId xmlns:a16="http://schemas.microsoft.com/office/drawing/2014/main" id="{B0D88A68-D6B9-DB35-17BD-CCEBFF76D9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3982" y="966886"/>
            <a:ext cx="343082" cy="343082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6" name="TextBox 33">
            <a:extLst>
              <a:ext uri="{FF2B5EF4-FFF2-40B4-BE49-F238E27FC236}">
                <a16:creationId xmlns:a16="http://schemas.microsoft.com/office/drawing/2014/main" id="{B058182B-162E-2502-1C09-78BA7B825C45}"/>
              </a:ext>
            </a:extLst>
          </p:cNvPr>
          <p:cNvSpPr txBox="1"/>
          <p:nvPr/>
        </p:nvSpPr>
        <p:spPr>
          <a:xfrm>
            <a:off x="5852160" y="786384"/>
            <a:ext cx="4572000" cy="3200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Tu campo, visto desde el satélite</a:t>
            </a:r>
          </a:p>
        </p:txBody>
      </p:sp>
      <p:sp>
        <p:nvSpPr>
          <p:cNvPr id="17" name="TextBox 34">
            <a:extLst>
              <a:ext uri="{FF2B5EF4-FFF2-40B4-BE49-F238E27FC236}">
                <a16:creationId xmlns:a16="http://schemas.microsoft.com/office/drawing/2014/main" id="{5E2C93D2-D759-451B-64DE-89383601DAD0}"/>
              </a:ext>
            </a:extLst>
          </p:cNvPr>
          <p:cNvSpPr txBox="1"/>
          <p:nvPr/>
        </p:nvSpPr>
        <p:spPr>
          <a:xfrm>
            <a:off x="5852160" y="1097280"/>
            <a:ext cx="566928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>
                <a:solidFill>
                  <a:srgbClr val="EDF0E2"/>
                </a:solidFill>
                <a:uFillTx/>
                <a:latin typeface="72 Condensed"/>
              </a:rPr>
              <a:t>Imágenes satelitales y nuevas metodologías de muestreo para evaluar el estado del cultivo de forma constante.</a:t>
            </a:r>
          </a:p>
        </p:txBody>
      </p:sp>
      <p:sp>
        <p:nvSpPr>
          <p:cNvPr id="18" name="Rounded Rectangle 35">
            <a:extLst>
              <a:ext uri="{FF2B5EF4-FFF2-40B4-BE49-F238E27FC236}">
                <a16:creationId xmlns:a16="http://schemas.microsoft.com/office/drawing/2014/main" id="{AE0C5464-217D-0F43-73D5-35482C5D3C4B}"/>
              </a:ext>
            </a:extLst>
          </p:cNvPr>
          <p:cNvSpPr/>
          <p:nvPr/>
        </p:nvSpPr>
        <p:spPr>
          <a:xfrm>
            <a:off x="10488168" y="786384"/>
            <a:ext cx="1078992" cy="180502"/>
          </a:xfrm>
          <a:custGeom>
            <a:avLst>
              <a:gd name="f0" fmla="val 108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8BAA5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VE" sz="900" b="1" i="0" u="none" strike="noStrike" kern="1200" cap="none" spc="0" baseline="0" dirty="0">
                <a:solidFill>
                  <a:srgbClr val="1F2E18"/>
                </a:solidFill>
                <a:uFillTx/>
                <a:latin typeface="72 Condensed"/>
              </a:rPr>
              <a:t>EN INVESTIGACIÓN</a:t>
            </a:r>
          </a:p>
        </p:txBody>
      </p:sp>
      <p:sp>
        <p:nvSpPr>
          <p:cNvPr id="19" name="Rounded Rectangle 36">
            <a:extLst>
              <a:ext uri="{FF2B5EF4-FFF2-40B4-BE49-F238E27FC236}">
                <a16:creationId xmlns:a16="http://schemas.microsoft.com/office/drawing/2014/main" id="{7F0F99D4-B454-84BB-3E17-6B2447DFF7A0}"/>
              </a:ext>
            </a:extLst>
          </p:cNvPr>
          <p:cNvSpPr/>
          <p:nvPr/>
        </p:nvSpPr>
        <p:spPr>
          <a:xfrm>
            <a:off x="4846320" y="1746504"/>
            <a:ext cx="6858000" cy="960120"/>
          </a:xfrm>
          <a:custGeom>
            <a:avLst>
              <a:gd name="f0" fmla="val 3024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20" name="Oval 37">
            <a:extLst>
              <a:ext uri="{FF2B5EF4-FFF2-40B4-BE49-F238E27FC236}">
                <a16:creationId xmlns:a16="http://schemas.microsoft.com/office/drawing/2014/main" id="{19F1FEC8-8CD0-4E83-4177-6B395240AAC5}"/>
              </a:ext>
            </a:extLst>
          </p:cNvPr>
          <p:cNvSpPr/>
          <p:nvPr/>
        </p:nvSpPr>
        <p:spPr>
          <a:xfrm>
            <a:off x="5029200" y="1920240"/>
            <a:ext cx="612648" cy="61264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21" name="Picture 38" descr="map_g.png">
            <a:extLst>
              <a:ext uri="{FF2B5EF4-FFF2-40B4-BE49-F238E27FC236}">
                <a16:creationId xmlns:a16="http://schemas.microsoft.com/office/drawing/2014/main" id="{6E3D8E31-3E39-6736-5646-22908DC73A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3982" y="2055022"/>
            <a:ext cx="343082" cy="343082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22" name="TextBox 39">
            <a:extLst>
              <a:ext uri="{FF2B5EF4-FFF2-40B4-BE49-F238E27FC236}">
                <a16:creationId xmlns:a16="http://schemas.microsoft.com/office/drawing/2014/main" id="{9BC0060E-8421-FBB3-7E92-94F764937748}"/>
              </a:ext>
            </a:extLst>
          </p:cNvPr>
          <p:cNvSpPr txBox="1"/>
          <p:nvPr/>
        </p:nvSpPr>
        <p:spPr>
          <a:xfrm>
            <a:off x="5852160" y="1874519"/>
            <a:ext cx="4572000" cy="3200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6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Muestreo de suelo inteligente</a:t>
            </a:r>
          </a:p>
        </p:txBody>
      </p:sp>
      <p:sp>
        <p:nvSpPr>
          <p:cNvPr id="23" name="TextBox 40">
            <a:extLst>
              <a:ext uri="{FF2B5EF4-FFF2-40B4-BE49-F238E27FC236}">
                <a16:creationId xmlns:a16="http://schemas.microsoft.com/office/drawing/2014/main" id="{161C7235-5B21-3FD4-FFC2-E5B9C9461FCA}"/>
              </a:ext>
            </a:extLst>
          </p:cNvPr>
          <p:cNvSpPr txBox="1"/>
          <p:nvPr/>
        </p:nvSpPr>
        <p:spPr>
          <a:xfrm>
            <a:off x="5852160" y="2185415"/>
            <a:ext cx="566928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>
                <a:solidFill>
                  <a:srgbClr val="EDF0E2"/>
                </a:solidFill>
                <a:uFillTx/>
                <a:latin typeface="72 Condensed"/>
              </a:rPr>
              <a:t>Muestreos guiados por mapas satelitales y/o de drones: medimos donde realmente importa.</a:t>
            </a:r>
          </a:p>
        </p:txBody>
      </p:sp>
      <p:sp>
        <p:nvSpPr>
          <p:cNvPr id="24" name="Rounded Rectangle 41">
            <a:extLst>
              <a:ext uri="{FF2B5EF4-FFF2-40B4-BE49-F238E27FC236}">
                <a16:creationId xmlns:a16="http://schemas.microsoft.com/office/drawing/2014/main" id="{09E1F55B-643B-E9C8-5346-00C6629B1A92}"/>
              </a:ext>
            </a:extLst>
          </p:cNvPr>
          <p:cNvSpPr/>
          <p:nvPr/>
        </p:nvSpPr>
        <p:spPr>
          <a:xfrm>
            <a:off x="10607040" y="1874519"/>
            <a:ext cx="960120" cy="201168"/>
          </a:xfrm>
          <a:custGeom>
            <a:avLst>
              <a:gd name="f0" fmla="val 108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VE" sz="9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EN EJECUCIÓN</a:t>
            </a:r>
          </a:p>
        </p:txBody>
      </p:sp>
      <p:sp>
        <p:nvSpPr>
          <p:cNvPr id="25" name="Rounded Rectangle 42">
            <a:extLst>
              <a:ext uri="{FF2B5EF4-FFF2-40B4-BE49-F238E27FC236}">
                <a16:creationId xmlns:a16="http://schemas.microsoft.com/office/drawing/2014/main" id="{8812599D-C220-67C4-C06A-62D2F544D78F}"/>
              </a:ext>
            </a:extLst>
          </p:cNvPr>
          <p:cNvSpPr/>
          <p:nvPr/>
        </p:nvSpPr>
        <p:spPr>
          <a:xfrm>
            <a:off x="4846320" y="2834640"/>
            <a:ext cx="6858000" cy="960120"/>
          </a:xfrm>
          <a:custGeom>
            <a:avLst>
              <a:gd name="f0" fmla="val 3024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26" name="Oval 43">
            <a:extLst>
              <a:ext uri="{FF2B5EF4-FFF2-40B4-BE49-F238E27FC236}">
                <a16:creationId xmlns:a16="http://schemas.microsoft.com/office/drawing/2014/main" id="{717CACDB-B33E-9B24-CD03-2E4121FDE3AA}"/>
              </a:ext>
            </a:extLst>
          </p:cNvPr>
          <p:cNvSpPr/>
          <p:nvPr/>
        </p:nvSpPr>
        <p:spPr>
          <a:xfrm>
            <a:off x="5029200" y="3008376"/>
            <a:ext cx="612648" cy="61264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27" name="Picture 44" descr="chart_g.png">
            <a:extLst>
              <a:ext uri="{FF2B5EF4-FFF2-40B4-BE49-F238E27FC236}">
                <a16:creationId xmlns:a16="http://schemas.microsoft.com/office/drawing/2014/main" id="{9865024F-B19B-429A-2D52-CC83DE37EC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63982" y="3143158"/>
            <a:ext cx="343082" cy="343082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28" name="TextBox 45">
            <a:extLst>
              <a:ext uri="{FF2B5EF4-FFF2-40B4-BE49-F238E27FC236}">
                <a16:creationId xmlns:a16="http://schemas.microsoft.com/office/drawing/2014/main" id="{34EBC3F7-632D-573B-86DD-6977BEA11D6D}"/>
              </a:ext>
            </a:extLst>
          </p:cNvPr>
          <p:cNvSpPr txBox="1"/>
          <p:nvPr/>
        </p:nvSpPr>
        <p:spPr>
          <a:xfrm>
            <a:off x="5852160" y="2962656"/>
            <a:ext cx="4572000" cy="3200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Fertilización a la medida de cada zona</a:t>
            </a:r>
          </a:p>
        </p:txBody>
      </p:sp>
      <p:sp>
        <p:nvSpPr>
          <p:cNvPr id="29" name="TextBox 46">
            <a:extLst>
              <a:ext uri="{FF2B5EF4-FFF2-40B4-BE49-F238E27FC236}">
                <a16:creationId xmlns:a16="http://schemas.microsoft.com/office/drawing/2014/main" id="{CEFB4FB8-F2C0-1414-A491-70AB16BAC846}"/>
              </a:ext>
            </a:extLst>
          </p:cNvPr>
          <p:cNvSpPr txBox="1"/>
          <p:nvPr/>
        </p:nvSpPr>
        <p:spPr>
          <a:xfrm>
            <a:off x="5852160" y="3273552"/>
            <a:ext cx="566928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>
                <a:solidFill>
                  <a:srgbClr val="EDF0E2"/>
                </a:solidFill>
                <a:uFillTx/>
                <a:latin typeface="72 Condensed"/>
              </a:rPr>
              <a:t>Agrupamos por zonas la data de la cosecha anterior para aplicar lo que cada lote necesita de verdad.</a:t>
            </a:r>
          </a:p>
        </p:txBody>
      </p:sp>
      <p:sp>
        <p:nvSpPr>
          <p:cNvPr id="30" name="Rounded Rectangle 47">
            <a:extLst>
              <a:ext uri="{FF2B5EF4-FFF2-40B4-BE49-F238E27FC236}">
                <a16:creationId xmlns:a16="http://schemas.microsoft.com/office/drawing/2014/main" id="{558EC93C-2CB3-468D-911C-E9FF0FE94475}"/>
              </a:ext>
            </a:extLst>
          </p:cNvPr>
          <p:cNvSpPr/>
          <p:nvPr/>
        </p:nvSpPr>
        <p:spPr>
          <a:xfrm>
            <a:off x="10607040" y="2962656"/>
            <a:ext cx="960120" cy="274320"/>
          </a:xfrm>
          <a:custGeom>
            <a:avLst>
              <a:gd name="f0" fmla="val 108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C9962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VE" sz="9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A IMPLEMENTAR</a:t>
            </a:r>
          </a:p>
        </p:txBody>
      </p:sp>
      <p:sp>
        <p:nvSpPr>
          <p:cNvPr id="31" name="Rounded Rectangle 48">
            <a:extLst>
              <a:ext uri="{FF2B5EF4-FFF2-40B4-BE49-F238E27FC236}">
                <a16:creationId xmlns:a16="http://schemas.microsoft.com/office/drawing/2014/main" id="{DD913233-7C3A-B6FC-DB02-ED4D85B1FF85}"/>
              </a:ext>
            </a:extLst>
          </p:cNvPr>
          <p:cNvSpPr/>
          <p:nvPr/>
        </p:nvSpPr>
        <p:spPr>
          <a:xfrm>
            <a:off x="4846320" y="3922776"/>
            <a:ext cx="6858000" cy="960120"/>
          </a:xfrm>
          <a:custGeom>
            <a:avLst>
              <a:gd name="f0" fmla="val 3024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32" name="Oval 49">
            <a:extLst>
              <a:ext uri="{FF2B5EF4-FFF2-40B4-BE49-F238E27FC236}">
                <a16:creationId xmlns:a16="http://schemas.microsoft.com/office/drawing/2014/main" id="{E14C3770-FCBC-56B5-0486-6533CB81BF69}"/>
              </a:ext>
            </a:extLst>
          </p:cNvPr>
          <p:cNvSpPr/>
          <p:nvPr/>
        </p:nvSpPr>
        <p:spPr>
          <a:xfrm>
            <a:off x="5029200" y="4096512"/>
            <a:ext cx="612648" cy="61264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33" name="Picture 50" descr="dna_g.png">
            <a:extLst>
              <a:ext uri="{FF2B5EF4-FFF2-40B4-BE49-F238E27FC236}">
                <a16:creationId xmlns:a16="http://schemas.microsoft.com/office/drawing/2014/main" id="{E5AAE6DF-AE64-7E9A-A7EA-C222E680FC4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3982" y="4231294"/>
            <a:ext cx="343082" cy="343082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34" name="TextBox 51">
            <a:extLst>
              <a:ext uri="{FF2B5EF4-FFF2-40B4-BE49-F238E27FC236}">
                <a16:creationId xmlns:a16="http://schemas.microsoft.com/office/drawing/2014/main" id="{94247889-651F-FE68-FFFE-67114015AD3E}"/>
              </a:ext>
            </a:extLst>
          </p:cNvPr>
          <p:cNvSpPr txBox="1"/>
          <p:nvPr/>
        </p:nvSpPr>
        <p:spPr>
          <a:xfrm>
            <a:off x="5852160" y="4050792"/>
            <a:ext cx="4572000" cy="3200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6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El híbrido ideal para tu ambiente</a:t>
            </a:r>
          </a:p>
        </p:txBody>
      </p:sp>
      <p:sp>
        <p:nvSpPr>
          <p:cNvPr id="35" name="TextBox 52">
            <a:extLst>
              <a:ext uri="{FF2B5EF4-FFF2-40B4-BE49-F238E27FC236}">
                <a16:creationId xmlns:a16="http://schemas.microsoft.com/office/drawing/2014/main" id="{CC48A316-6EA9-DAD4-C184-2127DAD39ABC}"/>
              </a:ext>
            </a:extLst>
          </p:cNvPr>
          <p:cNvSpPr txBox="1"/>
          <p:nvPr/>
        </p:nvSpPr>
        <p:spPr>
          <a:xfrm>
            <a:off x="5852160" y="4361688"/>
            <a:ext cx="566928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>
                <a:solidFill>
                  <a:srgbClr val="EDF0E2"/>
                </a:solidFill>
                <a:uFillTx/>
                <a:latin typeface="72 Condensed"/>
              </a:rPr>
              <a:t>Cruzamos rendimiento, productividad y sanidad de grano para asignar a cada zona el híbrido de mayor potencial.</a:t>
            </a:r>
          </a:p>
        </p:txBody>
      </p:sp>
      <p:sp>
        <p:nvSpPr>
          <p:cNvPr id="36" name="Rounded Rectangle 53">
            <a:extLst>
              <a:ext uri="{FF2B5EF4-FFF2-40B4-BE49-F238E27FC236}">
                <a16:creationId xmlns:a16="http://schemas.microsoft.com/office/drawing/2014/main" id="{70D619DD-E9AB-DBFA-F74D-A15376D31600}"/>
              </a:ext>
            </a:extLst>
          </p:cNvPr>
          <p:cNvSpPr/>
          <p:nvPr/>
        </p:nvSpPr>
        <p:spPr>
          <a:xfrm>
            <a:off x="10607040" y="4050792"/>
            <a:ext cx="960120" cy="274320"/>
          </a:xfrm>
          <a:custGeom>
            <a:avLst>
              <a:gd name="f0" fmla="val 108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C9962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VE" sz="900" b="1" i="0" u="none" strike="noStrike" kern="1200" cap="none" spc="0" baseline="0">
                <a:solidFill>
                  <a:srgbClr val="1F2E18"/>
                </a:solidFill>
                <a:uFillTx/>
                <a:latin typeface="72 Condensed"/>
              </a:rPr>
              <a:t>A IMPLEMENTAR</a:t>
            </a:r>
          </a:p>
        </p:txBody>
      </p:sp>
      <p:sp>
        <p:nvSpPr>
          <p:cNvPr id="37" name="Rounded Rectangle 54">
            <a:extLst>
              <a:ext uri="{FF2B5EF4-FFF2-40B4-BE49-F238E27FC236}">
                <a16:creationId xmlns:a16="http://schemas.microsoft.com/office/drawing/2014/main" id="{6006CAF3-C600-B9A5-3542-3993090A20FB}"/>
              </a:ext>
            </a:extLst>
          </p:cNvPr>
          <p:cNvSpPr/>
          <p:nvPr/>
        </p:nvSpPr>
        <p:spPr>
          <a:xfrm>
            <a:off x="4846320" y="5010912"/>
            <a:ext cx="6858000" cy="960120"/>
          </a:xfrm>
          <a:custGeom>
            <a:avLst>
              <a:gd name="f0" fmla="val 3024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4C6A3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sp>
        <p:nvSpPr>
          <p:cNvPr id="38" name="Oval 55">
            <a:extLst>
              <a:ext uri="{FF2B5EF4-FFF2-40B4-BE49-F238E27FC236}">
                <a16:creationId xmlns:a16="http://schemas.microsoft.com/office/drawing/2014/main" id="{101DD515-539F-DDCE-E502-9D869DFAFBBA}"/>
              </a:ext>
            </a:extLst>
          </p:cNvPr>
          <p:cNvSpPr/>
          <p:nvPr/>
        </p:nvSpPr>
        <p:spPr>
          <a:xfrm>
            <a:off x="5029200" y="5184648"/>
            <a:ext cx="612648" cy="612648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324425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Aptos"/>
            </a:endParaRPr>
          </a:p>
        </p:txBody>
      </p:sp>
      <p:pic>
        <p:nvPicPr>
          <p:cNvPr id="39" name="Picture 56" descr="leaf_g.png">
            <a:extLst>
              <a:ext uri="{FF2B5EF4-FFF2-40B4-BE49-F238E27FC236}">
                <a16:creationId xmlns:a16="http://schemas.microsoft.com/office/drawing/2014/main" id="{01637248-821F-B17D-9572-6BC0500C7D8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63982" y="5319430"/>
            <a:ext cx="343082" cy="343082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40" name="TextBox 57">
            <a:extLst>
              <a:ext uri="{FF2B5EF4-FFF2-40B4-BE49-F238E27FC236}">
                <a16:creationId xmlns:a16="http://schemas.microsoft.com/office/drawing/2014/main" id="{F3FB264E-8388-11D6-0BB7-373B0DA2C048}"/>
              </a:ext>
            </a:extLst>
          </p:cNvPr>
          <p:cNvSpPr txBox="1"/>
          <p:nvPr/>
        </p:nvSpPr>
        <p:spPr>
          <a:xfrm>
            <a:off x="5852160" y="5138927"/>
            <a:ext cx="4572000" cy="3200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600" b="1" i="0" u="none" strike="noStrike" kern="1200" cap="none" spc="0" baseline="0">
                <a:solidFill>
                  <a:srgbClr val="FFFFFF"/>
                </a:solidFill>
                <a:uFillTx/>
                <a:latin typeface="72 Condensed"/>
              </a:rPr>
              <a:t>Agricultura regenerativa</a:t>
            </a:r>
          </a:p>
        </p:txBody>
      </p:sp>
      <p:sp>
        <p:nvSpPr>
          <p:cNvPr id="41" name="TextBox 58">
            <a:extLst>
              <a:ext uri="{FF2B5EF4-FFF2-40B4-BE49-F238E27FC236}">
                <a16:creationId xmlns:a16="http://schemas.microsoft.com/office/drawing/2014/main" id="{CA28BF6E-7A41-0A9C-CE4D-5D7953FD7D1F}"/>
              </a:ext>
            </a:extLst>
          </p:cNvPr>
          <p:cNvSpPr txBox="1"/>
          <p:nvPr/>
        </p:nvSpPr>
        <p:spPr>
          <a:xfrm>
            <a:off x="5852160" y="5449824"/>
            <a:ext cx="566928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ES" sz="1100" b="0" i="0" u="none" strike="noStrike" kern="1200" cap="none" spc="0" baseline="0">
                <a:solidFill>
                  <a:srgbClr val="EDF0E2"/>
                </a:solidFill>
                <a:uFillTx/>
                <a:latin typeface="72 Condensed"/>
              </a:rPr>
              <a:t>Piloto con prácticas regenerativas y conservacionistas, medido con rigor estadístico junto a un asesor internacional.</a:t>
            </a:r>
          </a:p>
        </p:txBody>
      </p:sp>
      <p:sp>
        <p:nvSpPr>
          <p:cNvPr id="42" name="Rounded Rectangle 59">
            <a:extLst>
              <a:ext uri="{FF2B5EF4-FFF2-40B4-BE49-F238E27FC236}">
                <a16:creationId xmlns:a16="http://schemas.microsoft.com/office/drawing/2014/main" id="{5C993BF0-8037-DF4C-BBC7-0419E187F771}"/>
              </a:ext>
            </a:extLst>
          </p:cNvPr>
          <p:cNvSpPr/>
          <p:nvPr/>
        </p:nvSpPr>
        <p:spPr>
          <a:xfrm>
            <a:off x="10381488" y="5138927"/>
            <a:ext cx="1185672" cy="180502"/>
          </a:xfrm>
          <a:custGeom>
            <a:avLst>
              <a:gd name="f0" fmla="val 10800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8BAA5E"/>
          </a:solidFill>
          <a:ln cap="flat">
            <a:noFill/>
            <a:prstDash val="solid"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s-VE" sz="900" b="1" i="0" u="none" strike="noStrike" kern="1200" cap="none" spc="0" baseline="0" dirty="0">
                <a:solidFill>
                  <a:srgbClr val="1F2E18"/>
                </a:solidFill>
                <a:uFillTx/>
                <a:latin typeface="72 Condensed"/>
              </a:rPr>
              <a:t>EN INVESTIGACIÓN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Freeform 2">
            <a:extLst>
              <a:ext uri="{FF2B5EF4-FFF2-40B4-BE49-F238E27FC236}">
                <a16:creationId xmlns:a16="http://schemas.microsoft.com/office/drawing/2014/main" id="{4263364B-FE9A-5D3D-1B92-E256E56AFA81}"/>
              </a:ext>
            </a:extLst>
          </p:cNvPr>
          <p:cNvSpPr/>
          <p:nvPr/>
        </p:nvSpPr>
        <p:spPr>
          <a:xfrm>
            <a:off x="0" y="0"/>
            <a:ext cx="12191996" cy="6858000"/>
          </a:xfrm>
          <a:custGeom>
            <a:avLst/>
            <a:gdLst>
              <a:gd name="f0" fmla="val w"/>
              <a:gd name="f1" fmla="val h"/>
              <a:gd name="f2" fmla="val 0"/>
              <a:gd name="f3" fmla="val 18288000"/>
              <a:gd name="f4" fmla="val 10287000"/>
              <a:gd name="f5" fmla="*/ f0 1 18288000"/>
              <a:gd name="f6" fmla="*/ f1 1 10287000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8288000"/>
              <a:gd name="f13" fmla="*/ f10 1 10287000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8288000" h="10287000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2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000000"/>
              </a:solidFill>
              <a:uFillTx/>
              <a:latin typeface="72 Condensed"/>
            </a:endParaRPr>
          </a:p>
        </p:txBody>
      </p:sp>
      <p:sp>
        <p:nvSpPr>
          <p:cNvPr id="102" name="Rectángulo 5">
            <a:extLst>
              <a:ext uri="{FF2B5EF4-FFF2-40B4-BE49-F238E27FC236}">
                <a16:creationId xmlns:a16="http://schemas.microsoft.com/office/drawing/2014/main" id="{35A3365A-854C-5B8A-586F-A380B15FCA91}"/>
              </a:ext>
            </a:extLst>
          </p:cNvPr>
          <p:cNvSpPr/>
          <p:nvPr/>
        </p:nvSpPr>
        <p:spPr>
          <a:xfrm>
            <a:off x="4" y="-285749"/>
            <a:ext cx="12191996" cy="7143749"/>
          </a:xfrm>
          <a:prstGeom prst="rect">
            <a:avLst/>
          </a:prstGeom>
          <a:solidFill>
            <a:srgbClr val="1F2E18">
              <a:alpha val="62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FFFFFF"/>
              </a:solidFill>
              <a:uFillTx/>
              <a:latin typeface="72 Condensed"/>
            </a:endParaRPr>
          </a:p>
        </p:txBody>
      </p:sp>
      <p:sp>
        <p:nvSpPr>
          <p:cNvPr id="4" name="CuadroTexto 21">
            <a:extLst>
              <a:ext uri="{FF2B5EF4-FFF2-40B4-BE49-F238E27FC236}">
                <a16:creationId xmlns:a16="http://schemas.microsoft.com/office/drawing/2014/main" id="{7AC70978-D872-BB88-CEBC-19A2289762F8}"/>
              </a:ext>
            </a:extLst>
          </p:cNvPr>
          <p:cNvSpPr txBox="1"/>
          <p:nvPr/>
        </p:nvSpPr>
        <p:spPr>
          <a:xfrm>
            <a:off x="9336088" y="0"/>
            <a:ext cx="2855908" cy="369335"/>
          </a:xfrm>
          <a:prstGeom prst="rect">
            <a:avLst/>
          </a:prstGeom>
          <a:solidFill>
            <a:srgbClr val="324425"/>
          </a:solidFill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1" u="none" strike="noStrike" kern="1200" cap="none" spc="0" baseline="0">
                <a:solidFill>
                  <a:srgbClr val="FFFFFF"/>
                </a:solidFill>
                <a:uFillTx/>
                <a:latin typeface="72 Condensed" pitchFamily="34"/>
                <a:cs typeface="72 Condensed" pitchFamily="34"/>
              </a:rPr>
              <a:t>MECANIZACIÓN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48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300">
                <a:solidFill>
                  <a:srgbClr val="C9962E"/>
                </a:solidFill>
                <a:latin typeface="72 Condensed"/>
              </a:rPr>
              <a:t>MECANIZACIÓN · TUS PAGOS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48640" y="760000"/>
            <a:ext cx="9000000" cy="5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 dirty="0">
                <a:solidFill>
                  <a:srgbClr val="FFFFFF"/>
                </a:solidFill>
                <a:latin typeface="72 Condensed"/>
              </a:rPr>
              <a:t>Tu </a:t>
            </a:r>
            <a:r>
              <a:rPr sz="3000" b="1" i="0" dirty="0" err="1">
                <a:solidFill>
                  <a:srgbClr val="FFFFFF"/>
                </a:solidFill>
                <a:latin typeface="72 Condensed"/>
              </a:rPr>
              <a:t>mecanización</a:t>
            </a:r>
            <a:r>
              <a:rPr sz="3000" b="1" i="0" dirty="0">
                <a:solidFill>
                  <a:srgbClr val="FFFFFF"/>
                </a:solidFill>
                <a:latin typeface="72 Condensed"/>
              </a:rPr>
              <a:t>, </a:t>
            </a:r>
            <a:r>
              <a:rPr sz="3000" b="1" i="0" dirty="0" err="1">
                <a:solidFill>
                  <a:srgbClr val="FFFFFF"/>
                </a:solidFill>
                <a:latin typeface="72 Condensed"/>
              </a:rPr>
              <a:t>pago</a:t>
            </a:r>
            <a:r>
              <a:rPr sz="3000" b="1" i="0" dirty="0">
                <a:solidFill>
                  <a:srgbClr val="FFFFFF"/>
                </a:solidFill>
                <a:latin typeface="72 Condensed"/>
              </a:rPr>
              <a:t> </a:t>
            </a:r>
            <a:r>
              <a:rPr sz="3000" b="1" i="0" dirty="0" err="1">
                <a:solidFill>
                  <a:srgbClr val="FFFFFF"/>
                </a:solidFill>
                <a:latin typeface="72 Condensed"/>
              </a:rPr>
              <a:t>por</a:t>
            </a:r>
            <a:r>
              <a:rPr sz="3000" b="1" i="0" dirty="0">
                <a:solidFill>
                  <a:srgbClr val="FFFFFF"/>
                </a:solidFill>
                <a:latin typeface="72 Condensed"/>
              </a:rPr>
              <a:t> </a:t>
            </a:r>
            <a:r>
              <a:rPr sz="3000" b="1" i="0" dirty="0" err="1">
                <a:solidFill>
                  <a:srgbClr val="FFFFFF"/>
                </a:solidFill>
                <a:latin typeface="72 Condensed"/>
              </a:rPr>
              <a:t>pago</a:t>
            </a:r>
            <a:endParaRPr sz="3000" b="1" i="0" dirty="0">
              <a:solidFill>
                <a:srgbClr val="FFFFFF"/>
              </a:solidFill>
              <a:latin typeface="72 Condensed"/>
            </a:endParaRPr>
          </a:p>
        </p:txBody>
      </p:sp>
      <p:sp>
        <p:nvSpPr>
          <p:cNvPr id="105" name="TextBox 104"/>
          <p:cNvSpPr txBox="1"/>
          <p:nvPr/>
        </p:nvSpPr>
        <p:spPr>
          <a:xfrm>
            <a:off x="548640" y="1330000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dirty="0">
                <a:solidFill>
                  <a:srgbClr val="C5DAA5"/>
                </a:solidFill>
                <a:latin typeface="72 Condensed"/>
              </a:rPr>
              <a:t>Angela Rosa Guedez Morales · montos en USD  ·  PENDIENTE: cargar la liquidación de APC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548640" y="1800000"/>
            <a:ext cx="2679840" cy="1850000"/>
          </a:xfrm>
          <a:prstGeom prst="roundRect">
            <a:avLst>
              <a:gd name="adj" fmla="val 8000"/>
            </a:avLst>
          </a:prstGeom>
          <a:solidFill>
            <a:srgbClr val="324425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768640" y="1990000"/>
            <a:ext cx="229984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ES" sz="1000" b="1" i="0" spc="150" dirty="0">
                <a:solidFill>
                  <a:srgbClr val="C9962E"/>
                </a:solidFill>
                <a:latin typeface="72 Condensed"/>
              </a:rPr>
              <a:t>REAL</a:t>
            </a:r>
            <a:r>
              <a:rPr sz="1000" b="1" i="0" spc="150" dirty="0">
                <a:solidFill>
                  <a:srgbClr val="C9962E"/>
                </a:solidFill>
                <a:latin typeface="72 Condensed"/>
              </a:rPr>
              <a:t> </a:t>
            </a:r>
            <a:r>
              <a:rPr lang="es-ES" sz="1000" b="1" i="0" spc="150" dirty="0">
                <a:solidFill>
                  <a:srgbClr val="C9962E"/>
                </a:solidFill>
                <a:latin typeface="72 Condensed"/>
              </a:rPr>
              <a:t>INICIAL </a:t>
            </a:r>
            <a:r>
              <a:rPr sz="1000" b="1" i="0" spc="150" dirty="0">
                <a:solidFill>
                  <a:srgbClr val="C9962E"/>
                </a:solidFill>
                <a:latin typeface="72 Condensed"/>
              </a:rPr>
              <a:t>DE MECANIZACIÓN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68640" y="2280000"/>
            <a:ext cx="2299840" cy="584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ES" sz="3800" b="1" i="0" dirty="0">
                <a:solidFill>
                  <a:srgbClr val="FFFFFF"/>
                </a:solidFill>
                <a:latin typeface="72 Condensed"/>
              </a:rPr>
              <a:t>—</a:t>
            </a:r>
            <a:endParaRPr sz="3800" b="1" i="0" dirty="0">
              <a:solidFill>
                <a:srgbClr val="FFFFFF"/>
              </a:solidFill>
              <a:latin typeface="72 Condensed"/>
            </a:endParaRPr>
          </a:p>
        </p:txBody>
      </p:sp>
      <p:sp>
        <p:nvSpPr>
          <p:cNvPr id="109" name="TextBox 108"/>
          <p:cNvSpPr txBox="1"/>
          <p:nvPr/>
        </p:nvSpPr>
        <p:spPr>
          <a:xfrm>
            <a:off x="768640" y="2980000"/>
            <a:ext cx="229984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C5DAA5"/>
                </a:solidFill>
                <a:latin typeface="72 Condensed"/>
              </a:rPr>
              <a:t>mecanización total ajustada,</a:t>
            </a:r>
          </a:p>
          <a:p>
            <a:pPr algn="l"/>
            <a:r>
              <a:rPr sz="1200" b="0" i="0">
                <a:solidFill>
                  <a:srgbClr val="C5DAA5"/>
                </a:solidFill>
                <a:latin typeface="72 Condensed"/>
              </a:rPr>
              <a:t>sin descuentos adicionales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3358480" y="1800000"/>
            <a:ext cx="2679840" cy="1850000"/>
          </a:xfrm>
          <a:prstGeom prst="roundRect">
            <a:avLst>
              <a:gd name="adj" fmla="val 8000"/>
            </a:avLst>
          </a:prstGeom>
          <a:solidFill>
            <a:srgbClr val="4C6A35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3578480" y="1990000"/>
            <a:ext cx="229984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150">
                <a:solidFill>
                  <a:srgbClr val="C9962E"/>
                </a:solidFill>
                <a:latin typeface="72 Condensed"/>
              </a:rPr>
              <a:t>PAGO 1 · ABRIL–MAYO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578480" y="2280000"/>
            <a:ext cx="2299840" cy="6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72 Condensed"/>
              </a:rPr>
              <a:t>—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578480" y="2980000"/>
            <a:ext cx="229984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EDF0E2"/>
                </a:solidFill>
                <a:latin typeface="72 Condensed"/>
              </a:rPr>
              <a:t>efectivo que el banco ya te entregó por mecanización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6168320" y="1800000"/>
            <a:ext cx="2679840" cy="1850000"/>
          </a:xfrm>
          <a:prstGeom prst="roundRect">
            <a:avLst>
              <a:gd name="adj" fmla="val 8000"/>
            </a:avLst>
          </a:prstGeom>
          <a:solidFill>
            <a:srgbClr val="4C6A35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15" name="TextBox 114"/>
          <p:cNvSpPr txBox="1"/>
          <p:nvPr/>
        </p:nvSpPr>
        <p:spPr>
          <a:xfrm>
            <a:off x="6388320" y="1990000"/>
            <a:ext cx="229984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150">
                <a:solidFill>
                  <a:srgbClr val="C9962E"/>
                </a:solidFill>
                <a:latin typeface="72 Condensed"/>
              </a:rPr>
              <a:t>PAGO 2 · 06 DE JULIO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388320" y="2280000"/>
            <a:ext cx="2299840" cy="584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ES" sz="3800" b="1" i="0" dirty="0">
                <a:solidFill>
                  <a:srgbClr val="FFFFFF"/>
                </a:solidFill>
                <a:latin typeface="72 Condensed"/>
              </a:rPr>
              <a:t>—</a:t>
            </a:r>
            <a:endParaRPr sz="3800" b="1" i="0" dirty="0">
              <a:solidFill>
                <a:srgbClr val="FFFFFF"/>
              </a:solidFill>
              <a:latin typeface="72 Condensed"/>
            </a:endParaRPr>
          </a:p>
        </p:txBody>
      </p:sp>
      <p:sp>
        <p:nvSpPr>
          <p:cNvPr id="117" name="TextBox 116"/>
          <p:cNvSpPr txBox="1"/>
          <p:nvPr/>
        </p:nvSpPr>
        <p:spPr>
          <a:xfrm>
            <a:off x="6388320" y="2980000"/>
            <a:ext cx="229984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EDF0E2"/>
                </a:solidFill>
                <a:latin typeface="72 Condensed"/>
              </a:rPr>
              <a:t>adelanto que APC te entregó por mecanización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8978160" y="1800000"/>
            <a:ext cx="2679840" cy="1850000"/>
          </a:xfrm>
          <a:prstGeom prst="roundRect">
            <a:avLst>
              <a:gd name="adj" fmla="val 8000"/>
            </a:avLst>
          </a:prstGeom>
          <a:solidFill>
            <a:srgbClr val="C9962E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9198160" y="1990000"/>
            <a:ext cx="229984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150">
                <a:solidFill>
                  <a:srgbClr val="1F2E18"/>
                </a:solidFill>
                <a:latin typeface="72 Condensed"/>
              </a:rPr>
              <a:t>PAGO 3 · TOTAL FINAL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198160" y="2280000"/>
            <a:ext cx="2299840" cy="6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 i="0">
                <a:solidFill>
                  <a:srgbClr val="1F2E18"/>
                </a:solidFill>
                <a:latin typeface="72 Condensed"/>
              </a:rPr>
              <a:t>—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198160" y="2980000"/>
            <a:ext cx="229984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F2E18"/>
                </a:solidFill>
                <a:latin typeface="72 Condensed"/>
              </a:rPr>
              <a:t>importe definitivo a tu cuenta bancaria</a:t>
            </a:r>
          </a:p>
        </p:txBody>
      </p:sp>
      <p:sp>
        <p:nvSpPr>
          <p:cNvPr id="122" name="Oval 121"/>
          <p:cNvSpPr/>
          <p:nvPr/>
        </p:nvSpPr>
        <p:spPr>
          <a:xfrm>
            <a:off x="6013320" y="2635000"/>
            <a:ext cx="180000" cy="18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400" b="1" i="0">
                <a:solidFill>
                  <a:srgbClr val="1F2E18"/>
                </a:solidFill>
                <a:latin typeface="72 Condensed"/>
              </a:rPr>
              <a:t>›</a:t>
            </a:r>
          </a:p>
        </p:txBody>
      </p:sp>
      <p:sp>
        <p:nvSpPr>
          <p:cNvPr id="123" name="Oval 122"/>
          <p:cNvSpPr/>
          <p:nvPr/>
        </p:nvSpPr>
        <p:spPr>
          <a:xfrm>
            <a:off x="8823160" y="2635000"/>
            <a:ext cx="180000" cy="18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400" b="1" i="0">
                <a:solidFill>
                  <a:srgbClr val="1F2E18"/>
                </a:solidFill>
                <a:latin typeface="72 Condensed"/>
              </a:rPr>
              <a:t>›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548640" y="3850000"/>
            <a:ext cx="11109360" cy="1330000"/>
          </a:xfrm>
          <a:prstGeom prst="roundRect">
            <a:avLst>
              <a:gd name="adj" fmla="val 8000"/>
            </a:avLst>
          </a:prstGeom>
          <a:solidFill>
            <a:srgbClr val="324425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25" name="TextBox 124"/>
          <p:cNvSpPr txBox="1"/>
          <p:nvPr/>
        </p:nvSpPr>
        <p:spPr>
          <a:xfrm>
            <a:off x="788640" y="4000000"/>
            <a:ext cx="60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C9962E"/>
                </a:solidFill>
                <a:latin typeface="72 Condensed"/>
              </a:rPr>
              <a:t>¿CÓMO SE CALCULA TU 3ER PAGO?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788640" y="4300000"/>
            <a:ext cx="1671560" cy="770000"/>
          </a:xfrm>
          <a:prstGeom prst="roundRect">
            <a:avLst>
              <a:gd name="adj" fmla="val 12000"/>
            </a:avLst>
          </a:prstGeom>
          <a:solidFill>
            <a:srgbClr val="EDF0E2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888640" y="4350000"/>
            <a:ext cx="149156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324425"/>
                </a:solidFill>
                <a:latin typeface="72 Condensed"/>
              </a:rPr>
              <a:t>Restante por pagar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88640" y="4650000"/>
            <a:ext cx="1491560" cy="2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F2E18"/>
                </a:solidFill>
                <a:latin typeface="72 Condensed"/>
              </a:rPr>
              <a:t>—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8640" y="4890000"/>
            <a:ext cx="1491560" cy="17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B7560"/>
                </a:solidFill>
                <a:latin typeface="72 Condensed"/>
              </a:rPr>
              <a:t>plan ajustado − pago 1 − pago 2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2580200" y="4300000"/>
            <a:ext cx="1671560" cy="770000"/>
          </a:xfrm>
          <a:prstGeom prst="roundRect">
            <a:avLst>
              <a:gd name="adj" fmla="val 12000"/>
            </a:avLst>
          </a:prstGeom>
          <a:solidFill>
            <a:srgbClr val="EDF0E2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2680200" y="4350000"/>
            <a:ext cx="149156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324425"/>
                </a:solidFill>
                <a:latin typeface="72 Condensed"/>
              </a:rPr>
              <a:t>Ajustes dron, avionetas y compras externas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680200" y="4650000"/>
            <a:ext cx="1491560" cy="2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F2E18"/>
                </a:solidFill>
                <a:latin typeface="72 Condensed"/>
              </a:rPr>
              <a:t>—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2638676" y="4879598"/>
            <a:ext cx="173308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dirty="0">
                <a:solidFill>
                  <a:srgbClr val="6B7560"/>
                </a:solidFill>
                <a:latin typeface="72 Condensed"/>
              </a:rPr>
              <a:t>sin </a:t>
            </a:r>
            <a:r>
              <a:rPr sz="850" b="0" i="0" dirty="0" err="1">
                <a:solidFill>
                  <a:srgbClr val="6B7560"/>
                </a:solidFill>
                <a:latin typeface="72 Condensed"/>
              </a:rPr>
              <a:t>deducciones</a:t>
            </a:r>
            <a:r>
              <a:rPr sz="850" b="0" i="0" dirty="0">
                <a:solidFill>
                  <a:srgbClr val="6B7560"/>
                </a:solidFill>
                <a:latin typeface="72 Condensed"/>
              </a:rPr>
              <a:t> </a:t>
            </a:r>
            <a:r>
              <a:rPr sz="850" b="0" i="0" dirty="0" err="1">
                <a:solidFill>
                  <a:srgbClr val="6B7560"/>
                </a:solidFill>
                <a:latin typeface="72 Condensed"/>
              </a:rPr>
              <a:t>ni</a:t>
            </a:r>
            <a:r>
              <a:rPr sz="850" b="0" i="0" dirty="0">
                <a:solidFill>
                  <a:srgbClr val="6B7560"/>
                </a:solidFill>
                <a:latin typeface="72 Condensed"/>
              </a:rPr>
              <a:t> </a:t>
            </a:r>
            <a:r>
              <a:rPr sz="850" b="0" i="0" dirty="0" err="1">
                <a:solidFill>
                  <a:srgbClr val="6B7560"/>
                </a:solidFill>
                <a:latin typeface="72 Condensed"/>
              </a:rPr>
              <a:t>reconocimientos</a:t>
            </a:r>
            <a:endParaRPr sz="850" b="0" i="0" dirty="0">
              <a:solidFill>
                <a:srgbClr val="6B7560"/>
              </a:solidFill>
              <a:latin typeface="72 Condensed"/>
            </a:endParaRPr>
          </a:p>
        </p:txBody>
      </p:sp>
      <p:sp>
        <p:nvSpPr>
          <p:cNvPr id="134" name="Rounded Rectangle 133"/>
          <p:cNvSpPr/>
          <p:nvPr/>
        </p:nvSpPr>
        <p:spPr>
          <a:xfrm>
            <a:off x="4371760" y="4300000"/>
            <a:ext cx="1671560" cy="770000"/>
          </a:xfrm>
          <a:prstGeom prst="roundRect">
            <a:avLst>
              <a:gd name="adj" fmla="val 12000"/>
            </a:avLst>
          </a:prstGeom>
          <a:solidFill>
            <a:srgbClr val="EDF0E2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4471760" y="4350000"/>
            <a:ext cx="149156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324425"/>
                </a:solidFill>
                <a:latin typeface="72 Condensed"/>
              </a:rPr>
              <a:t>3er pago neto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471760" y="4650000"/>
            <a:ext cx="1491560" cy="2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F2E18"/>
                </a:solidFill>
                <a:latin typeface="72 Condensed"/>
              </a:rPr>
              <a:t>—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4471760" y="4890000"/>
            <a:ext cx="1491560" cy="17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B7560"/>
                </a:solidFill>
                <a:latin typeface="72 Condensed"/>
              </a:rPr>
              <a:t>saldo pendiente de mecanización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6163320" y="4300000"/>
            <a:ext cx="1671560" cy="770000"/>
          </a:xfrm>
          <a:prstGeom prst="roundRect">
            <a:avLst>
              <a:gd name="adj" fmla="val 12000"/>
            </a:avLst>
          </a:prstGeom>
          <a:solidFill>
            <a:srgbClr val="EDF0E2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39" name="TextBox 138"/>
          <p:cNvSpPr txBox="1"/>
          <p:nvPr/>
        </p:nvSpPr>
        <p:spPr>
          <a:xfrm>
            <a:off x="6263320" y="4350000"/>
            <a:ext cx="149156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dirty="0" err="1">
                <a:solidFill>
                  <a:srgbClr val="324425"/>
                </a:solidFill>
                <a:latin typeface="72 Condensed"/>
              </a:rPr>
              <a:t>Indexado</a:t>
            </a:r>
            <a:r>
              <a:rPr sz="950" b="1" i="0" dirty="0">
                <a:solidFill>
                  <a:srgbClr val="324425"/>
                </a:solidFill>
                <a:latin typeface="72 Condensed"/>
              </a:rPr>
              <a:t> a </a:t>
            </a:r>
            <a:r>
              <a:rPr sz="950" b="1" i="0" dirty="0" err="1">
                <a:solidFill>
                  <a:srgbClr val="324425"/>
                </a:solidFill>
                <a:latin typeface="72 Condensed"/>
              </a:rPr>
              <a:t>tasa</a:t>
            </a:r>
            <a:r>
              <a:rPr sz="950" b="1" i="0" dirty="0">
                <a:solidFill>
                  <a:srgbClr val="324425"/>
                </a:solidFill>
                <a:latin typeface="72 Condensed"/>
              </a:rPr>
              <a:t> de mercado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263320" y="4650000"/>
            <a:ext cx="1491560" cy="2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F2E18"/>
                </a:solidFill>
                <a:latin typeface="72 Condensed"/>
              </a:rPr>
              <a:t>—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320" y="4890000"/>
            <a:ext cx="1491560" cy="17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B7560"/>
                </a:solidFill>
                <a:latin typeface="72 Condensed"/>
              </a:rPr>
              <a:t>tasa del día de liquidación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7954880" y="4300000"/>
            <a:ext cx="1671560" cy="770000"/>
          </a:xfrm>
          <a:prstGeom prst="roundRect">
            <a:avLst>
              <a:gd name="adj" fmla="val 12000"/>
            </a:avLst>
          </a:prstGeom>
          <a:solidFill>
            <a:srgbClr val="EDF0E2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43" name="TextBox 142"/>
          <p:cNvSpPr txBox="1"/>
          <p:nvPr/>
        </p:nvSpPr>
        <p:spPr>
          <a:xfrm>
            <a:off x="8054880" y="4350000"/>
            <a:ext cx="149156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324425"/>
                </a:solidFill>
                <a:latin typeface="72 Condensed"/>
              </a:rPr>
              <a:t>+ Comisiones bancarias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054880" y="4650000"/>
            <a:ext cx="1491560" cy="2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F2E18"/>
                </a:solidFill>
                <a:latin typeface="72 Condensed"/>
              </a:rPr>
              <a:t>—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054880" y="4890000"/>
            <a:ext cx="1491560" cy="17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B7560"/>
                </a:solidFill>
                <a:latin typeface="72 Condensed"/>
              </a:rPr>
              <a:t>las asume el programa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9746440" y="4300000"/>
            <a:ext cx="1671560" cy="770000"/>
          </a:xfrm>
          <a:prstGeom prst="roundRect">
            <a:avLst>
              <a:gd name="adj" fmla="val 12000"/>
            </a:avLst>
          </a:prstGeom>
          <a:solidFill>
            <a:srgbClr val="C9962E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9846440" y="4350000"/>
            <a:ext cx="149156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F2E18"/>
                </a:solidFill>
                <a:latin typeface="72 Condensed"/>
              </a:rPr>
              <a:t>Total final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846440" y="4650000"/>
            <a:ext cx="1491560" cy="2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F2E18"/>
                </a:solidFill>
                <a:latin typeface="72 Condensed"/>
              </a:rPr>
              <a:t>—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846440" y="4890000"/>
            <a:ext cx="1491560" cy="17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1F2E18"/>
                </a:solidFill>
                <a:latin typeface="72 Condensed"/>
              </a:rPr>
              <a:t>lo que recibes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548640" y="5370000"/>
            <a:ext cx="2650000" cy="1000000"/>
          </a:xfrm>
          <a:prstGeom prst="roundRect">
            <a:avLst>
              <a:gd name="adj" fmla="val 10000"/>
            </a:avLst>
          </a:prstGeom>
          <a:solidFill>
            <a:srgbClr val="EDF0E2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51" name="TextBox 150"/>
          <p:cNvSpPr txBox="1"/>
          <p:nvPr/>
        </p:nvSpPr>
        <p:spPr>
          <a:xfrm>
            <a:off x="718640" y="5480000"/>
            <a:ext cx="235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spc="100">
                <a:solidFill>
                  <a:srgbClr val="4C6A35"/>
                </a:solidFill>
                <a:latin typeface="72 Condensed"/>
              </a:rPr>
              <a:t>AJUSTE ENCALADORA (60%)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18640" y="5700000"/>
            <a:ext cx="900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1F2E18"/>
                </a:solidFill>
                <a:latin typeface="72 Condensed"/>
              </a:rPr>
              <a:t>—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598640" y="5720000"/>
            <a:ext cx="15000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6B7560"/>
                </a:solidFill>
                <a:latin typeface="72 Condensed"/>
              </a:rPr>
              <a:t>se descuenta el 60% restante (Agroinsa y Camaripano)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3308640" y="5370000"/>
            <a:ext cx="2650000" cy="1000000"/>
          </a:xfrm>
          <a:prstGeom prst="roundRect">
            <a:avLst>
              <a:gd name="adj" fmla="val 10000"/>
            </a:avLst>
          </a:prstGeom>
          <a:solidFill>
            <a:srgbClr val="EDF0E2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55" name="TextBox 154"/>
          <p:cNvSpPr txBox="1"/>
          <p:nvPr/>
        </p:nvSpPr>
        <p:spPr>
          <a:xfrm>
            <a:off x="3478640" y="5480000"/>
            <a:ext cx="235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spc="100">
                <a:solidFill>
                  <a:srgbClr val="4C6A35"/>
                </a:solidFill>
                <a:latin typeface="72 Condensed"/>
              </a:rPr>
              <a:t>AJUSTE DRON Y AVIONETAS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3478640" y="5700000"/>
            <a:ext cx="900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1F2E18"/>
                </a:solidFill>
                <a:latin typeface="72 Condensed"/>
              </a:rPr>
              <a:t>—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4358640" y="5720000"/>
            <a:ext cx="15000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6B7560"/>
                </a:solidFill>
                <a:latin typeface="72 Condensed"/>
              </a:rPr>
              <a:t>uso de estos servicios, pagado al proveedor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6068640" y="5370000"/>
            <a:ext cx="2650000" cy="1000000"/>
          </a:xfrm>
          <a:prstGeom prst="roundRect">
            <a:avLst>
              <a:gd name="adj" fmla="val 10000"/>
            </a:avLst>
          </a:prstGeom>
          <a:solidFill>
            <a:srgbClr val="EDF0E2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59" name="TextBox 158"/>
          <p:cNvSpPr txBox="1"/>
          <p:nvPr/>
        </p:nvSpPr>
        <p:spPr>
          <a:xfrm>
            <a:off x="6238640" y="5480000"/>
            <a:ext cx="235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spc="100">
                <a:solidFill>
                  <a:srgbClr val="4C6A35"/>
                </a:solidFill>
                <a:latin typeface="72 Condensed"/>
              </a:rPr>
              <a:t>AJUSTE COMPRAS EXTERNAS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6238640" y="5700000"/>
            <a:ext cx="900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1F2E18"/>
                </a:solidFill>
                <a:latin typeface="72 Condensed"/>
              </a:rPr>
              <a:t>—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7118640" y="5720000"/>
            <a:ext cx="15000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6B7560"/>
                </a:solidFill>
                <a:latin typeface="72 Condensed"/>
              </a:rPr>
              <a:t>insumos de proveedores no afiliados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8828640" y="5370000"/>
            <a:ext cx="2829360" cy="1000000"/>
          </a:xfrm>
          <a:prstGeom prst="roundRect">
            <a:avLst>
              <a:gd name="adj" fmla="val 10000"/>
            </a:avLst>
          </a:prstGeom>
          <a:solidFill>
            <a:srgbClr val="C9962E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63" name="TextBox 162"/>
          <p:cNvSpPr txBox="1"/>
          <p:nvPr/>
        </p:nvSpPr>
        <p:spPr>
          <a:xfrm>
            <a:off x="9028640" y="5490000"/>
            <a:ext cx="2449360" cy="8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1F2E18"/>
                </a:solidFill>
                <a:latin typeface="72 Condensed"/>
              </a:rPr>
              <a:t>Recuerda: </a:t>
            </a:r>
            <a:r>
              <a:rPr sz="1200" b="0" i="0">
                <a:solidFill>
                  <a:srgbClr val="1F2E18"/>
                </a:solidFill>
                <a:latin typeface="72 Condensed"/>
              </a:rPr>
              <a:t>el monto del 3er pago puede variar según la fecha en que se haga efectivo.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49860B98-185E-DD0A-9066-FABF1376B94E}"/>
              </a:ext>
            </a:extLst>
          </p:cNvPr>
          <p:cNvSpPr/>
          <p:nvPr/>
        </p:nvSpPr>
        <p:spPr>
          <a:xfrm>
            <a:off x="0" y="-360950"/>
            <a:ext cx="12191996" cy="7218950"/>
          </a:xfrm>
          <a:custGeom>
            <a:avLst/>
            <a:gdLst>
              <a:gd name="f0" fmla="val w"/>
              <a:gd name="f1" fmla="val h"/>
              <a:gd name="f2" fmla="val 0"/>
              <a:gd name="f3" fmla="val 18288000"/>
              <a:gd name="f4" fmla="val 10287000"/>
              <a:gd name="f5" fmla="*/ f0 1 18288000"/>
              <a:gd name="f6" fmla="*/ f1 1 10287000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8288000"/>
              <a:gd name="f13" fmla="*/ f10 1 10287000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8288000" h="10287000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2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000000"/>
              </a:solidFill>
              <a:uFillTx/>
              <a:latin typeface="72 Condensed"/>
            </a:endParaRPr>
          </a:p>
        </p:txBody>
      </p:sp>
      <p:sp>
        <p:nvSpPr>
          <p:cNvPr id="3" name="Rectángulo 5">
            <a:extLst>
              <a:ext uri="{FF2B5EF4-FFF2-40B4-BE49-F238E27FC236}">
                <a16:creationId xmlns:a16="http://schemas.microsoft.com/office/drawing/2014/main" id="{82D1FA32-1914-9F0E-D6D2-3985E5FEE78F}"/>
              </a:ext>
            </a:extLst>
          </p:cNvPr>
          <p:cNvSpPr/>
          <p:nvPr/>
        </p:nvSpPr>
        <p:spPr>
          <a:xfrm>
            <a:off x="0" y="-53826"/>
            <a:ext cx="12493895" cy="7233388"/>
          </a:xfrm>
          <a:prstGeom prst="rect">
            <a:avLst/>
          </a:prstGeom>
          <a:solidFill>
            <a:srgbClr val="0D0D0D">
              <a:alpha val="62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FFFFFF"/>
              </a:solidFill>
              <a:uFillTx/>
              <a:latin typeface="72 Condensed"/>
            </a:endParaRPr>
          </a:p>
        </p:txBody>
      </p:sp>
      <p:sp>
        <p:nvSpPr>
          <p:cNvPr id="4" name="CuadroTexto 21">
            <a:extLst>
              <a:ext uri="{FF2B5EF4-FFF2-40B4-BE49-F238E27FC236}">
                <a16:creationId xmlns:a16="http://schemas.microsoft.com/office/drawing/2014/main" id="{3728CB66-FF72-6FAD-E1C4-22ECF2509ADE}"/>
              </a:ext>
            </a:extLst>
          </p:cNvPr>
          <p:cNvSpPr txBox="1"/>
          <p:nvPr/>
        </p:nvSpPr>
        <p:spPr>
          <a:xfrm>
            <a:off x="9347197" y="0"/>
            <a:ext cx="2844798" cy="369335"/>
          </a:xfrm>
          <a:prstGeom prst="rect">
            <a:avLst/>
          </a:prstGeom>
          <a:solidFill>
            <a:srgbClr val="C9962E"/>
          </a:solidFill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1" i="1" u="none" strike="noStrike" kern="1200" cap="none" spc="0" baseline="0">
                <a:solidFill>
                  <a:srgbClr val="1F2E18"/>
                </a:solidFill>
                <a:uFillTx/>
                <a:latin typeface="72 Condensed" pitchFamily="34"/>
                <a:cs typeface="72 Condensed" pitchFamily="34"/>
              </a:rPr>
              <a:t>P&amp;L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85800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300">
                <a:solidFill>
                  <a:srgbClr val="C9962E"/>
                </a:solidFill>
                <a:latin typeface="72 Condensed"/>
              </a:rPr>
              <a:t>TU CICLO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93729"/>
            <a:ext cx="440000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0" b="1" i="0" dirty="0">
                <a:solidFill>
                  <a:srgbClr val="C9962E"/>
                </a:solidFill>
                <a:latin typeface="72 Condensed"/>
              </a:rPr>
              <a:t>P&amp;L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39648"/>
            <a:ext cx="3900000" cy="1046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0" i="0" dirty="0">
                <a:solidFill>
                  <a:srgbClr val="FFFFFF"/>
                </a:solidFill>
                <a:latin typeface="72 Condensed"/>
              </a:rPr>
              <a:t>Los </a:t>
            </a:r>
            <a:r>
              <a:rPr sz="3400" b="0" i="0" dirty="0" err="1">
                <a:solidFill>
                  <a:srgbClr val="FFFFFF"/>
                </a:solidFill>
                <a:latin typeface="72 Condensed"/>
              </a:rPr>
              <a:t>números</a:t>
            </a:r>
            <a:r>
              <a:rPr sz="3400" b="0" i="0" dirty="0">
                <a:solidFill>
                  <a:srgbClr val="FFFFFF"/>
                </a:solidFill>
                <a:latin typeface="72 Condensed"/>
              </a:rPr>
              <a:t> de</a:t>
            </a:r>
          </a:p>
          <a:p>
            <a:pPr algn="l"/>
            <a:r>
              <a:rPr sz="3400" b="1" i="0" dirty="0" err="1">
                <a:solidFill>
                  <a:srgbClr val="FFFFFF"/>
                </a:solidFill>
                <a:latin typeface="72 Condensed"/>
              </a:rPr>
              <a:t>tu</a:t>
            </a:r>
            <a:r>
              <a:rPr sz="3400" b="1" i="0" dirty="0">
                <a:solidFill>
                  <a:srgbClr val="FFFFFF"/>
                </a:solidFill>
                <a:latin typeface="72 Condensed"/>
              </a:rPr>
              <a:t> </a:t>
            </a:r>
            <a:r>
              <a:rPr lang="es-419" sz="3400" b="1" i="0" dirty="0">
                <a:solidFill>
                  <a:srgbClr val="FFFFFF"/>
                </a:solidFill>
                <a:latin typeface="72 Condensed"/>
              </a:rPr>
              <a:t>ciclo 2026</a:t>
            </a:r>
            <a:endParaRPr sz="3400" b="1" i="0" dirty="0">
              <a:solidFill>
                <a:srgbClr val="FFFFFF"/>
              </a:solidFill>
              <a:latin typeface="72 Condensed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48640" y="4228368"/>
            <a:ext cx="3800000" cy="7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EDF0E2"/>
                </a:solidFill>
                <a:latin typeface="72 Condensed"/>
              </a:rPr>
              <a:t>Angela Rosa Guedez Morales</a:t>
            </a:r>
          </a:p>
          <a:p>
            <a:pPr algn="l"/>
            <a:r>
              <a:rPr sz="1300" b="0" i="0">
                <a:solidFill>
                  <a:srgbClr val="8BAA5E"/>
                </a:solidFill>
                <a:latin typeface="72 Condensed"/>
              </a:rPr>
              <a:t>Turen, Portuguesa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46320" y="658368"/>
            <a:ext cx="3354000" cy="2420000"/>
          </a:xfrm>
          <a:prstGeom prst="roundRect">
            <a:avLst>
              <a:gd name="adj" fmla="val 7000"/>
            </a:avLst>
          </a:prstGeom>
          <a:solidFill>
            <a:srgbClr val="4C6A35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126320" y="938368"/>
            <a:ext cx="2854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C9962E"/>
                </a:solidFill>
                <a:latin typeface="72 Condensed"/>
              </a:rPr>
              <a:t>HECTÁREAS COSECHADAS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6320" y="1458368"/>
            <a:ext cx="2954000" cy="9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72 Condensed"/>
              </a:rPr>
              <a:t>227,3</a:t>
            </a:r>
            <a:r>
              <a:rPr sz="2000" b="0" i="0">
                <a:solidFill>
                  <a:srgbClr val="EDF0E2"/>
                </a:solidFill>
                <a:latin typeface="72 Condensed"/>
              </a:rPr>
              <a:t> ha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6320" y="2508368"/>
            <a:ext cx="2854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dirty="0">
                <a:solidFill>
                  <a:srgbClr val="EDF0E2"/>
                </a:solidFill>
                <a:latin typeface="72 Condensed"/>
              </a:rPr>
              <a:t>11 lotes · 227,3 ha sembradas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50320" y="658368"/>
            <a:ext cx="3354000" cy="2420000"/>
          </a:xfrm>
          <a:prstGeom prst="roundRect">
            <a:avLst>
              <a:gd name="adj" fmla="val 7000"/>
            </a:avLst>
          </a:prstGeom>
          <a:solidFill>
            <a:srgbClr val="4C6A35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630320" y="938368"/>
            <a:ext cx="2854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C9962E"/>
                </a:solidFill>
                <a:latin typeface="72 Condensed"/>
              </a:rPr>
              <a:t>RENDIMIENTO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30320" y="1458368"/>
            <a:ext cx="2954000" cy="9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72 Condensed"/>
              </a:rPr>
              <a:t>5,48</a:t>
            </a:r>
            <a:r>
              <a:rPr sz="2000" b="0" i="0">
                <a:solidFill>
                  <a:srgbClr val="EDF0E2"/>
                </a:solidFill>
                <a:latin typeface="72 Condensed"/>
              </a:rPr>
              <a:t> ton/ha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0320" y="2508368"/>
            <a:ext cx="2854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EDF0E2"/>
                </a:solidFill>
                <a:latin typeface="72 Condensed"/>
              </a:rPr>
              <a:t>110% del plan (5 ton/ha)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46320" y="3228368"/>
            <a:ext cx="3354000" cy="2420000"/>
          </a:xfrm>
          <a:prstGeom prst="roundRect">
            <a:avLst>
              <a:gd name="adj" fmla="val 7000"/>
            </a:avLst>
          </a:prstGeom>
          <a:solidFill>
            <a:srgbClr val="4C6A35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126320" y="3508368"/>
            <a:ext cx="2854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C9962E"/>
                </a:solidFill>
                <a:latin typeface="72 Condensed"/>
              </a:rPr>
              <a:t>TONELADAS COSECHADAS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6320" y="4028368"/>
            <a:ext cx="2954000" cy="9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4242" b="1" i="0">
                <a:solidFill>
                  <a:srgbClr val="FFFFFF"/>
                </a:solidFill>
                <a:latin typeface="72 Condensed"/>
              </a:rPr>
              <a:t>1.245,4</a:t>
            </a:r>
            <a:r>
              <a:rPr sz="2000" b="0" i="0">
                <a:solidFill>
                  <a:srgbClr val="EDF0E2"/>
                </a:solidFill>
                <a:latin typeface="72 Condensed"/>
              </a:rPr>
              <a:t> ton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6320" y="5078368"/>
            <a:ext cx="2854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dirty="0">
                <a:solidFill>
                  <a:srgbClr val="EDF0E2"/>
                </a:solidFill>
                <a:latin typeface="72 Condensed"/>
              </a:rPr>
              <a:t>de 1.137 ton planificadas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EF679-8917-3AFF-B008-0B5CC6B898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2">
            <a:extLst>
              <a:ext uri="{FF2B5EF4-FFF2-40B4-BE49-F238E27FC236}">
                <a16:creationId xmlns:a16="http://schemas.microsoft.com/office/drawing/2014/main" id="{7CEB1CC3-F479-9C73-F0FF-CDF6A0BFE474}"/>
              </a:ext>
            </a:extLst>
          </p:cNvPr>
          <p:cNvSpPr/>
          <p:nvPr/>
        </p:nvSpPr>
        <p:spPr>
          <a:xfrm>
            <a:off x="0" y="-360950"/>
            <a:ext cx="12191996" cy="7218950"/>
          </a:xfrm>
          <a:custGeom>
            <a:avLst/>
            <a:gdLst>
              <a:gd name="f0" fmla="val w"/>
              <a:gd name="f1" fmla="val h"/>
              <a:gd name="f2" fmla="val 0"/>
              <a:gd name="f3" fmla="val 18288000"/>
              <a:gd name="f4" fmla="val 10287000"/>
              <a:gd name="f5" fmla="*/ f0 1 18288000"/>
              <a:gd name="f6" fmla="*/ f1 1 10287000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8288000"/>
              <a:gd name="f13" fmla="*/ f10 1 10287000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8288000" h="10287000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3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000000"/>
              </a:solidFill>
              <a:uFillTx/>
              <a:latin typeface="72 Condensed"/>
            </a:endParaRPr>
          </a:p>
        </p:txBody>
      </p:sp>
      <p:sp>
        <p:nvSpPr>
          <p:cNvPr id="5" name="Rectángulo 5">
            <a:extLst>
              <a:ext uri="{FF2B5EF4-FFF2-40B4-BE49-F238E27FC236}">
                <a16:creationId xmlns:a16="http://schemas.microsoft.com/office/drawing/2014/main" id="{A1CDCDC7-5660-A4D4-C240-4F01A5D16F26}"/>
              </a:ext>
            </a:extLst>
          </p:cNvPr>
          <p:cNvSpPr/>
          <p:nvPr/>
        </p:nvSpPr>
        <p:spPr>
          <a:xfrm>
            <a:off x="-74432" y="-383810"/>
            <a:ext cx="12493895" cy="7233388"/>
          </a:xfrm>
          <a:prstGeom prst="rect">
            <a:avLst/>
          </a:prstGeom>
          <a:solidFill>
            <a:srgbClr val="0D0D0D">
              <a:alpha val="62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372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s-VE" sz="1800" b="0" i="0" u="none" strike="noStrike" kern="1200" cap="none" spc="0" baseline="0">
              <a:solidFill>
                <a:srgbClr val="FFFFFF"/>
              </a:solidFill>
              <a:uFillTx/>
              <a:latin typeface="72 Condensed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7D25BEA8-A69A-0155-1E15-D6527DBC7F78}"/>
              </a:ext>
            </a:extLst>
          </p:cNvPr>
          <p:cNvSpPr txBox="1"/>
          <p:nvPr/>
        </p:nvSpPr>
        <p:spPr>
          <a:xfrm>
            <a:off x="8665865" y="1320021"/>
            <a:ext cx="58709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419" sz="16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72 Condensed" panose="020B0506030000000003" pitchFamily="34" charset="0"/>
                <a:ea typeface="+mn-ea"/>
                <a:cs typeface="72 Condensed" panose="020B0506030000000003" pitchFamily="34" charset="0"/>
              </a:rPr>
              <a:t>Escenario </a:t>
            </a:r>
            <a:r>
              <a:rPr lang="es-419" sz="1600" b="1" dirty="0">
                <a:solidFill>
                  <a:schemeClr val="bg1"/>
                </a:solidFill>
                <a:latin typeface="72 Condensed" panose="020B0506030000000003" pitchFamily="34" charset="0"/>
                <a:cs typeface="72 Condensed" panose="020B0506030000000003" pitchFamily="34" charset="0"/>
              </a:rPr>
              <a:t>USD</a:t>
            </a:r>
            <a:endParaRPr kumimoji="0" lang="es-419" sz="16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72 Condensed" panose="020B0506030000000003" pitchFamily="34" charset="0"/>
              <a:ea typeface="+mn-ea"/>
              <a:cs typeface="72 Condensed" panose="020B0506030000000003" pitchFamily="34" charset="0"/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068FA1EE-5973-F068-C7ED-4667E4E45840}"/>
              </a:ext>
            </a:extLst>
          </p:cNvPr>
          <p:cNvSpPr txBox="1"/>
          <p:nvPr/>
        </p:nvSpPr>
        <p:spPr>
          <a:xfrm>
            <a:off x="7341272" y="1320021"/>
            <a:ext cx="15666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419" sz="16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72 Condensed" panose="020B0506030000000003" pitchFamily="34" charset="0"/>
                <a:ea typeface="+mn-ea"/>
                <a:cs typeface="72 Condensed" panose="020B0506030000000003" pitchFamily="34" charset="0"/>
              </a:rPr>
              <a:t>Escenario </a:t>
            </a:r>
            <a:r>
              <a:rPr lang="es-419" sz="1600" b="1" dirty="0">
                <a:solidFill>
                  <a:schemeClr val="bg1"/>
                </a:solidFill>
                <a:latin typeface="72 Condensed" panose="020B0506030000000003" pitchFamily="34" charset="0"/>
                <a:cs typeface="72 Condensed" panose="020B0506030000000003" pitchFamily="34" charset="0"/>
              </a:rPr>
              <a:t>Bs</a:t>
            </a:r>
            <a:endParaRPr kumimoji="0" lang="es-419" sz="16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72 Condensed" panose="020B0506030000000003" pitchFamily="34" charset="0"/>
              <a:ea typeface="+mn-ea"/>
              <a:cs typeface="72 Condensed" panose="020B0506030000000003" pitchFamily="34" charset="0"/>
            </a:endParaRPr>
          </a:p>
        </p:txBody>
      </p:sp>
      <p:sp>
        <p:nvSpPr>
          <p:cNvPr id="11" name="Rounded Rectangle 16">
            <a:extLst>
              <a:ext uri="{FF2B5EF4-FFF2-40B4-BE49-F238E27FC236}">
                <a16:creationId xmlns:a16="http://schemas.microsoft.com/office/drawing/2014/main" id="{0234436E-B0F3-367E-DB62-446FEF70174F}"/>
              </a:ext>
            </a:extLst>
          </p:cNvPr>
          <p:cNvSpPr/>
          <p:nvPr/>
        </p:nvSpPr>
        <p:spPr>
          <a:xfrm>
            <a:off x="1972780" y="1658574"/>
            <a:ext cx="8375179" cy="3879403"/>
          </a:xfrm>
          <a:prstGeom prst="roundRect">
            <a:avLst>
              <a:gd name="adj" fmla="val 7000"/>
            </a:avLst>
          </a:prstGeom>
          <a:solidFill>
            <a:srgbClr val="EDF0E2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endParaRPr/>
          </a:p>
        </p:txBody>
      </p:sp>
      <p:graphicFrame>
        <p:nvGraphicFramePr>
          <p:cNvPr id="9" name="Tabla 8">
            <a:extLst>
              <a:ext uri="{FF2B5EF4-FFF2-40B4-BE49-F238E27FC236}">
                <a16:creationId xmlns:a16="http://schemas.microsoft.com/office/drawing/2014/main" id="{5C97CEBF-B6C4-F28F-A0A0-8ECE01379D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4463209"/>
              </p:ext>
            </p:extLst>
          </p:nvPr>
        </p:nvGraphicFramePr>
        <p:xfrm>
          <a:off x="2200248" y="1463040"/>
          <a:ext cx="7916335" cy="397598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955450">
                  <a:extLst>
                    <a:ext uri="{9D8B030D-6E8A-4147-A177-3AD203B41FA5}">
                      <a16:colId xmlns:a16="http://schemas.microsoft.com/office/drawing/2014/main" val="4204059218"/>
                    </a:ext>
                  </a:extLst>
                </a:gridCol>
                <a:gridCol w="1748831">
                  <a:extLst>
                    <a:ext uri="{9D8B030D-6E8A-4147-A177-3AD203B41FA5}">
                      <a16:colId xmlns:a16="http://schemas.microsoft.com/office/drawing/2014/main" val="3528467224"/>
                    </a:ext>
                  </a:extLst>
                </a:gridCol>
                <a:gridCol w="1212054">
                  <a:extLst>
                    <a:ext uri="{9D8B030D-6E8A-4147-A177-3AD203B41FA5}">
                      <a16:colId xmlns:a16="http://schemas.microsoft.com/office/drawing/2014/main" val="2814017075"/>
                    </a:ext>
                  </a:extLst>
                </a:gridCol>
              </a:tblGrid>
              <a:tr h="284717">
                <a:tc>
                  <a:txBody>
                    <a:bodyPr/>
                    <a:lstStyle/>
                    <a:p>
                      <a:pPr algn="l" fontAlgn="b"/>
                      <a:endParaRPr lang="es-VE" sz="1100" b="0" i="0" u="none" strike="noStrike" dirty="0">
                        <a:solidFill>
                          <a:srgbClr val="000000"/>
                        </a:solidFill>
                        <a:effectLst/>
                        <a:latin typeface="72 Condensed" panose="020B0506030000000003" pitchFamily="34" charset="0"/>
                        <a:cs typeface="72 Condensed" panose="020B0506030000000003" pitchFamily="34" charset="0"/>
                      </a:endParaRPr>
                    </a:p>
                  </a:txBody>
                  <a:tcPr marL="6350" marR="6350" marT="6350" marB="0" anchor="b">
                    <a:lnL w="12701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  <a:prstDash val="solid"/>
                    </a:lnR>
                    <a:lnT w="12701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s-VE" sz="1800" b="1" i="0" u="none" strike="noStrike" dirty="0">
                        <a:solidFill>
                          <a:srgbClr val="000000"/>
                        </a:solidFill>
                        <a:effectLst/>
                        <a:latin typeface="72 Condensed" panose="020B0506030000000003" pitchFamily="34" charset="0"/>
                        <a:cs typeface="72 Condensed" panose="020B0506030000000003" pitchFamily="34" charset="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1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s-VE" sz="1800" b="1" i="0" u="none" strike="noStrike" dirty="0">
                        <a:solidFill>
                          <a:srgbClr val="000000"/>
                        </a:solidFill>
                        <a:effectLst/>
                        <a:latin typeface="72 Condensed" panose="020B0506030000000003" pitchFamily="34" charset="0"/>
                        <a:cs typeface="72 Condensed" panose="020B0506030000000003" pitchFamily="34" charset="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1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1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9075565"/>
                  </a:ext>
                </a:extLst>
              </a:tr>
              <a:tr h="360330">
                <a:tc>
                  <a:txBody>
                    <a:bodyPr/>
                    <a:lstStyle/>
                    <a:p>
                      <a:pPr algn="l" fontAlgn="b"/>
                      <a:r>
                        <a:rPr lang="es-VE" sz="1600" b="0" u="none" strike="noStrike" dirty="0">
                          <a:effectLst/>
                          <a:latin typeface="72 Condensed" panose="020B0506030000000003" pitchFamily="34" charset="0"/>
                          <a:cs typeface="72 Condensed" panose="020B0506030000000003" pitchFamily="34" charset="0"/>
                        </a:rPr>
                        <a:t>Ingresos de Terceros (Gandolas Rechazadas)</a:t>
                      </a:r>
                      <a:endParaRPr lang="es-VE" sz="1600" b="0" i="0" u="none" strike="noStrike" dirty="0">
                        <a:solidFill>
                          <a:srgbClr val="000000"/>
                        </a:solidFill>
                        <a:effectLst/>
                        <a:latin typeface="72 Condensed" panose="020B0506030000000003" pitchFamily="34" charset="0"/>
                        <a:cs typeface="72 Condensed" panose="020B0506030000000003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VE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</a:rPr>
                        <a:t>—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VE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</a:rPr>
                        <a:t>—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07621039"/>
                  </a:ext>
                </a:extLst>
              </a:tr>
              <a:tr h="263492">
                <a:tc>
                  <a:txBody>
                    <a:bodyPr/>
                    <a:lstStyle/>
                    <a:p>
                      <a:pPr algn="l" fontAlgn="b"/>
                      <a:r>
                        <a:rPr lang="es-VE" sz="1600" b="0" u="none" strike="noStrike" dirty="0">
                          <a:effectLst/>
                          <a:latin typeface="72 Condensed" panose="020B0506030000000003" pitchFamily="34" charset="0"/>
                          <a:cs typeface="72 Condensed" panose="020B0506030000000003" pitchFamily="34" charset="0"/>
                        </a:rPr>
                        <a:t>Facturación Polar </a:t>
                      </a:r>
                      <a:endParaRPr lang="es-VE" sz="1600" b="0" i="0" u="none" strike="noStrike" dirty="0">
                        <a:solidFill>
                          <a:srgbClr val="000000"/>
                        </a:solidFill>
                        <a:effectLst/>
                        <a:latin typeface="72 Condensed" panose="020B0506030000000003" pitchFamily="34" charset="0"/>
                        <a:cs typeface="72 Condensed" panose="020B0506030000000003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VE" sz="16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  <a:ea typeface="+mn-ea"/>
                          <a:cs typeface="+mn-cs"/>
                        </a:rPr>
                        <a:t>—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s-VE" sz="16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  <a:ea typeface="+mn-ea"/>
                          <a:cs typeface="+mn-cs"/>
                        </a:rPr>
                        <a:t>—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0622091"/>
                  </a:ext>
                </a:extLst>
              </a:tr>
              <a:tr h="277390">
                <a:tc>
                  <a:txBody>
                    <a:bodyPr/>
                    <a:lstStyle/>
                    <a:p>
                      <a:pPr algn="l" fontAlgn="b"/>
                      <a:endParaRPr lang="es-VE" sz="1600" b="0" i="0" u="none" strike="noStrike" dirty="0">
                        <a:solidFill>
                          <a:srgbClr val="000000"/>
                        </a:solidFill>
                        <a:effectLst/>
                        <a:latin typeface="72 Condensed" panose="020B0506030000000003" pitchFamily="34" charset="0"/>
                        <a:cs typeface="72 Condensed" panose="020B0506030000000003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s-VE" sz="1600" b="0" i="0" u="none" strike="noStrike" dirty="0">
                        <a:solidFill>
                          <a:schemeClr val="tx1"/>
                        </a:solidFill>
                        <a:effectLst/>
                        <a:latin typeface="72 Condensed" panose="020B0506030000000003" pitchFamily="34" charset="0"/>
                        <a:cs typeface="72 Condensed" panose="020B0506030000000003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endParaRPr lang="es-VE" sz="1600" b="0" i="0" u="none" strike="noStrike" kern="1200" dirty="0">
                        <a:solidFill>
                          <a:schemeClr val="tx1"/>
                        </a:solidFill>
                        <a:effectLst/>
                        <a:latin typeface="72 Condensed" panose="020B0506030000000003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70419"/>
                  </a:ext>
                </a:extLst>
              </a:tr>
              <a:tr h="247984">
                <a:tc>
                  <a:txBody>
                    <a:bodyPr/>
                    <a:lstStyle/>
                    <a:p>
                      <a:pPr algn="l" fontAlgn="b"/>
                      <a:r>
                        <a:rPr lang="es-ES" sz="1600" b="0" u="none" strike="noStrike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  <a:cs typeface="72 Condensed" panose="020B0506030000000003" pitchFamily="34" charset="0"/>
                        </a:rPr>
                        <a:t>Nota de Crédito: Convenio para la Producción de Maíz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VE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72 Condensed" panose="020B0506030000000003" pitchFamily="34" charset="0"/>
                        </a:rPr>
                        <a:t>—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VE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72 Condensed" panose="020B0506030000000003" pitchFamily="34" charset="0"/>
                        </a:rPr>
                        <a:t>—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7185660"/>
                  </a:ext>
                </a:extLst>
              </a:tr>
              <a:tr h="337141">
                <a:tc>
                  <a:txBody>
                    <a:bodyPr/>
                    <a:lstStyle/>
                    <a:p>
                      <a:pPr algn="l" fontAlgn="b"/>
                      <a:r>
                        <a:rPr lang="es-VE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72 Condensed" panose="020B0506030000000003" pitchFamily="34" charset="0"/>
                          <a:cs typeface="72 Condensed" panose="020B0506030000000003" pitchFamily="34" charset="0"/>
                        </a:rPr>
                        <a:t>Nota de Crédito: Compra Propia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VE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</a:rPr>
                        <a:t>—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VE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</a:rPr>
                        <a:t>—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38509658"/>
                  </a:ext>
                </a:extLst>
              </a:tr>
              <a:tr h="489673">
                <a:tc>
                  <a:txBody>
                    <a:bodyPr/>
                    <a:lstStyle/>
                    <a:p>
                      <a:pPr algn="l" fontAlgn="b"/>
                      <a:r>
                        <a:rPr lang="es-VE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  <a:cs typeface="72 Condensed" panose="020B0506030000000003" pitchFamily="34" charset="0"/>
                        </a:rPr>
                        <a:t>60% Cal</a:t>
                      </a:r>
                    </a:p>
                    <a:p>
                      <a:pPr algn="l" fontAlgn="b"/>
                      <a:endParaRPr lang="es-VE" sz="1600" b="0" i="0" u="none" strike="noStrike" dirty="0">
                        <a:solidFill>
                          <a:schemeClr val="tx1"/>
                        </a:solidFill>
                        <a:effectLst/>
                        <a:latin typeface="72 Condensed" panose="020B0506030000000003" pitchFamily="34" charset="0"/>
                        <a:cs typeface="72 Condensed" panose="020B0506030000000003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VE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</a:rPr>
                        <a:t>—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VE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</a:rPr>
                        <a:t>—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89669"/>
                  </a:ext>
                </a:extLst>
              </a:tr>
              <a:tr h="489673">
                <a:tc>
                  <a:txBody>
                    <a:bodyPr/>
                    <a:lstStyle/>
                    <a:p>
                      <a:pPr algn="l" fontAlgn="b"/>
                      <a:r>
                        <a:rPr lang="es-VE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  <a:cs typeface="72 Condensed" panose="020B0506030000000003" pitchFamily="34" charset="0"/>
                        </a:rPr>
                        <a:t>Costos Totales (a fecha de 01/10)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VE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</a:rPr>
                        <a:t>—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VE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</a:rPr>
                        <a:t>—</a:t>
                      </a:r>
                      <a:endParaRPr lang="es-VE" sz="1600" b="0" i="0" u="none" strike="noStrike" kern="1200" dirty="0">
                        <a:solidFill>
                          <a:schemeClr val="tx1"/>
                        </a:solidFill>
                        <a:effectLst/>
                        <a:latin typeface="72 Condensed" panose="020B0506030000000003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24000344"/>
                  </a:ext>
                </a:extLst>
              </a:tr>
              <a:tr h="484417">
                <a:tc>
                  <a:txBody>
                    <a:bodyPr/>
                    <a:lstStyle/>
                    <a:p>
                      <a:pPr algn="l" fontAlgn="b"/>
                      <a:r>
                        <a:rPr lang="es-VE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  <a:cs typeface="72 Condensed" panose="020B0506030000000003" pitchFamily="34" charset="0"/>
                        </a:rPr>
                        <a:t>Reconocimiento de Mecanización</a:t>
                      </a:r>
                    </a:p>
                  </a:txBody>
                  <a:tcPr marL="6350" marR="6350" marT="635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VE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</a:rPr>
                        <a:t>—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VE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</a:rPr>
                        <a:t>—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8580016"/>
                  </a:ext>
                </a:extLst>
              </a:tr>
              <a:tr h="247984">
                <a:tc>
                  <a:txBody>
                    <a:bodyPr/>
                    <a:lstStyle/>
                    <a:p>
                      <a:pPr algn="l" fontAlgn="b"/>
                      <a:r>
                        <a:rPr lang="es-VE" sz="1600" b="1" i="0" u="none" strike="noStrike" baseline="0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  <a:cs typeface="72 Condensed" panose="020B0506030000000003" pitchFamily="34" charset="0"/>
                        </a:rPr>
                        <a:t>Neto a Recibir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VE" sz="160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  <a:ea typeface="+mn-ea"/>
                          <a:cs typeface="+mn-cs"/>
                        </a:rPr>
                        <a:t>—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s-VE" sz="160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72 Condensed" panose="020B0506030000000003" pitchFamily="34" charset="0"/>
                          <a:ea typeface="+mn-ea"/>
                          <a:cs typeface="+mn-cs"/>
                        </a:rPr>
                        <a:t>—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1721645"/>
                  </a:ext>
                </a:extLst>
              </a:tr>
              <a:tr h="484417"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r>
                        <a:rPr lang="es-VE" sz="1600" b="1" u="none" strike="noStrike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72 Condensed" panose="020B0506030000000003" pitchFamily="34" charset="0"/>
                          <a:ea typeface="+mn-ea"/>
                          <a:cs typeface="72 Condensed" panose="020B0506030000000003" pitchFamily="34" charset="0"/>
                        </a:rPr>
                        <a:t>Flujo de Caja  Final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VE" sz="1600" b="1" i="0" u="none" strike="noStrike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72 Condensed" panose="020B0506030000000003" pitchFamily="34" charset="0"/>
                          <a:ea typeface="+mn-ea"/>
                          <a:cs typeface="+mn-cs"/>
                        </a:rPr>
                        <a:t>—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VE" sz="1600" b="1" i="0" u="none" strike="noStrike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72 Condensed" panose="020B0506030000000003" pitchFamily="34" charset="0"/>
                          <a:ea typeface="+mn-ea"/>
                          <a:cs typeface="+mn-cs"/>
                        </a:rPr>
                        <a:t>—</a:t>
                      </a:r>
                    </a:p>
                  </a:txBody>
                  <a:tcPr marL="6350" marR="6350" marT="6350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5972127"/>
                  </a:ext>
                </a:extLst>
              </a:tr>
            </a:tbl>
          </a:graphicData>
        </a:graphic>
      </p:graphicFrame>
      <p:sp>
        <p:nvSpPr>
          <p:cNvPr id="16" name="TextBox 5">
            <a:extLst>
              <a:ext uri="{FF2B5EF4-FFF2-40B4-BE49-F238E27FC236}">
                <a16:creationId xmlns:a16="http://schemas.microsoft.com/office/drawing/2014/main" id="{A45D13B5-8D3E-7EF0-4793-A55F7919973B}"/>
              </a:ext>
            </a:extLst>
          </p:cNvPr>
          <p:cNvSpPr txBox="1"/>
          <p:nvPr/>
        </p:nvSpPr>
        <p:spPr>
          <a:xfrm>
            <a:off x="124835" y="-103309"/>
            <a:ext cx="8783130" cy="1107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s-VE" sz="7200" b="1" i="0" dirty="0">
                <a:solidFill>
                  <a:srgbClr val="C9962E"/>
                </a:solidFill>
                <a:latin typeface="72 Condensed"/>
              </a:rPr>
              <a:t>Flujo </a:t>
            </a:r>
            <a:r>
              <a:rPr lang="es-VE" sz="7200" b="1" dirty="0">
                <a:solidFill>
                  <a:srgbClr val="C9962E"/>
                </a:solidFill>
                <a:latin typeface="72 Condensed"/>
              </a:rPr>
              <a:t>de caja</a:t>
            </a:r>
            <a:endParaRPr sz="7200" b="1" i="0" dirty="0">
              <a:solidFill>
                <a:srgbClr val="C9962E"/>
              </a:solidFill>
              <a:latin typeface="72 Condensed"/>
            </a:endParaRPr>
          </a:p>
        </p:txBody>
      </p:sp>
      <p:sp>
        <p:nvSpPr>
          <p:cNvPr id="20" name="TextBox 103">
            <a:extLst>
              <a:ext uri="{FF2B5EF4-FFF2-40B4-BE49-F238E27FC236}">
                <a16:creationId xmlns:a16="http://schemas.microsoft.com/office/drawing/2014/main" id="{6FFC962B-4737-2D2C-17AC-D338E96F18BB}"/>
              </a:ext>
            </a:extLst>
          </p:cNvPr>
          <p:cNvSpPr txBox="1"/>
          <p:nvPr/>
        </p:nvSpPr>
        <p:spPr>
          <a:xfrm>
            <a:off x="548640" y="1079314"/>
            <a:ext cx="90000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VE" sz="2000" b="1" i="0" dirty="0">
                <a:solidFill>
                  <a:srgbClr val="FFFFFF"/>
                </a:solidFill>
                <a:latin typeface="72 Condensed"/>
              </a:rPr>
              <a:t>Preliminar</a:t>
            </a:r>
            <a:endParaRPr sz="2000" b="1" i="0" dirty="0">
              <a:solidFill>
                <a:srgbClr val="FFFFFF"/>
              </a:solidFill>
              <a:latin typeface="72 Condensed"/>
            </a:endParaRPr>
          </a:p>
        </p:txBody>
      </p:sp>
      <p:sp>
        <p:nvSpPr>
          <p:cNvPr id="22" name="TextBox 104">
            <a:extLst>
              <a:ext uri="{FF2B5EF4-FFF2-40B4-BE49-F238E27FC236}">
                <a16:creationId xmlns:a16="http://schemas.microsoft.com/office/drawing/2014/main" id="{8A747E3C-B0EB-002D-14DB-842B0F8A50CA}"/>
              </a:ext>
            </a:extLst>
          </p:cNvPr>
          <p:cNvSpPr txBox="1"/>
          <p:nvPr/>
        </p:nvSpPr>
        <p:spPr>
          <a:xfrm>
            <a:off x="1730571" y="1151884"/>
            <a:ext cx="90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dirty="0">
                <a:solidFill>
                  <a:srgbClr val="C5DAA5"/>
                </a:solidFill>
                <a:latin typeface="72 Condensed"/>
              </a:rPr>
              <a:t>Angela Rosa Guedez Morales · montos en USD  ·  PENDIENTE: cargar el flujo de caja</a:t>
            </a:r>
          </a:p>
        </p:txBody>
      </p:sp>
    </p:spTree>
    <p:extLst>
      <p:ext uri="{BB962C8B-B14F-4D97-AF65-F5344CB8AC3E}">
        <p14:creationId xmlns:p14="http://schemas.microsoft.com/office/powerpoint/2010/main" val="418276700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7829</TotalTime>
  <Words>2147</Words>
  <Application>Microsoft Office PowerPoint</Application>
  <PresentationFormat>Widescreen</PresentationFormat>
  <Paragraphs>479</Paragraphs>
  <Slides>16</Slides>
  <Notes>6</Notes>
  <HiddenSlides>0</HiddenSlides>
  <MMClips>1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72 Condensed</vt:lpstr>
      <vt:lpstr>Aptos</vt:lpstr>
      <vt:lpstr>Aptos Display</vt:lpstr>
      <vt:lpstr>Arial</vt:lpstr>
      <vt:lpstr>Calibri</vt:lpstr>
      <vt:lpstr>Tema de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LINARES BOUQUETT, ANDREA CAROLINA</dc:creator>
  <cp:lastModifiedBy>LINARES BOUQUETT, ANDREA CAROLINA</cp:lastModifiedBy>
  <cp:revision>45</cp:revision>
  <dcterms:created xsi:type="dcterms:W3CDTF">2026-09-25T11:48:49Z</dcterms:created>
  <dcterms:modified xsi:type="dcterms:W3CDTF">2026-10-07T10:39:09Z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0x01010044974EB80EF6614399E8AF77E8627E2F</vt:lpwstr>
  </property>
</Properties>
</file>