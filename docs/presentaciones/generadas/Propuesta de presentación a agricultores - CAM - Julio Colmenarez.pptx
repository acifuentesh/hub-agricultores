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La Mariera: el 18/05 se reportó «Posterior al monitoreo se inició al control de malezas y plagas.</a:t>
            </a:r>
            <a:br/>
            <a:r>
              <a:t>Con estados larvales presentes L1 y L2».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JULIO COLMENAREZ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BARINAS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4480560" cy="474236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411480" y="5565327"/>
            <a:ext cx="576072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 Campesina  ·  9 lotes  ·  361,54 ha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022527"/>
            <a:ext cx="576072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Barinas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0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recomendada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5,47 – 6,28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5,5 a 6,3). El laboratorio no recomendó cal en ningún lote: el pH no limita la disponibilidad de nutrientes, así que nos enfocamos en una nutrición a la medida.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5029200" y="685800"/>
            <a:ext cx="1142999" cy="4742367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5138928" y="804672"/>
            <a:ext cx="960119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 EN EL MAPA</a:t>
            </a:r>
          </a:p>
        </p:txBody>
      </p:sp>
      <p:sp>
        <p:nvSpPr>
          <p:cNvPr id="41" name="TextBox 57 (gen)"/>
          <p:cNvSpPr txBox="1"/>
          <p:nvPr/>
        </p:nvSpPr>
        <p:spPr>
          <a:xfrm>
            <a:off x="5138928" y="1097280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 · 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42" name="TextBox 57 (gen)"/>
          <p:cNvSpPr txBox="1"/>
          <p:nvPr/>
        </p:nvSpPr>
        <p:spPr>
          <a:xfrm>
            <a:off x="5138928" y="154800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43" name="TextBox 57 (gen)"/>
          <p:cNvSpPr txBox="1"/>
          <p:nvPr/>
        </p:nvSpPr>
        <p:spPr>
          <a:xfrm>
            <a:off x="5138928" y="199873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5138928" y="244946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5138928" y="290019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 · 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5138928" y="335092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 –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5138928" y="380165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11 – 15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5138928" y="425238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16 · 17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5138928" y="470311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cxnSp>
        <p:nvCxnSpPr>
          <p:cNvPr id="50" name="Connector 53 (gen)"/>
          <p:cNvCxnSpPr/>
          <p:nvPr/>
        </p:nvCxnSpPr>
        <p:spPr>
          <a:xfrm>
            <a:off x="838711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1" name="Connector 53 (gen)"/>
          <p:cNvCxnSpPr/>
          <p:nvPr/>
        </p:nvCxnSpPr>
        <p:spPr>
          <a:xfrm>
            <a:off x="873493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2" name="Connector 53 (gen)"/>
          <p:cNvCxnSpPr/>
          <p:nvPr/>
        </p:nvCxnSpPr>
        <p:spPr>
          <a:xfrm>
            <a:off x="818644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3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4" name="Connector 53 (gen)"/>
          <p:cNvCxnSpPr/>
          <p:nvPr/>
        </p:nvCxnSpPr>
        <p:spPr>
          <a:xfrm>
            <a:off x="7651342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5" name="Connector 53 (gen)"/>
          <p:cNvCxnSpPr/>
          <p:nvPr/>
        </p:nvCxnSpPr>
        <p:spPr>
          <a:xfrm>
            <a:off x="769147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6" name="Connector 53 (gen)"/>
          <p:cNvCxnSpPr/>
          <p:nvPr/>
        </p:nvCxnSpPr>
        <p:spPr>
          <a:xfrm>
            <a:off x="8106183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7" name="Connector 53 (gen)"/>
          <p:cNvCxnSpPr/>
          <p:nvPr/>
        </p:nvCxnSpPr>
        <p:spPr>
          <a:xfrm>
            <a:off x="798578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8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 aplicada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 saco / 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solo en Los Pepes 2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LOTE LOS PEPES 2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8,78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total del lote · 8,78 ha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KMAG: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El equilibrio calcio/magnesio está en el rango ideal en todos tus lotes. En 6 de 9 lotes la relación calcio/potasio está por debajo del ideal: el potasio es abundante frente al calcio, así que el plan no necesita potasio extra.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4,4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13,2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9,1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5,72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8,2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5,47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28" name="Rounded Rectangle 80 (gen)"/>
          <p:cNvSpPr/>
          <p:nvPr/>
        </p:nvSpPr>
        <p:spPr>
          <a:xfrm>
            <a:off x="361188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9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8,7</a:t>
            </a:r>
          </a:p>
        </p:txBody>
      </p:sp>
      <p:sp>
        <p:nvSpPr>
          <p:cNvPr id="130" name="Rounded Rectangle 80 (gen)"/>
          <p:cNvSpPr/>
          <p:nvPr/>
        </p:nvSpPr>
        <p:spPr>
          <a:xfrm>
            <a:off x="598932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1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5,81</a:t>
            </a:r>
          </a:p>
        </p:txBody>
      </p:sp>
      <p:sp>
        <p:nvSpPr>
          <p:cNvPr id="133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34" name="Rounded Rectangle 80 (gen)"/>
          <p:cNvSpPr/>
          <p:nvPr/>
        </p:nvSpPr>
        <p:spPr>
          <a:xfrm>
            <a:off x="361188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8,8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598932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7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138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6,02</a:t>
            </a:r>
          </a:p>
        </p:txBody>
      </p:sp>
      <p:sp>
        <p:nvSpPr>
          <p:cNvPr id="139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0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10,8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144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5,87</a:t>
            </a:r>
          </a:p>
        </p:txBody>
      </p:sp>
      <p:sp>
        <p:nvSpPr>
          <p:cNvPr id="145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6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10,0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150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6,28</a:t>
            </a:r>
          </a:p>
        </p:txBody>
      </p:sp>
      <p:sp>
        <p:nvSpPr>
          <p:cNvPr id="151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4,6</a:t>
            </a:r>
          </a:p>
        </p:txBody>
      </p:sp>
      <p:sp>
        <p:nvSpPr>
          <p:cNvPr id="152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8,5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sp>
        <p:nvSpPr>
          <p:cNvPr id="156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5,50</a:t>
            </a:r>
          </a:p>
        </p:txBody>
      </p:sp>
      <p:sp>
        <p:nvSpPr>
          <p:cNvPr id="157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4,1</a:t>
            </a:r>
          </a:p>
        </p:txBody>
      </p:sp>
      <p:sp>
        <p:nvSpPr>
          <p:cNvPr id="158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9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6,6</a:t>
            </a:r>
          </a:p>
        </p:txBody>
      </p:sp>
      <p:sp>
        <p:nvSpPr>
          <p:cNvPr id="160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Julio Antonio Colmenarez Mendoza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9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97%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2569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48055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2744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361,54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499262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3834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358384"/>
            <a:ext cx="5349240" cy="1225295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31536"/>
            <a:ext cx="4846320" cy="102412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8 de 9 lotes completaron las 6 labores aplicadas en el 100% de su superficie. La Mariera: rastra sin registro. La enmienda no se aplicó en este ciclo.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Guasimo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3" name="Rounded Rectangle 44 (gen)"/>
          <p:cNvSpPr/>
          <p:nvPr/>
        </p:nvSpPr>
        <p:spPr>
          <a:xfrm>
            <a:off x="798271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2128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Tanque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4871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Ceiba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19" name="Rounded Rectangle 44 (gen)"/>
          <p:cNvSpPr/>
          <p:nvPr/>
        </p:nvSpPr>
        <p:spPr>
          <a:xfrm>
            <a:off x="798271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76148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Mariera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303580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1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5" name="Rounded Rectangle 44 (gen)"/>
          <p:cNvSpPr/>
          <p:nvPr/>
        </p:nvSpPr>
        <p:spPr>
          <a:xfrm>
            <a:off x="798271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3101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2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3" name="Rounded Rectangle 44 (gen)"/>
          <p:cNvSpPr/>
          <p:nvPr/>
        </p:nvSpPr>
        <p:spPr>
          <a:xfrm>
            <a:off x="798271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5844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Pelo e Mula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51,05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8587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1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59" name="Rounded Rectangle 44 (gen)"/>
          <p:cNvSpPr/>
          <p:nvPr/>
        </p:nvSpPr>
        <p:spPr>
          <a:xfrm>
            <a:off x="798271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4133087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2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3" name="Rounded Rectangle 41 (gen)"/>
          <p:cNvSpPr/>
          <p:nvPr/>
        </p:nvSpPr>
        <p:spPr>
          <a:xfrm>
            <a:off x="736092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300,66</a:t>
            </a:r>
          </a:p>
        </p:txBody>
      </p:sp>
      <p:sp>
        <p:nvSpPr>
          <p:cNvPr id="174" name="Rounded Rectangle 44 (gen)"/>
          <p:cNvSpPr/>
          <p:nvPr/>
        </p:nvSpPr>
        <p:spPr>
          <a:xfrm>
            <a:off x="798271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5" name="Rounded Rectangle 41 (gen)"/>
          <p:cNvSpPr/>
          <p:nvPr/>
        </p:nvSpPr>
        <p:spPr>
          <a:xfrm>
            <a:off x="8604504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9226296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848088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1046988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109167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361,45</a:t>
            </a:r>
          </a:p>
        </p:txBody>
      </p:sp>
      <p:sp>
        <p:nvSpPr>
          <p:cNvPr id="180" name="Rounded Rectangle 110 (gen)"/>
          <p:cNvSpPr/>
          <p:nvPr/>
        </p:nvSpPr>
        <p:spPr>
          <a:xfrm>
            <a:off x="1019556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1" name="TextBox 113 (gen)"/>
          <p:cNvSpPr txBox="1"/>
          <p:nvPr/>
        </p:nvSpPr>
        <p:spPr>
          <a:xfrm>
            <a:off x="10469880" y="503834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000" y="4320000"/>
            <a:ext cx="1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Atendida (13)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288" y="4320000"/>
            <a:ext cx="555955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6 de 13 reportes  ·  DDS: días tras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864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5 de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27 DDS, en 3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6176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6 de 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controles dirigidos de malezas entre 27 y 56 DDS, en 6 lotes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488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2 de 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entre 110 y 113 DDS, en 2 lotes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3561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91615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91615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4359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96209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74263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74263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77006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7885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5691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5691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5965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L1–L2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615045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395589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395589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423021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Re-control de plagas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441522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422206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422206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424949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526799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504854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504854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507597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en bordes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609447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87502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08/06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87502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37 DDS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90245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920952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70149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10/06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70149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72892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El Tanque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74742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52797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15/06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52797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55540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57390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835445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22/06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835445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53 DDS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838188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Pelo e Mula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94003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91809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29/06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91809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56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92083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Los Pepes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1022686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1000740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1000740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110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1003483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105333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83388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83388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113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86131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Mazorcas con daño</a:t>
            </a:r>
          </a:p>
        </p:txBody>
      </p:sp>
      <p:sp>
        <p:nvSpPr>
          <p:cNvPr id="115" name="TextBox 5 (gen)"/>
          <p:cNvSpPr txBox="1"/>
          <p:nvPr/>
        </p:nvSpPr>
        <p:spPr>
          <a:xfrm>
            <a:off x="275375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16" name="TextBox 5 (gen)"/>
          <p:cNvSpPr txBox="1"/>
          <p:nvPr/>
        </p:nvSpPr>
        <p:spPr>
          <a:xfrm>
            <a:off x="729937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17" name="Rectangle 8 (gen)"/>
          <p:cNvSpPr/>
          <p:nvPr/>
        </p:nvSpPr>
        <p:spPr>
          <a:xfrm>
            <a:off x="587326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8" name="TextBox 5 (gen)"/>
          <p:cNvSpPr txBox="1"/>
          <p:nvPr/>
        </p:nvSpPr>
        <p:spPr>
          <a:xfrm>
            <a:off x="1019204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19" name="Rectangle 8 (gen)"/>
          <p:cNvSpPr/>
          <p:nvPr/>
        </p:nvSpPr>
        <p:spPr>
          <a:xfrm>
            <a:off x="10005646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B01-Saturno-La Campesina, la estación Saturno asignada a la finca de Julio.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9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1.346,4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198 – 296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6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" y="47091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7560"/>
                </a:solidFill>
                <a:latin typeface="72 Condensed"/>
              </a:rPr>
              <a:t>Abril parcial: la estación empezó a registrar ese mes. Puntos huecos = mes con datos incompletos.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MECANIZACIÓN TOTAL AJUSTADA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266" b="1" i="0" dirty="0">
                <a:solidFill>
                  <a:srgbClr val="FFFFFF"/>
                </a:solidFill>
                <a:latin typeface="72 Condensed"/>
              </a:rPr>
              <a:t>60.719,78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plan 61.646,48 menos el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60% de la encaladora (926,70)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66" b="1" i="0">
                <a:solidFill>
                  <a:srgbClr val="FFFFFF"/>
                </a:solidFill>
                <a:latin typeface="72 Condensed"/>
              </a:rPr>
              <a:t>36.680,00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266" b="1" i="0" dirty="0">
                <a:solidFill>
                  <a:srgbClr val="FFFFFF"/>
                </a:solidFill>
                <a:latin typeface="72 Condensed"/>
              </a:rPr>
              <a:t>10.977,46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66" b="1" i="0">
                <a:solidFill>
                  <a:srgbClr val="1F2E18"/>
                </a:solidFill>
                <a:latin typeface="72 Condensed"/>
              </a:rPr>
              <a:t>15.834,00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13.062,32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0472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0,00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80200" y="4879598"/>
            <a:ext cx="1490472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dirty="0">
                <a:solidFill>
                  <a:srgbClr val="6B7560"/>
                </a:solidFill>
                <a:latin typeface="72 Condensed"/>
              </a:rPr>
              <a:t>dron 0,00 · compras 0,00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13.062,32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0472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6B7560"/>
                </a:solidFill>
                <a:latin typeface="72 Condensed"/>
              </a:rPr>
              <a:t>saldo pendiente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15.414,00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0472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420,00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79" y="4890000"/>
            <a:ext cx="1490472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15.834,00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0472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28" b="1" i="0">
                <a:solidFill>
                  <a:srgbClr val="B4533A"/>
                </a:solidFill>
                <a:latin typeface="72 Condensed"/>
              </a:rPr>
              <a:t>-926,70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28" b="1" i="0">
                <a:solidFill>
                  <a:srgbClr val="1F2E18"/>
                </a:solidFill>
                <a:latin typeface="72 Condensed"/>
              </a:rPr>
              <a:t>0,00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28" b="1" i="0">
                <a:solidFill>
                  <a:srgbClr val="1F2E18"/>
                </a:solidFill>
                <a:latin typeface="72 Condensed"/>
              </a:rPr>
              <a:t>0,00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Julio Antonio Colmenarez Mendoza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Sabaneta, Barinas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361,5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9 lotes · 361,5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6,28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126%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42" b="1" i="0">
                <a:solidFill>
                  <a:srgbClr val="FFFFFF"/>
                </a:solidFill>
                <a:latin typeface="72 Condensed"/>
              </a:rPr>
              <a:t>2.269,2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1.808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00200"/>
            <a:ext cx="8375179" cy="3941064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465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6.270,00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6.270,00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788.246,52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780.688,77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9144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-59.633,53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-59.633,53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-843,83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-843,83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-889,63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-889,63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-639.162,69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-639.162,69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146.352,81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146.352,81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240.339,65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232.781,90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 fontAlgn="b"/>
                      <a:r>
                        <a:rPr lang="es-VE" sz="14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Flujo de Caja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240.339,65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232.781,90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 fontAlgn="b"/>
                      <a:r>
                        <a:rPr lang="es-VE" sz="11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Desembolso Final Polar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234.069,65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226.511,90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 fontAlgn="b"/>
                      <a:r>
                        <a:rPr lang="es-VE" sz="11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Netos de Terceros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6.270,00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6.270,00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2011680" y="1133856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cierre financiero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